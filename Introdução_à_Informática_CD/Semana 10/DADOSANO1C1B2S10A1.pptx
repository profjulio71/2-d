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theme/themeOverride2.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Lst>
  <p:notesMasterIdLst>
    <p:notesMasterId r:id="rId33"/>
  </p:notesMasterIdLst>
  <p:handoutMasterIdLst>
    <p:handoutMasterId r:id="rId34"/>
  </p:handoutMasterIdLst>
  <p:sldIdLst>
    <p:sldId id="498" r:id="rId5"/>
    <p:sldId id="608" r:id="rId6"/>
    <p:sldId id="536" r:id="rId7"/>
    <p:sldId id="537" r:id="rId8"/>
    <p:sldId id="828" r:id="rId9"/>
    <p:sldId id="557" r:id="rId10"/>
    <p:sldId id="1429" r:id="rId11"/>
    <p:sldId id="1430" r:id="rId12"/>
    <p:sldId id="1382" r:id="rId13"/>
    <p:sldId id="1431" r:id="rId14"/>
    <p:sldId id="1391" r:id="rId15"/>
    <p:sldId id="1444" r:id="rId16"/>
    <p:sldId id="1432" r:id="rId17"/>
    <p:sldId id="1392" r:id="rId18"/>
    <p:sldId id="855" r:id="rId19"/>
    <p:sldId id="1445" r:id="rId20"/>
    <p:sldId id="1433" r:id="rId21"/>
    <p:sldId id="1434" r:id="rId22"/>
    <p:sldId id="527" r:id="rId23"/>
    <p:sldId id="266" r:id="rId24"/>
    <p:sldId id="519" r:id="rId25"/>
    <p:sldId id="576" r:id="rId26"/>
    <p:sldId id="1448" r:id="rId27"/>
    <p:sldId id="1449" r:id="rId28"/>
    <p:sldId id="283" r:id="rId29"/>
    <p:sldId id="1973" r:id="rId30"/>
    <p:sldId id="1972" r:id="rId31"/>
    <p:sldId id="550" r:id="rId32"/>
  </p:sldIdLst>
  <p:sldSz cx="12192000" cy="6858000"/>
  <p:notesSz cx="6858000" cy="9144000"/>
  <p:embeddedFontLst>
    <p:embeddedFont>
      <p:font typeface="Poppins" panose="00000500000000000000" pitchFamily="2" charset="0"/>
      <p:regular r:id="rId35"/>
      <p:bold r:id="rId36"/>
      <p:italic r:id="rId37"/>
      <p:boldItalic r:id="rId38"/>
    </p:embeddedFont>
    <p:embeddedFont>
      <p:font typeface="Poppins Bold" panose="00000800000000000000" pitchFamily="2" charset="0"/>
      <p:regular r:id="rId39"/>
      <p:bold r:id="rId40"/>
      <p:italic r:id="rId41"/>
      <p:boldItalic r:id="rId42"/>
    </p:embeddedFont>
    <p:embeddedFont>
      <p:font typeface="Poppins Light" panose="00000400000000000000" pitchFamily="2" charset="0"/>
      <p:regular r:id="rId43"/>
      <p:bold r:id="rId44"/>
      <p:italic r:id="rId45"/>
      <p:boldItalic r:id="rId46"/>
    </p:embeddedFont>
    <p:embeddedFont>
      <p:font typeface="Poppins Medium" panose="000006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1" id="{42301B93-682A-4727-B9BC-090271F0C220}">
          <p14:sldIdLst>
            <p14:sldId id="498"/>
            <p14:sldId id="608"/>
            <p14:sldId id="536"/>
            <p14:sldId id="537"/>
            <p14:sldId id="828"/>
            <p14:sldId id="557"/>
            <p14:sldId id="1429"/>
            <p14:sldId id="1430"/>
            <p14:sldId id="1382"/>
            <p14:sldId id="1431"/>
            <p14:sldId id="1391"/>
            <p14:sldId id="1444"/>
            <p14:sldId id="1432"/>
            <p14:sldId id="1392"/>
            <p14:sldId id="855"/>
            <p14:sldId id="1445"/>
            <p14:sldId id="1433"/>
            <p14:sldId id="1434"/>
            <p14:sldId id="527"/>
            <p14:sldId id="266"/>
            <p14:sldId id="519"/>
            <p14:sldId id="576"/>
            <p14:sldId id="1448"/>
            <p14:sldId id="1449"/>
            <p14:sldId id="283"/>
            <p14:sldId id="1973"/>
            <p14:sldId id="1972"/>
            <p14:sldId id="5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93F123-A5E2-A62B-D9E3-D9303D1BB86B}" name="Gustavo Cruz dos Reis" initials="GC" userId="S::greis@vanzolini-ead.org.br::837664e1-438f-44d7-9e01-7f6012fe004f" providerId="AD"/>
  <p188:author id="{6847585A-4F42-89DD-D691-905E424E6AC8}" name="Direitos Autorais" initials="DA" userId="S::direitosautorais@vanzolini-ead.org.br::a458ea69-155c-4a8e-a4bb-1fd63a5f4859" providerId="AD"/>
  <p188:author id="{C6975768-E079-2129-EF66-8C7D8D20589C}" name="Usuário Convidado" initials="UC" userId="S::urn:spo:anon#9c1a6640c4cf430e37b8e52984f4ed92aa1896e2c9d3b1637fd5ce4c8fd5c9d5::" providerId="AD"/>
  <p188:author id="{50A82C6A-F915-E440-2676-7ED0B9B624D1}" name="Lilian Machado" initials="LM" userId="4ac3cebf31a33102" providerId="Windows Live"/>
  <p188:author id="{A42D7C86-2999-ABEF-315C-7093285DA929}" name="Utilizador Convidado" initials="UC" userId="S::urn:spo:tenantanon#4a187474-b69b-445f-9d2d-b39f721fca7f::" providerId="AD"/>
  <p188:author id="{8DD8E787-7B43-E508-6891-C6122D24A71C}" name="Douglas José Mendonça" initials="DM" userId="4153c5f748151241" providerId="Windows Live"/>
  <p188:author id="{EA7E6897-FBE9-9C70-C068-FD298403604C}" name="JOSE AVELINO PLACCA" initials="JP" userId="S::jose.placca@fatec.sp.gov.br::5607103a-18bc-4249-a88b-cf9b68ce5d63" providerId="AD"/>
  <p188:author id="{8467A299-AEEB-4E65-505E-275447848D9D}" name="ACER" initials="A" userId="ACER" providerId="None"/>
  <p188:author id="{E0388DF7-5B9F-86E5-E6C5-3F344187204B}" name="Eloisa Dalbem" initials="ED" userId="S::eldalbem@vanzolini-ead.org.br::9ae0c03a-8642-493e-97df-c9fd93e6c39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A6D3"/>
    <a:srgbClr val="3E3593"/>
    <a:srgbClr val="FB932D"/>
    <a:srgbClr val="E83D68"/>
    <a:srgbClr val="000000"/>
    <a:srgbClr val="FF0000"/>
    <a:srgbClr val="EE0000"/>
    <a:srgbClr val="312F67"/>
    <a:srgbClr val="EC4E58"/>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89241E-8F88-CEA9-A5EF-00502B8FD5A9}" v="2" dt="2025-11-17T14:42:19.325"/>
  </p1510:revLst>
</p1510:revInfo>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0" autoAdjust="0"/>
    <p:restoredTop sz="90661" autoAdjust="0"/>
  </p:normalViewPr>
  <p:slideViewPr>
    <p:cSldViewPr snapToGrid="0">
      <p:cViewPr>
        <p:scale>
          <a:sx n="60" d="100"/>
          <a:sy n="60" d="100"/>
        </p:scale>
        <p:origin x="1507" y="317"/>
      </p:cViewPr>
      <p:guideLst/>
    </p:cSldViewPr>
  </p:slideViewPr>
  <p:notesTextViewPr>
    <p:cViewPr>
      <p:scale>
        <a:sx n="1" d="1"/>
        <a:sy n="1" d="1"/>
      </p:scale>
      <p:origin x="0" y="0"/>
    </p:cViewPr>
  </p:notesTextViewPr>
  <p:notesViewPr>
    <p:cSldViewPr snapToGrid="0">
      <p:cViewPr>
        <p:scale>
          <a:sx n="1" d="2"/>
          <a:sy n="1" d="2"/>
        </p:scale>
        <p:origin x="2176" y="-8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6.xml"/><Relationship Id="rId41" Type="http://schemas.openxmlformats.org/officeDocument/2006/relationships/font" Target="fonts/font7.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font" Target="fonts/font1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29/01/2026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65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i="1" dirty="0"/>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9355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7257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a:extLst>
            <a:ext uri="{FF2B5EF4-FFF2-40B4-BE49-F238E27FC236}">
              <a16:creationId xmlns:a16="http://schemas.microsoft.com/office/drawing/2014/main" id="{C17B253A-D33A-66AC-02D6-390A7960C63F}"/>
            </a:ext>
          </a:extLst>
        </p:cNvPr>
        <p:cNvGrpSpPr/>
        <p:nvPr/>
      </p:nvGrpSpPr>
      <p:grpSpPr>
        <a:xfrm>
          <a:off x="0" y="0"/>
          <a:ext cx="0" cy="0"/>
          <a:chOff x="0" y="0"/>
          <a:chExt cx="0" cy="0"/>
        </a:xfrm>
      </p:grpSpPr>
      <p:sp>
        <p:nvSpPr>
          <p:cNvPr id="688" name="Google Shape;688;p7:notes">
            <a:extLst>
              <a:ext uri="{FF2B5EF4-FFF2-40B4-BE49-F238E27FC236}">
                <a16:creationId xmlns:a16="http://schemas.microsoft.com/office/drawing/2014/main" id="{FF279A7A-E778-9EA2-D416-378DA625D8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89" name="Google Shape;689;p7:notes">
            <a:extLst>
              <a:ext uri="{FF2B5EF4-FFF2-40B4-BE49-F238E27FC236}">
                <a16:creationId xmlns:a16="http://schemas.microsoft.com/office/drawing/2014/main" id="{49D3FE13-802A-F1DB-88CE-4301E69C38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201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F4B4FA1A-3CCF-C51F-0353-C46DFF60904C}"/>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5ABE5921-9E11-63AC-90C1-1811179DAD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3:notes">
            <a:extLst>
              <a:ext uri="{FF2B5EF4-FFF2-40B4-BE49-F238E27FC236}">
                <a16:creationId xmlns:a16="http://schemas.microsoft.com/office/drawing/2014/main" id="{BCD59D41-1F63-EEDD-B67E-E21B0708AC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3032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F4B4FA1A-3CCF-C51F-0353-C46DFF60904C}"/>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5ABE5921-9E11-63AC-90C1-1811179DAD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3:notes">
            <a:extLst>
              <a:ext uri="{FF2B5EF4-FFF2-40B4-BE49-F238E27FC236}">
                <a16:creationId xmlns:a16="http://schemas.microsoft.com/office/drawing/2014/main" id="{BCD59D41-1F63-EEDD-B67E-E21B0708AC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2742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F4B4FA1A-3CCF-C51F-0353-C46DFF60904C}"/>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5ABE5921-9E11-63AC-90C1-1811179DAD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3:notes">
            <a:extLst>
              <a:ext uri="{FF2B5EF4-FFF2-40B4-BE49-F238E27FC236}">
                <a16:creationId xmlns:a16="http://schemas.microsoft.com/office/drawing/2014/main" id="{BCD59D41-1F63-EEDD-B67E-E21B0708AC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0725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F4B4FA1A-3CCF-C51F-0353-C46DFF60904C}"/>
            </a:ext>
          </a:extLst>
        </p:cNvPr>
        <p:cNvGrpSpPr/>
        <p:nvPr/>
      </p:nvGrpSpPr>
      <p:grpSpPr>
        <a:xfrm>
          <a:off x="0" y="0"/>
          <a:ext cx="0" cy="0"/>
          <a:chOff x="0" y="0"/>
          <a:chExt cx="0" cy="0"/>
        </a:xfrm>
      </p:grpSpPr>
      <p:sp>
        <p:nvSpPr>
          <p:cNvPr id="753" name="Google Shape;753;p13:notes">
            <a:extLst>
              <a:ext uri="{FF2B5EF4-FFF2-40B4-BE49-F238E27FC236}">
                <a16:creationId xmlns:a16="http://schemas.microsoft.com/office/drawing/2014/main" id="{5ABE5921-9E11-63AC-90C1-1811179DAD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13:notes">
            <a:extLst>
              <a:ext uri="{FF2B5EF4-FFF2-40B4-BE49-F238E27FC236}">
                <a16:creationId xmlns:a16="http://schemas.microsoft.com/office/drawing/2014/main" id="{BCD59D41-1F63-EEDD-B67E-E21B0708AC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1495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7B7453D5-FE37-90F7-0117-6A1069A4185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E55E856E-71F6-FFFC-27FF-C20FE327B8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C790690E-A198-1BF4-E669-670C98910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8424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42AB70A2-3180-9861-0039-DC415507DFE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6F09FBF1-3C2F-B5CB-CEA8-206685BE0D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2EEC4DC3-AF54-189F-0EBC-BD29887452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469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229870">
              <a:lnSpc>
                <a:spcPct val="107000"/>
              </a:lnSpc>
              <a:spcAft>
                <a:spcPts val="800"/>
              </a:spcAft>
            </a:pPr>
            <a:r>
              <a:rPr lang="pt-BR" sz="1800" kern="100" dirty="0">
                <a:effectLst/>
                <a:latin typeface="Poppins"/>
                <a:ea typeface="Aptos" panose="020B0004020202020204" pitchFamily="34" charset="0"/>
                <a:cs typeface="Poppins"/>
              </a:rPr>
              <a:t>	</a:t>
            </a:r>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6131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448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9448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703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2A6E-D8D6-F54D-B3BD-7B518408FC4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BF15687-AC4D-1E78-AE12-1B131BCCD52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768F59B-AE56-8FDB-82AA-AB1EE02D8BCD}"/>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7044FFA2-238E-3131-F8F0-72AF2243A9B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8313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9" name="Google Shape;129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1300" name="Google Shape;130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CD576-C666-A670-32AD-49C731C1830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8FEDA5A-3CE3-9FB9-E858-970617617CF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037C95E-8874-6AB1-A513-AA556EE392E0}"/>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658A2857-038A-E553-57D1-E3571DBDD43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39075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A03AF-5415-553D-CF20-DE713870326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F956F85-D2B6-9134-E309-E9DC7806531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1A25C0B-4284-D64B-6D09-FF1E3347AE9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D706D76-69F4-2FE1-008F-6B3EF8DAAB7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5430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28</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34332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1B205C6B-DB6C-B8FC-4B85-37E5F9903EBF}"/>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sp>
        <p:nvSpPr>
          <p:cNvPr id="4" name="Retângulo: Cantos Arredondados 3">
            <a:extLst>
              <a:ext uri="{FF2B5EF4-FFF2-40B4-BE49-F238E27FC236}">
                <a16:creationId xmlns:a16="http://schemas.microsoft.com/office/drawing/2014/main" id="{6285F12F-D42E-7BEE-E4B5-CA923B989CBE}"/>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Box 4">
            <a:extLst>
              <a:ext uri="{FF2B5EF4-FFF2-40B4-BE49-F238E27FC236}">
                <a16:creationId xmlns:a16="http://schemas.microsoft.com/office/drawing/2014/main" id="{ED50B723-9EAE-CFF8-9CEA-5F38BA033282}"/>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a:solidFill>
                  <a:srgbClr val="000000"/>
                </a:solidFill>
                <a:latin typeface="Poppins Bold"/>
              </a:rPr>
              <a:t>Educação Profissional Paulista</a:t>
            </a:r>
          </a:p>
        </p:txBody>
      </p:sp>
      <p:sp>
        <p:nvSpPr>
          <p:cNvPr id="9" name="TextBox 5">
            <a:extLst>
              <a:ext uri="{FF2B5EF4-FFF2-40B4-BE49-F238E27FC236}">
                <a16:creationId xmlns:a16="http://schemas.microsoft.com/office/drawing/2014/main" id="{05D0CFBA-2EBC-6673-CD67-089C22549AE1}"/>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a:solidFill>
                  <a:srgbClr val="FFFFFF"/>
                </a:solidFill>
                <a:latin typeface="Poppins Light"/>
              </a:rPr>
              <a:t>Técnico em </a:t>
            </a:r>
          </a:p>
        </p:txBody>
      </p:sp>
      <p:sp>
        <p:nvSpPr>
          <p:cNvPr id="13" name="TextBox 6">
            <a:extLst>
              <a:ext uri="{FF2B5EF4-FFF2-40B4-BE49-F238E27FC236}">
                <a16:creationId xmlns:a16="http://schemas.microsoft.com/office/drawing/2014/main" id="{5B0DCB98-C3C9-13E6-24AE-F489F22059B8}"/>
              </a:ext>
            </a:extLst>
          </p:cNvPr>
          <p:cNvSpPr txBox="1"/>
          <p:nvPr userDrawn="1"/>
        </p:nvSpPr>
        <p:spPr>
          <a:xfrm>
            <a:off x="6116401" y="2879829"/>
            <a:ext cx="3578455" cy="1026178"/>
          </a:xfrm>
          <a:prstGeom prst="rect">
            <a:avLst/>
          </a:prstGeom>
        </p:spPr>
        <p:txBody>
          <a:bodyPr lIns="0" tIns="0" rIns="0" bIns="0" rtlCol="0" anchor="t">
            <a:spAutoFit/>
          </a:bodyPr>
          <a:lstStyle/>
          <a:p>
            <a:pPr>
              <a:lnSpc>
                <a:spcPct val="100000"/>
              </a:lnSpc>
            </a:pPr>
            <a:r>
              <a:rPr lang="pt-BR" sz="3334" noProof="0">
                <a:solidFill>
                  <a:srgbClr val="FFFFFF"/>
                </a:solidFill>
                <a:latin typeface="Poppins Bold"/>
              </a:rPr>
              <a:t>Ciência de</a:t>
            </a:r>
          </a:p>
          <a:p>
            <a:pPr>
              <a:lnSpc>
                <a:spcPct val="100000"/>
              </a:lnSpc>
            </a:pPr>
            <a:r>
              <a:rPr lang="pt-BR" sz="3334" noProof="0">
                <a:solidFill>
                  <a:srgbClr val="FFFFFF"/>
                </a:solidFill>
                <a:latin typeface="Poppins Bold"/>
              </a:rPr>
              <a:t>Dados</a:t>
            </a:r>
          </a:p>
        </p:txBody>
      </p:sp>
      <p:pic>
        <p:nvPicPr>
          <p:cNvPr id="14" name="Imagem 13" descr="Logotipo&#10;&#10;O conteúdo gerado por IA pode estar incorreto.">
            <a:extLst>
              <a:ext uri="{FF2B5EF4-FFF2-40B4-BE49-F238E27FC236}">
                <a16:creationId xmlns:a16="http://schemas.microsoft.com/office/drawing/2014/main" id="{9D70ACF0-E979-A8D7-D512-F246BC0F7870}"/>
              </a:ext>
            </a:extLst>
          </p:cNvPr>
          <p:cNvPicPr>
            <a:picLocks noChangeAspect="1"/>
          </p:cNvPicPr>
          <p:nvPr userDrawn="1"/>
        </p:nvPicPr>
        <p:blipFill>
          <a:blip r:embed="rId2"/>
          <a:srcRect l="12566" t="26436" r="13369" b="26176"/>
          <a:stretch>
            <a:fillRect/>
          </a:stretch>
        </p:blipFill>
        <p:spPr>
          <a:xfrm>
            <a:off x="4828111" y="5385674"/>
            <a:ext cx="2535779" cy="1147457"/>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6C2AF7E8-256C-F1E4-161D-9DE56CD73F5D}"/>
              </a:ext>
            </a:extLst>
          </p:cNvPr>
          <p:cNvPicPr preferRelativeResize="0"/>
          <p:nvPr userDrawn="1"/>
        </p:nvPicPr>
        <p:blipFill rotWithShape="1">
          <a:blip r:embed="rId2">
            <a:alphaModFix/>
          </a:blip>
          <a:srcRect/>
          <a:stretch/>
        </p:blipFill>
        <p:spPr>
          <a:xfrm>
            <a:off x="0" y="12"/>
            <a:ext cx="12192000" cy="6857988"/>
          </a:xfrm>
          <a:prstGeom prst="rect">
            <a:avLst/>
          </a:prstGeom>
          <a:noFill/>
          <a:ln>
            <a:noFill/>
          </a:ln>
        </p:spPr>
      </p:pic>
      <p:sp>
        <p:nvSpPr>
          <p:cNvPr id="10" name="CaixaDeTexto 9">
            <a:extLst>
              <a:ext uri="{FF2B5EF4-FFF2-40B4-BE49-F238E27FC236}">
                <a16:creationId xmlns:a16="http://schemas.microsoft.com/office/drawing/2014/main" id="{2A45CE0D-8E77-7CF6-F388-796C124E305D}"/>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grpSp>
        <p:nvGrpSpPr>
          <p:cNvPr id="11" name="Agrupar 10">
            <a:extLst>
              <a:ext uri="{FF2B5EF4-FFF2-40B4-BE49-F238E27FC236}">
                <a16:creationId xmlns:a16="http://schemas.microsoft.com/office/drawing/2014/main" id="{E78049EF-1975-EB16-953D-E36619F68FE8}"/>
              </a:ext>
            </a:extLst>
          </p:cNvPr>
          <p:cNvGrpSpPr/>
          <p:nvPr userDrawn="1"/>
        </p:nvGrpSpPr>
        <p:grpSpPr>
          <a:xfrm>
            <a:off x="10400796" y="6090630"/>
            <a:ext cx="1791203" cy="767370"/>
            <a:chOff x="10400796" y="6090630"/>
            <a:chExt cx="1791203" cy="767370"/>
          </a:xfrm>
        </p:grpSpPr>
        <p:sp>
          <p:nvSpPr>
            <p:cNvPr id="12" name="Retângulo: Cantos Superiores Arredondados 11">
              <a:extLst>
                <a:ext uri="{FF2B5EF4-FFF2-40B4-BE49-F238E27FC236}">
                  <a16:creationId xmlns:a16="http://schemas.microsoft.com/office/drawing/2014/main" id="{9B987301-F7E7-90E1-C3C6-D35EB130A266}"/>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F77C782F-BCA4-D6D4-F835-EB18417434DD}"/>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5" name="Imagem 14" descr="Logotipo&#10;&#10;O conteúdo gerado por IA pode estar incorreto.">
            <a:extLst>
              <a:ext uri="{FF2B5EF4-FFF2-40B4-BE49-F238E27FC236}">
                <a16:creationId xmlns:a16="http://schemas.microsoft.com/office/drawing/2014/main" id="{A0EFD75F-34A9-0B90-1ECE-66A9FBDD2448}"/>
              </a:ext>
            </a:extLst>
          </p:cNvPr>
          <p:cNvPicPr>
            <a:picLocks noChangeAspect="1"/>
          </p:cNvPicPr>
          <p:nvPr userDrawn="1"/>
        </p:nvPicPr>
        <p:blipFill>
          <a:blip r:embed="rId3"/>
          <a:srcRect l="12566" t="26436" r="13369" b="26176"/>
          <a:stretch>
            <a:fillRect/>
          </a:stretch>
        </p:blipFill>
        <p:spPr>
          <a:xfrm>
            <a:off x="10534930" y="6126882"/>
            <a:ext cx="1539046" cy="696429"/>
          </a:xfrm>
          <a:prstGeom prst="rect">
            <a:avLst/>
          </a:prstGeom>
        </p:spPr>
      </p:pic>
      <p:grpSp>
        <p:nvGrpSpPr>
          <p:cNvPr id="16" name="Agrupar 15">
            <a:extLst>
              <a:ext uri="{FF2B5EF4-FFF2-40B4-BE49-F238E27FC236}">
                <a16:creationId xmlns:a16="http://schemas.microsoft.com/office/drawing/2014/main" id="{202896A8-1884-797D-ED34-B12F5FF3CE36}"/>
              </a:ext>
            </a:extLst>
          </p:cNvPr>
          <p:cNvGrpSpPr/>
          <p:nvPr userDrawn="1"/>
        </p:nvGrpSpPr>
        <p:grpSpPr>
          <a:xfrm>
            <a:off x="0" y="1"/>
            <a:ext cx="8566485" cy="5380264"/>
            <a:chOff x="0" y="0"/>
            <a:chExt cx="8566485" cy="5808133"/>
          </a:xfrm>
        </p:grpSpPr>
        <p:sp>
          <p:nvSpPr>
            <p:cNvPr id="17" name="Retângulo 16">
              <a:extLst>
                <a:ext uri="{FF2B5EF4-FFF2-40B4-BE49-F238E27FC236}">
                  <a16:creationId xmlns:a16="http://schemas.microsoft.com/office/drawing/2014/main" id="{8B9CA4F0-00E4-3F8D-14EC-AA2C0AD0297D}"/>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Cantos Arredondados 17">
              <a:extLst>
                <a:ext uri="{FF2B5EF4-FFF2-40B4-BE49-F238E27FC236}">
                  <a16:creationId xmlns:a16="http://schemas.microsoft.com/office/drawing/2014/main" id="{632A0049-EE08-A14E-BA5E-C5F54491ED7F}"/>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F8A556DD-25BD-4F5D-A400-A832C096D383}"/>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B76C31D2-37DA-7FD1-244A-B2DAF7B70CE5}"/>
              </a:ext>
            </a:extLst>
          </p:cNvPr>
          <p:cNvPicPr preferRelativeResize="0"/>
          <p:nvPr userDrawn="1"/>
        </p:nvPicPr>
        <p:blipFill rotWithShape="1">
          <a:blip r:embed="rId2">
            <a:alphaModFix/>
          </a:blip>
          <a:srcRect/>
          <a:stretch/>
        </p:blipFill>
        <p:spPr>
          <a:xfrm>
            <a:off x="4" y="0"/>
            <a:ext cx="12192000" cy="6857989"/>
          </a:xfrm>
          <a:prstGeom prst="rect">
            <a:avLst/>
          </a:prstGeom>
          <a:noFill/>
          <a:ln>
            <a:noFill/>
          </a:ln>
        </p:spPr>
      </p:pic>
      <p:grpSp>
        <p:nvGrpSpPr>
          <p:cNvPr id="9" name="Agrupar 8">
            <a:extLst>
              <a:ext uri="{FF2B5EF4-FFF2-40B4-BE49-F238E27FC236}">
                <a16:creationId xmlns:a16="http://schemas.microsoft.com/office/drawing/2014/main" id="{42423EFA-CFD4-CD15-2746-F1C448780F71}"/>
              </a:ext>
            </a:extLst>
          </p:cNvPr>
          <p:cNvGrpSpPr/>
          <p:nvPr userDrawn="1"/>
        </p:nvGrpSpPr>
        <p:grpSpPr>
          <a:xfrm>
            <a:off x="0" y="1"/>
            <a:ext cx="8566485" cy="5380264"/>
            <a:chOff x="0" y="0"/>
            <a:chExt cx="8566485" cy="5808133"/>
          </a:xfrm>
        </p:grpSpPr>
        <p:sp>
          <p:nvSpPr>
            <p:cNvPr id="10" name="Retângulo 9">
              <a:extLst>
                <a:ext uri="{FF2B5EF4-FFF2-40B4-BE49-F238E27FC236}">
                  <a16:creationId xmlns:a16="http://schemas.microsoft.com/office/drawing/2014/main" id="{B7192F71-CC67-5CA0-A972-972685421B5E}"/>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Cantos Arredondados 10">
              <a:extLst>
                <a:ext uri="{FF2B5EF4-FFF2-40B4-BE49-F238E27FC236}">
                  <a16:creationId xmlns:a16="http://schemas.microsoft.com/office/drawing/2014/main" id="{6E9AC313-0163-431B-A71E-FC38F1965DB3}"/>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BF3C346E-0836-C290-5635-7F7930CE10AE}"/>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4" name="CaixaDeTexto 13">
            <a:extLst>
              <a:ext uri="{FF2B5EF4-FFF2-40B4-BE49-F238E27FC236}">
                <a16:creationId xmlns:a16="http://schemas.microsoft.com/office/drawing/2014/main" id="{26034709-A16A-1F2C-3904-83E3E2AD742E}"/>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15" name="Google Shape;643;p43">
            <a:extLst>
              <a:ext uri="{FF2B5EF4-FFF2-40B4-BE49-F238E27FC236}">
                <a16:creationId xmlns:a16="http://schemas.microsoft.com/office/drawing/2014/main" id="{83C21FB4-F8A9-5992-19E7-20D68DEFE9DA}"/>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18" name="Google Shape;22;p4">
            <a:extLst>
              <a:ext uri="{FF2B5EF4-FFF2-40B4-BE49-F238E27FC236}">
                <a16:creationId xmlns:a16="http://schemas.microsoft.com/office/drawing/2014/main" id="{0441BF1F-C7EE-076D-0E64-5ADFC9612C2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19" name="Google Shape;23;p4">
            <a:extLst>
              <a:ext uri="{FF2B5EF4-FFF2-40B4-BE49-F238E27FC236}">
                <a16:creationId xmlns:a16="http://schemas.microsoft.com/office/drawing/2014/main" id="{9951514B-0229-7045-2962-7AE28BD6721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Objetivos da aula</a:t>
            </a:r>
            <a:endParaRPr sz="20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Habilidades técnicas</a:t>
            </a:r>
            <a:endParaRPr lang="pt-BR" sz="20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910758"/>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Recursos didáticos</a:t>
            </a:r>
            <a:endParaRPr sz="20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Duração da aula</a:t>
            </a:r>
            <a:endParaRPr sz="20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Habilidades socioemocionais</a:t>
            </a:r>
            <a:endParaRPr lang="pt-BR" sz="20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538284" y="96008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sp>
        <p:nvSpPr>
          <p:cNvPr id="69" name="Google Shape;42;p31">
            <a:extLst>
              <a:ext uri="{FF2B5EF4-FFF2-40B4-BE49-F238E27FC236}">
                <a16:creationId xmlns:a16="http://schemas.microsoft.com/office/drawing/2014/main" id="{9872EE60-7A4F-1BA5-6C65-F74323570E69}"/>
              </a:ext>
            </a:extLst>
          </p:cNvPr>
          <p:cNvSpPr/>
          <p:nvPr userDrawn="1"/>
        </p:nvSpPr>
        <p:spPr>
          <a:xfrm>
            <a:off x="514540" y="2965834"/>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632680" y="3096505"/>
            <a:ext cx="486839" cy="481169"/>
            <a:chOff x="8278989" y="8660410"/>
            <a:chExt cx="569755" cy="563121"/>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516205" y="4700100"/>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658917" y="4858582"/>
            <a:ext cx="380919" cy="380919"/>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6537750" y="974816"/>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6643328" y="1077215"/>
            <a:ext cx="472784" cy="435244"/>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6537750" y="314469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grpSp>
        <p:nvGrpSpPr>
          <p:cNvPr id="7" name="Google Shape;34;p31">
            <a:extLst>
              <a:ext uri="{FF2B5EF4-FFF2-40B4-BE49-F238E27FC236}">
                <a16:creationId xmlns:a16="http://schemas.microsoft.com/office/drawing/2014/main" id="{C430FFE2-579C-F0FF-C290-CF4D2EB9FE97}"/>
              </a:ext>
            </a:extLst>
          </p:cNvPr>
          <p:cNvGrpSpPr/>
          <p:nvPr userDrawn="1"/>
        </p:nvGrpSpPr>
        <p:grpSpPr>
          <a:xfrm>
            <a:off x="664474" y="1066003"/>
            <a:ext cx="428502" cy="428501"/>
            <a:chOff x="9358184" y="2764785"/>
            <a:chExt cx="495514" cy="495513"/>
          </a:xfrm>
        </p:grpSpPr>
        <p:grpSp>
          <p:nvGrpSpPr>
            <p:cNvPr id="9" name="Google Shape;35;p31">
              <a:extLst>
                <a:ext uri="{FF2B5EF4-FFF2-40B4-BE49-F238E27FC236}">
                  <a16:creationId xmlns:a16="http://schemas.microsoft.com/office/drawing/2014/main" id="{75DCD9A7-81F9-4D17-9997-5B22594BE3C9}"/>
                </a:ext>
              </a:extLst>
            </p:cNvPr>
            <p:cNvGrpSpPr/>
            <p:nvPr/>
          </p:nvGrpSpPr>
          <p:grpSpPr>
            <a:xfrm>
              <a:off x="9358184" y="2802389"/>
              <a:ext cx="457909" cy="457909"/>
              <a:chOff x="9358184" y="2802389"/>
              <a:chExt cx="457909" cy="457909"/>
            </a:xfrm>
          </p:grpSpPr>
          <p:sp>
            <p:nvSpPr>
              <p:cNvPr id="14" name="Google Shape;36;p31">
                <a:extLst>
                  <a:ext uri="{FF2B5EF4-FFF2-40B4-BE49-F238E27FC236}">
                    <a16:creationId xmlns:a16="http://schemas.microsoft.com/office/drawing/2014/main" id="{90EABD33-493E-E54A-1A23-1BA99D60F8B0}"/>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5" name="Google Shape;37;p31">
                <a:extLst>
                  <a:ext uri="{FF2B5EF4-FFF2-40B4-BE49-F238E27FC236}">
                    <a16:creationId xmlns:a16="http://schemas.microsoft.com/office/drawing/2014/main" id="{A8D933AC-72DA-D72F-77D3-A7207C548944}"/>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7" name="Google Shape;38;p31">
                <a:extLst>
                  <a:ext uri="{FF2B5EF4-FFF2-40B4-BE49-F238E27FC236}">
                    <a16:creationId xmlns:a16="http://schemas.microsoft.com/office/drawing/2014/main" id="{4A4515EE-AAD5-6566-FB77-56CD51465C34}"/>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12" name="Google Shape;39;p31">
              <a:extLst>
                <a:ext uri="{FF2B5EF4-FFF2-40B4-BE49-F238E27FC236}">
                  <a16:creationId xmlns:a16="http://schemas.microsoft.com/office/drawing/2014/main" id="{C178D74F-1BD9-301F-4848-BDD92A8BD252}"/>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3" name="Google Shape;40;p31">
              <a:extLst>
                <a:ext uri="{FF2B5EF4-FFF2-40B4-BE49-F238E27FC236}">
                  <a16:creationId xmlns:a16="http://schemas.microsoft.com/office/drawing/2014/main" id="{2FB8305B-313B-9DA6-397B-FD10C2E02AD9}"/>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3" name="Google Shape;203;p21">
            <a:extLst>
              <a:ext uri="{FF2B5EF4-FFF2-40B4-BE49-F238E27FC236}">
                <a16:creationId xmlns:a16="http://schemas.microsoft.com/office/drawing/2014/main" id="{04070031-126A-1C18-A638-9AC483966AB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rot="10800000">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4" name="Retângulo: Cantos Arredondados 3">
            <a:extLst>
              <a:ext uri="{FF2B5EF4-FFF2-40B4-BE49-F238E27FC236}">
                <a16:creationId xmlns:a16="http://schemas.microsoft.com/office/drawing/2014/main" id="{C119CB2C-DB79-8138-6B2E-FA8459B315AE}"/>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231;p21">
            <a:extLst>
              <a:ext uri="{FF2B5EF4-FFF2-40B4-BE49-F238E27FC236}">
                <a16:creationId xmlns:a16="http://schemas.microsoft.com/office/drawing/2014/main" id="{A1001A6A-A185-B87A-1413-FE03FEA08B6F}"/>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7413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6" name="Google Shape;203;p21">
            <a:extLst>
              <a:ext uri="{FF2B5EF4-FFF2-40B4-BE49-F238E27FC236}">
                <a16:creationId xmlns:a16="http://schemas.microsoft.com/office/drawing/2014/main" id="{C2D53C5C-653B-C871-5FD5-4980C285D2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rot="10800000">
            <a:off x="0" y="12"/>
            <a:ext cx="12192000" cy="6857989"/>
          </a:xfrm>
          <a:prstGeom prst="rect">
            <a:avLst/>
          </a:prstGeom>
          <a:noFill/>
          <a:ln>
            <a:noFill/>
          </a:ln>
        </p:spPr>
      </p:pic>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Retângulo: Cantos Arredondados 3">
            <a:extLst>
              <a:ext uri="{FF2B5EF4-FFF2-40B4-BE49-F238E27FC236}">
                <a16:creationId xmlns:a16="http://schemas.microsoft.com/office/drawing/2014/main" id="{41EC45B2-209D-9B9A-7CB5-080ECC13649F}"/>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6" name="Google Shape;316;p32">
            <a:extLst>
              <a:ext uri="{FF2B5EF4-FFF2-40B4-BE49-F238E27FC236}">
                <a16:creationId xmlns:a16="http://schemas.microsoft.com/office/drawing/2014/main" id="{7C738FF4-2E01-8DDD-6839-4D26CF39941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775249" cy="6858000"/>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a:solidFill>
                  <a:schemeClr val="bg1"/>
                </a:solidFill>
                <a:latin typeface="Poppins Light" panose="00000400000000000000" pitchFamily="2" charset="0"/>
                <a:cs typeface="Poppins Light" panose="00000400000000000000" pitchFamily="2" charset="0"/>
              </a:rPr>
              <a:t>© Getty </a:t>
            </a:r>
            <a:r>
              <a:rPr lang="pt-BR" sz="800" err="1">
                <a:solidFill>
                  <a:schemeClr val="bg1"/>
                </a:solidFill>
                <a:latin typeface="Poppins Light" panose="00000400000000000000" pitchFamily="2" charset="0"/>
                <a:cs typeface="Poppins Light" panose="00000400000000000000" pitchFamily="2" charset="0"/>
              </a:rPr>
              <a:t>Images</a:t>
            </a:r>
            <a:endParaRPr lang="pt-BR" sz="800">
              <a:solidFill>
                <a:schemeClr val="bg1"/>
              </a:solidFill>
              <a:latin typeface="Poppins Light" panose="00000400000000000000" pitchFamily="2" charset="0"/>
              <a:cs typeface="Poppins Light" panose="00000400000000000000" pitchFamily="2" charset="0"/>
            </a:endParaRP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1</a:t>
            </a:r>
            <a:endParaRPr sz="933"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2</a:t>
            </a:r>
            <a:endParaRPr sz="933"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3</a:t>
            </a:r>
            <a:endParaRPr sz="933"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20" name="Retângulo: Cantos Arredondados 19">
            <a:extLst>
              <a:ext uri="{FF2B5EF4-FFF2-40B4-BE49-F238E27FC236}">
                <a16:creationId xmlns:a16="http://schemas.microsoft.com/office/drawing/2014/main" id="{A5942BED-F6C6-77DB-71BA-00F91991BD76}"/>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1" name="Google Shape;353;p32">
            <a:extLst>
              <a:ext uri="{FF2B5EF4-FFF2-40B4-BE49-F238E27FC236}">
                <a16:creationId xmlns:a16="http://schemas.microsoft.com/office/drawing/2014/main" id="{D3CDD575-C3B0-90FF-FB11-E05D4C33EBF4}"/>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4" name="Google Shape;22;p4">
            <a:extLst>
              <a:ext uri="{FF2B5EF4-FFF2-40B4-BE49-F238E27FC236}">
                <a16:creationId xmlns:a16="http://schemas.microsoft.com/office/drawing/2014/main" id="{96D0DE7F-92AF-A646-0FF2-A77FC5D2471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79131217-7207-B376-583C-711407C3744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397" name="Google Shape;397;p33"/>
          <p:cNvSpPr txBox="1">
            <a:spLocks noGrp="1"/>
          </p:cNvSpPr>
          <p:nvPr>
            <p:ph type="body" idx="5"/>
          </p:nvPr>
        </p:nvSpPr>
        <p:spPr>
          <a:xfrm>
            <a:off x="1450528" y="1854200"/>
            <a:ext cx="8305873" cy="382291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1450528" y="1180890"/>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a:solidFill>
                  <a:srgbClr val="FF161F"/>
                </a:solidFill>
                <a:latin typeface="Poppins"/>
                <a:ea typeface="Poppins"/>
                <a:cs typeface="Poppins"/>
                <a:sym typeface="Poppins"/>
              </a:rPr>
              <a:t>Referências</a:t>
            </a:r>
            <a:r>
              <a:rPr lang="en-US" sz="3200" b="1" i="0" u="none" strike="noStrike" cap="none">
                <a:solidFill>
                  <a:srgbClr val="FF161F"/>
                </a:solidFill>
                <a:latin typeface="Poppins"/>
                <a:ea typeface="Poppins"/>
                <a:cs typeface="Poppins"/>
                <a:sym typeface="Poppins"/>
              </a:rPr>
              <a:t> da aula</a:t>
            </a:r>
            <a:endParaRPr sz="3200" b="0" i="0" u="none" strike="noStrike" cap="none">
              <a:solidFill>
                <a:srgbClr val="FF161F"/>
              </a:solidFill>
              <a:latin typeface="Poppins"/>
              <a:ea typeface="Poppins"/>
              <a:cs typeface="Poppins"/>
              <a:sym typeface="Poppins"/>
            </a:endParaRPr>
          </a:p>
        </p:txBody>
      </p:sp>
      <p:grpSp>
        <p:nvGrpSpPr>
          <p:cNvPr id="2" name="Google Shape;83;p33">
            <a:extLst>
              <a:ext uri="{FF2B5EF4-FFF2-40B4-BE49-F238E27FC236}">
                <a16:creationId xmlns:a16="http://schemas.microsoft.com/office/drawing/2014/main" id="{99B13E2C-86F9-9577-1977-CB4BF8689452}"/>
              </a:ext>
            </a:extLst>
          </p:cNvPr>
          <p:cNvGrpSpPr/>
          <p:nvPr userDrawn="1"/>
        </p:nvGrpSpPr>
        <p:grpSpPr>
          <a:xfrm>
            <a:off x="9756405" y="6381592"/>
            <a:ext cx="2435595" cy="499855"/>
            <a:chOff x="14634602" y="9537218"/>
            <a:chExt cx="3653392" cy="749782"/>
          </a:xfrm>
        </p:grpSpPr>
        <p:pic>
          <p:nvPicPr>
            <p:cNvPr id="3" name="Google Shape;84;p33">
              <a:extLst>
                <a:ext uri="{FF2B5EF4-FFF2-40B4-BE49-F238E27FC236}">
                  <a16:creationId xmlns:a16="http://schemas.microsoft.com/office/drawing/2014/main" id="{528201CC-2972-468B-238F-B2272A66AECD}"/>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6" name="Google Shape;85;p33" descr="Logotipo">
              <a:extLst>
                <a:ext uri="{FF2B5EF4-FFF2-40B4-BE49-F238E27FC236}">
                  <a16:creationId xmlns:a16="http://schemas.microsoft.com/office/drawing/2014/main" id="{B5CD74B4-4E1B-E700-E6DE-3D9F16A27D79}"/>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Tree>
    <p:extLst>
      <p:ext uri="{BB962C8B-B14F-4D97-AF65-F5344CB8AC3E}">
        <p14:creationId xmlns:p14="http://schemas.microsoft.com/office/powerpoint/2010/main" val="6593096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5E705E55-01E4-945B-7072-330DFCE9FFC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3" name="Google Shape;23;p4">
            <a:extLst>
              <a:ext uri="{FF2B5EF4-FFF2-40B4-BE49-F238E27FC236}">
                <a16:creationId xmlns:a16="http://schemas.microsoft.com/office/drawing/2014/main" id="{F49E36B5-2934-9CA4-7B2E-4F438B27C5E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6" name="Retângulo: Cantos Arredondados 5">
            <a:extLst>
              <a:ext uri="{FF2B5EF4-FFF2-40B4-BE49-F238E27FC236}">
                <a16:creationId xmlns:a16="http://schemas.microsoft.com/office/drawing/2014/main" id="{A59A4611-76B4-7C12-6A8D-2D6B5D12619F}"/>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Google Shape;101;p34">
            <a:extLst>
              <a:ext uri="{FF2B5EF4-FFF2-40B4-BE49-F238E27FC236}">
                <a16:creationId xmlns:a16="http://schemas.microsoft.com/office/drawing/2014/main" id="{4F9A883F-4950-1E46-A8E0-5B4142728582}"/>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210429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Tree>
    <p:extLst>
      <p:ext uri="{BB962C8B-B14F-4D97-AF65-F5344CB8AC3E}">
        <p14:creationId xmlns:p14="http://schemas.microsoft.com/office/powerpoint/2010/main" val="1358944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userDrawn="1">
  <p:cSld name="2_3. Conteudo">
    <p:spTree>
      <p:nvGrpSpPr>
        <p:cNvPr id="1" name="Shape 104"/>
        <p:cNvGrpSpPr/>
        <p:nvPr/>
      </p:nvGrpSpPr>
      <p:grpSpPr>
        <a:xfrm>
          <a:off x="0" y="0"/>
          <a:ext cx="0" cy="0"/>
          <a:chOff x="0" y="0"/>
          <a:chExt cx="0" cy="0"/>
        </a:xfrm>
      </p:grpSpPr>
      <p:pic>
        <p:nvPicPr>
          <p:cNvPr id="6" name="Google Shape;113;p10">
            <a:extLst>
              <a:ext uri="{FF2B5EF4-FFF2-40B4-BE49-F238E27FC236}">
                <a16:creationId xmlns:a16="http://schemas.microsoft.com/office/drawing/2014/main" id="{F0494D6C-0775-1679-6C69-816F3881D1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2" y="0"/>
            <a:ext cx="3095624" cy="6858000"/>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8734269" y="-18987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3131671" y="-47811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2342777" y="-53788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3" name="Espaço Reservado para Texto 8">
            <a:extLst>
              <a:ext uri="{FF2B5EF4-FFF2-40B4-BE49-F238E27FC236}">
                <a16:creationId xmlns:a16="http://schemas.microsoft.com/office/drawing/2014/main" id="{6B4BF7EF-FB5E-D8D4-26C0-433E9665A2C1}"/>
              </a:ext>
            </a:extLst>
          </p:cNvPr>
          <p:cNvSpPr>
            <a:spLocks noGrp="1"/>
          </p:cNvSpPr>
          <p:nvPr>
            <p:ph type="body" sz="quarter" idx="12" hasCustomPrompt="1"/>
          </p:nvPr>
        </p:nvSpPr>
        <p:spPr>
          <a:xfrm>
            <a:off x="3598334" y="2009776"/>
            <a:ext cx="8080375" cy="3739091"/>
          </a:xfrm>
          <a:prstGeom prst="rect">
            <a:avLst/>
          </a:prstGeom>
          <a:solidFill>
            <a:srgbClr val="D9D9D9"/>
          </a:solidFill>
        </p:spPr>
        <p:txBody>
          <a:bodyPr/>
          <a:lstStyle>
            <a:lvl1pPr>
              <a:defRPr sz="1400" b="0" i="0">
                <a:latin typeface="Poppins" pitchFamily="2" charset="77"/>
                <a:cs typeface="Poppins" pitchFamily="2" charset="77"/>
              </a:defRPr>
            </a:lvl1pPr>
          </a:lstStyle>
          <a:p>
            <a:r>
              <a:rPr lang="pt-BR"/>
              <a:t>Inserir &gt; Mídia &gt; Vídeo &gt; Vídeos online</a:t>
            </a:r>
          </a:p>
        </p:txBody>
      </p:sp>
      <p:sp>
        <p:nvSpPr>
          <p:cNvPr id="8" name="Retângulo: Cantos Arredondados 7">
            <a:extLst>
              <a:ext uri="{FF2B5EF4-FFF2-40B4-BE49-F238E27FC236}">
                <a16:creationId xmlns:a16="http://schemas.microsoft.com/office/drawing/2014/main" id="{C59D7219-DC17-DEB6-25DD-53728B4F243E}"/>
              </a:ext>
            </a:extLst>
          </p:cNvPr>
          <p:cNvSpPr/>
          <p:nvPr userDrawn="1"/>
        </p:nvSpPr>
        <p:spPr>
          <a:xfrm>
            <a:off x="200185" y="269162"/>
            <a:ext cx="2290073" cy="167139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Google Shape;82;p33">
            <a:extLst>
              <a:ext uri="{FF2B5EF4-FFF2-40B4-BE49-F238E27FC236}">
                <a16:creationId xmlns:a16="http://schemas.microsoft.com/office/drawing/2014/main" id="{7BC7005C-5432-EBA4-F491-9F1FB2677CE0}"/>
              </a:ext>
            </a:extLst>
          </p:cNvPr>
          <p:cNvSpPr txBox="1"/>
          <p:nvPr userDrawn="1"/>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a:solidFill>
                  <a:schemeClr val="lt1"/>
                </a:solidFill>
                <a:latin typeface="Poppins Light" pitchFamily="2" charset="77"/>
                <a:ea typeface="Poppins Medium"/>
                <a:cs typeface="Poppins Light" pitchFamily="2" charset="77"/>
                <a:sym typeface="Poppins Medium"/>
              </a:rPr>
              <a:t>Ponto</a:t>
            </a:r>
            <a:r>
              <a:rPr lang="pt-BR" sz="2333" b="0" i="0" u="none" strike="noStrike" cap="none">
                <a:solidFill>
                  <a:schemeClr val="lt1"/>
                </a:solidFill>
                <a:latin typeface="Poppins Medium"/>
                <a:ea typeface="Poppins Medium"/>
                <a:cs typeface="Poppins Medium"/>
                <a:sym typeface="Poppins Medium"/>
              </a:rPr>
              <a:t> </a:t>
            </a:r>
            <a:r>
              <a:rPr lang="pt-BR" sz="2333" b="0" i="0" u="none" strike="noStrike" cap="none">
                <a:solidFill>
                  <a:schemeClr val="lt1"/>
                </a:solidFill>
                <a:latin typeface="Poppins Light" pitchFamily="2" charset="77"/>
                <a:ea typeface="Poppins Medium"/>
                <a:cs typeface="Poppins Light" pitchFamily="2" charset="77"/>
                <a:sym typeface="Poppins Medium"/>
              </a:rPr>
              <a:t>de</a:t>
            </a:r>
            <a:r>
              <a:rPr lang="pt-BR" sz="2333" b="0" i="0" u="none" strike="noStrike" cap="none">
                <a:solidFill>
                  <a:schemeClr val="lt1"/>
                </a:solidFill>
                <a:latin typeface="Poppins Medium"/>
                <a:ea typeface="Poppins Medium"/>
                <a:cs typeface="Poppins Medium"/>
                <a:sym typeface="Poppins Medium"/>
              </a:rPr>
              <a:t> </a:t>
            </a:r>
            <a:r>
              <a:rPr lang="pt-BR" sz="2333" b="1" i="0" u="none" strike="noStrike" cap="none">
                <a:solidFill>
                  <a:schemeClr val="lt1"/>
                </a:solidFill>
                <a:latin typeface="Poppins"/>
                <a:ea typeface="Poppins"/>
                <a:cs typeface="Poppins"/>
                <a:sym typeface="Poppins"/>
              </a:rPr>
              <a:t>partida</a:t>
            </a:r>
            <a:endParaRPr sz="2333" b="0" i="0" u="none" strike="noStrike" cap="none">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15450520"/>
      </p:ext>
    </p:extLst>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4774E8B0-98E0-7A0D-DD6A-31206E95DE3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54770894-68D4-3162-22A1-63B498C9AC03}"/>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13" name="Espaço Reservado para Texto 12">
            <a:extLst>
              <a:ext uri="{FF2B5EF4-FFF2-40B4-BE49-F238E27FC236}">
                <a16:creationId xmlns:a16="http://schemas.microsoft.com/office/drawing/2014/main" id="{1C904D48-A0F9-60D5-EB49-9DF762449177}"/>
              </a:ext>
            </a:extLst>
          </p:cNvPr>
          <p:cNvSpPr>
            <a:spLocks noGrp="1"/>
          </p:cNvSpPr>
          <p:nvPr>
            <p:ph type="body" sz="quarter" idx="10"/>
          </p:nvPr>
        </p:nvSpPr>
        <p:spPr>
          <a:xfrm>
            <a:off x="3178176" y="1031875"/>
            <a:ext cx="4616450" cy="536575"/>
          </a:xfrm>
          <a:prstGeom prst="rect">
            <a:avLst/>
          </a:prstGeom>
        </p:spPr>
        <p:txBody>
          <a:bodyPr/>
          <a:lstStyle/>
          <a:p>
            <a:pPr lvl="0"/>
            <a:endParaRPr lang="pt-BR"/>
          </a:p>
        </p:txBody>
      </p:sp>
      <p:sp>
        <p:nvSpPr>
          <p:cNvPr id="3" name="Retângulo: Cantos Arredondados 2">
            <a:extLst>
              <a:ext uri="{FF2B5EF4-FFF2-40B4-BE49-F238E27FC236}">
                <a16:creationId xmlns:a16="http://schemas.microsoft.com/office/drawing/2014/main" id="{177AEE03-94FC-DCD7-27BC-3ED6A259BC3E}"/>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101;p34">
            <a:extLst>
              <a:ext uri="{FF2B5EF4-FFF2-40B4-BE49-F238E27FC236}">
                <a16:creationId xmlns:a16="http://schemas.microsoft.com/office/drawing/2014/main" id="{9DAB8439-CC61-D941-08A1-F3CC6F2BFC42}"/>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729899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EstudoCaso" userDrawn="1">
  <p:cSld name="3_EstudoCaso">
    <p:spTree>
      <p:nvGrpSpPr>
        <p:cNvPr id="1" name="Shape 513"/>
        <p:cNvGrpSpPr/>
        <p:nvPr/>
      </p:nvGrpSpPr>
      <p:grpSpPr>
        <a:xfrm>
          <a:off x="0" y="0"/>
          <a:ext cx="0" cy="0"/>
          <a:chOff x="0" y="0"/>
          <a:chExt cx="0" cy="0"/>
        </a:xfrm>
      </p:grpSpPr>
      <p:pic>
        <p:nvPicPr>
          <p:cNvPr id="2" name="Google Shape;113;p10">
            <a:extLst>
              <a:ext uri="{FF2B5EF4-FFF2-40B4-BE49-F238E27FC236}">
                <a16:creationId xmlns:a16="http://schemas.microsoft.com/office/drawing/2014/main" id="{6DB00E26-BCDE-0E55-ED92-7563396D697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218199" cy="6858000"/>
          </a:xfrm>
          <a:prstGeom prst="rect">
            <a:avLst/>
          </a:prstGeom>
          <a:noFill/>
          <a:ln>
            <a:noFill/>
          </a:ln>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3641085" y="1210734"/>
            <a:ext cx="7610475" cy="2825557"/>
          </a:xfrm>
          <a:prstGeom prst="rect">
            <a:avLst/>
          </a:prstGeom>
          <a:solidFill>
            <a:srgbClr val="D9D9D9"/>
          </a:solidFill>
        </p:spPr>
        <p:txBody>
          <a:bodyPr/>
          <a:lstStyle>
            <a:lvl1pPr>
              <a:defRPr sz="12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4736123" y="-644769"/>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7" name="Retângulo: Cantos Arredondados 6">
            <a:extLst>
              <a:ext uri="{FF2B5EF4-FFF2-40B4-BE49-F238E27FC236}">
                <a16:creationId xmlns:a16="http://schemas.microsoft.com/office/drawing/2014/main" id="{A9E89BBA-BD4E-FECF-D83E-E20E7209C7C0}"/>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21879357"/>
      </p:ext>
    </p:extLst>
  </p:cSld>
  <p:clrMapOvr>
    <a:masterClrMapping/>
  </p:clrMapOvr>
  <p:extLst>
    <p:ext uri="{DCECCB84-F9BA-43D5-87BE-67443E8EF086}">
      <p15:sldGuideLst xmlns:p15="http://schemas.microsoft.com/office/powerpoint/2012/main">
        <p15:guide id="1" orient="horz" pos="542">
          <p15:clr>
            <a:srgbClr val="FBAE40"/>
          </p15:clr>
        </p15:guide>
        <p15:guide id="2" pos="228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10" r:id="rId4"/>
    <p:sldLayoutId id="2147483713" r:id="rId5"/>
    <p:sldLayoutId id="2147483701" r:id="rId6"/>
    <p:sldLayoutId id="2147483658" r:id="rId7"/>
    <p:sldLayoutId id="2147483705" r:id="rId8"/>
    <p:sldLayoutId id="2147483707" r:id="rId9"/>
    <p:sldLayoutId id="2147483757" r:id="rId10"/>
    <p:sldLayoutId id="2147483730" r:id="rId11"/>
    <p:sldLayoutId id="2147483764" r:id="rId12"/>
    <p:sldLayoutId id="2147483765" r:id="rId13"/>
    <p:sldLayoutId id="214748376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1.sv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emf"/></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13.xml"/><Relationship Id="rId4" Type="http://schemas.openxmlformats.org/officeDocument/2006/relationships/image" Target="../media/image26.sv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hemeOverride" Target="../theme/themeOverride1.xml"/><Relationship Id="rId5" Type="http://schemas.openxmlformats.org/officeDocument/2006/relationships/image" Target="../media/image21.sv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hemeOverride" Target="../theme/themeOverride2.xml"/><Relationship Id="rId5" Type="http://schemas.openxmlformats.org/officeDocument/2006/relationships/image" Target="../media/image21.sv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hfxfJ7Qa4sg"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2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43.svg"/><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36.png"/><Relationship Id="rId5" Type="http://schemas.openxmlformats.org/officeDocument/2006/relationships/image" Target="../media/image42.sv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075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 name="Google Shape;643;p43">
            <a:extLst>
              <a:ext uri="{FF2B5EF4-FFF2-40B4-BE49-F238E27FC236}">
                <a16:creationId xmlns:a16="http://schemas.microsoft.com/office/drawing/2014/main" id="{21B44D14-C032-9E7B-6137-9125CF4AE115}"/>
              </a:ext>
            </a:extLst>
          </p:cNvPr>
          <p:cNvSpPr txBox="1">
            <a:spLocks/>
          </p:cNvSpPr>
          <p:nvPr/>
        </p:nvSpPr>
        <p:spPr>
          <a:xfrm>
            <a:off x="1018824" y="1336063"/>
            <a:ext cx="6003459"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200" dirty="0">
                <a:solidFill>
                  <a:srgbClr val="FF161F"/>
                </a:solidFill>
              </a:rPr>
              <a:t>Introdução à Informática</a:t>
            </a:r>
          </a:p>
        </p:txBody>
      </p:sp>
      <p:sp>
        <p:nvSpPr>
          <p:cNvPr id="8" name="Google Shape;643;p43">
            <a:extLst>
              <a:ext uri="{FF2B5EF4-FFF2-40B4-BE49-F238E27FC236}">
                <a16:creationId xmlns:a16="http://schemas.microsoft.com/office/drawing/2014/main" id="{79C53378-5638-4394-B211-79094EBC8787}"/>
              </a:ext>
            </a:extLst>
          </p:cNvPr>
          <p:cNvSpPr txBox="1">
            <a:spLocks/>
          </p:cNvSpPr>
          <p:nvPr/>
        </p:nvSpPr>
        <p:spPr>
          <a:xfrm>
            <a:off x="613180" y="2221967"/>
            <a:ext cx="6814747" cy="469116"/>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4500"/>
              <a:defRPr/>
            </a:pPr>
            <a:r>
              <a:rPr lang="pt-BR" sz="2600" b="1" dirty="0">
                <a:solidFill>
                  <a:schemeClr val="tx1"/>
                </a:solidFill>
                <a:latin typeface="Poppins" panose="00000500000000000000" pitchFamily="2" charset="0"/>
                <a:cs typeface="Poppins" pitchFamily="2" charset="77"/>
              </a:rPr>
              <a:t>Organização digital e produtividade II</a:t>
            </a:r>
          </a:p>
        </p:txBody>
      </p:sp>
      <p:sp>
        <p:nvSpPr>
          <p:cNvPr id="9" name="Google Shape;644;p43">
            <a:extLst>
              <a:ext uri="{FF2B5EF4-FFF2-40B4-BE49-F238E27FC236}">
                <a16:creationId xmlns:a16="http://schemas.microsoft.com/office/drawing/2014/main" id="{B612F43F-1A04-48AE-A3B3-9823407766F9}"/>
              </a:ext>
            </a:extLst>
          </p:cNvPr>
          <p:cNvSpPr txBox="1">
            <a:spLocks/>
          </p:cNvSpPr>
          <p:nvPr/>
        </p:nvSpPr>
        <p:spPr>
          <a:xfrm>
            <a:off x="613180" y="3027576"/>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defTabSz="609630">
              <a:spcBef>
                <a:spcPts val="0"/>
              </a:spcBef>
              <a:buClr>
                <a:srgbClr val="000000"/>
              </a:buClr>
              <a:defRPr/>
            </a:pPr>
            <a:r>
              <a:rPr lang="pt-BR" sz="1800" b="0" dirty="0">
                <a:solidFill>
                  <a:schemeClr val="bg1">
                    <a:lumMod val="75000"/>
                  </a:schemeClr>
                </a:solidFill>
                <a:latin typeface="Poppins Medium" panose="00000600000000000000" pitchFamily="2" charset="0"/>
                <a:cs typeface="Poppins Medium" panose="00000600000000000000" pitchFamily="2" charset="0"/>
              </a:rPr>
              <a:t>Aula 1: Multitarefas e uso consciente de recursos</a:t>
            </a:r>
          </a:p>
        </p:txBody>
      </p:sp>
      <p:sp>
        <p:nvSpPr>
          <p:cNvPr id="10" name="Google Shape;644;p43">
            <a:extLst>
              <a:ext uri="{FF2B5EF4-FFF2-40B4-BE49-F238E27FC236}">
                <a16:creationId xmlns:a16="http://schemas.microsoft.com/office/drawing/2014/main" id="{29D62C2D-8EF0-4993-A4E9-775F2B38E16E}"/>
              </a:ext>
            </a:extLst>
          </p:cNvPr>
          <p:cNvSpPr txBox="1">
            <a:spLocks/>
          </p:cNvSpPr>
          <p:nvPr/>
        </p:nvSpPr>
        <p:spPr>
          <a:xfrm>
            <a:off x="613180" y="3650557"/>
            <a:ext cx="6814747" cy="69923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2500"/>
              <a:defRPr/>
            </a:pPr>
            <a:r>
              <a:rPr lang="pt-BR" sz="1800" dirty="0">
                <a:latin typeface="Poppins" panose="00000500000000000000" pitchFamily="2" charset="0"/>
                <a:cs typeface="Poppins"/>
              </a:rPr>
              <a:t>Código da aula: DADOSANO1C1B2S10A1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5D7D75E9-0F4B-DBE3-CC79-711BCF1FE0C8}"/>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1999" r="949"/>
          <a:stretch/>
        </p:blipFill>
        <p:spPr>
          <a:xfrm>
            <a:off x="-5171" y="1336655"/>
            <a:ext cx="12197171" cy="4987270"/>
          </a:xfrm>
          <a:prstGeom prst="rect">
            <a:avLst/>
          </a:prstGeom>
        </p:spPr>
      </p:pic>
      <p:sp>
        <p:nvSpPr>
          <p:cNvPr id="6" name="Google Shape;293;p3">
            <a:extLst>
              <a:ext uri="{FF2B5EF4-FFF2-40B4-BE49-F238E27FC236}">
                <a16:creationId xmlns:a16="http://schemas.microsoft.com/office/drawing/2014/main" id="{EA53E5E4-D3ED-749E-28C3-DEE2A2835353}"/>
              </a:ext>
            </a:extLst>
          </p:cNvPr>
          <p:cNvSpPr/>
          <p:nvPr/>
        </p:nvSpPr>
        <p:spPr>
          <a:xfrm rot="-3438299">
            <a:off x="3101898" y="4687148"/>
            <a:ext cx="210524" cy="210524"/>
          </a:xfrm>
          <a:prstGeom prst="ellipse">
            <a:avLst/>
          </a:prstGeom>
          <a:solidFill>
            <a:schemeClr val="tx1"/>
          </a:solidFill>
          <a:ln>
            <a:noFill/>
          </a:ln>
        </p:spPr>
        <p:txBody>
          <a:bodyPr spcFirstLastPara="1" wrap="square" lIns="60950" tIns="30467" rIns="60950" bIns="30467" anchor="ctr" anchorCtr="0">
            <a:noAutofit/>
          </a:bodyPr>
          <a:lstStyle/>
          <a:p>
            <a:pPr algn="r">
              <a:buSzPts val="2700"/>
            </a:pPr>
            <a:endParaRPr sz="1800" dirty="0">
              <a:solidFill>
                <a:schemeClr val="tx1"/>
              </a:solidFill>
              <a:latin typeface="Calibri"/>
              <a:ea typeface="Calibri"/>
              <a:cs typeface="Calibri"/>
              <a:sym typeface="Calibri"/>
            </a:endParaRPr>
          </a:p>
        </p:txBody>
      </p:sp>
      <p:sp>
        <p:nvSpPr>
          <p:cNvPr id="11" name="Google Shape;298;p3">
            <a:extLst>
              <a:ext uri="{FF2B5EF4-FFF2-40B4-BE49-F238E27FC236}">
                <a16:creationId xmlns:a16="http://schemas.microsoft.com/office/drawing/2014/main" id="{4A2899B7-3121-4E75-668A-D6819BA310CC}"/>
              </a:ext>
            </a:extLst>
          </p:cNvPr>
          <p:cNvSpPr/>
          <p:nvPr/>
        </p:nvSpPr>
        <p:spPr>
          <a:xfrm rot="8953789">
            <a:off x="6038168" y="1499766"/>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5" name="Google Shape;302;p3">
            <a:extLst>
              <a:ext uri="{FF2B5EF4-FFF2-40B4-BE49-F238E27FC236}">
                <a16:creationId xmlns:a16="http://schemas.microsoft.com/office/drawing/2014/main" id="{B526F078-F664-0138-7558-AC45725A848F}"/>
              </a:ext>
            </a:extLst>
          </p:cNvPr>
          <p:cNvSpPr/>
          <p:nvPr/>
        </p:nvSpPr>
        <p:spPr>
          <a:xfrm rot="-4951757">
            <a:off x="7445899" y="244551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6" name="Google Shape;303;p3">
            <a:extLst>
              <a:ext uri="{FF2B5EF4-FFF2-40B4-BE49-F238E27FC236}">
                <a16:creationId xmlns:a16="http://schemas.microsoft.com/office/drawing/2014/main" id="{F56660FF-75DD-636F-27CC-F8F675E987DE}"/>
              </a:ext>
            </a:extLst>
          </p:cNvPr>
          <p:cNvSpPr/>
          <p:nvPr/>
        </p:nvSpPr>
        <p:spPr>
          <a:xfrm rot="-2290074">
            <a:off x="8128877" y="5906090"/>
            <a:ext cx="210524" cy="210524"/>
          </a:xfrm>
          <a:prstGeom prst="ellipse">
            <a:avLst/>
          </a:prstGeom>
          <a:solidFill>
            <a:srgbClr val="FF0000"/>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21" name="Google Shape;308;p3">
            <a:extLst>
              <a:ext uri="{FF2B5EF4-FFF2-40B4-BE49-F238E27FC236}">
                <a16:creationId xmlns:a16="http://schemas.microsoft.com/office/drawing/2014/main" id="{4808A2D2-A4FC-3D56-47CE-166BBAB51C4E}"/>
              </a:ext>
            </a:extLst>
          </p:cNvPr>
          <p:cNvSpPr/>
          <p:nvPr/>
        </p:nvSpPr>
        <p:spPr>
          <a:xfrm rot="4160691">
            <a:off x="9504311" y="402326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grpSp>
        <p:nvGrpSpPr>
          <p:cNvPr id="49" name="Agrupar 48">
            <a:extLst>
              <a:ext uri="{FF2B5EF4-FFF2-40B4-BE49-F238E27FC236}">
                <a16:creationId xmlns:a16="http://schemas.microsoft.com/office/drawing/2014/main" id="{2ADF4355-9ECC-B4E2-9FBC-DA12643DF645}"/>
              </a:ext>
            </a:extLst>
          </p:cNvPr>
          <p:cNvGrpSpPr/>
          <p:nvPr/>
        </p:nvGrpSpPr>
        <p:grpSpPr>
          <a:xfrm>
            <a:off x="587293" y="1657363"/>
            <a:ext cx="11429063" cy="4353397"/>
            <a:chOff x="880938" y="2486044"/>
            <a:chExt cx="17143595" cy="6530095"/>
          </a:xfrm>
          <a:solidFill>
            <a:srgbClr val="3E3593"/>
          </a:solidFill>
        </p:grpSpPr>
        <p:sp>
          <p:nvSpPr>
            <p:cNvPr id="3" name="Google Shape;290;p3">
              <a:extLst>
                <a:ext uri="{FF2B5EF4-FFF2-40B4-BE49-F238E27FC236}">
                  <a16:creationId xmlns:a16="http://schemas.microsoft.com/office/drawing/2014/main" id="{AE89209E-AD43-F36B-EC55-50B97549360D}"/>
                </a:ext>
              </a:extLst>
            </p:cNvPr>
            <p:cNvSpPr/>
            <p:nvPr/>
          </p:nvSpPr>
          <p:spPr>
            <a:xfrm>
              <a:off x="880938"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4" name="Google Shape;291;p3">
              <a:extLst>
                <a:ext uri="{FF2B5EF4-FFF2-40B4-BE49-F238E27FC236}">
                  <a16:creationId xmlns:a16="http://schemas.microsoft.com/office/drawing/2014/main" id="{EB71AE8F-D310-98D6-CA71-79035040DEC1}"/>
                </a:ext>
              </a:extLst>
            </p:cNvPr>
            <p:cNvSpPr/>
            <p:nvPr/>
          </p:nvSpPr>
          <p:spPr>
            <a:xfrm>
              <a:off x="2332293"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5" name="Google Shape;292;p3">
              <a:extLst>
                <a:ext uri="{FF2B5EF4-FFF2-40B4-BE49-F238E27FC236}">
                  <a16:creationId xmlns:a16="http://schemas.microsoft.com/office/drawing/2014/main" id="{6C307A4F-094A-23FC-557D-912DF9A29E01}"/>
                </a:ext>
              </a:extLst>
            </p:cNvPr>
            <p:cNvSpPr/>
            <p:nvPr/>
          </p:nvSpPr>
          <p:spPr>
            <a:xfrm>
              <a:off x="3751845" y="8108805"/>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7" name="Google Shape;294;p3">
              <a:extLst>
                <a:ext uri="{FF2B5EF4-FFF2-40B4-BE49-F238E27FC236}">
                  <a16:creationId xmlns:a16="http://schemas.microsoft.com/office/drawing/2014/main" id="{916F17AB-B0F5-C1FB-97C4-50122119F3CA}"/>
                </a:ext>
              </a:extLst>
            </p:cNvPr>
            <p:cNvSpPr/>
            <p:nvPr/>
          </p:nvSpPr>
          <p:spPr>
            <a:xfrm rot="-3438299">
              <a:off x="5201643" y="5679995"/>
              <a:ext cx="315786" cy="315786"/>
            </a:xfrm>
            <a:prstGeom prst="ellipse">
              <a:avLst/>
            </a:prstGeom>
            <a:grpFill/>
            <a:ln>
              <a:noFill/>
            </a:ln>
          </p:spPr>
          <p:txBody>
            <a:bodyPr spcFirstLastPara="1" wrap="square" lIns="60950" tIns="30467" rIns="60950" bIns="30467" anchor="ctr" anchorCtr="0">
              <a:noAutofit/>
            </a:bodyPr>
            <a:lstStyle/>
            <a:p>
              <a:pPr algn="r">
                <a:buSzPts val="2700"/>
              </a:pPr>
              <a:endParaRPr sz="1800" dirty="0">
                <a:solidFill>
                  <a:srgbClr val="E38099"/>
                </a:solidFill>
                <a:latin typeface="Calibri"/>
                <a:ea typeface="Calibri"/>
                <a:cs typeface="Calibri"/>
                <a:sym typeface="Calibri"/>
              </a:endParaRPr>
            </a:p>
          </p:txBody>
        </p:sp>
        <p:sp>
          <p:nvSpPr>
            <p:cNvPr id="8" name="Google Shape;295;p3">
              <a:extLst>
                <a:ext uri="{FF2B5EF4-FFF2-40B4-BE49-F238E27FC236}">
                  <a16:creationId xmlns:a16="http://schemas.microsoft.com/office/drawing/2014/main" id="{0A8D9351-46FD-D23A-3037-C46C45F92D91}"/>
                </a:ext>
              </a:extLst>
            </p:cNvPr>
            <p:cNvSpPr/>
            <p:nvPr/>
          </p:nvSpPr>
          <p:spPr>
            <a:xfrm rot="-911770">
              <a:off x="6624186" y="541966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9" name="Google Shape;296;p3">
              <a:extLst>
                <a:ext uri="{FF2B5EF4-FFF2-40B4-BE49-F238E27FC236}">
                  <a16:creationId xmlns:a16="http://schemas.microsoft.com/office/drawing/2014/main" id="{22631971-8A49-57CD-7FBA-7BE977CEAB6E}"/>
                </a:ext>
              </a:extLst>
            </p:cNvPr>
            <p:cNvSpPr/>
            <p:nvPr/>
          </p:nvSpPr>
          <p:spPr>
            <a:xfrm rot="-911770">
              <a:off x="7693774" y="475130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0" name="Google Shape;297;p3">
              <a:extLst>
                <a:ext uri="{FF2B5EF4-FFF2-40B4-BE49-F238E27FC236}">
                  <a16:creationId xmlns:a16="http://schemas.microsoft.com/office/drawing/2014/main" id="{50D90645-AF57-FEAD-2749-2B51069E1233}"/>
                </a:ext>
              </a:extLst>
            </p:cNvPr>
            <p:cNvSpPr/>
            <p:nvPr/>
          </p:nvSpPr>
          <p:spPr>
            <a:xfrm rot="8953789">
              <a:off x="10518635" y="248604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2" name="Google Shape;299;p3">
              <a:extLst>
                <a:ext uri="{FF2B5EF4-FFF2-40B4-BE49-F238E27FC236}">
                  <a16:creationId xmlns:a16="http://schemas.microsoft.com/office/drawing/2014/main" id="{9B89F5CA-3CF3-066E-9671-313FE3DA7DD3}"/>
                </a:ext>
              </a:extLst>
            </p:cNvPr>
            <p:cNvSpPr/>
            <p:nvPr/>
          </p:nvSpPr>
          <p:spPr>
            <a:xfrm rot="8953789">
              <a:off x="8026134" y="314839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3" name="Google Shape;300;p3">
              <a:extLst>
                <a:ext uri="{FF2B5EF4-FFF2-40B4-BE49-F238E27FC236}">
                  <a16:creationId xmlns:a16="http://schemas.microsoft.com/office/drawing/2014/main" id="{99644665-3712-5F2D-5826-629ED5D6892B}"/>
                </a:ext>
              </a:extLst>
            </p:cNvPr>
            <p:cNvSpPr/>
            <p:nvPr/>
          </p:nvSpPr>
          <p:spPr>
            <a:xfrm rot="-4951757">
              <a:off x="11180603" y="650909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4" name="Google Shape;301;p3">
              <a:extLst>
                <a:ext uri="{FF2B5EF4-FFF2-40B4-BE49-F238E27FC236}">
                  <a16:creationId xmlns:a16="http://schemas.microsoft.com/office/drawing/2014/main" id="{28D0CE33-4442-076D-969F-E0A34D86FAFE}"/>
                </a:ext>
              </a:extLst>
            </p:cNvPr>
            <p:cNvSpPr/>
            <p:nvPr/>
          </p:nvSpPr>
          <p:spPr>
            <a:xfrm rot="-4951757">
              <a:off x="11209817" y="5070056"/>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7" name="Google Shape;304;p3">
              <a:extLst>
                <a:ext uri="{FF2B5EF4-FFF2-40B4-BE49-F238E27FC236}">
                  <a16:creationId xmlns:a16="http://schemas.microsoft.com/office/drawing/2014/main" id="{29001061-2B4E-2A97-25E1-E7EF16B56B34}"/>
                </a:ext>
              </a:extLst>
            </p:cNvPr>
            <p:cNvSpPr/>
            <p:nvPr/>
          </p:nvSpPr>
          <p:spPr>
            <a:xfrm rot="-2290074">
              <a:off x="13545995" y="8700353"/>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8" name="Google Shape;305;p3">
              <a:extLst>
                <a:ext uri="{FF2B5EF4-FFF2-40B4-BE49-F238E27FC236}">
                  <a16:creationId xmlns:a16="http://schemas.microsoft.com/office/drawing/2014/main" id="{1F0E5483-CD99-2945-FC23-E3806E0A67D1}"/>
                </a:ext>
              </a:extLst>
            </p:cNvPr>
            <p:cNvSpPr/>
            <p:nvPr/>
          </p:nvSpPr>
          <p:spPr>
            <a:xfrm rot="-2290074">
              <a:off x="14277272" y="752483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9" name="Google Shape;306;p3">
              <a:extLst>
                <a:ext uri="{FF2B5EF4-FFF2-40B4-BE49-F238E27FC236}">
                  <a16:creationId xmlns:a16="http://schemas.microsoft.com/office/drawing/2014/main" id="{04211789-F56F-C23C-C247-0FAC2D857D69}"/>
                </a:ext>
              </a:extLst>
            </p:cNvPr>
            <p:cNvSpPr/>
            <p:nvPr/>
          </p:nvSpPr>
          <p:spPr>
            <a:xfrm rot="5404380">
              <a:off x="11261456" y="797140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0" name="Google Shape;307;p3">
              <a:extLst>
                <a:ext uri="{FF2B5EF4-FFF2-40B4-BE49-F238E27FC236}">
                  <a16:creationId xmlns:a16="http://schemas.microsoft.com/office/drawing/2014/main" id="{52CFE4AB-8A58-6560-93BB-FE230AD3F22F}"/>
                </a:ext>
              </a:extLst>
            </p:cNvPr>
            <p:cNvSpPr/>
            <p:nvPr/>
          </p:nvSpPr>
          <p:spPr>
            <a:xfrm rot="4160691">
              <a:off x="14897363" y="488467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2" name="Google Shape;309;p3">
              <a:extLst>
                <a:ext uri="{FF2B5EF4-FFF2-40B4-BE49-F238E27FC236}">
                  <a16:creationId xmlns:a16="http://schemas.microsoft.com/office/drawing/2014/main" id="{5126F024-2398-EBCB-6024-73271DC2FCE8}"/>
                </a:ext>
              </a:extLst>
            </p:cNvPr>
            <p:cNvSpPr/>
            <p:nvPr/>
          </p:nvSpPr>
          <p:spPr>
            <a:xfrm rot="-9744855">
              <a:off x="17708747" y="475701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3" name="Google Shape;310;p3">
              <a:extLst>
                <a:ext uri="{FF2B5EF4-FFF2-40B4-BE49-F238E27FC236}">
                  <a16:creationId xmlns:a16="http://schemas.microsoft.com/office/drawing/2014/main" id="{3DAC69B2-F4BA-1C4E-B6AB-7423C4FE510B}"/>
                </a:ext>
              </a:extLst>
            </p:cNvPr>
            <p:cNvSpPr/>
            <p:nvPr/>
          </p:nvSpPr>
          <p:spPr>
            <a:xfrm rot="-9744855">
              <a:off x="16321559" y="4758488"/>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grpSp>
      <p:sp>
        <p:nvSpPr>
          <p:cNvPr id="24" name="Google Shape;311;p3">
            <a:extLst>
              <a:ext uri="{FF2B5EF4-FFF2-40B4-BE49-F238E27FC236}">
                <a16:creationId xmlns:a16="http://schemas.microsoft.com/office/drawing/2014/main" id="{C009BA89-22BC-CFB4-3C0E-83100D24268B}"/>
              </a:ext>
            </a:extLst>
          </p:cNvPr>
          <p:cNvSpPr/>
          <p:nvPr/>
        </p:nvSpPr>
        <p:spPr>
          <a:xfrm>
            <a:off x="2933526" y="2830191"/>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7</a:t>
            </a:r>
            <a:endParaRPr sz="2000" dirty="0">
              <a:solidFill>
                <a:srgbClr val="FFFFFF"/>
              </a:solidFill>
              <a:latin typeface="Calibri"/>
              <a:ea typeface="Calibri"/>
              <a:cs typeface="Calibri"/>
              <a:sym typeface="Calibri"/>
            </a:endParaRPr>
          </a:p>
        </p:txBody>
      </p:sp>
      <p:cxnSp>
        <p:nvCxnSpPr>
          <p:cNvPr id="25" name="Google Shape;312;p3">
            <a:extLst>
              <a:ext uri="{FF2B5EF4-FFF2-40B4-BE49-F238E27FC236}">
                <a16:creationId xmlns:a16="http://schemas.microsoft.com/office/drawing/2014/main" id="{D8F92167-29C2-CA3E-0AD6-79D50CFE9919}"/>
              </a:ext>
            </a:extLst>
          </p:cNvPr>
          <p:cNvCxnSpPr>
            <a:cxnSpLocks/>
            <a:stCxn id="24" idx="4"/>
          </p:cNvCxnSpPr>
          <p:nvPr/>
        </p:nvCxnSpPr>
        <p:spPr>
          <a:xfrm>
            <a:off x="3201572" y="3366284"/>
            <a:ext cx="89" cy="1323283"/>
          </a:xfrm>
          <a:prstGeom prst="straightConnector1">
            <a:avLst/>
          </a:prstGeom>
          <a:noFill/>
          <a:ln w="9525" cap="flat" cmpd="sng">
            <a:solidFill>
              <a:schemeClr val="tx1"/>
            </a:solidFill>
            <a:prstDash val="solid"/>
            <a:round/>
            <a:headEnd type="none" w="sm" len="sm"/>
            <a:tailEnd type="none" w="sm" len="sm"/>
          </a:ln>
        </p:spPr>
      </p:cxnSp>
      <p:cxnSp>
        <p:nvCxnSpPr>
          <p:cNvPr id="28" name="Google Shape;315;p3">
            <a:extLst>
              <a:ext uri="{FF2B5EF4-FFF2-40B4-BE49-F238E27FC236}">
                <a16:creationId xmlns:a16="http://schemas.microsoft.com/office/drawing/2014/main" id="{AE113DAB-1467-3300-D48F-76A846FDA5DB}"/>
              </a:ext>
            </a:extLst>
          </p:cNvPr>
          <p:cNvCxnSpPr>
            <a:cxnSpLocks/>
            <a:endCxn id="16" idx="1"/>
          </p:cNvCxnSpPr>
          <p:nvPr/>
        </p:nvCxnSpPr>
        <p:spPr>
          <a:xfrm flipV="1">
            <a:off x="7013622" y="5998830"/>
            <a:ext cx="1116003" cy="15420"/>
          </a:xfrm>
          <a:prstGeom prst="straightConnector1">
            <a:avLst/>
          </a:prstGeom>
          <a:noFill/>
          <a:ln w="9525" cap="flat" cmpd="sng">
            <a:solidFill>
              <a:srgbClr val="FF0000"/>
            </a:solidFill>
            <a:prstDash val="solid"/>
            <a:round/>
            <a:headEnd type="none" w="sm" len="sm"/>
            <a:tailEnd type="none" w="sm" len="sm"/>
          </a:ln>
        </p:spPr>
      </p:cxnSp>
      <p:sp>
        <p:nvSpPr>
          <p:cNvPr id="30" name="Google Shape;317;p3">
            <a:extLst>
              <a:ext uri="{FF2B5EF4-FFF2-40B4-BE49-F238E27FC236}">
                <a16:creationId xmlns:a16="http://schemas.microsoft.com/office/drawing/2014/main" id="{BC591161-98D6-0211-EA98-799357E38698}"/>
              </a:ext>
            </a:extLst>
          </p:cNvPr>
          <p:cNvSpPr/>
          <p:nvPr/>
        </p:nvSpPr>
        <p:spPr>
          <a:xfrm>
            <a:off x="5860040" y="62685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8</a:t>
            </a:r>
            <a:endParaRPr sz="2000" dirty="0">
              <a:solidFill>
                <a:srgbClr val="FFFFFF"/>
              </a:solidFill>
              <a:latin typeface="Calibri"/>
              <a:ea typeface="Calibri"/>
              <a:cs typeface="Calibri"/>
              <a:sym typeface="Calibri"/>
            </a:endParaRPr>
          </a:p>
        </p:txBody>
      </p:sp>
      <p:cxnSp>
        <p:nvCxnSpPr>
          <p:cNvPr id="31" name="Google Shape;318;p3">
            <a:extLst>
              <a:ext uri="{FF2B5EF4-FFF2-40B4-BE49-F238E27FC236}">
                <a16:creationId xmlns:a16="http://schemas.microsoft.com/office/drawing/2014/main" id="{1E1ABABF-EEF2-4B32-8408-6EC59AAD3800}"/>
              </a:ext>
            </a:extLst>
          </p:cNvPr>
          <p:cNvCxnSpPr>
            <a:cxnSpLocks/>
            <a:stCxn id="30" idx="4"/>
            <a:endCxn id="11" idx="7"/>
          </p:cNvCxnSpPr>
          <p:nvPr/>
        </p:nvCxnSpPr>
        <p:spPr>
          <a:xfrm flipH="1">
            <a:off x="6117555" y="1162945"/>
            <a:ext cx="10531" cy="544115"/>
          </a:xfrm>
          <a:prstGeom prst="straightConnector1">
            <a:avLst/>
          </a:prstGeom>
          <a:noFill/>
          <a:ln w="9525" cap="flat" cmpd="sng">
            <a:solidFill>
              <a:schemeClr val="tx1"/>
            </a:solidFill>
            <a:prstDash val="solid"/>
            <a:round/>
            <a:headEnd type="none" w="sm" len="sm"/>
            <a:tailEnd type="none" w="sm" len="sm"/>
          </a:ln>
        </p:spPr>
      </p:cxnSp>
      <p:sp>
        <p:nvSpPr>
          <p:cNvPr id="33" name="Google Shape;320;p3">
            <a:extLst>
              <a:ext uri="{FF2B5EF4-FFF2-40B4-BE49-F238E27FC236}">
                <a16:creationId xmlns:a16="http://schemas.microsoft.com/office/drawing/2014/main" id="{9B8FDE68-E380-EB27-40EA-3B826FED28DE}"/>
              </a:ext>
            </a:extLst>
          </p:cNvPr>
          <p:cNvSpPr/>
          <p:nvPr/>
        </p:nvSpPr>
        <p:spPr>
          <a:xfrm>
            <a:off x="8025148" y="168813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9</a:t>
            </a:r>
            <a:endParaRPr sz="2000" dirty="0">
              <a:solidFill>
                <a:srgbClr val="FFFFFF"/>
              </a:solidFill>
              <a:latin typeface="Calibri"/>
              <a:ea typeface="Calibri"/>
              <a:cs typeface="Calibri"/>
              <a:sym typeface="Calibri"/>
            </a:endParaRPr>
          </a:p>
        </p:txBody>
      </p:sp>
      <p:cxnSp>
        <p:nvCxnSpPr>
          <p:cNvPr id="34" name="Google Shape;321;p3">
            <a:extLst>
              <a:ext uri="{FF2B5EF4-FFF2-40B4-BE49-F238E27FC236}">
                <a16:creationId xmlns:a16="http://schemas.microsoft.com/office/drawing/2014/main" id="{C0E391BB-50C3-FED4-8AA1-8F92A5936C6B}"/>
              </a:ext>
            </a:extLst>
          </p:cNvPr>
          <p:cNvCxnSpPr>
            <a:cxnSpLocks/>
            <a:stCxn id="33" idx="3"/>
            <a:endCxn id="15" idx="5"/>
          </p:cNvCxnSpPr>
          <p:nvPr/>
        </p:nvCxnSpPr>
        <p:spPr>
          <a:xfrm flipH="1">
            <a:off x="7634639" y="2145716"/>
            <a:ext cx="469019" cy="340942"/>
          </a:xfrm>
          <a:prstGeom prst="straightConnector1">
            <a:avLst/>
          </a:prstGeom>
          <a:noFill/>
          <a:ln w="9525" cap="flat" cmpd="sng">
            <a:solidFill>
              <a:schemeClr val="tx1"/>
            </a:solidFill>
            <a:prstDash val="solid"/>
            <a:round/>
            <a:headEnd type="none" w="sm" len="sm"/>
            <a:tailEnd type="none" w="sm" len="sm"/>
          </a:ln>
        </p:spPr>
      </p:cxnSp>
      <p:pic>
        <p:nvPicPr>
          <p:cNvPr id="38" name="Google Shape;325;p3">
            <a:extLst>
              <a:ext uri="{FF2B5EF4-FFF2-40B4-BE49-F238E27FC236}">
                <a16:creationId xmlns:a16="http://schemas.microsoft.com/office/drawing/2014/main" id="{9B875051-FE9F-A696-248F-67EFDD495C14}"/>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18723761">
            <a:off x="7890945" y="1533230"/>
            <a:ext cx="595814" cy="351746"/>
          </a:xfrm>
          <a:prstGeom prst="rect">
            <a:avLst/>
          </a:prstGeom>
          <a:noFill/>
          <a:ln>
            <a:noFill/>
          </a:ln>
        </p:spPr>
      </p:pic>
      <p:pic>
        <p:nvPicPr>
          <p:cNvPr id="39" name="Google Shape;326;p3">
            <a:extLst>
              <a:ext uri="{FF2B5EF4-FFF2-40B4-BE49-F238E27FC236}">
                <a16:creationId xmlns:a16="http://schemas.microsoft.com/office/drawing/2014/main" id="{47D50267-A1B5-AD3D-95BD-9B822B9D82DA}"/>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10072805" y="3716052"/>
            <a:ext cx="595814" cy="351746"/>
          </a:xfrm>
          <a:prstGeom prst="rect">
            <a:avLst/>
          </a:prstGeom>
          <a:noFill/>
          <a:ln>
            <a:noFill/>
          </a:ln>
        </p:spPr>
      </p:pic>
      <p:pic>
        <p:nvPicPr>
          <p:cNvPr id="40" name="Google Shape;327;p3">
            <a:extLst>
              <a:ext uri="{FF2B5EF4-FFF2-40B4-BE49-F238E27FC236}">
                <a16:creationId xmlns:a16="http://schemas.microsoft.com/office/drawing/2014/main" id="{14D81371-99D7-4FAA-B842-A3B7E1B4A643}"/>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5730774" y="483267"/>
            <a:ext cx="595814" cy="351746"/>
          </a:xfrm>
          <a:prstGeom prst="rect">
            <a:avLst/>
          </a:prstGeom>
          <a:noFill/>
          <a:ln>
            <a:noFill/>
          </a:ln>
        </p:spPr>
      </p:pic>
      <p:sp>
        <p:nvSpPr>
          <p:cNvPr id="45" name="Google Shape;332;p3">
            <a:extLst>
              <a:ext uri="{FF2B5EF4-FFF2-40B4-BE49-F238E27FC236}">
                <a16:creationId xmlns:a16="http://schemas.microsoft.com/office/drawing/2014/main" id="{20D05082-7FE0-9C08-E511-E5ABF433E1FA}"/>
              </a:ext>
            </a:extLst>
          </p:cNvPr>
          <p:cNvSpPr/>
          <p:nvPr/>
        </p:nvSpPr>
        <p:spPr>
          <a:xfrm>
            <a:off x="10174052" y="3851166"/>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11</a:t>
            </a:r>
            <a:endParaRPr sz="2000" dirty="0">
              <a:solidFill>
                <a:srgbClr val="FFFFFF"/>
              </a:solidFill>
              <a:latin typeface="Calibri"/>
              <a:ea typeface="Calibri"/>
              <a:cs typeface="Calibri"/>
              <a:sym typeface="Calibri"/>
            </a:endParaRPr>
          </a:p>
        </p:txBody>
      </p:sp>
      <p:cxnSp>
        <p:nvCxnSpPr>
          <p:cNvPr id="46" name="Google Shape;333;p3">
            <a:extLst>
              <a:ext uri="{FF2B5EF4-FFF2-40B4-BE49-F238E27FC236}">
                <a16:creationId xmlns:a16="http://schemas.microsoft.com/office/drawing/2014/main" id="{0DF76807-11D9-D815-F260-1D7E45733370}"/>
              </a:ext>
            </a:extLst>
          </p:cNvPr>
          <p:cNvCxnSpPr>
            <a:cxnSpLocks/>
            <a:stCxn id="45" idx="2"/>
          </p:cNvCxnSpPr>
          <p:nvPr/>
        </p:nvCxnSpPr>
        <p:spPr>
          <a:xfrm flipH="1">
            <a:off x="9579615" y="4119213"/>
            <a:ext cx="594436" cy="12271"/>
          </a:xfrm>
          <a:prstGeom prst="straightConnector1">
            <a:avLst/>
          </a:prstGeom>
          <a:noFill/>
          <a:ln w="9525" cap="flat" cmpd="sng">
            <a:solidFill>
              <a:schemeClr val="tx1"/>
            </a:solidFill>
            <a:prstDash val="solid"/>
            <a:round/>
            <a:headEnd type="none" w="sm" len="sm"/>
            <a:tailEnd type="none" w="sm" len="sm"/>
          </a:ln>
        </p:spPr>
      </p:cxnSp>
      <p:sp>
        <p:nvSpPr>
          <p:cNvPr id="50" name="Google Shape;313;p3">
            <a:extLst>
              <a:ext uri="{FF2B5EF4-FFF2-40B4-BE49-F238E27FC236}">
                <a16:creationId xmlns:a16="http://schemas.microsoft.com/office/drawing/2014/main" id="{2534AD05-DEC5-F97B-ADD8-DA0028DFF764}"/>
              </a:ext>
            </a:extLst>
          </p:cNvPr>
          <p:cNvSpPr txBox="1"/>
          <p:nvPr/>
        </p:nvSpPr>
        <p:spPr>
          <a:xfrm>
            <a:off x="78984" y="3229899"/>
            <a:ext cx="2832564" cy="584749"/>
          </a:xfrm>
          <a:prstGeom prst="rect">
            <a:avLst/>
          </a:prstGeom>
          <a:noFill/>
          <a:ln>
            <a:noFill/>
          </a:ln>
        </p:spPr>
        <p:txBody>
          <a:bodyPr spcFirstLastPara="1" wrap="square" lIns="60950" tIns="30467" rIns="60950" bIns="30467" anchor="t" anchorCtr="0">
            <a:spAutoFit/>
          </a:bodyPr>
          <a:lstStyle/>
          <a:p>
            <a:pPr algn="r">
              <a:buSzPts val="2250"/>
            </a:pPr>
            <a:r>
              <a:rPr lang="pt-BR" sz="1700" dirty="0">
                <a:latin typeface="Poppins" pitchFamily="2" charset="77"/>
                <a:ea typeface="Poppins Light"/>
                <a:cs typeface="Poppins" pitchFamily="2" charset="77"/>
                <a:sym typeface="Poppins Light"/>
              </a:rPr>
              <a:t>Redes e dispositivos de conectividade</a:t>
            </a:r>
          </a:p>
        </p:txBody>
      </p:sp>
      <p:sp>
        <p:nvSpPr>
          <p:cNvPr id="51" name="Google Shape;316;p3">
            <a:extLst>
              <a:ext uri="{FF2B5EF4-FFF2-40B4-BE49-F238E27FC236}">
                <a16:creationId xmlns:a16="http://schemas.microsoft.com/office/drawing/2014/main" id="{0E40C7D1-B07D-7607-3919-E959E42D9AE8}"/>
              </a:ext>
            </a:extLst>
          </p:cNvPr>
          <p:cNvSpPr txBox="1"/>
          <p:nvPr/>
        </p:nvSpPr>
        <p:spPr>
          <a:xfrm>
            <a:off x="3938336" y="5700390"/>
            <a:ext cx="2454965" cy="584749"/>
          </a:xfrm>
          <a:prstGeom prst="rect">
            <a:avLst/>
          </a:prstGeom>
          <a:noFill/>
          <a:ln>
            <a:noFill/>
          </a:ln>
        </p:spPr>
        <p:txBody>
          <a:bodyPr spcFirstLastPara="1" wrap="square" lIns="60950" tIns="30467" rIns="60950" bIns="30467" anchor="t" anchorCtr="0">
            <a:spAutoFit/>
          </a:bodyPr>
          <a:lstStyle/>
          <a:p>
            <a:pPr algn="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52" name="Google Shape;319;p3">
            <a:extLst>
              <a:ext uri="{FF2B5EF4-FFF2-40B4-BE49-F238E27FC236}">
                <a16:creationId xmlns:a16="http://schemas.microsoft.com/office/drawing/2014/main" id="{C7EBBC61-12C1-8FD9-FE3E-95B596546E94}"/>
              </a:ext>
            </a:extLst>
          </p:cNvPr>
          <p:cNvSpPr txBox="1"/>
          <p:nvPr/>
        </p:nvSpPr>
        <p:spPr>
          <a:xfrm>
            <a:off x="6510731" y="504694"/>
            <a:ext cx="3260520"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Endereçamento e protocolos de rede</a:t>
            </a:r>
          </a:p>
        </p:txBody>
      </p:sp>
      <p:sp>
        <p:nvSpPr>
          <p:cNvPr id="53" name="Google Shape;322;p3">
            <a:extLst>
              <a:ext uri="{FF2B5EF4-FFF2-40B4-BE49-F238E27FC236}">
                <a16:creationId xmlns:a16="http://schemas.microsoft.com/office/drawing/2014/main" id="{E937EEE7-8AD5-0965-AFEF-7972D3B0E0C6}"/>
              </a:ext>
            </a:extLst>
          </p:cNvPr>
          <p:cNvSpPr txBox="1"/>
          <p:nvPr/>
        </p:nvSpPr>
        <p:spPr>
          <a:xfrm>
            <a:off x="8673545" y="1652519"/>
            <a:ext cx="275645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a:t>
            </a:r>
          </a:p>
        </p:txBody>
      </p:sp>
      <p:sp>
        <p:nvSpPr>
          <p:cNvPr id="57" name="Google Shape;335;p3">
            <a:extLst>
              <a:ext uri="{FF2B5EF4-FFF2-40B4-BE49-F238E27FC236}">
                <a16:creationId xmlns:a16="http://schemas.microsoft.com/office/drawing/2014/main" id="{27DF6EEE-ABB9-F21D-DC51-574CA07674FA}"/>
              </a:ext>
            </a:extLst>
          </p:cNvPr>
          <p:cNvSpPr txBox="1"/>
          <p:nvPr/>
        </p:nvSpPr>
        <p:spPr>
          <a:xfrm>
            <a:off x="9949272" y="4530800"/>
            <a:ext cx="209334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Ferramentas de escritório I</a:t>
            </a:r>
            <a:endParaRPr lang="pt-BR" sz="1700" dirty="0">
              <a:latin typeface="Poppins" pitchFamily="2" charset="77"/>
              <a:cs typeface="Poppins" pitchFamily="2" charset="77"/>
            </a:endParaRPr>
          </a:p>
        </p:txBody>
      </p:sp>
      <p:sp>
        <p:nvSpPr>
          <p:cNvPr id="27" name="Google Shape;314;p3">
            <a:extLst>
              <a:ext uri="{FF2B5EF4-FFF2-40B4-BE49-F238E27FC236}">
                <a16:creationId xmlns:a16="http://schemas.microsoft.com/office/drawing/2014/main" id="{4001D8D6-34F2-D9E9-BFE3-F0D9953EABE5}"/>
              </a:ext>
            </a:extLst>
          </p:cNvPr>
          <p:cNvSpPr/>
          <p:nvPr/>
        </p:nvSpPr>
        <p:spPr>
          <a:xfrm>
            <a:off x="6649008" y="5735630"/>
            <a:ext cx="536093" cy="536093"/>
          </a:xfrm>
          <a:prstGeom prst="ellipse">
            <a:avLst/>
          </a:prstGeom>
          <a:solidFill>
            <a:srgbClr val="FF0000"/>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10</a:t>
            </a:r>
            <a:endParaRPr sz="2000" dirty="0">
              <a:solidFill>
                <a:srgbClr val="FFFFFF"/>
              </a:solidFill>
              <a:latin typeface="Calibri"/>
              <a:ea typeface="Calibri"/>
              <a:cs typeface="Calibri"/>
              <a:sym typeface="Calibri"/>
            </a:endParaRPr>
          </a:p>
        </p:txBody>
      </p:sp>
      <p:sp>
        <p:nvSpPr>
          <p:cNvPr id="29" name="Google Shape;323;p3">
            <a:extLst>
              <a:ext uri="{FF2B5EF4-FFF2-40B4-BE49-F238E27FC236}">
                <a16:creationId xmlns:a16="http://schemas.microsoft.com/office/drawing/2014/main" id="{7B57060B-3C4F-2A46-EE0E-178F4AEDFD7B}"/>
              </a:ext>
            </a:extLst>
          </p:cNvPr>
          <p:cNvSpPr txBox="1"/>
          <p:nvPr/>
        </p:nvSpPr>
        <p:spPr>
          <a:xfrm>
            <a:off x="4685180" y="5419534"/>
            <a:ext cx="1728649" cy="276973"/>
          </a:xfrm>
          <a:prstGeom prst="rect">
            <a:avLst/>
          </a:prstGeom>
          <a:noFill/>
          <a:ln>
            <a:noFill/>
          </a:ln>
        </p:spPr>
        <p:txBody>
          <a:bodyPr spcFirstLastPara="1" wrap="square" lIns="60950" tIns="30467" rIns="60950" bIns="30467" anchor="t" anchorCtr="0">
            <a:spAutoFit/>
          </a:bodyPr>
          <a:lstStyle/>
          <a:p>
            <a:pPr algn="r">
              <a:buSzPts val="1800"/>
            </a:pPr>
            <a:r>
              <a:rPr lang="pt-BR" sz="1400" b="1" dirty="0">
                <a:solidFill>
                  <a:srgbClr val="FA161E"/>
                </a:solidFill>
                <a:latin typeface="Poppins"/>
                <a:ea typeface="Poppins"/>
                <a:cs typeface="Poppins"/>
                <a:sym typeface="Poppins"/>
              </a:rPr>
              <a:t>Você está aqui!</a:t>
            </a:r>
            <a:endParaRPr sz="1400" dirty="0"/>
          </a:p>
        </p:txBody>
      </p:sp>
      <p:pic>
        <p:nvPicPr>
          <p:cNvPr id="56" name="Google Shape;324;p3">
            <a:extLst>
              <a:ext uri="{FF2B5EF4-FFF2-40B4-BE49-F238E27FC236}">
                <a16:creationId xmlns:a16="http://schemas.microsoft.com/office/drawing/2014/main" id="{2AC5785F-8AC1-DC32-1160-39BF253736D4}"/>
              </a:ext>
            </a:extLst>
          </p:cNvPr>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rot="-2744266">
            <a:off x="6553043" y="5566094"/>
            <a:ext cx="595814" cy="351746"/>
          </a:xfrm>
          <a:prstGeom prst="rect">
            <a:avLst/>
          </a:prstGeom>
          <a:noFill/>
          <a:ln>
            <a:noFill/>
          </a:ln>
        </p:spPr>
      </p:pic>
      <p:pic>
        <p:nvPicPr>
          <p:cNvPr id="58" name="Google Shape;326;p3">
            <a:extLst>
              <a:ext uri="{FF2B5EF4-FFF2-40B4-BE49-F238E27FC236}">
                <a16:creationId xmlns:a16="http://schemas.microsoft.com/office/drawing/2014/main" id="{47D50267-A1B5-AD3D-95BD-9B822B9D82DA}"/>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2837257" y="2684184"/>
            <a:ext cx="595814" cy="351746"/>
          </a:xfrm>
          <a:prstGeom prst="rect">
            <a:avLst/>
          </a:prstGeom>
          <a:noFill/>
          <a:ln>
            <a:noFill/>
          </a:ln>
        </p:spPr>
      </p:pic>
      <p:sp>
        <p:nvSpPr>
          <p:cNvPr id="32" name="Retângulo: Cantos Arredondados 31">
            <a:extLst>
              <a:ext uri="{FF2B5EF4-FFF2-40B4-BE49-F238E27FC236}">
                <a16:creationId xmlns:a16="http://schemas.microsoft.com/office/drawing/2014/main" id="{B433F826-643A-0D93-8C79-8A45D782D18D}"/>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Google Shape;329;p3">
            <a:extLst>
              <a:ext uri="{FF2B5EF4-FFF2-40B4-BE49-F238E27FC236}">
                <a16:creationId xmlns:a16="http://schemas.microsoft.com/office/drawing/2014/main" id="{C96122F1-1ACA-B4A6-1107-C232E97E115C}"/>
              </a:ext>
            </a:extLst>
          </p:cNvPr>
          <p:cNvSpPr txBox="1"/>
          <p:nvPr/>
        </p:nvSpPr>
        <p:spPr>
          <a:xfrm>
            <a:off x="135519" y="1439639"/>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00" b="1" dirty="0">
                <a:solidFill>
                  <a:srgbClr val="FFFFFF"/>
                </a:solidFill>
                <a:latin typeface="Poppins" pitchFamily="2" charset="77"/>
                <a:ea typeface="Poppins SemiBold"/>
                <a:cs typeface="Poppins" pitchFamily="2" charset="77"/>
                <a:sym typeface="Poppins SemiBold"/>
              </a:rPr>
              <a:t>Introdução à Informática </a:t>
            </a:r>
          </a:p>
        </p:txBody>
      </p:sp>
      <p:sp>
        <p:nvSpPr>
          <p:cNvPr id="36" name="Retângulo: Cantos Arredondados 35">
            <a:extLst>
              <a:ext uri="{FF2B5EF4-FFF2-40B4-BE49-F238E27FC236}">
                <a16:creationId xmlns:a16="http://schemas.microsoft.com/office/drawing/2014/main" id="{DBEB6022-4275-592B-D25D-37DC3153DA49}"/>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Google Shape;331;p3">
            <a:extLst>
              <a:ext uri="{FF2B5EF4-FFF2-40B4-BE49-F238E27FC236}">
                <a16:creationId xmlns:a16="http://schemas.microsoft.com/office/drawing/2014/main" id="{368E930C-E65D-9683-8549-1798545E7E8A}"/>
              </a:ext>
            </a:extLst>
          </p:cNvPr>
          <p:cNvSpPr txBox="1"/>
          <p:nvPr/>
        </p:nvSpPr>
        <p:spPr>
          <a:xfrm>
            <a:off x="2160045" y="891153"/>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00" b="1" dirty="0">
                <a:solidFill>
                  <a:srgbClr val="FFFFFF"/>
                </a:solidFill>
                <a:latin typeface="Poppins"/>
                <a:ea typeface="Poppins"/>
                <a:cs typeface="Poppins"/>
                <a:sym typeface="Poppins"/>
              </a:rPr>
              <a:t>Mapa da Unidade 1   Componente 1</a:t>
            </a:r>
          </a:p>
        </p:txBody>
      </p:sp>
    </p:spTree>
    <p:extLst>
      <p:ext uri="{BB962C8B-B14F-4D97-AF65-F5344CB8AC3E}">
        <p14:creationId xmlns:p14="http://schemas.microsoft.com/office/powerpoint/2010/main" val="394527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B2669C60-1B2E-CB26-6D65-F137874BFC6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6" t="30197" r="53546" b="6024"/>
          <a:stretch/>
        </p:blipFill>
        <p:spPr>
          <a:xfrm rot="21026348">
            <a:off x="5708588" y="2655329"/>
            <a:ext cx="8603297" cy="4647676"/>
          </a:xfrm>
          <a:prstGeom prst="rect">
            <a:avLst/>
          </a:prstGeom>
        </p:spPr>
      </p:pic>
      <p:sp>
        <p:nvSpPr>
          <p:cNvPr id="7" name="Google Shape;341;p4">
            <a:extLst>
              <a:ext uri="{FF2B5EF4-FFF2-40B4-BE49-F238E27FC236}">
                <a16:creationId xmlns:a16="http://schemas.microsoft.com/office/drawing/2014/main" id="{454BE3FB-DBF5-B9B9-2C32-D91EB68E7728}"/>
              </a:ext>
            </a:extLst>
          </p:cNvPr>
          <p:cNvSpPr/>
          <p:nvPr/>
        </p:nvSpPr>
        <p:spPr>
          <a:xfrm rot="-3438299">
            <a:off x="10617267" y="5326573"/>
            <a:ext cx="408000" cy="408000"/>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SzPts val="2700"/>
            </a:pPr>
            <a:endParaRPr sz="1800" dirty="0">
              <a:solidFill>
                <a:srgbClr val="FFFFFF"/>
              </a:solidFill>
              <a:latin typeface="Calibri"/>
              <a:ea typeface="Calibri"/>
              <a:cs typeface="Calibri"/>
              <a:sym typeface="Calibri"/>
            </a:endParaRPr>
          </a:p>
        </p:txBody>
      </p:sp>
      <p:sp>
        <p:nvSpPr>
          <p:cNvPr id="8" name="Google Shape;342;p4">
            <a:extLst>
              <a:ext uri="{FF2B5EF4-FFF2-40B4-BE49-F238E27FC236}">
                <a16:creationId xmlns:a16="http://schemas.microsoft.com/office/drawing/2014/main" id="{11417446-22F7-018A-FD17-8BE6870376DA}"/>
              </a:ext>
            </a:extLst>
          </p:cNvPr>
          <p:cNvSpPr/>
          <p:nvPr/>
        </p:nvSpPr>
        <p:spPr>
          <a:xfrm>
            <a:off x="9084502" y="3402930"/>
            <a:ext cx="1317209" cy="1317209"/>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36000" tIns="36000" rIns="36000" bIns="36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SzPts val="6000"/>
            </a:pPr>
            <a:r>
              <a:rPr lang="pt-BR" sz="4200" b="1" dirty="0">
                <a:solidFill>
                  <a:srgbClr val="FFFFFF"/>
                </a:solidFill>
                <a:latin typeface="Poppins"/>
                <a:ea typeface="Calibri"/>
                <a:cs typeface="Poppins"/>
                <a:sym typeface="Poppins"/>
              </a:rPr>
              <a:t>10</a:t>
            </a:r>
            <a:endParaRPr sz="4200" dirty="0">
              <a:solidFill>
                <a:srgbClr val="FFFFFF"/>
              </a:solidFill>
              <a:latin typeface="Calibri"/>
              <a:ea typeface="Calibri"/>
              <a:cs typeface="Calibri"/>
              <a:sym typeface="Calibri"/>
            </a:endParaRPr>
          </a:p>
        </p:txBody>
      </p:sp>
      <p:cxnSp>
        <p:nvCxnSpPr>
          <p:cNvPr id="9" name="Google Shape;343;p4">
            <a:extLst>
              <a:ext uri="{FF2B5EF4-FFF2-40B4-BE49-F238E27FC236}">
                <a16:creationId xmlns:a16="http://schemas.microsoft.com/office/drawing/2014/main" id="{38C1C8A1-D576-D03F-ABAB-56823E51B9F2}"/>
              </a:ext>
            </a:extLst>
          </p:cNvPr>
          <p:cNvCxnSpPr/>
          <p:nvPr/>
        </p:nvCxnSpPr>
        <p:spPr>
          <a:xfrm>
            <a:off x="10016903" y="4528943"/>
            <a:ext cx="634075" cy="900448"/>
          </a:xfrm>
          <a:prstGeom prst="straightConnector1">
            <a:avLst/>
          </a:prstGeom>
          <a:noFill/>
          <a:ln w="9525" cap="flat" cmpd="sng">
            <a:solidFill>
              <a:srgbClr val="FA161E"/>
            </a:solidFill>
            <a:prstDash val="solid"/>
            <a:round/>
            <a:headEnd type="none" w="sm" len="sm"/>
            <a:tailEnd type="none" w="sm" len="sm"/>
          </a:ln>
        </p:spPr>
      </p:cxnSp>
      <p:sp>
        <p:nvSpPr>
          <p:cNvPr id="10" name="Google Shape;344;p4">
            <a:extLst>
              <a:ext uri="{FF2B5EF4-FFF2-40B4-BE49-F238E27FC236}">
                <a16:creationId xmlns:a16="http://schemas.microsoft.com/office/drawing/2014/main" id="{5EB2AABC-411A-4DB1-754E-398B32A01EC9}"/>
              </a:ext>
            </a:extLst>
          </p:cNvPr>
          <p:cNvSpPr txBox="1"/>
          <p:nvPr/>
        </p:nvSpPr>
        <p:spPr>
          <a:xfrm>
            <a:off x="3361984" y="3263451"/>
            <a:ext cx="4487736" cy="33852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250"/>
            </a:pPr>
            <a:r>
              <a:rPr lang="pt-BR" sz="18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11" name="Google Shape;345;p4">
            <a:extLst>
              <a:ext uri="{FF2B5EF4-FFF2-40B4-BE49-F238E27FC236}">
                <a16:creationId xmlns:a16="http://schemas.microsoft.com/office/drawing/2014/main" id="{9DC627E0-692B-B963-150C-C9ABA2375B7B}"/>
              </a:ext>
            </a:extLst>
          </p:cNvPr>
          <p:cNvSpPr txBox="1"/>
          <p:nvPr/>
        </p:nvSpPr>
        <p:spPr>
          <a:xfrm>
            <a:off x="3361984" y="2834485"/>
            <a:ext cx="2582980" cy="40008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000"/>
            </a:pPr>
            <a:r>
              <a:rPr lang="pt-BR" sz="2200" b="1" dirty="0">
                <a:solidFill>
                  <a:srgbClr val="FA161E"/>
                </a:solidFill>
                <a:latin typeface="Poppins"/>
                <a:ea typeface="Poppins"/>
                <a:cs typeface="Poppins"/>
                <a:sym typeface="Poppins"/>
              </a:rPr>
              <a:t>Você está aqui!</a:t>
            </a:r>
            <a:endParaRPr sz="2200" dirty="0">
              <a:latin typeface="Arial"/>
              <a:ea typeface="Arial"/>
              <a:cs typeface="Arial"/>
            </a:endParaRPr>
          </a:p>
        </p:txBody>
      </p:sp>
      <p:sp>
        <p:nvSpPr>
          <p:cNvPr id="15" name="Google Shape;349;p4">
            <a:extLst>
              <a:ext uri="{FF2B5EF4-FFF2-40B4-BE49-F238E27FC236}">
                <a16:creationId xmlns:a16="http://schemas.microsoft.com/office/drawing/2014/main" id="{AFF9433E-50D2-8459-4418-8A47B897A114}"/>
              </a:ext>
            </a:extLst>
          </p:cNvPr>
          <p:cNvSpPr txBox="1"/>
          <p:nvPr/>
        </p:nvSpPr>
        <p:spPr>
          <a:xfrm>
            <a:off x="3380130" y="5324225"/>
            <a:ext cx="4785301" cy="699232"/>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500"/>
            </a:pPr>
            <a:r>
              <a:rPr lang="pt-BR" sz="1800" dirty="0">
                <a:latin typeface="Poppins"/>
                <a:ea typeface="Poppins"/>
                <a:cs typeface="Poppins"/>
                <a:sym typeface="Poppins"/>
              </a:rPr>
              <a:t>Código da aula: DADOSANO1C1B2S10A1</a:t>
            </a:r>
            <a:endParaRPr lang="pt-BR" sz="1800" dirty="0">
              <a:latin typeface="Arial"/>
              <a:ea typeface="Arial"/>
              <a:cs typeface="Arial"/>
            </a:endParaRPr>
          </a:p>
        </p:txBody>
      </p:sp>
      <p:sp>
        <p:nvSpPr>
          <p:cNvPr id="16" name="Google Shape;350;p4">
            <a:extLst>
              <a:ext uri="{FF2B5EF4-FFF2-40B4-BE49-F238E27FC236}">
                <a16:creationId xmlns:a16="http://schemas.microsoft.com/office/drawing/2014/main" id="{7678E78B-4D53-2DA7-5F21-B11136BABC01}"/>
              </a:ext>
            </a:extLst>
          </p:cNvPr>
          <p:cNvSpPr txBox="1"/>
          <p:nvPr/>
        </p:nvSpPr>
        <p:spPr>
          <a:xfrm>
            <a:off x="3380130" y="4539335"/>
            <a:ext cx="5849811" cy="53543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defPPr marR="0" lvl="0" algn="l" rtl="0">
              <a:lnSpc>
                <a:spcPct val="100000"/>
              </a:lnSpc>
              <a:spcBef>
                <a:spcPts val="0"/>
              </a:spcBef>
              <a:spcAft>
                <a:spcPts val="0"/>
              </a:spcAft>
            </a:defPPr>
            <a:lvl1pPr>
              <a:buClr>
                <a:schemeClr val="dk1"/>
              </a:buClr>
              <a:buSzPts val="2500"/>
              <a:defRPr sz="1800" b="1">
                <a:solidFill>
                  <a:schemeClr val="dk1"/>
                </a:solidFill>
                <a:latin typeface="Poppins"/>
                <a:ea typeface="Poppins"/>
                <a:cs typeface="Poppin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pt-BR" dirty="0">
                <a:sym typeface="Poppins"/>
              </a:rPr>
              <a:t>Aula 1: </a:t>
            </a:r>
            <a:r>
              <a:rPr lang="pt-BR" dirty="0"/>
              <a:t>Multitarefas e uso consciente de recursos</a:t>
            </a:r>
          </a:p>
        </p:txBody>
      </p:sp>
      <p:sp>
        <p:nvSpPr>
          <p:cNvPr id="2" name="Retângulo: Cantos Arredondados 1">
            <a:extLst>
              <a:ext uri="{FF2B5EF4-FFF2-40B4-BE49-F238E27FC236}">
                <a16:creationId xmlns:a16="http://schemas.microsoft.com/office/drawing/2014/main" id="{14A1204E-1AE6-6DD4-D6A1-231209264B8B}"/>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Google Shape;329;p3">
            <a:extLst>
              <a:ext uri="{FF2B5EF4-FFF2-40B4-BE49-F238E27FC236}">
                <a16:creationId xmlns:a16="http://schemas.microsoft.com/office/drawing/2014/main" id="{49B34A90-1A41-56AE-B19D-8DE699FA20D3}"/>
              </a:ext>
            </a:extLst>
          </p:cNvPr>
          <p:cNvSpPr txBox="1"/>
          <p:nvPr/>
        </p:nvSpPr>
        <p:spPr>
          <a:xfrm>
            <a:off x="135519" y="1439639"/>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00" b="1" dirty="0">
                <a:solidFill>
                  <a:srgbClr val="FFFFFF"/>
                </a:solidFill>
                <a:latin typeface="Poppins" pitchFamily="2" charset="77"/>
                <a:ea typeface="Poppins SemiBold"/>
                <a:cs typeface="Poppins" pitchFamily="2" charset="77"/>
                <a:sym typeface="Poppins SemiBold"/>
              </a:rPr>
              <a:t>Introdução à Informática </a:t>
            </a:r>
          </a:p>
        </p:txBody>
      </p:sp>
      <p:sp>
        <p:nvSpPr>
          <p:cNvPr id="12" name="Retângulo: Cantos Arredondados 11">
            <a:extLst>
              <a:ext uri="{FF2B5EF4-FFF2-40B4-BE49-F238E27FC236}">
                <a16:creationId xmlns:a16="http://schemas.microsoft.com/office/drawing/2014/main" id="{FD25AA6D-17E4-9A8A-8CAF-FE3132462DFF}"/>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Google Shape;331;p3">
            <a:extLst>
              <a:ext uri="{FF2B5EF4-FFF2-40B4-BE49-F238E27FC236}">
                <a16:creationId xmlns:a16="http://schemas.microsoft.com/office/drawing/2014/main" id="{CF04E516-55AD-99E2-6260-B9BB9C5AD388}"/>
              </a:ext>
            </a:extLst>
          </p:cNvPr>
          <p:cNvSpPr txBox="1"/>
          <p:nvPr/>
        </p:nvSpPr>
        <p:spPr>
          <a:xfrm>
            <a:off x="2160045" y="891153"/>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00" b="1" dirty="0">
                <a:solidFill>
                  <a:srgbClr val="FFFFFF"/>
                </a:solidFill>
                <a:latin typeface="Poppins"/>
                <a:ea typeface="Poppins"/>
                <a:cs typeface="Poppins"/>
                <a:sym typeface="Poppins"/>
              </a:rPr>
              <a:t>Mapa da Unidade 1   Componente 1</a:t>
            </a:r>
          </a:p>
        </p:txBody>
      </p:sp>
    </p:spTree>
    <p:extLst>
      <p:ext uri="{BB962C8B-B14F-4D97-AF65-F5344CB8AC3E}">
        <p14:creationId xmlns:p14="http://schemas.microsoft.com/office/powerpoint/2010/main" val="1856923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1403740" y="1342524"/>
            <a:ext cx="4607953" cy="977766"/>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Compreender e aplicar o conceito de multitarefas e uso consciente de recursos.</a:t>
            </a:r>
            <a:endParaRPr lang="pt-BR" sz="1500" noProof="0" dirty="0">
              <a:solidFill>
                <a:schemeClr val="tx1">
                  <a:lumMod val="95000"/>
                  <a:lumOff val="5000"/>
                </a:schemeClr>
              </a:solidFill>
              <a:latin typeface="Poppins" panose="00000500000000000000" pitchFamily="2" charset="0"/>
            </a:endParaRPr>
          </a:p>
        </p:txBody>
      </p:sp>
      <p:sp>
        <p:nvSpPr>
          <p:cNvPr id="13" name="Espaço Reservado para Texto 7">
            <a:extLst>
              <a:ext uri="{FF2B5EF4-FFF2-40B4-BE49-F238E27FC236}">
                <a16:creationId xmlns:a16="http://schemas.microsoft.com/office/drawing/2014/main" id="{D4D707D4-C5C3-358C-828D-F0E51DF1C563}"/>
              </a:ext>
            </a:extLst>
          </p:cNvPr>
          <p:cNvSpPr>
            <a:spLocks noGrp="1"/>
          </p:cNvSpPr>
          <p:nvPr>
            <p:ph type="body" sz="quarter" idx="11"/>
          </p:nvPr>
        </p:nvSpPr>
        <p:spPr>
          <a:xfrm>
            <a:off x="7387165" y="1355465"/>
            <a:ext cx="3814235" cy="1159135"/>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Utilizar estratégias de otimização e segurança digital no sistema.</a:t>
            </a:r>
            <a:endParaRPr lang="pt-BR" sz="1500" noProof="0" dirty="0">
              <a:solidFill>
                <a:schemeClr val="tx1">
                  <a:lumMod val="95000"/>
                  <a:lumOff val="5000"/>
                </a:schemeClr>
              </a:solidFill>
              <a:latin typeface="Poppins" panose="00000500000000000000" pitchFamily="2" charset="0"/>
            </a:endParaRPr>
          </a:p>
        </p:txBody>
      </p:sp>
      <p:sp>
        <p:nvSpPr>
          <p:cNvPr id="14" name="Espaço Reservado para Texto 7">
            <a:extLst>
              <a:ext uri="{FF2B5EF4-FFF2-40B4-BE49-F238E27FC236}">
                <a16:creationId xmlns:a16="http://schemas.microsoft.com/office/drawing/2014/main" id="{DE336765-0FB7-BD47-5351-9D659F6B6C07}"/>
              </a:ext>
            </a:extLst>
          </p:cNvPr>
          <p:cNvSpPr>
            <a:spLocks noGrp="1"/>
          </p:cNvSpPr>
          <p:nvPr>
            <p:ph type="body" sz="quarter" idx="12"/>
          </p:nvPr>
        </p:nvSpPr>
        <p:spPr>
          <a:xfrm>
            <a:off x="7387165" y="3649331"/>
            <a:ext cx="4202855" cy="11855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Manter equilíbrio emocional diante de imprevistos nas tarefas.</a:t>
            </a:r>
          </a:p>
        </p:txBody>
      </p:sp>
      <p:sp>
        <p:nvSpPr>
          <p:cNvPr id="15" name="Espaço Reservado para Texto 7">
            <a:extLst>
              <a:ext uri="{FF2B5EF4-FFF2-40B4-BE49-F238E27FC236}">
                <a16:creationId xmlns:a16="http://schemas.microsoft.com/office/drawing/2014/main" id="{6E3FB853-DB70-A92D-898B-C5E6E9178764}"/>
              </a:ext>
            </a:extLst>
          </p:cNvPr>
          <p:cNvSpPr>
            <a:spLocks noGrp="1"/>
          </p:cNvSpPr>
          <p:nvPr>
            <p:ph type="body" sz="quarter" idx="13"/>
          </p:nvPr>
        </p:nvSpPr>
        <p:spPr>
          <a:xfrm>
            <a:off x="1395390" y="3308863"/>
            <a:ext cx="3976711" cy="152602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400"/>
              </a:spcAft>
            </a:pPr>
            <a:r>
              <a:rPr lang="pt-BR" sz="1500" noProof="0" dirty="0">
                <a:solidFill>
                  <a:schemeClr val="tx1">
                    <a:lumMod val="95000"/>
                    <a:lumOff val="5000"/>
                  </a:schemeClr>
                </a:solidFill>
                <a:latin typeface="Poppins" panose="00000500000000000000" pitchFamily="2" charset="0"/>
              </a:rPr>
              <a:t>Recurso audiovisual para exibição de vídeos e imagens.</a:t>
            </a:r>
          </a:p>
          <a:p>
            <a:pPr>
              <a:spcAft>
                <a:spcPts val="400"/>
              </a:spcAft>
            </a:pPr>
            <a:r>
              <a:rPr lang="pt-BR" sz="1500" noProof="0" dirty="0">
                <a:solidFill>
                  <a:schemeClr val="tx1">
                    <a:lumMod val="95000"/>
                    <a:lumOff val="5000"/>
                  </a:schemeClr>
                </a:solidFill>
                <a:latin typeface="Poppins" panose="00000500000000000000" pitchFamily="2" charset="0"/>
              </a:rPr>
              <a:t>Acesso ao laboratório de informática e/ou à internet.</a:t>
            </a:r>
          </a:p>
          <a:p>
            <a:pPr>
              <a:spcAft>
                <a:spcPts val="400"/>
              </a:spcAft>
            </a:pPr>
            <a:r>
              <a:rPr lang="pt-BR" sz="1500" dirty="0">
                <a:solidFill>
                  <a:schemeClr val="tx1">
                    <a:lumMod val="95000"/>
                    <a:lumOff val="5000"/>
                  </a:schemeClr>
                </a:solidFill>
                <a:latin typeface="Poppins" panose="00000500000000000000" pitchFamily="2" charset="0"/>
              </a:rPr>
              <a:t>Papel e caneta.</a:t>
            </a: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p:txBody>
      </p:sp>
    </p:spTree>
    <p:extLst>
      <p:ext uri="{BB962C8B-B14F-4D97-AF65-F5344CB8AC3E}">
        <p14:creationId xmlns:p14="http://schemas.microsoft.com/office/powerpoint/2010/main" val="27842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0">
          <a:extLst>
            <a:ext uri="{FF2B5EF4-FFF2-40B4-BE49-F238E27FC236}">
              <a16:creationId xmlns:a16="http://schemas.microsoft.com/office/drawing/2014/main" id="{9C506E41-6026-CBE8-9EDA-DE317FF011DF}"/>
            </a:ext>
          </a:extLst>
        </p:cNvPr>
        <p:cNvGrpSpPr/>
        <p:nvPr/>
      </p:nvGrpSpPr>
      <p:grpSpPr>
        <a:xfrm>
          <a:off x="0" y="0"/>
          <a:ext cx="0" cy="0"/>
          <a:chOff x="0" y="0"/>
          <a:chExt cx="0" cy="0"/>
        </a:xfrm>
      </p:grpSpPr>
      <p:sp>
        <p:nvSpPr>
          <p:cNvPr id="9" name="Espaço Reservado para Texto 3">
            <a:extLst>
              <a:ext uri="{FF2B5EF4-FFF2-40B4-BE49-F238E27FC236}">
                <a16:creationId xmlns:a16="http://schemas.microsoft.com/office/drawing/2014/main" id="{2DD4E05A-E94A-F4B8-D7CC-D4067915CCDC}"/>
              </a:ext>
            </a:extLst>
          </p:cNvPr>
          <p:cNvSpPr>
            <a:spLocks noGrp="1"/>
          </p:cNvSpPr>
          <p:nvPr>
            <p:ph type="body" idx="4294967295"/>
          </p:nvPr>
        </p:nvSpPr>
        <p:spPr>
          <a:xfrm>
            <a:off x="7372350" y="1539954"/>
            <a:ext cx="4260067" cy="3092149"/>
          </a:xfrm>
          <a:prstGeom prst="rect">
            <a:avLst/>
          </a:prstGeom>
        </p:spPr>
        <p:txBody>
          <a:bodyPr>
            <a:noAutofit/>
          </a:bodyPr>
          <a:lstStyle/>
          <a:p>
            <a:r>
              <a:rPr lang="pt-BR" sz="1800" dirty="0">
                <a:latin typeface="Poppins" panose="00000500000000000000" pitchFamily="2" charset="0"/>
                <a:cs typeface="Poppins" panose="00000500000000000000" pitchFamily="2" charset="0"/>
              </a:rPr>
              <a:t>Você está tentando fazer uma atividade escolar no computador. Ao mesmo tempo, uma música toca no YouTube, mensagens dos amigos chegam pelo WhatsApp Web e notificações de outros aplicativos continuam aparecendo. Com tantas informações na tela, sua atenção começa a se dispersar e fica cada vez mais difícil manter o foco na tarefa.</a:t>
            </a:r>
          </a:p>
        </p:txBody>
      </p:sp>
      <p:sp>
        <p:nvSpPr>
          <p:cNvPr id="12" name="Espaço Reservado para Texto 9">
            <a:extLst>
              <a:ext uri="{FF2B5EF4-FFF2-40B4-BE49-F238E27FC236}">
                <a16:creationId xmlns:a16="http://schemas.microsoft.com/office/drawing/2014/main" id="{878B8C33-4A4C-D01F-0757-E68E44057A8B}"/>
              </a:ext>
            </a:extLst>
          </p:cNvPr>
          <p:cNvSpPr>
            <a:spLocks noGrp="1"/>
          </p:cNvSpPr>
          <p:nvPr>
            <p:ph type="body" idx="4294967295"/>
          </p:nvPr>
        </p:nvSpPr>
        <p:spPr>
          <a:xfrm>
            <a:off x="3505835" y="5074920"/>
            <a:ext cx="8217572" cy="1322160"/>
          </a:xfrm>
          <a:prstGeom prst="rect">
            <a:avLst/>
          </a:prstGeom>
        </p:spPr>
        <p:txBody>
          <a:bodyPr lIns="91440" tIns="45720" rIns="91440" bIns="45720" anchor="t">
            <a:normAutofit/>
          </a:bodyPr>
          <a:lstStyle/>
          <a:p>
            <a:r>
              <a:rPr lang="pt-BR" sz="1800" b="1" dirty="0">
                <a:latin typeface="Poppins" panose="00000500000000000000" pitchFamily="2" charset="0"/>
                <a:cs typeface="Poppins" panose="00000500000000000000" pitchFamily="2" charset="0"/>
              </a:rPr>
              <a:t>Considerando esse cenário, como você se organizaria para conseguir finalizar a atividade?</a:t>
            </a:r>
            <a:endParaRPr lang="pt-BR" sz="1800" b="1" noProof="0" dirty="0">
              <a:latin typeface="Poppins" panose="00000500000000000000" pitchFamily="2" charset="0"/>
              <a:cs typeface="Poppins" panose="00000500000000000000" pitchFamily="2" charset="0"/>
            </a:endParaRPr>
          </a:p>
        </p:txBody>
      </p:sp>
      <p:pic>
        <p:nvPicPr>
          <p:cNvPr id="1026" name="Picture 2">
            <a:extLst>
              <a:ext uri="{FF2B5EF4-FFF2-40B4-BE49-F238E27FC236}">
                <a16:creationId xmlns:a16="http://schemas.microsoft.com/office/drawing/2014/main" id="{FC404776-0180-EC03-49A2-CD5495C19FBD}"/>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p:blipFill>
        <p:spPr bwMode="auto">
          <a:xfrm>
            <a:off x="3581371" y="1597405"/>
            <a:ext cx="3603360" cy="2917445"/>
          </a:xfrm>
          <a:prstGeom prst="rect">
            <a:avLst/>
          </a:prstGeom>
          <a:noFill/>
          <a:extLst>
            <a:ext uri="{909E8E84-426E-40DD-AFC4-6F175D3DCCD1}">
              <a14:hiddenFill xmlns:a14="http://schemas.microsoft.com/office/drawing/2010/main">
                <a:solidFill>
                  <a:srgbClr val="FFFFFF"/>
                </a:solidFill>
              </a14:hiddenFill>
            </a:ext>
          </a:extLst>
        </p:spPr>
      </p:pic>
      <p:sp>
        <p:nvSpPr>
          <p:cNvPr id="25" name="CaixaDeTexto 24">
            <a:extLst>
              <a:ext uri="{FF2B5EF4-FFF2-40B4-BE49-F238E27FC236}">
                <a16:creationId xmlns:a16="http://schemas.microsoft.com/office/drawing/2014/main" id="{A8268D77-A68E-939A-A450-EA2F4DB2910A}"/>
              </a:ext>
            </a:extLst>
          </p:cNvPr>
          <p:cNvSpPr txBox="1"/>
          <p:nvPr/>
        </p:nvSpPr>
        <p:spPr>
          <a:xfrm>
            <a:off x="3424500" y="709814"/>
            <a:ext cx="6097314" cy="584775"/>
          </a:xfrm>
          <a:prstGeom prst="rect">
            <a:avLst/>
          </a:prstGeom>
          <a:noFill/>
          <a:ln>
            <a:noFill/>
          </a:ln>
        </p:spPr>
        <p:txBody>
          <a:bodyPr wrap="square">
            <a:spAutoFit/>
          </a:bodyPr>
          <a:lstStyle/>
          <a:p>
            <a:r>
              <a:rPr lang="pt-BR" sz="3200" b="1" dirty="0">
                <a:solidFill>
                  <a:srgbClr val="EE0000"/>
                </a:solidFill>
                <a:latin typeface="Poppins" panose="00000500000000000000" pitchFamily="2" charset="0"/>
                <a:cs typeface="Poppins" panose="00000500000000000000" pitchFamily="2" charset="0"/>
              </a:rPr>
              <a:t>Conectado ou distraído?</a:t>
            </a:r>
          </a:p>
        </p:txBody>
      </p:sp>
      <p:sp>
        <p:nvSpPr>
          <p:cNvPr id="24" name="Google Shape;689;p48">
            <a:extLst>
              <a:ext uri="{FF2B5EF4-FFF2-40B4-BE49-F238E27FC236}">
                <a16:creationId xmlns:a16="http://schemas.microsoft.com/office/drawing/2014/main" id="{AE187A2A-6D4C-40AC-DD4E-5E6A7F5C01AA}"/>
              </a:ext>
            </a:extLst>
          </p:cNvPr>
          <p:cNvSpPr txBox="1">
            <a:spLocks/>
          </p:cNvSpPr>
          <p:nvPr/>
        </p:nvSpPr>
        <p:spPr>
          <a:xfrm>
            <a:off x="3581371" y="4632103"/>
            <a:ext cx="1603472"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 Getty Images</a:t>
            </a:r>
          </a:p>
        </p:txBody>
      </p:sp>
      <p:pic>
        <p:nvPicPr>
          <p:cNvPr id="26" name="Gráfico 25">
            <a:extLst>
              <a:ext uri="{FF2B5EF4-FFF2-40B4-BE49-F238E27FC236}">
                <a16:creationId xmlns:a16="http://schemas.microsoft.com/office/drawing/2014/main" id="{9DCBD7B1-A035-D352-D94E-261B4197DF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32419" y="221995"/>
            <a:ext cx="425236" cy="380475"/>
          </a:xfrm>
          <a:prstGeom prst="rect">
            <a:avLst/>
          </a:prstGeom>
        </p:spPr>
      </p:pic>
      <p:sp>
        <p:nvSpPr>
          <p:cNvPr id="27" name="Google Shape;833;p62">
            <a:extLst>
              <a:ext uri="{FF2B5EF4-FFF2-40B4-BE49-F238E27FC236}">
                <a16:creationId xmlns:a16="http://schemas.microsoft.com/office/drawing/2014/main" id="{4F547BFC-6983-B132-3400-204353260BF0}"/>
              </a:ext>
            </a:extLst>
          </p:cNvPr>
          <p:cNvSpPr txBox="1"/>
          <p:nvPr/>
        </p:nvSpPr>
        <p:spPr>
          <a:xfrm>
            <a:off x="11472292" y="4815"/>
            <a:ext cx="704005" cy="193847"/>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a:solidFill>
                  <a:schemeClr val="lt1"/>
                </a:solidFill>
                <a:latin typeface="Poppins"/>
                <a:ea typeface="Poppins"/>
                <a:cs typeface="Poppins"/>
                <a:sym typeface="Poppins"/>
              </a:rPr>
              <a:t>Registro</a:t>
            </a:r>
            <a:endParaRPr sz="800"/>
          </a:p>
          <a:p>
            <a:pPr algn="r">
              <a:lnSpc>
                <a:spcPct val="107000"/>
              </a:lnSpc>
              <a:spcBef>
                <a:spcPts val="715"/>
              </a:spcBef>
              <a:buSzPts val="2700"/>
            </a:pPr>
            <a:endParaRPr sz="800">
              <a:solidFill>
                <a:schemeClr val="lt1"/>
              </a:solidFill>
              <a:latin typeface="Poppins Light"/>
              <a:ea typeface="Poppins Light"/>
              <a:cs typeface="Poppins Light"/>
              <a:sym typeface="Poppins Light"/>
            </a:endParaRPr>
          </a:p>
        </p:txBody>
      </p:sp>
      <p:sp>
        <p:nvSpPr>
          <p:cNvPr id="28" name="Google Shape;369;p6">
            <a:extLst>
              <a:ext uri="{FF2B5EF4-FFF2-40B4-BE49-F238E27FC236}">
                <a16:creationId xmlns:a16="http://schemas.microsoft.com/office/drawing/2014/main" id="{36F9D7F0-E668-6C32-9711-DAE828B36A0D}"/>
              </a:ext>
            </a:extLst>
          </p:cNvPr>
          <p:cNvSpPr/>
          <p:nvPr/>
        </p:nvSpPr>
        <p:spPr>
          <a:xfrm flipH="1">
            <a:off x="11472465" y="-7680"/>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a:buSzPts val="1400"/>
            </a:pPr>
            <a:endParaRPr/>
          </a:p>
        </p:txBody>
      </p:sp>
      <p:grpSp>
        <p:nvGrpSpPr>
          <p:cNvPr id="29" name="Google Shape;370;p6">
            <a:extLst>
              <a:ext uri="{FF2B5EF4-FFF2-40B4-BE49-F238E27FC236}">
                <a16:creationId xmlns:a16="http://schemas.microsoft.com/office/drawing/2014/main" id="{AF69E13C-DAE1-BED6-0335-F1E1868778E7}"/>
              </a:ext>
            </a:extLst>
          </p:cNvPr>
          <p:cNvGrpSpPr/>
          <p:nvPr/>
        </p:nvGrpSpPr>
        <p:grpSpPr>
          <a:xfrm>
            <a:off x="11654317" y="198029"/>
            <a:ext cx="382615" cy="456000"/>
            <a:chOff x="16810081" y="921861"/>
            <a:chExt cx="743773" cy="886429"/>
          </a:xfrm>
        </p:grpSpPr>
        <p:grpSp>
          <p:nvGrpSpPr>
            <p:cNvPr id="30" name="Google Shape;371;p6">
              <a:extLst>
                <a:ext uri="{FF2B5EF4-FFF2-40B4-BE49-F238E27FC236}">
                  <a16:creationId xmlns:a16="http://schemas.microsoft.com/office/drawing/2014/main" id="{BD97B557-0F8D-D940-9184-4D07B2DEB3C5}"/>
                </a:ext>
              </a:extLst>
            </p:cNvPr>
            <p:cNvGrpSpPr/>
            <p:nvPr/>
          </p:nvGrpSpPr>
          <p:grpSpPr>
            <a:xfrm>
              <a:off x="16810084" y="1434434"/>
              <a:ext cx="691713" cy="373856"/>
              <a:chOff x="16866377" y="1492565"/>
              <a:chExt cx="691713" cy="373856"/>
            </a:xfrm>
          </p:grpSpPr>
          <p:sp>
            <p:nvSpPr>
              <p:cNvPr id="34" name="Google Shape;372;p6">
                <a:extLst>
                  <a:ext uri="{FF2B5EF4-FFF2-40B4-BE49-F238E27FC236}">
                    <a16:creationId xmlns:a16="http://schemas.microsoft.com/office/drawing/2014/main" id="{E3A9F43F-9349-B075-A02A-4BD04DA0541C}"/>
                  </a:ext>
                </a:extLst>
              </p:cNvPr>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5" name="Google Shape;373;p6">
                <a:extLst>
                  <a:ext uri="{FF2B5EF4-FFF2-40B4-BE49-F238E27FC236}">
                    <a16:creationId xmlns:a16="http://schemas.microsoft.com/office/drawing/2014/main" id="{31B463D3-8D3E-D71E-2819-AEFD340C4095}"/>
                  </a:ext>
                </a:extLst>
              </p:cNvPr>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6" name="Google Shape;374;p6">
                <a:extLst>
                  <a:ext uri="{FF2B5EF4-FFF2-40B4-BE49-F238E27FC236}">
                    <a16:creationId xmlns:a16="http://schemas.microsoft.com/office/drawing/2014/main" id="{F6511D49-BD53-23B3-E6B7-625089D33F3F}"/>
                  </a:ext>
                </a:extLst>
              </p:cNvPr>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7" name="Google Shape;375;p6">
                <a:extLst>
                  <a:ext uri="{FF2B5EF4-FFF2-40B4-BE49-F238E27FC236}">
                    <a16:creationId xmlns:a16="http://schemas.microsoft.com/office/drawing/2014/main" id="{E92C251A-B55A-4FAD-EABC-3E5752B92488}"/>
                  </a:ext>
                </a:extLst>
              </p:cNvPr>
              <p:cNvSpPr/>
              <p:nvPr/>
            </p:nvSpPr>
            <p:spPr>
              <a:xfrm>
                <a:off x="16866377" y="1660872"/>
                <a:ext cx="268605" cy="148398"/>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8" name="Google Shape;376;p6">
                <a:extLst>
                  <a:ext uri="{FF2B5EF4-FFF2-40B4-BE49-F238E27FC236}">
                    <a16:creationId xmlns:a16="http://schemas.microsoft.com/office/drawing/2014/main" id="{76351DC4-AC99-B57C-8A76-3236779EC981}"/>
                  </a:ext>
                </a:extLst>
              </p:cNvPr>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9" name="Google Shape;377;p6">
                <a:extLst>
                  <a:ext uri="{FF2B5EF4-FFF2-40B4-BE49-F238E27FC236}">
                    <a16:creationId xmlns:a16="http://schemas.microsoft.com/office/drawing/2014/main" id="{12CD7AC1-368D-74A8-151F-700392293CE5}"/>
                  </a:ext>
                </a:extLst>
              </p:cNvPr>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grpSp>
        <p:grpSp>
          <p:nvGrpSpPr>
            <p:cNvPr id="31" name="Google Shape;378;p6">
              <a:extLst>
                <a:ext uri="{FF2B5EF4-FFF2-40B4-BE49-F238E27FC236}">
                  <a16:creationId xmlns:a16="http://schemas.microsoft.com/office/drawing/2014/main" id="{2D8935C6-B3EF-EC1A-B72B-51CA5F7B988B}"/>
                </a:ext>
              </a:extLst>
            </p:cNvPr>
            <p:cNvGrpSpPr/>
            <p:nvPr/>
          </p:nvGrpSpPr>
          <p:grpSpPr>
            <a:xfrm>
              <a:off x="16810081" y="921861"/>
              <a:ext cx="743773" cy="512573"/>
              <a:chOff x="16933626" y="782036"/>
              <a:chExt cx="743773" cy="512573"/>
            </a:xfrm>
          </p:grpSpPr>
          <p:sp>
            <p:nvSpPr>
              <p:cNvPr id="32" name="Google Shape;379;p6">
                <a:extLst>
                  <a:ext uri="{FF2B5EF4-FFF2-40B4-BE49-F238E27FC236}">
                    <a16:creationId xmlns:a16="http://schemas.microsoft.com/office/drawing/2014/main" id="{8E9DDD00-C347-3BAE-3189-9563CA624133}"/>
                  </a:ext>
                </a:extLst>
              </p:cNvPr>
              <p:cNvSpPr/>
              <p:nvPr/>
            </p:nvSpPr>
            <p:spPr>
              <a:xfrm>
                <a:off x="16933626" y="782036"/>
                <a:ext cx="476249"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3" name="Google Shape;380;p6">
                <a:extLst>
                  <a:ext uri="{FF2B5EF4-FFF2-40B4-BE49-F238E27FC236}">
                    <a16:creationId xmlns:a16="http://schemas.microsoft.com/office/drawing/2014/main" id="{8B696149-542D-D07D-E353-D14C156AD5E2}"/>
                  </a:ext>
                </a:extLst>
              </p:cNvPr>
              <p:cNvSpPr/>
              <p:nvPr/>
            </p:nvSpPr>
            <p:spPr>
              <a:xfrm>
                <a:off x="17201150" y="865984"/>
                <a:ext cx="476249"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grpSp>
      </p:grpSp>
      <p:sp>
        <p:nvSpPr>
          <p:cNvPr id="40" name="Google Shape;381;p6">
            <a:extLst>
              <a:ext uri="{FF2B5EF4-FFF2-40B4-BE49-F238E27FC236}">
                <a16:creationId xmlns:a16="http://schemas.microsoft.com/office/drawing/2014/main" id="{980D7227-4D53-5770-B3D2-E41A4A954A26}"/>
              </a:ext>
            </a:extLst>
          </p:cNvPr>
          <p:cNvSpPr txBox="1"/>
          <p:nvPr/>
        </p:nvSpPr>
        <p:spPr>
          <a:xfrm>
            <a:off x="11462298" y="-22860"/>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a:ea typeface="Poppins"/>
                <a:cs typeface="Poppins"/>
                <a:sym typeface="Poppins"/>
              </a:rPr>
              <a:t>Diálogo</a:t>
            </a:r>
            <a:endParaRPr sz="800" dirty="0">
              <a:latin typeface="Poppins"/>
              <a:ea typeface="Poppins"/>
              <a:cs typeface="Poppins"/>
              <a:sym typeface="Poppins"/>
            </a:endParaRPr>
          </a:p>
          <a:p>
            <a:pPr algn="r">
              <a:lnSpc>
                <a:spcPct val="107000"/>
              </a:lnSpc>
              <a:spcBef>
                <a:spcPts val="715"/>
              </a:spcBef>
              <a:buSzPts val="2700"/>
            </a:pPr>
            <a:endParaRPr sz="800"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87013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F8ED89D0-4503-9DB7-E980-1B563D6F2CDB}"/>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BC1AD93E-7903-F7A1-2A2E-BE6C1F3E23F1}"/>
              </a:ext>
            </a:extLst>
          </p:cNvPr>
          <p:cNvSpPr>
            <a:spLocks noGrp="1"/>
          </p:cNvSpPr>
          <p:nvPr>
            <p:ph type="body" sz="quarter" idx="10"/>
          </p:nvPr>
        </p:nvSpPr>
        <p:spPr>
          <a:xfrm>
            <a:off x="2836656" y="946675"/>
            <a:ext cx="8540120" cy="520699"/>
          </a:xfrm>
          <a:prstGeom prst="rect">
            <a:avLst/>
          </a:prstGeom>
        </p:spPr>
        <p:txBody>
          <a:bodyPr/>
          <a:lstStyle>
            <a:lvl1pPr>
              <a:defRPr sz="1800">
                <a:latin typeface="Poppins" pitchFamily="2" charset="77"/>
                <a:cs typeface="Poppins" pitchFamily="2" charset="77"/>
              </a:defRPr>
            </a:lvl1pPr>
          </a:lstStyle>
          <a:p>
            <a:pPr lvl="0"/>
            <a:r>
              <a:rPr lang="pt-BR" sz="3200" b="1" dirty="0">
                <a:solidFill>
                  <a:srgbClr val="FF161F"/>
                </a:solidFill>
              </a:rPr>
              <a:t>Sistema operacional multitarefa</a:t>
            </a:r>
          </a:p>
        </p:txBody>
      </p:sp>
      <p:sp>
        <p:nvSpPr>
          <p:cNvPr id="7" name="Rectangle 2">
            <a:extLst>
              <a:ext uri="{FF2B5EF4-FFF2-40B4-BE49-F238E27FC236}">
                <a16:creationId xmlns:a16="http://schemas.microsoft.com/office/drawing/2014/main" id="{748994DF-E4C6-EE08-ECEA-DDF53D9F8769}"/>
              </a:ext>
            </a:extLst>
          </p:cNvPr>
          <p:cNvSpPr>
            <a:spLocks noGrp="1" noChangeArrowheads="1"/>
          </p:cNvSpPr>
          <p:nvPr>
            <p:ph type="body" sz="quarter" idx="11"/>
          </p:nvPr>
        </p:nvSpPr>
        <p:spPr bwMode="auto">
          <a:xfrm>
            <a:off x="2836656" y="1843194"/>
            <a:ext cx="4893186" cy="34614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pt-BR" sz="1800" dirty="0"/>
              <a:t>Ao usar o computador, abrimos várias tarefas ao mesmo tempo — um </a:t>
            </a:r>
            <a:r>
              <a:rPr lang="pt-BR" sz="1800" i="1" dirty="0"/>
              <a:t>player</a:t>
            </a:r>
            <a:r>
              <a:rPr lang="pt-BR" sz="1800" dirty="0"/>
              <a:t> de música, o navegador e um editor de texto, por exemplo. Tudo parece acontecer junto, mas quem organiza essas ações é o </a:t>
            </a:r>
            <a:r>
              <a:rPr lang="pt-BR" sz="1800" b="1" dirty="0"/>
              <a:t>sistema operacional</a:t>
            </a:r>
            <a:r>
              <a:rPr lang="pt-BR" sz="1800" dirty="0"/>
              <a:t>.</a:t>
            </a:r>
          </a:p>
          <a:p>
            <a:r>
              <a:rPr lang="pt-BR" sz="1800" dirty="0"/>
              <a:t>Ele distribui os recursos do computador entre as tarefas, garantindo que tudo funcione bem.</a:t>
            </a:r>
          </a:p>
          <a:p>
            <a:r>
              <a:rPr lang="pt-BR" sz="1800" dirty="0"/>
              <a:t>Essa capacidade de realizar várias atividades ao mesmo tempo é chamada de </a:t>
            </a:r>
            <a:r>
              <a:rPr lang="pt-BR" sz="1800" b="1" dirty="0"/>
              <a:t>multitarefa</a:t>
            </a:r>
            <a:r>
              <a:rPr lang="pt-BR" sz="1800" dirty="0"/>
              <a:t>.</a:t>
            </a:r>
          </a:p>
          <a:p>
            <a:endParaRPr lang="pt-BR" sz="1800" dirty="0"/>
          </a:p>
        </p:txBody>
      </p:sp>
      <p:pic>
        <p:nvPicPr>
          <p:cNvPr id="4" name="Imagem 3"/>
          <p:cNvPicPr>
            <a:picLocks noChangeAspect="1"/>
          </p:cNvPicPr>
          <p:nvPr/>
        </p:nvPicPr>
        <p:blipFill>
          <a:blip r:embed="rId3" cstate="hqprint">
            <a:extLst>
              <a:ext uri="{28A0092B-C50C-407E-A947-70E740481C1C}">
                <a14:useLocalDpi xmlns:a14="http://schemas.microsoft.com/office/drawing/2010/main"/>
              </a:ext>
            </a:extLst>
          </a:blip>
          <a:srcRect t="7837" b="4839"/>
          <a:stretch>
            <a:fillRect/>
          </a:stretch>
        </p:blipFill>
        <p:spPr>
          <a:xfrm>
            <a:off x="7619883" y="1928410"/>
            <a:ext cx="4386599" cy="2553708"/>
          </a:xfrm>
          <a:prstGeom prst="rect">
            <a:avLst/>
          </a:prstGeom>
        </p:spPr>
      </p:pic>
      <p:sp>
        <p:nvSpPr>
          <p:cNvPr id="3" name="Google Shape;689;p48">
            <a:extLst>
              <a:ext uri="{FF2B5EF4-FFF2-40B4-BE49-F238E27FC236}">
                <a16:creationId xmlns:a16="http://schemas.microsoft.com/office/drawing/2014/main" id="{7101DED0-A098-ADC6-08BE-98C89874FE08}"/>
              </a:ext>
            </a:extLst>
          </p:cNvPr>
          <p:cNvSpPr txBox="1">
            <a:spLocks/>
          </p:cNvSpPr>
          <p:nvPr/>
        </p:nvSpPr>
        <p:spPr>
          <a:xfrm>
            <a:off x="7860542" y="4443206"/>
            <a:ext cx="3905279"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None/>
            </a:pPr>
            <a:r>
              <a:rPr lang="pt-BR" sz="1100" dirty="0">
                <a:latin typeface="Poppins" panose="00000500000000000000" pitchFamily="2" charset="0"/>
                <a:cs typeface="Poppins" panose="00000500000000000000" pitchFamily="2" charset="0"/>
              </a:rPr>
              <a:t>Produzido pela SEDUC-SP com © Getty Images</a:t>
            </a:r>
          </a:p>
        </p:txBody>
      </p:sp>
    </p:spTree>
    <p:extLst>
      <p:ext uri="{BB962C8B-B14F-4D97-AF65-F5344CB8AC3E}">
        <p14:creationId xmlns:p14="http://schemas.microsoft.com/office/powerpoint/2010/main" val="4188337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F8ED89D0-4503-9DB7-E980-1B563D6F2CDB}"/>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BC1AD93E-7903-F7A1-2A2E-BE6C1F3E23F1}"/>
              </a:ext>
            </a:extLst>
          </p:cNvPr>
          <p:cNvSpPr>
            <a:spLocks noGrp="1"/>
          </p:cNvSpPr>
          <p:nvPr>
            <p:ph type="body" sz="quarter" idx="10"/>
          </p:nvPr>
        </p:nvSpPr>
        <p:spPr>
          <a:xfrm>
            <a:off x="2810042" y="893856"/>
            <a:ext cx="8540120" cy="520699"/>
          </a:xfrm>
          <a:prstGeom prst="rect">
            <a:avLst/>
          </a:prstGeom>
        </p:spPr>
        <p:txBody>
          <a:bodyPr/>
          <a:lstStyle>
            <a:lvl1pPr>
              <a:defRPr sz="1800">
                <a:latin typeface="Poppins" pitchFamily="2" charset="77"/>
                <a:cs typeface="Poppins" pitchFamily="2" charset="77"/>
              </a:defRPr>
            </a:lvl1pPr>
          </a:lstStyle>
          <a:p>
            <a:pPr lvl="0"/>
            <a:r>
              <a:rPr lang="pt-BR" sz="3200" b="1" dirty="0">
                <a:solidFill>
                  <a:srgbClr val="FF161F"/>
                </a:solidFill>
              </a:rPr>
              <a:t>Gerenciamento de janelas</a:t>
            </a:r>
          </a:p>
        </p:txBody>
      </p:sp>
      <p:sp>
        <p:nvSpPr>
          <p:cNvPr id="10" name="Espaço Reservado para Texto 13">
            <a:extLst>
              <a:ext uri="{FF2B5EF4-FFF2-40B4-BE49-F238E27FC236}">
                <a16:creationId xmlns:a16="http://schemas.microsoft.com/office/drawing/2014/main" id="{DD67258B-51DB-2792-E136-AC0ADA0E3DE7}"/>
              </a:ext>
            </a:extLst>
          </p:cNvPr>
          <p:cNvSpPr>
            <a:spLocks noGrp="1"/>
          </p:cNvSpPr>
          <p:nvPr>
            <p:ph type="body" sz="quarter" idx="11"/>
          </p:nvPr>
        </p:nvSpPr>
        <p:spPr>
          <a:xfrm>
            <a:off x="2810042" y="1769040"/>
            <a:ext cx="4698358" cy="2083173"/>
          </a:xfrm>
          <a:prstGeom prst="rect">
            <a:avLst/>
          </a:prstGeom>
        </p:spPr>
        <p:txBody>
          <a:bodyPr/>
          <a:lstStyle>
            <a:lvl1pPr>
              <a:defRPr sz="1800">
                <a:latin typeface="Poppins" pitchFamily="2" charset="77"/>
                <a:cs typeface="Poppins" pitchFamily="2" charset="77"/>
              </a:defRPr>
            </a:lvl1pPr>
          </a:lstStyle>
          <a:p>
            <a:r>
              <a:rPr lang="pt-BR" sz="1600" dirty="0"/>
              <a:t>O computador mostra várias tarefas ao mesmo tempo por meio das </a:t>
            </a:r>
            <a:r>
              <a:rPr lang="pt-BR" sz="1600" b="1" dirty="0"/>
              <a:t>janelas</a:t>
            </a:r>
            <a:r>
              <a:rPr lang="pt-BR" sz="1600" dirty="0"/>
              <a:t> — cada programa aberto ocupa uma delas: o navegador, o editor de texto, o jogo ou o reprodutor de música.</a:t>
            </a:r>
          </a:p>
          <a:p>
            <a:r>
              <a:rPr lang="pt-BR" sz="1600" dirty="0"/>
              <a:t>Quando você coloca o </a:t>
            </a:r>
            <a:r>
              <a:rPr lang="pt-BR" sz="1600" b="1" dirty="0"/>
              <a:t>YouTube</a:t>
            </a:r>
            <a:r>
              <a:rPr lang="pt-BR" sz="1600" dirty="0"/>
              <a:t> de um lado da tela e o </a:t>
            </a:r>
            <a:r>
              <a:rPr lang="pt-BR" sz="1600" b="1" dirty="0"/>
              <a:t>Google </a:t>
            </a:r>
            <a:r>
              <a:rPr lang="pt-BR" sz="1600" b="1" dirty="0" err="1"/>
              <a:t>Docs</a:t>
            </a:r>
            <a:r>
              <a:rPr lang="pt-BR" sz="1600" dirty="0"/>
              <a:t> do outro, o sistema organiza tudo para que funcione junto.</a:t>
            </a:r>
          </a:p>
          <a:p>
            <a:endParaRPr lang="pt-BR" sz="1600" dirty="0"/>
          </a:p>
          <a:p>
            <a:pPr lvl="0"/>
            <a:endParaRPr lang="pt-BR" sz="1600" dirty="0"/>
          </a:p>
        </p:txBody>
      </p:sp>
      <p:pic>
        <p:nvPicPr>
          <p:cNvPr id="14" name="Picture 13">
            <a:extLst>
              <a:ext uri="{FF2B5EF4-FFF2-40B4-BE49-F238E27FC236}">
                <a16:creationId xmlns:a16="http://schemas.microsoft.com/office/drawing/2014/main" id="{008D4CC8-B918-96ED-2FAE-25B26D9D3FCA}"/>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7800326" y="1871382"/>
            <a:ext cx="4003484" cy="4003484"/>
          </a:xfrm>
          <a:prstGeom prst="rect">
            <a:avLst/>
          </a:prstGeom>
        </p:spPr>
      </p:pic>
      <p:sp>
        <p:nvSpPr>
          <p:cNvPr id="3" name="Google Shape;689;p48">
            <a:extLst>
              <a:ext uri="{FF2B5EF4-FFF2-40B4-BE49-F238E27FC236}">
                <a16:creationId xmlns:a16="http://schemas.microsoft.com/office/drawing/2014/main" id="{AA371A10-B9A0-2BF0-565C-0F78E68861E3}"/>
              </a:ext>
            </a:extLst>
          </p:cNvPr>
          <p:cNvSpPr txBox="1">
            <a:spLocks/>
          </p:cNvSpPr>
          <p:nvPr/>
        </p:nvSpPr>
        <p:spPr>
          <a:xfrm>
            <a:off x="7847103" y="5874226"/>
            <a:ext cx="1150649" cy="398058"/>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pt-BR" sz="1100" dirty="0">
                <a:latin typeface="Poppins" panose="00000500000000000000" pitchFamily="2" charset="0"/>
                <a:cs typeface="Poppins" panose="00000500000000000000" pitchFamily="2" charset="0"/>
              </a:rPr>
              <a:t>© Getty Images</a:t>
            </a:r>
          </a:p>
          <a:p>
            <a:pPr marL="0" indent="0">
              <a:spcBef>
                <a:spcPts val="240"/>
              </a:spcBef>
              <a:buSzPts val="1200"/>
              <a:buNone/>
            </a:pPr>
            <a:endParaRPr lang="pt-BR" sz="1100" dirty="0">
              <a:latin typeface="Poppins" panose="00000500000000000000" pitchFamily="2" charset="0"/>
              <a:cs typeface="Poppins" panose="00000500000000000000" pitchFamily="2" charset="0"/>
            </a:endParaRPr>
          </a:p>
        </p:txBody>
      </p:sp>
      <p:sp>
        <p:nvSpPr>
          <p:cNvPr id="6" name="Google Shape;136;p4">
            <a:extLst>
              <a:ext uri="{FF2B5EF4-FFF2-40B4-BE49-F238E27FC236}">
                <a16:creationId xmlns:a16="http://schemas.microsoft.com/office/drawing/2014/main" id="{D78A0781-BAB8-7ED1-728D-658D8844131E}"/>
              </a:ext>
            </a:extLst>
          </p:cNvPr>
          <p:cNvSpPr txBox="1"/>
          <p:nvPr/>
        </p:nvSpPr>
        <p:spPr>
          <a:xfrm>
            <a:off x="2929617" y="4304478"/>
            <a:ext cx="4578783" cy="1570388"/>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buSzPts val="1800"/>
            </a:pPr>
            <a:endParaRPr lang="pt-BR" sz="1600" dirty="0">
              <a:latin typeface="Poppins" panose="00000500000000000000" pitchFamily="2" charset="0"/>
              <a:ea typeface="Lato"/>
              <a:cs typeface="Poppins" panose="00000500000000000000" pitchFamily="2" charset="0"/>
              <a:sym typeface="Lato"/>
            </a:endParaRPr>
          </a:p>
          <a:p>
            <a:pPr>
              <a:buSzPts val="1800"/>
            </a:pPr>
            <a:r>
              <a:rPr lang="pt-BR" sz="1600" dirty="0">
                <a:latin typeface="Poppins" panose="00000500000000000000" pitchFamily="2" charset="0"/>
                <a:ea typeface="Lato"/>
                <a:cs typeface="Poppins" panose="00000500000000000000" pitchFamily="2" charset="0"/>
                <a:sym typeface="Lato"/>
              </a:rPr>
              <a:t>Assim, é possível assistir a um vídeo explicativo e anotar ao mesmo tempo, ganhando tempo e evitando abrir e fechar programas a todo momento.</a:t>
            </a:r>
          </a:p>
        </p:txBody>
      </p:sp>
      <p:grpSp>
        <p:nvGrpSpPr>
          <p:cNvPr id="7" name="Agrupar 6">
            <a:extLst>
              <a:ext uri="{FF2B5EF4-FFF2-40B4-BE49-F238E27FC236}">
                <a16:creationId xmlns:a16="http://schemas.microsoft.com/office/drawing/2014/main" id="{42AB7EF1-5D47-FF3E-B071-59E29E0A6170}"/>
              </a:ext>
            </a:extLst>
          </p:cNvPr>
          <p:cNvGrpSpPr/>
          <p:nvPr/>
        </p:nvGrpSpPr>
        <p:grpSpPr>
          <a:xfrm>
            <a:off x="2590914" y="3924716"/>
            <a:ext cx="3499949" cy="728133"/>
            <a:chOff x="12496121" y="1426319"/>
            <a:chExt cx="5249923" cy="1092200"/>
          </a:xfrm>
        </p:grpSpPr>
        <p:pic>
          <p:nvPicPr>
            <p:cNvPr id="8" name="Imagem 7">
              <a:extLst>
                <a:ext uri="{FF2B5EF4-FFF2-40B4-BE49-F238E27FC236}">
                  <a16:creationId xmlns:a16="http://schemas.microsoft.com/office/drawing/2014/main" id="{968679AB-7099-E45A-B8C7-507FFE8DA88E}"/>
                </a:ext>
              </a:extLst>
            </p:cNvPr>
            <p:cNvPicPr>
              <a:picLocks noChangeAspect="1"/>
            </p:cNvPicPr>
            <p:nvPr/>
          </p:nvPicPr>
          <p:blipFill>
            <a:blip r:embed="rId4"/>
            <a:stretch>
              <a:fillRect/>
            </a:stretch>
          </p:blipFill>
          <p:spPr>
            <a:xfrm>
              <a:off x="12496121" y="1426319"/>
              <a:ext cx="5207000" cy="1092200"/>
            </a:xfrm>
            <a:prstGeom prst="rect">
              <a:avLst/>
            </a:prstGeom>
          </p:spPr>
        </p:pic>
        <p:pic>
          <p:nvPicPr>
            <p:cNvPr id="11" name="Gráfico 10">
              <a:extLst>
                <a:ext uri="{FF2B5EF4-FFF2-40B4-BE49-F238E27FC236}">
                  <a16:creationId xmlns:a16="http://schemas.microsoft.com/office/drawing/2014/main" id="{BA4B056C-F0C5-96E8-4462-1E06D18EC0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90124" y="1574173"/>
              <a:ext cx="749300" cy="723900"/>
            </a:xfrm>
            <a:prstGeom prst="rect">
              <a:avLst/>
            </a:prstGeom>
          </p:spPr>
        </p:pic>
        <p:sp>
          <p:nvSpPr>
            <p:cNvPr id="15" name="CaixaDeTexto 14">
              <a:extLst>
                <a:ext uri="{FF2B5EF4-FFF2-40B4-BE49-F238E27FC236}">
                  <a16:creationId xmlns:a16="http://schemas.microsoft.com/office/drawing/2014/main" id="{C892E276-2B52-B0F8-7E87-CCB3C8F2D666}"/>
                </a:ext>
              </a:extLst>
            </p:cNvPr>
            <p:cNvSpPr txBox="1"/>
            <p:nvPr/>
          </p:nvSpPr>
          <p:spPr>
            <a:xfrm>
              <a:off x="13963023" y="1761350"/>
              <a:ext cx="3783021" cy="313070"/>
            </a:xfrm>
            <a:prstGeom prst="rect">
              <a:avLst/>
            </a:prstGeom>
            <a:noFill/>
            <a:ln>
              <a:noFill/>
            </a:ln>
          </p:spPr>
          <p:txBody>
            <a:bodyPr spcFirstLastPara="1" wrap="square" lIns="60950" tIns="30467" rIns="60950" bIns="30467" rtlCol="0" anchor="t" anchorCtr="0">
              <a:noAutofit/>
            </a:bodyPr>
            <a:lstStyle/>
            <a:p>
              <a:pPr algn="ctr"/>
              <a:r>
                <a:rPr lang="pt-BR" sz="1600" b="1" dirty="0">
                  <a:solidFill>
                    <a:schemeClr val="bg1"/>
                  </a:solidFill>
                  <a:latin typeface="Poppins" pitchFamily="2" charset="77"/>
                  <a:cs typeface="Poppins" pitchFamily="2" charset="77"/>
                </a:rPr>
                <a:t>DESTAQUE</a:t>
              </a:r>
            </a:p>
          </p:txBody>
        </p:sp>
      </p:grpSp>
    </p:spTree>
    <p:extLst>
      <p:ext uri="{BB962C8B-B14F-4D97-AF65-F5344CB8AC3E}">
        <p14:creationId xmlns:p14="http://schemas.microsoft.com/office/powerpoint/2010/main" val="120284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13ECE-66BA-C307-0A8F-641213CA0A45}"/>
            </a:ext>
          </a:extLst>
        </p:cNvPr>
        <p:cNvGrpSpPr/>
        <p:nvPr/>
      </p:nvGrpSpPr>
      <p:grpSpPr>
        <a:xfrm>
          <a:off x="0" y="0"/>
          <a:ext cx="0" cy="0"/>
          <a:chOff x="0" y="0"/>
          <a:chExt cx="0" cy="0"/>
        </a:xfrm>
      </p:grpSpPr>
      <p:sp>
        <p:nvSpPr>
          <p:cNvPr id="10" name="Rectangle 2">
            <a:extLst>
              <a:ext uri="{FF2B5EF4-FFF2-40B4-BE49-F238E27FC236}">
                <a16:creationId xmlns:a16="http://schemas.microsoft.com/office/drawing/2014/main" id="{31931A06-FF97-2C2B-9651-56A03D95387A}"/>
              </a:ext>
            </a:extLst>
          </p:cNvPr>
          <p:cNvSpPr>
            <a:spLocks noGrp="1" noChangeArrowheads="1"/>
          </p:cNvSpPr>
          <p:nvPr>
            <p:ph type="body" sz="quarter" idx="4294967295"/>
          </p:nvPr>
        </p:nvSpPr>
        <p:spPr bwMode="auto">
          <a:xfrm>
            <a:off x="2810042" y="1643266"/>
            <a:ext cx="8726682"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a:spcAft>
                <a:spcPts val="600"/>
              </a:spcAft>
            </a:pPr>
            <a:r>
              <a:rPr lang="pt-BR" sz="1800" dirty="0">
                <a:latin typeface="Poppins" panose="00000500000000000000" pitchFamily="2" charset="0"/>
                <a:cs typeface="Poppins" panose="00000500000000000000" pitchFamily="2" charset="0"/>
              </a:rPr>
              <a:t>O </a:t>
            </a:r>
            <a:r>
              <a:rPr lang="pt-BR" sz="1800" b="1" dirty="0">
                <a:latin typeface="Poppins" panose="00000500000000000000" pitchFamily="2" charset="0"/>
                <a:cs typeface="Poppins" panose="00000500000000000000" pitchFamily="2" charset="0"/>
              </a:rPr>
              <a:t>sistema</a:t>
            </a:r>
            <a:r>
              <a:rPr lang="pt-BR" sz="1800" dirty="0">
                <a:latin typeface="Poppins" panose="00000500000000000000" pitchFamily="2" charset="0"/>
                <a:cs typeface="Poppins" panose="00000500000000000000" pitchFamily="2" charset="0"/>
              </a:rPr>
              <a:t> </a:t>
            </a:r>
            <a:r>
              <a:rPr lang="pt-BR" sz="1800" b="1" dirty="0">
                <a:latin typeface="Poppins" panose="00000500000000000000" pitchFamily="2" charset="0"/>
                <a:cs typeface="Poppins" panose="00000500000000000000" pitchFamily="2" charset="0"/>
              </a:rPr>
              <a:t>operacional</a:t>
            </a:r>
            <a:r>
              <a:rPr lang="pt-BR" sz="1800" dirty="0">
                <a:latin typeface="Poppins" panose="00000500000000000000" pitchFamily="2" charset="0"/>
                <a:cs typeface="Poppins" panose="00000500000000000000" pitchFamily="2" charset="0"/>
              </a:rPr>
              <a:t> oferece ferramentas para gerenciar essas janelas:</a:t>
            </a:r>
          </a:p>
          <a:p>
            <a:pPr marL="285750" indent="-285750">
              <a:spcAft>
                <a:spcPts val="600"/>
              </a:spcAft>
              <a:buFont typeface="Arial" panose="020B0604020202020204" pitchFamily="34" charset="0"/>
              <a:buChar char="•"/>
            </a:pPr>
            <a:r>
              <a:rPr lang="pt-BR" sz="1800" dirty="0">
                <a:latin typeface="Poppins" panose="00000500000000000000" pitchFamily="2" charset="0"/>
                <a:cs typeface="Poppins" panose="00000500000000000000" pitchFamily="2" charset="0"/>
              </a:rPr>
              <a:t>Alternar entre elas: com Alt+Tab no Windows, ou clicando na barra de tarefas;</a:t>
            </a:r>
          </a:p>
          <a:p>
            <a:pPr marL="285750" indent="-285750">
              <a:spcAft>
                <a:spcPts val="600"/>
              </a:spcAft>
              <a:buFont typeface="Arial" panose="020B0604020202020204" pitchFamily="34" charset="0"/>
              <a:buChar char="•"/>
            </a:pPr>
            <a:r>
              <a:rPr lang="pt-BR" sz="1800" dirty="0">
                <a:latin typeface="Poppins" panose="00000500000000000000" pitchFamily="2" charset="0"/>
                <a:cs typeface="Poppins" panose="00000500000000000000" pitchFamily="2" charset="0"/>
              </a:rPr>
              <a:t>Dividir a tela: arrastar a janela para o lado e encaixar duas ou mais telas ao mesmo tempo (Snap </a:t>
            </a:r>
            <a:r>
              <a:rPr lang="pt-BR" sz="1800" dirty="0" err="1">
                <a:latin typeface="Poppins" panose="00000500000000000000" pitchFamily="2" charset="0"/>
                <a:cs typeface="Poppins" panose="00000500000000000000" pitchFamily="2" charset="0"/>
              </a:rPr>
              <a:t>Assist</a:t>
            </a:r>
            <a:r>
              <a:rPr lang="pt-BR" sz="1800" dirty="0">
                <a:latin typeface="Poppins" panose="00000500000000000000" pitchFamily="2" charset="0"/>
                <a:cs typeface="Poppins" panose="00000500000000000000" pitchFamily="2" charset="0"/>
              </a:rPr>
              <a:t>);</a:t>
            </a:r>
          </a:p>
          <a:p>
            <a:pPr marL="285750" indent="-285750">
              <a:spcAft>
                <a:spcPts val="600"/>
              </a:spcAft>
              <a:buFont typeface="Arial" panose="020B0604020202020204" pitchFamily="34" charset="0"/>
              <a:buChar char="•"/>
            </a:pPr>
            <a:r>
              <a:rPr lang="pt-BR" sz="1800" dirty="0">
                <a:latin typeface="Poppins" panose="00000500000000000000" pitchFamily="2" charset="0"/>
                <a:cs typeface="Poppins" panose="00000500000000000000" pitchFamily="2" charset="0"/>
              </a:rPr>
              <a:t>Fechar programas que não estão sendo usados para deixar só o essencial.</a:t>
            </a:r>
          </a:p>
        </p:txBody>
      </p:sp>
      <p:sp>
        <p:nvSpPr>
          <p:cNvPr id="9" name="Google Shape;857;p62">
            <a:extLst>
              <a:ext uri="{FF2B5EF4-FFF2-40B4-BE49-F238E27FC236}">
                <a16:creationId xmlns:a16="http://schemas.microsoft.com/office/drawing/2014/main" id="{DC62C805-6403-B4AF-9E5B-9568D90E255F}"/>
              </a:ext>
            </a:extLst>
          </p:cNvPr>
          <p:cNvSpPr/>
          <p:nvPr/>
        </p:nvSpPr>
        <p:spPr>
          <a:xfrm>
            <a:off x="3063241" y="4428502"/>
            <a:ext cx="8378190" cy="1382816"/>
          </a:xfrm>
          <a:prstGeom prst="rect">
            <a:avLst/>
          </a:prstGeom>
          <a:solidFill>
            <a:srgbClr val="3E3593"/>
          </a:solidFill>
          <a:ln>
            <a:noFill/>
          </a:ln>
        </p:spPr>
        <p:txBody>
          <a:bodyPr spcFirstLastPara="1" wrap="square" lIns="60950" tIns="30467" rIns="60950" bIns="30467" anchor="ctr" anchorCtr="0">
            <a:noAutofit/>
          </a:bodyPr>
          <a:lstStyle/>
          <a:p>
            <a:pPr algn="ctr"/>
            <a:endParaRPr>
              <a:solidFill>
                <a:schemeClr val="lt1"/>
              </a:solidFill>
            </a:endParaRPr>
          </a:p>
        </p:txBody>
      </p:sp>
      <p:sp>
        <p:nvSpPr>
          <p:cNvPr id="13" name="Google Shape;858;p62">
            <a:extLst>
              <a:ext uri="{FF2B5EF4-FFF2-40B4-BE49-F238E27FC236}">
                <a16:creationId xmlns:a16="http://schemas.microsoft.com/office/drawing/2014/main" id="{17C9C2C1-709B-7D24-943E-3517F7D289B8}"/>
              </a:ext>
            </a:extLst>
          </p:cNvPr>
          <p:cNvSpPr txBox="1"/>
          <p:nvPr/>
        </p:nvSpPr>
        <p:spPr>
          <a:xfrm>
            <a:off x="4364100" y="4502663"/>
            <a:ext cx="1890015" cy="405647"/>
          </a:xfrm>
          <a:prstGeom prst="rect">
            <a:avLst/>
          </a:prstGeom>
          <a:noFill/>
          <a:ln>
            <a:noFill/>
          </a:ln>
        </p:spPr>
        <p:txBody>
          <a:bodyPr spcFirstLastPara="1" wrap="square" lIns="60950" tIns="30467" rIns="60950" bIns="30467" anchor="t" anchorCtr="0">
            <a:noAutofit/>
          </a:bodyPr>
          <a:lstStyle/>
          <a:p>
            <a:pPr>
              <a:lnSpc>
                <a:spcPct val="107000"/>
              </a:lnSpc>
              <a:buSzPts val="2700"/>
            </a:pPr>
            <a:r>
              <a:rPr lang="en-US" sz="2000" b="1">
                <a:solidFill>
                  <a:schemeClr val="lt1"/>
                </a:solidFill>
                <a:latin typeface="Poppins"/>
                <a:ea typeface="Poppins"/>
                <a:cs typeface="Poppins"/>
                <a:sym typeface="Poppins"/>
              </a:rPr>
              <a:t>Tome nota</a:t>
            </a:r>
            <a:endParaRPr sz="2000"/>
          </a:p>
          <a:p>
            <a:pPr>
              <a:lnSpc>
                <a:spcPct val="107000"/>
              </a:lnSpc>
              <a:spcBef>
                <a:spcPts val="715"/>
              </a:spcBef>
              <a:buSzPts val="2700"/>
            </a:pPr>
            <a:endParaRPr sz="2000">
              <a:solidFill>
                <a:schemeClr val="lt1"/>
              </a:solidFill>
              <a:latin typeface="Poppins Light"/>
              <a:ea typeface="Poppins Light"/>
              <a:cs typeface="Poppins Light"/>
              <a:sym typeface="Poppins Light"/>
            </a:endParaRPr>
          </a:p>
        </p:txBody>
      </p:sp>
      <p:sp>
        <p:nvSpPr>
          <p:cNvPr id="14" name="Google Shape;859;p62">
            <a:extLst>
              <a:ext uri="{FF2B5EF4-FFF2-40B4-BE49-F238E27FC236}">
                <a16:creationId xmlns:a16="http://schemas.microsoft.com/office/drawing/2014/main" id="{5D686BB0-FF2D-3254-CAB0-F9C23E9A807B}"/>
              </a:ext>
            </a:extLst>
          </p:cNvPr>
          <p:cNvSpPr/>
          <p:nvPr/>
        </p:nvSpPr>
        <p:spPr>
          <a:xfrm>
            <a:off x="3251367" y="4340925"/>
            <a:ext cx="868725" cy="864592"/>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endParaRPr/>
          </a:p>
        </p:txBody>
      </p:sp>
      <p:pic>
        <p:nvPicPr>
          <p:cNvPr id="15" name="Gráfico 14">
            <a:extLst>
              <a:ext uri="{FF2B5EF4-FFF2-40B4-BE49-F238E27FC236}">
                <a16:creationId xmlns:a16="http://schemas.microsoft.com/office/drawing/2014/main" id="{540B1BCC-BCB4-D345-141A-7F6ED6C8C5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2290" y="4516863"/>
            <a:ext cx="548441" cy="503209"/>
          </a:xfrm>
          <a:prstGeom prst="rect">
            <a:avLst/>
          </a:prstGeom>
        </p:spPr>
      </p:pic>
      <p:sp>
        <p:nvSpPr>
          <p:cNvPr id="22" name="Espaço Reservado para Texto 4">
            <a:extLst>
              <a:ext uri="{FF2B5EF4-FFF2-40B4-BE49-F238E27FC236}">
                <a16:creationId xmlns:a16="http://schemas.microsoft.com/office/drawing/2014/main" id="{23CF81AE-ED4B-0184-F892-4D402EEFFB6C}"/>
              </a:ext>
            </a:extLst>
          </p:cNvPr>
          <p:cNvSpPr txBox="1">
            <a:spLocks/>
          </p:cNvSpPr>
          <p:nvPr/>
        </p:nvSpPr>
        <p:spPr>
          <a:xfrm>
            <a:off x="4364099" y="4892950"/>
            <a:ext cx="6917311" cy="6619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500" dirty="0">
                <a:solidFill>
                  <a:schemeClr val="bg1"/>
                </a:solidFill>
              </a:rPr>
              <a:t>O gerenciamento de janelas é como o computador organiza e controla tudo o que aparece na tela. Ele permite que você abra vários programas ao mesmo tempo, sem confusão.</a:t>
            </a:r>
          </a:p>
          <a:p>
            <a:endParaRPr lang="pt-BR" sz="1500" dirty="0">
              <a:solidFill>
                <a:schemeClr val="bg1"/>
              </a:solidFill>
            </a:endParaRPr>
          </a:p>
        </p:txBody>
      </p:sp>
      <p:sp>
        <p:nvSpPr>
          <p:cNvPr id="3" name="Triângulo 6">
            <a:extLst>
              <a:ext uri="{FF2B5EF4-FFF2-40B4-BE49-F238E27FC236}">
                <a16:creationId xmlns:a16="http://schemas.microsoft.com/office/drawing/2014/main" id="{D1924C7C-4078-7C76-309C-543EEB2F48F9}"/>
              </a:ext>
            </a:extLst>
          </p:cNvPr>
          <p:cNvSpPr/>
          <p:nvPr/>
        </p:nvSpPr>
        <p:spPr>
          <a:xfrm rot="5400000">
            <a:off x="2890488" y="2087662"/>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4" name="Triângulo 6">
            <a:extLst>
              <a:ext uri="{FF2B5EF4-FFF2-40B4-BE49-F238E27FC236}">
                <a16:creationId xmlns:a16="http://schemas.microsoft.com/office/drawing/2014/main" id="{19004555-DCF9-18B8-0EB6-A1A165B6220E}"/>
              </a:ext>
            </a:extLst>
          </p:cNvPr>
          <p:cNvSpPr/>
          <p:nvPr/>
        </p:nvSpPr>
        <p:spPr>
          <a:xfrm rot="5400000">
            <a:off x="2890488" y="2708445"/>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5" name="Triângulo 6">
            <a:extLst>
              <a:ext uri="{FF2B5EF4-FFF2-40B4-BE49-F238E27FC236}">
                <a16:creationId xmlns:a16="http://schemas.microsoft.com/office/drawing/2014/main" id="{CAEC9391-D54A-B08C-C023-7B3E6E10EFAA}"/>
              </a:ext>
            </a:extLst>
          </p:cNvPr>
          <p:cNvSpPr/>
          <p:nvPr/>
        </p:nvSpPr>
        <p:spPr>
          <a:xfrm rot="5400000">
            <a:off x="2890488" y="3338956"/>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6" name="Espaço Reservado para Texto 13">
            <a:extLst>
              <a:ext uri="{FF2B5EF4-FFF2-40B4-BE49-F238E27FC236}">
                <a16:creationId xmlns:a16="http://schemas.microsoft.com/office/drawing/2014/main" id="{FFD08DDB-EB7A-CF8E-C8A2-5762D9538191}"/>
              </a:ext>
            </a:extLst>
          </p:cNvPr>
          <p:cNvSpPr>
            <a:spLocks noGrp="1"/>
          </p:cNvSpPr>
          <p:nvPr>
            <p:ph type="body" sz="quarter" idx="10"/>
          </p:nvPr>
        </p:nvSpPr>
        <p:spPr>
          <a:xfrm>
            <a:off x="2810042" y="893856"/>
            <a:ext cx="8540120" cy="520699"/>
          </a:xfrm>
          <a:prstGeom prst="rect">
            <a:avLst/>
          </a:prstGeom>
        </p:spPr>
        <p:txBody>
          <a:bodyPr/>
          <a:lstStyle>
            <a:lvl1pPr>
              <a:defRPr sz="1800">
                <a:latin typeface="Poppins" pitchFamily="2" charset="77"/>
                <a:cs typeface="Poppins" pitchFamily="2" charset="77"/>
              </a:defRPr>
            </a:lvl1pPr>
          </a:lstStyle>
          <a:p>
            <a:pPr lvl="0"/>
            <a:r>
              <a:rPr lang="pt-BR" sz="3200" b="1" dirty="0">
                <a:solidFill>
                  <a:srgbClr val="FF161F"/>
                </a:solidFill>
              </a:rPr>
              <a:t>Gerenciamento de janelas</a:t>
            </a:r>
          </a:p>
        </p:txBody>
      </p:sp>
    </p:spTree>
    <p:extLst>
      <p:ext uri="{BB962C8B-B14F-4D97-AF65-F5344CB8AC3E}">
        <p14:creationId xmlns:p14="http://schemas.microsoft.com/office/powerpoint/2010/main" val="965152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F8ED89D0-4503-9DB7-E980-1B563D6F2CDB}"/>
            </a:ext>
          </a:extLst>
        </p:cNvPr>
        <p:cNvGrpSpPr/>
        <p:nvPr/>
      </p:nvGrpSpPr>
      <p:grpSpPr>
        <a:xfrm>
          <a:off x="0" y="0"/>
          <a:ext cx="0" cy="0"/>
          <a:chOff x="0" y="0"/>
          <a:chExt cx="0" cy="0"/>
        </a:xfrm>
      </p:grpSpPr>
      <p:sp>
        <p:nvSpPr>
          <p:cNvPr id="27" name="Google Shape;610;p16">
            <a:extLst>
              <a:ext uri="{FF2B5EF4-FFF2-40B4-BE49-F238E27FC236}">
                <a16:creationId xmlns:a16="http://schemas.microsoft.com/office/drawing/2014/main" id="{58C3B3FC-EB33-17F6-4583-69DAF2BBB0BE}"/>
              </a:ext>
            </a:extLst>
          </p:cNvPr>
          <p:cNvSpPr/>
          <p:nvPr/>
        </p:nvSpPr>
        <p:spPr>
          <a:xfrm rot="10800000" flipH="1">
            <a:off x="2921902" y="4074159"/>
            <a:ext cx="5171939" cy="1814717"/>
          </a:xfrm>
          <a:prstGeom prst="foldedCorner">
            <a:avLst>
              <a:gd name="adj" fmla="val 16667"/>
            </a:avLst>
          </a:prstGeom>
          <a:solidFill>
            <a:srgbClr val="AAA6D3"/>
          </a:solidFill>
          <a:ln>
            <a:noFill/>
          </a:ln>
        </p:spPr>
        <p:txBody>
          <a:bodyPr spcFirstLastPara="1" wrap="square" lIns="60950" tIns="30467" rIns="60950" bIns="30467" anchor="ctr" anchorCtr="0">
            <a:noAutofit/>
          </a:bodyPr>
          <a:lstStyle/>
          <a:p>
            <a:pPr algn="ctr">
              <a:buSzPts val="1400"/>
            </a:pPr>
            <a:endParaRPr>
              <a:solidFill>
                <a:schemeClr val="lt1"/>
              </a:solidFill>
            </a:endParaRPr>
          </a:p>
        </p:txBody>
      </p:sp>
      <p:sp>
        <p:nvSpPr>
          <p:cNvPr id="9" name="Espaço Reservado para Texto 13">
            <a:extLst>
              <a:ext uri="{FF2B5EF4-FFF2-40B4-BE49-F238E27FC236}">
                <a16:creationId xmlns:a16="http://schemas.microsoft.com/office/drawing/2014/main" id="{BC1AD93E-7903-F7A1-2A2E-BE6C1F3E23F1}"/>
              </a:ext>
            </a:extLst>
          </p:cNvPr>
          <p:cNvSpPr>
            <a:spLocks noGrp="1"/>
          </p:cNvSpPr>
          <p:nvPr>
            <p:ph type="body" sz="quarter" idx="10"/>
          </p:nvPr>
        </p:nvSpPr>
        <p:spPr>
          <a:xfrm>
            <a:off x="2821908" y="869821"/>
            <a:ext cx="8540120" cy="520699"/>
          </a:xfrm>
          <a:prstGeom prst="rect">
            <a:avLst/>
          </a:prstGeom>
        </p:spPr>
        <p:txBody>
          <a:bodyPr/>
          <a:lstStyle>
            <a:lvl1pPr>
              <a:defRPr sz="1800">
                <a:latin typeface="Poppins" pitchFamily="2" charset="77"/>
                <a:cs typeface="Poppins" pitchFamily="2" charset="77"/>
              </a:defRPr>
            </a:lvl1pPr>
          </a:lstStyle>
          <a:p>
            <a:pPr lvl="0"/>
            <a:r>
              <a:rPr lang="pt-BR" sz="3200" b="1" dirty="0">
                <a:solidFill>
                  <a:srgbClr val="FF161F"/>
                </a:solidFill>
              </a:rPr>
              <a:t>Divisão de tarefas</a:t>
            </a:r>
          </a:p>
          <a:p>
            <a:pPr lvl="0"/>
            <a:endParaRPr lang="pt-BR" sz="3200" b="1" dirty="0">
              <a:solidFill>
                <a:srgbClr val="FF161F"/>
              </a:solidFill>
            </a:endParaRPr>
          </a:p>
        </p:txBody>
      </p:sp>
      <p:sp>
        <p:nvSpPr>
          <p:cNvPr id="10" name="Espaço Reservado para Texto 13">
            <a:extLst>
              <a:ext uri="{FF2B5EF4-FFF2-40B4-BE49-F238E27FC236}">
                <a16:creationId xmlns:a16="http://schemas.microsoft.com/office/drawing/2014/main" id="{DD67258B-51DB-2792-E136-AC0ADA0E3DE7}"/>
              </a:ext>
            </a:extLst>
          </p:cNvPr>
          <p:cNvSpPr>
            <a:spLocks noGrp="1"/>
          </p:cNvSpPr>
          <p:nvPr>
            <p:ph type="body" sz="quarter" idx="11"/>
          </p:nvPr>
        </p:nvSpPr>
        <p:spPr>
          <a:xfrm>
            <a:off x="2821908" y="1631828"/>
            <a:ext cx="5271933" cy="2347153"/>
          </a:xfrm>
          <a:prstGeom prst="rect">
            <a:avLst/>
          </a:prstGeom>
        </p:spPr>
        <p:txBody>
          <a:bodyPr/>
          <a:lstStyle>
            <a:lvl1pPr>
              <a:defRPr sz="1800">
                <a:latin typeface="Poppins" pitchFamily="2" charset="77"/>
                <a:cs typeface="Poppins" pitchFamily="2" charset="77"/>
              </a:defRPr>
            </a:lvl1pPr>
          </a:lstStyle>
          <a:p>
            <a:pPr marL="0" indent="0"/>
            <a:r>
              <a:rPr lang="pt-BR" dirty="0"/>
              <a:t>Fazer tudo ao mesmo tempo parece bom, mas geralmente atrapalha. </a:t>
            </a:r>
            <a:r>
              <a:rPr lang="pt-BR" dirty="0">
                <a:latin typeface="Poppins" panose="00000500000000000000" pitchFamily="2" charset="0"/>
                <a:cs typeface="Poppins" panose="00000500000000000000" pitchFamily="2" charset="0"/>
              </a:rPr>
              <a:t>Dividir tarefas é importante para definir o que vem primeiro. </a:t>
            </a:r>
          </a:p>
          <a:p>
            <a:pPr marL="0" indent="0"/>
            <a:r>
              <a:rPr lang="pt-BR" dirty="0"/>
              <a:t>Suponha que no mesmo dia você precise estudar para a prova de matemática, responder mensagens e jogar on-line. </a:t>
            </a:r>
          </a:p>
          <a:p>
            <a:pPr marL="0" indent="0"/>
            <a:r>
              <a:rPr lang="en-US" dirty="0"/>
              <a:t>Qual ordem de prioridade você daria a essas tarefas?</a:t>
            </a:r>
          </a:p>
        </p:txBody>
      </p:sp>
      <p:sp>
        <p:nvSpPr>
          <p:cNvPr id="5" name="Espaço Reservado para Texto 44">
            <a:extLst>
              <a:ext uri="{FF2B5EF4-FFF2-40B4-BE49-F238E27FC236}">
                <a16:creationId xmlns:a16="http://schemas.microsoft.com/office/drawing/2014/main" id="{21207D47-61E5-E40C-206F-0D23C71D49CD}"/>
              </a:ext>
            </a:extLst>
          </p:cNvPr>
          <p:cNvSpPr txBox="1">
            <a:spLocks/>
          </p:cNvSpPr>
          <p:nvPr/>
        </p:nvSpPr>
        <p:spPr>
          <a:xfrm>
            <a:off x="3747774" y="5368177"/>
            <a:ext cx="5428120" cy="520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endParaRPr lang="pt-BR" sz="1600" dirty="0"/>
          </a:p>
        </p:txBody>
      </p:sp>
      <p:pic>
        <p:nvPicPr>
          <p:cNvPr id="25" name="Imagem 24">
            <a:extLst>
              <a:ext uri="{FF2B5EF4-FFF2-40B4-BE49-F238E27FC236}">
                <a16:creationId xmlns:a16="http://schemas.microsoft.com/office/drawing/2014/main" id="{FA1689E4-F1E9-34E8-BBA5-ED69E33BB3F7}"/>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8437382" y="1666659"/>
            <a:ext cx="3101550" cy="4200535"/>
          </a:xfrm>
          <a:prstGeom prst="rect">
            <a:avLst/>
          </a:prstGeom>
        </p:spPr>
      </p:pic>
      <p:sp>
        <p:nvSpPr>
          <p:cNvPr id="26" name="Espaço Reservado para Texto 13">
            <a:extLst>
              <a:ext uri="{FF2B5EF4-FFF2-40B4-BE49-F238E27FC236}">
                <a16:creationId xmlns:a16="http://schemas.microsoft.com/office/drawing/2014/main" id="{A54EC920-DD04-F806-BC23-CCA38DB423CA}"/>
              </a:ext>
            </a:extLst>
          </p:cNvPr>
          <p:cNvSpPr txBox="1">
            <a:spLocks/>
          </p:cNvSpPr>
          <p:nvPr/>
        </p:nvSpPr>
        <p:spPr>
          <a:xfrm>
            <a:off x="3074612" y="4308547"/>
            <a:ext cx="4826190" cy="140137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600" dirty="0">
                <a:latin typeface="Poppins" panose="00000500000000000000" pitchFamily="2" charset="0"/>
                <a:cs typeface="Poppins" panose="00000500000000000000" pitchFamily="2" charset="0"/>
              </a:rPr>
              <a:t>A divisão de tarefas ajuda a:</a:t>
            </a:r>
          </a:p>
          <a:p>
            <a:pPr marL="285750" indent="-285750">
              <a:buFont typeface="Arial" panose="020B0604020202020204" pitchFamily="34" charset="0"/>
              <a:buChar char="•"/>
            </a:pPr>
            <a:r>
              <a:rPr lang="pt-BR" sz="1600" dirty="0">
                <a:latin typeface="Poppins" panose="00000500000000000000" pitchFamily="2" charset="0"/>
                <a:cs typeface="Poppins" panose="00000500000000000000" pitchFamily="2" charset="0"/>
              </a:rPr>
              <a:t>organizar o tempo de estudo ou trabalho;</a:t>
            </a:r>
          </a:p>
          <a:p>
            <a:pPr marL="285750" indent="-285750">
              <a:buFont typeface="Arial" panose="020B0604020202020204" pitchFamily="34" charset="0"/>
              <a:buChar char="•"/>
            </a:pPr>
            <a:r>
              <a:rPr lang="pt-BR" sz="1600" dirty="0">
                <a:latin typeface="Poppins" panose="00000500000000000000" pitchFamily="2" charset="0"/>
                <a:cs typeface="Poppins" panose="00000500000000000000" pitchFamily="2" charset="0"/>
              </a:rPr>
              <a:t>separar grandes tarefas em etapas menores;</a:t>
            </a:r>
          </a:p>
          <a:p>
            <a:pPr marL="285750" indent="-285750">
              <a:buFont typeface="Arial" panose="020B0604020202020204" pitchFamily="34" charset="0"/>
              <a:buChar char="•"/>
            </a:pPr>
            <a:r>
              <a:rPr lang="pt-BR" sz="1600" dirty="0">
                <a:latin typeface="Poppins" panose="00000500000000000000" pitchFamily="2" charset="0"/>
                <a:cs typeface="Poppins" panose="00000500000000000000" pitchFamily="2" charset="0"/>
              </a:rPr>
              <a:t>priorizar as tarefas mais importantes.</a:t>
            </a:r>
            <a:endParaRPr lang="pt-BR" sz="1600" dirty="0"/>
          </a:p>
          <a:p>
            <a:endParaRPr lang="pt-BR" sz="1600" dirty="0"/>
          </a:p>
          <a:p>
            <a:endParaRPr lang="pt-BR" sz="1600" dirty="0"/>
          </a:p>
        </p:txBody>
      </p:sp>
      <p:sp>
        <p:nvSpPr>
          <p:cNvPr id="29" name="Google Shape;689;p48">
            <a:extLst>
              <a:ext uri="{FF2B5EF4-FFF2-40B4-BE49-F238E27FC236}">
                <a16:creationId xmlns:a16="http://schemas.microsoft.com/office/drawing/2014/main" id="{C80E65D9-8147-6392-80FE-F1D3F65383F5}"/>
              </a:ext>
            </a:extLst>
          </p:cNvPr>
          <p:cNvSpPr txBox="1">
            <a:spLocks/>
          </p:cNvSpPr>
          <p:nvPr/>
        </p:nvSpPr>
        <p:spPr>
          <a:xfrm>
            <a:off x="8437382" y="5886573"/>
            <a:ext cx="1150649"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 Getty Images</a:t>
            </a:r>
          </a:p>
        </p:txBody>
      </p:sp>
    </p:spTree>
    <p:extLst>
      <p:ext uri="{BB962C8B-B14F-4D97-AF65-F5344CB8AC3E}">
        <p14:creationId xmlns:p14="http://schemas.microsoft.com/office/powerpoint/2010/main" val="2783367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13ECE-66BA-C307-0A8F-641213CA0A45}"/>
            </a:ext>
          </a:extLst>
        </p:cNvPr>
        <p:cNvGrpSpPr/>
        <p:nvPr/>
      </p:nvGrpSpPr>
      <p:grpSpPr>
        <a:xfrm>
          <a:off x="0" y="0"/>
          <a:ext cx="0" cy="0"/>
          <a:chOff x="0" y="0"/>
          <a:chExt cx="0" cy="0"/>
        </a:xfrm>
      </p:grpSpPr>
      <p:sp>
        <p:nvSpPr>
          <p:cNvPr id="12" name="Triângulo 11">
            <a:extLst>
              <a:ext uri="{FF2B5EF4-FFF2-40B4-BE49-F238E27FC236}">
                <a16:creationId xmlns:a16="http://schemas.microsoft.com/office/drawing/2014/main" id="{447E722C-0EE4-E7B7-E29C-087D77402018}"/>
              </a:ext>
            </a:extLst>
          </p:cNvPr>
          <p:cNvSpPr/>
          <p:nvPr/>
        </p:nvSpPr>
        <p:spPr>
          <a:xfrm rot="5400000">
            <a:off x="2897193" y="2379850"/>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
        <p:nvSpPr>
          <p:cNvPr id="10" name="Rectangle 2">
            <a:extLst>
              <a:ext uri="{FF2B5EF4-FFF2-40B4-BE49-F238E27FC236}">
                <a16:creationId xmlns:a16="http://schemas.microsoft.com/office/drawing/2014/main" id="{31931A06-FF97-2C2B-9651-56A03D95387A}"/>
              </a:ext>
            </a:extLst>
          </p:cNvPr>
          <p:cNvSpPr>
            <a:spLocks noGrp="1" noChangeArrowheads="1"/>
          </p:cNvSpPr>
          <p:nvPr>
            <p:ph type="body" sz="quarter" idx="4294967295"/>
          </p:nvPr>
        </p:nvSpPr>
        <p:spPr bwMode="auto">
          <a:xfrm>
            <a:off x="2821909" y="1575439"/>
            <a:ext cx="8255044"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a:spcAft>
                <a:spcPts val="1200"/>
              </a:spcAft>
            </a:pPr>
            <a:r>
              <a:rPr lang="pt-BR" sz="1800" dirty="0">
                <a:latin typeface="Poppins" panose="00000500000000000000" pitchFamily="2" charset="0"/>
                <a:cs typeface="Poppins" panose="00000500000000000000" pitchFamily="2" charset="0"/>
              </a:rPr>
              <a:t>Nem todas as tarefas têm a mesma importância. O computador sabe disso e dá </a:t>
            </a:r>
            <a:r>
              <a:rPr lang="pt-BR" sz="1800" b="1" dirty="0">
                <a:latin typeface="Poppins" panose="00000500000000000000" pitchFamily="2" charset="0"/>
                <a:cs typeface="Poppins" panose="00000500000000000000" pitchFamily="2" charset="0"/>
              </a:rPr>
              <a:t>prioridade</a:t>
            </a:r>
            <a:r>
              <a:rPr lang="pt-BR" sz="1800" dirty="0">
                <a:latin typeface="Poppins" panose="00000500000000000000" pitchFamily="2" charset="0"/>
                <a:cs typeface="Poppins" panose="00000500000000000000" pitchFamily="2" charset="0"/>
              </a:rPr>
              <a:t> para algumas: </a:t>
            </a:r>
          </a:p>
          <a:p>
            <a:pPr marL="252000">
              <a:spcAft>
                <a:spcPts val="1200"/>
              </a:spcAft>
            </a:pPr>
            <a:r>
              <a:rPr lang="pt-BR" sz="1800" dirty="0">
                <a:latin typeface="Poppins" panose="00000500000000000000" pitchFamily="2" charset="0"/>
                <a:cs typeface="Poppins" panose="00000500000000000000" pitchFamily="2" charset="0"/>
              </a:rPr>
              <a:t>a janela que você está usando naquele momento recebe mais atenção do processador;</a:t>
            </a:r>
          </a:p>
          <a:p>
            <a:pPr marL="252000">
              <a:spcAft>
                <a:spcPts val="1200"/>
              </a:spcAft>
            </a:pPr>
            <a:r>
              <a:rPr lang="pt-BR" sz="1800" dirty="0">
                <a:latin typeface="Poppins" panose="00000500000000000000" pitchFamily="2" charset="0"/>
                <a:cs typeface="Poppins" panose="00000500000000000000" pitchFamily="2" charset="0"/>
              </a:rPr>
              <a:t>programas em segundo plano (como o Spotify tocando música) recebem menos atenção, mas continuam funcionando.</a:t>
            </a:r>
          </a:p>
          <a:p>
            <a:pPr marL="720000">
              <a:spcAft>
                <a:spcPts val="1200"/>
              </a:spcAft>
            </a:pPr>
            <a:endParaRPr lang="pt-BR" sz="1800" dirty="0">
              <a:latin typeface="Poppins" panose="00000500000000000000" pitchFamily="2" charset="0"/>
              <a:cs typeface="Poppins" panose="00000500000000000000" pitchFamily="2" charset="0"/>
            </a:endParaRPr>
          </a:p>
        </p:txBody>
      </p:sp>
      <p:sp>
        <p:nvSpPr>
          <p:cNvPr id="3" name="Google Shape;857;p62">
            <a:extLst>
              <a:ext uri="{FF2B5EF4-FFF2-40B4-BE49-F238E27FC236}">
                <a16:creationId xmlns:a16="http://schemas.microsoft.com/office/drawing/2014/main" id="{08168A58-6A00-97F5-72E6-2DD68DFED79C}"/>
              </a:ext>
            </a:extLst>
          </p:cNvPr>
          <p:cNvSpPr/>
          <p:nvPr/>
        </p:nvSpPr>
        <p:spPr>
          <a:xfrm>
            <a:off x="2916709" y="4447753"/>
            <a:ext cx="8721043" cy="1382816"/>
          </a:xfrm>
          <a:prstGeom prst="rect">
            <a:avLst/>
          </a:prstGeom>
          <a:solidFill>
            <a:srgbClr val="3E3593"/>
          </a:solidFill>
          <a:ln>
            <a:noFill/>
          </a:ln>
        </p:spPr>
        <p:txBody>
          <a:bodyPr spcFirstLastPara="1" wrap="square" lIns="60950" tIns="30467" rIns="60950" bIns="30467" anchor="ctr" anchorCtr="0">
            <a:noAutofit/>
          </a:bodyPr>
          <a:lstStyle/>
          <a:p>
            <a:pPr algn="ctr"/>
            <a:endParaRPr>
              <a:solidFill>
                <a:schemeClr val="lt1"/>
              </a:solidFill>
            </a:endParaRPr>
          </a:p>
        </p:txBody>
      </p:sp>
      <p:sp>
        <p:nvSpPr>
          <p:cNvPr id="4" name="Google Shape;858;p62">
            <a:extLst>
              <a:ext uri="{FF2B5EF4-FFF2-40B4-BE49-F238E27FC236}">
                <a16:creationId xmlns:a16="http://schemas.microsoft.com/office/drawing/2014/main" id="{95109E91-3113-8F53-3AD1-6737F11BF857}"/>
              </a:ext>
            </a:extLst>
          </p:cNvPr>
          <p:cNvSpPr txBox="1"/>
          <p:nvPr/>
        </p:nvSpPr>
        <p:spPr>
          <a:xfrm>
            <a:off x="4217569" y="4521914"/>
            <a:ext cx="1890015" cy="405647"/>
          </a:xfrm>
          <a:prstGeom prst="rect">
            <a:avLst/>
          </a:prstGeom>
          <a:noFill/>
          <a:ln>
            <a:noFill/>
          </a:ln>
        </p:spPr>
        <p:txBody>
          <a:bodyPr spcFirstLastPara="1" wrap="square" lIns="60950" tIns="30467" rIns="60950" bIns="30467" anchor="t" anchorCtr="0">
            <a:noAutofit/>
          </a:bodyPr>
          <a:lstStyle/>
          <a:p>
            <a:pPr>
              <a:lnSpc>
                <a:spcPct val="107000"/>
              </a:lnSpc>
              <a:buSzPts val="2700"/>
            </a:pPr>
            <a:r>
              <a:rPr lang="en-US" sz="2000" b="1">
                <a:solidFill>
                  <a:schemeClr val="lt1"/>
                </a:solidFill>
                <a:latin typeface="Poppins"/>
                <a:ea typeface="Poppins"/>
                <a:cs typeface="Poppins"/>
                <a:sym typeface="Poppins"/>
              </a:rPr>
              <a:t>Tome nota</a:t>
            </a:r>
            <a:endParaRPr sz="2000"/>
          </a:p>
          <a:p>
            <a:pPr>
              <a:lnSpc>
                <a:spcPct val="107000"/>
              </a:lnSpc>
              <a:spcBef>
                <a:spcPts val="715"/>
              </a:spcBef>
              <a:buSzPts val="2700"/>
            </a:pPr>
            <a:endParaRPr sz="2000">
              <a:solidFill>
                <a:schemeClr val="lt1"/>
              </a:solidFill>
              <a:latin typeface="Poppins Light"/>
              <a:ea typeface="Poppins Light"/>
              <a:cs typeface="Poppins Light"/>
              <a:sym typeface="Poppins Light"/>
            </a:endParaRPr>
          </a:p>
        </p:txBody>
      </p:sp>
      <p:sp>
        <p:nvSpPr>
          <p:cNvPr id="5" name="Google Shape;859;p62">
            <a:extLst>
              <a:ext uri="{FF2B5EF4-FFF2-40B4-BE49-F238E27FC236}">
                <a16:creationId xmlns:a16="http://schemas.microsoft.com/office/drawing/2014/main" id="{FC19D980-F226-23DF-96B3-94531FCCBCB1}"/>
              </a:ext>
            </a:extLst>
          </p:cNvPr>
          <p:cNvSpPr/>
          <p:nvPr/>
        </p:nvSpPr>
        <p:spPr>
          <a:xfrm>
            <a:off x="3104836" y="4360176"/>
            <a:ext cx="868725" cy="864592"/>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endParaRPr/>
          </a:p>
        </p:txBody>
      </p:sp>
      <p:pic>
        <p:nvPicPr>
          <p:cNvPr id="6" name="Gráfico 5">
            <a:extLst>
              <a:ext uri="{FF2B5EF4-FFF2-40B4-BE49-F238E27FC236}">
                <a16:creationId xmlns:a16="http://schemas.microsoft.com/office/drawing/2014/main" id="{E0687071-92EB-23C9-3046-9952AE79AE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5759" y="4536114"/>
            <a:ext cx="548441" cy="503209"/>
          </a:xfrm>
          <a:prstGeom prst="rect">
            <a:avLst/>
          </a:prstGeom>
        </p:spPr>
      </p:pic>
      <p:sp>
        <p:nvSpPr>
          <p:cNvPr id="7" name="Espaço Reservado para Texto 4">
            <a:extLst>
              <a:ext uri="{FF2B5EF4-FFF2-40B4-BE49-F238E27FC236}">
                <a16:creationId xmlns:a16="http://schemas.microsoft.com/office/drawing/2014/main" id="{3612D91A-C63C-A3D9-83C1-D30A7F0E3286}"/>
              </a:ext>
            </a:extLst>
          </p:cNvPr>
          <p:cNvSpPr txBox="1">
            <a:spLocks/>
          </p:cNvSpPr>
          <p:nvPr/>
        </p:nvSpPr>
        <p:spPr>
          <a:xfrm>
            <a:off x="4217569" y="4960841"/>
            <a:ext cx="7318820" cy="66198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500" dirty="0">
                <a:solidFill>
                  <a:schemeClr val="bg1"/>
                </a:solidFill>
              </a:rPr>
              <a:t>Dividir tarefas significa distribuir atenção e recursos de forma organizada, dando prioridade ao que é mais importante naquele momento.</a:t>
            </a:r>
          </a:p>
          <a:p>
            <a:endParaRPr lang="pt-BR" sz="1500" dirty="0">
              <a:solidFill>
                <a:schemeClr val="bg1"/>
              </a:solidFill>
            </a:endParaRPr>
          </a:p>
        </p:txBody>
      </p:sp>
      <p:sp>
        <p:nvSpPr>
          <p:cNvPr id="8" name="Espaço Reservado para Texto 13">
            <a:extLst>
              <a:ext uri="{FF2B5EF4-FFF2-40B4-BE49-F238E27FC236}">
                <a16:creationId xmlns:a16="http://schemas.microsoft.com/office/drawing/2014/main" id="{152D7F1E-1A9B-81B5-4177-B9E687FEE3CF}"/>
              </a:ext>
            </a:extLst>
          </p:cNvPr>
          <p:cNvSpPr>
            <a:spLocks noGrp="1"/>
          </p:cNvSpPr>
          <p:nvPr>
            <p:ph type="body" sz="quarter" idx="10"/>
          </p:nvPr>
        </p:nvSpPr>
        <p:spPr>
          <a:xfrm>
            <a:off x="2821908" y="869821"/>
            <a:ext cx="8540120" cy="520699"/>
          </a:xfrm>
          <a:prstGeom prst="rect">
            <a:avLst/>
          </a:prstGeom>
        </p:spPr>
        <p:txBody>
          <a:bodyPr/>
          <a:lstStyle>
            <a:lvl1pPr>
              <a:defRPr sz="1800">
                <a:latin typeface="Poppins" pitchFamily="2" charset="77"/>
                <a:cs typeface="Poppins" pitchFamily="2" charset="77"/>
              </a:defRPr>
            </a:lvl1pPr>
          </a:lstStyle>
          <a:p>
            <a:pPr lvl="0"/>
            <a:r>
              <a:rPr lang="pt-BR" sz="3200" b="1" dirty="0">
                <a:solidFill>
                  <a:srgbClr val="FF161F"/>
                </a:solidFill>
              </a:rPr>
              <a:t>Divisão de tarefas</a:t>
            </a:r>
          </a:p>
        </p:txBody>
      </p:sp>
      <p:sp>
        <p:nvSpPr>
          <p:cNvPr id="9" name="Triângulo 11">
            <a:extLst>
              <a:ext uri="{FF2B5EF4-FFF2-40B4-BE49-F238E27FC236}">
                <a16:creationId xmlns:a16="http://schemas.microsoft.com/office/drawing/2014/main" id="{B9F0D615-93F7-55E5-12D9-621DBB5B08B4}"/>
              </a:ext>
            </a:extLst>
          </p:cNvPr>
          <p:cNvSpPr/>
          <p:nvPr/>
        </p:nvSpPr>
        <p:spPr>
          <a:xfrm rot="5400000">
            <a:off x="2897193" y="3063300"/>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Tree>
    <p:extLst>
      <p:ext uri="{BB962C8B-B14F-4D97-AF65-F5344CB8AC3E}">
        <p14:creationId xmlns:p14="http://schemas.microsoft.com/office/powerpoint/2010/main" val="1299935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2">
            <a:extLst>
              <a:ext uri="{FF2B5EF4-FFF2-40B4-BE49-F238E27FC236}">
                <a16:creationId xmlns:a16="http://schemas.microsoft.com/office/drawing/2014/main" id="{93C22ACB-4FA6-D638-81A5-9CD391C13A4C}"/>
              </a:ext>
            </a:extLst>
          </p:cNvPr>
          <p:cNvSpPr txBox="1">
            <a:spLocks/>
          </p:cNvSpPr>
          <p:nvPr/>
        </p:nvSpPr>
        <p:spPr>
          <a:xfrm>
            <a:off x="2752619" y="951560"/>
            <a:ext cx="8512278" cy="59724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4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just"/>
            <a:r>
              <a:rPr lang="pt-BR" sz="3000" dirty="0">
                <a:solidFill>
                  <a:srgbClr val="FF161F"/>
                </a:solidFill>
                <a:latin typeface="Poppins" pitchFamily="2" charset="77"/>
                <a:cs typeface="Poppins" pitchFamily="2" charset="77"/>
              </a:rPr>
              <a:t>Priorizando com a Matriz de Eisenhower</a:t>
            </a:r>
          </a:p>
        </p:txBody>
      </p:sp>
      <p:sp>
        <p:nvSpPr>
          <p:cNvPr id="5" name="CaixaDeTexto 4">
            <a:extLst>
              <a:ext uri="{FF2B5EF4-FFF2-40B4-BE49-F238E27FC236}">
                <a16:creationId xmlns:a16="http://schemas.microsoft.com/office/drawing/2014/main" id="{9AC083E2-6D64-A7A5-ACF0-C71BF0EFE5C8}"/>
              </a:ext>
            </a:extLst>
          </p:cNvPr>
          <p:cNvSpPr txBox="1"/>
          <p:nvPr/>
        </p:nvSpPr>
        <p:spPr>
          <a:xfrm>
            <a:off x="2752619" y="1729505"/>
            <a:ext cx="4217141" cy="4124206"/>
          </a:xfrm>
          <a:prstGeom prst="rect">
            <a:avLst/>
          </a:prstGeom>
          <a:noFill/>
          <a:ln>
            <a:noFill/>
          </a:ln>
        </p:spPr>
        <p:txBody>
          <a:bodyPr wrap="square">
            <a:spAutoFit/>
          </a:bodyPr>
          <a:lstStyle/>
          <a:p>
            <a:pPr>
              <a:spcAft>
                <a:spcPts val="600"/>
              </a:spcAft>
              <a:buNone/>
            </a:pPr>
            <a:r>
              <a:rPr lang="pt-BR" sz="1800" dirty="0">
                <a:latin typeface="Poppins" panose="00000500000000000000" pitchFamily="2" charset="0"/>
                <a:cs typeface="Poppins" panose="00000500000000000000" pitchFamily="2" charset="0"/>
              </a:rPr>
              <a:t>A </a:t>
            </a:r>
            <a:r>
              <a:rPr lang="pt-BR" sz="1800" b="1" dirty="0">
                <a:latin typeface="Poppins" panose="00000500000000000000" pitchFamily="2" charset="0"/>
                <a:cs typeface="Poppins" panose="00000500000000000000" pitchFamily="2" charset="0"/>
              </a:rPr>
              <a:t>Matriz de Eisenhower</a:t>
            </a:r>
            <a:r>
              <a:rPr lang="pt-BR" sz="1800" dirty="0">
                <a:latin typeface="Poppins" panose="00000500000000000000" pitchFamily="2" charset="0"/>
                <a:cs typeface="Poppins" panose="00000500000000000000" pitchFamily="2" charset="0"/>
              </a:rPr>
              <a:t> é uma ferramenta simples que ajuda a decidir:</a:t>
            </a:r>
          </a:p>
          <a:p>
            <a:pPr marL="285750" indent="-285750">
              <a:buFont typeface="Arial" panose="020B0604020202020204" pitchFamily="34" charset="0"/>
              <a:buChar char="•"/>
            </a:pPr>
            <a:r>
              <a:rPr lang="pt-BR" sz="1800" dirty="0">
                <a:latin typeface="Poppins" panose="00000500000000000000" pitchFamily="2" charset="0"/>
                <a:cs typeface="Poppins" panose="00000500000000000000" pitchFamily="2" charset="0"/>
              </a:rPr>
              <a:t>o que deve ser feito primeiro;</a:t>
            </a:r>
          </a:p>
          <a:p>
            <a:pPr marL="285750" indent="-285750">
              <a:buFont typeface="Arial" panose="020B0604020202020204" pitchFamily="34" charset="0"/>
              <a:buChar char="•"/>
            </a:pPr>
            <a:r>
              <a:rPr lang="pt-BR" sz="1800" dirty="0">
                <a:latin typeface="Poppins" panose="00000500000000000000" pitchFamily="2" charset="0"/>
                <a:cs typeface="Poppins" panose="00000500000000000000" pitchFamily="2" charset="0"/>
              </a:rPr>
              <a:t>o que pode ser delegado;</a:t>
            </a:r>
          </a:p>
          <a:p>
            <a:pPr marL="285750" indent="-285750">
              <a:spcAft>
                <a:spcPts val="600"/>
              </a:spcAft>
              <a:buFont typeface="Arial" panose="020B0604020202020204" pitchFamily="34" charset="0"/>
              <a:buChar char="•"/>
            </a:pPr>
            <a:r>
              <a:rPr lang="pt-BR" sz="1800" dirty="0">
                <a:latin typeface="Poppins" panose="00000500000000000000" pitchFamily="2" charset="0"/>
                <a:cs typeface="Poppins" panose="00000500000000000000" pitchFamily="2" charset="0"/>
              </a:rPr>
              <a:t>o que pode ser adiado.</a:t>
            </a:r>
          </a:p>
          <a:p>
            <a:r>
              <a:rPr lang="pt-BR" sz="1800" dirty="0">
                <a:latin typeface="Poppins" panose="00000500000000000000" pitchFamily="2" charset="0"/>
                <a:cs typeface="Poppins" panose="00000500000000000000" pitchFamily="2" charset="0"/>
              </a:rPr>
              <a:t>Ela se baseia em dois eixos: </a:t>
            </a:r>
            <a:r>
              <a:rPr lang="pt-BR" sz="1800" b="1" dirty="0">
                <a:latin typeface="Poppins" panose="00000500000000000000" pitchFamily="2" charset="0"/>
                <a:cs typeface="Poppins" panose="00000500000000000000" pitchFamily="2" charset="0"/>
              </a:rPr>
              <a:t>urgência e importância</a:t>
            </a:r>
            <a:r>
              <a:rPr lang="pt-BR" sz="1800" dirty="0">
                <a:latin typeface="Poppins" panose="00000500000000000000" pitchFamily="2" charset="0"/>
                <a:cs typeface="Poppins" panose="00000500000000000000" pitchFamily="2" charset="0"/>
              </a:rPr>
              <a:t>.</a:t>
            </a:r>
          </a:p>
          <a:p>
            <a:endParaRPr lang="pt-BR" sz="1800" dirty="0">
              <a:latin typeface="Poppins" panose="00000500000000000000" pitchFamily="2" charset="0"/>
              <a:cs typeface="Poppins" panose="00000500000000000000" pitchFamily="2" charset="0"/>
            </a:endParaRPr>
          </a:p>
          <a:p>
            <a:r>
              <a:rPr lang="pt-BR" sz="1800" dirty="0">
                <a:latin typeface="Poppins" panose="00000500000000000000" pitchFamily="2" charset="0"/>
                <a:cs typeface="Poppins" panose="00000500000000000000" pitchFamily="2" charset="0"/>
              </a:rPr>
              <a:t>Essa matriz ajuda tanto o computador, que prioriza tarefas, quanto nós, que também precisamos usar nossos recursos mentais e tempo com eficiência.</a:t>
            </a:r>
          </a:p>
        </p:txBody>
      </p:sp>
      <p:pic>
        <p:nvPicPr>
          <p:cNvPr id="1026" name="Picture 2">
            <a:extLst>
              <a:ext uri="{FF2B5EF4-FFF2-40B4-BE49-F238E27FC236}">
                <a16:creationId xmlns:a16="http://schemas.microsoft.com/office/drawing/2014/main" id="{3CCC2A76-5A57-4B9D-E984-6222CD624905}"/>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a:stretch/>
        </p:blipFill>
        <p:spPr bwMode="auto">
          <a:xfrm>
            <a:off x="6969760" y="1833184"/>
            <a:ext cx="5126281" cy="3431241"/>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689;p48">
            <a:extLst>
              <a:ext uri="{FF2B5EF4-FFF2-40B4-BE49-F238E27FC236}">
                <a16:creationId xmlns:a16="http://schemas.microsoft.com/office/drawing/2014/main" id="{2E98713B-4BA4-EEC9-C4F8-3D390417D7DC}"/>
              </a:ext>
            </a:extLst>
          </p:cNvPr>
          <p:cNvSpPr txBox="1">
            <a:spLocks/>
          </p:cNvSpPr>
          <p:nvPr/>
        </p:nvSpPr>
        <p:spPr>
          <a:xfrm>
            <a:off x="7081942" y="5264425"/>
            <a:ext cx="3905279"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None/>
            </a:pPr>
            <a:r>
              <a:rPr lang="pt-BR" sz="1100" dirty="0">
                <a:latin typeface="Poppins" panose="00000500000000000000" pitchFamily="2" charset="0"/>
                <a:cs typeface="Poppins" panose="00000500000000000000" pitchFamily="2" charset="0"/>
              </a:rPr>
              <a:t>Produzido pela SEDUC-SP com © Getty Images</a:t>
            </a:r>
          </a:p>
        </p:txBody>
      </p:sp>
      <p:sp>
        <p:nvSpPr>
          <p:cNvPr id="2" name="Triângulo 11">
            <a:extLst>
              <a:ext uri="{FF2B5EF4-FFF2-40B4-BE49-F238E27FC236}">
                <a16:creationId xmlns:a16="http://schemas.microsoft.com/office/drawing/2014/main" id="{7CDA0A74-CEE4-D73C-241C-24153E65CF4D}"/>
              </a:ext>
            </a:extLst>
          </p:cNvPr>
          <p:cNvSpPr/>
          <p:nvPr/>
        </p:nvSpPr>
        <p:spPr>
          <a:xfrm rot="5400000">
            <a:off x="2837558" y="2747597"/>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
        <p:nvSpPr>
          <p:cNvPr id="7" name="Triângulo 11">
            <a:extLst>
              <a:ext uri="{FF2B5EF4-FFF2-40B4-BE49-F238E27FC236}">
                <a16:creationId xmlns:a16="http://schemas.microsoft.com/office/drawing/2014/main" id="{A932A2D4-39C6-4A79-C813-484629A090DF}"/>
              </a:ext>
            </a:extLst>
          </p:cNvPr>
          <p:cNvSpPr/>
          <p:nvPr/>
        </p:nvSpPr>
        <p:spPr>
          <a:xfrm rot="5400000">
            <a:off x="2837558" y="302625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
        <p:nvSpPr>
          <p:cNvPr id="8" name="Triângulo 11">
            <a:extLst>
              <a:ext uri="{FF2B5EF4-FFF2-40B4-BE49-F238E27FC236}">
                <a16:creationId xmlns:a16="http://schemas.microsoft.com/office/drawing/2014/main" id="{49E93CB6-B48D-EECD-03CC-FAE35AC51480}"/>
              </a:ext>
            </a:extLst>
          </p:cNvPr>
          <p:cNvSpPr/>
          <p:nvPr/>
        </p:nvSpPr>
        <p:spPr>
          <a:xfrm rot="5400000">
            <a:off x="2837558" y="3294972"/>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Tree>
    <p:extLst>
      <p:ext uri="{BB962C8B-B14F-4D97-AF65-F5344CB8AC3E}">
        <p14:creationId xmlns:p14="http://schemas.microsoft.com/office/powerpoint/2010/main" val="2247067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F8ED89D0-4503-9DB7-E980-1B563D6F2CDB}"/>
            </a:ext>
          </a:extLst>
        </p:cNvPr>
        <p:cNvGrpSpPr/>
        <p:nvPr/>
      </p:nvGrpSpPr>
      <p:grpSpPr>
        <a:xfrm>
          <a:off x="0" y="0"/>
          <a:ext cx="0" cy="0"/>
          <a:chOff x="0" y="0"/>
          <a:chExt cx="0" cy="0"/>
        </a:xfrm>
      </p:grpSpPr>
      <p:sp>
        <p:nvSpPr>
          <p:cNvPr id="9" name="Espaço Reservado para Texto 13">
            <a:extLst>
              <a:ext uri="{FF2B5EF4-FFF2-40B4-BE49-F238E27FC236}">
                <a16:creationId xmlns:a16="http://schemas.microsoft.com/office/drawing/2014/main" id="{BC1AD93E-7903-F7A1-2A2E-BE6C1F3E23F1}"/>
              </a:ext>
            </a:extLst>
          </p:cNvPr>
          <p:cNvSpPr>
            <a:spLocks noGrp="1"/>
          </p:cNvSpPr>
          <p:nvPr>
            <p:ph type="body" sz="quarter" idx="10"/>
          </p:nvPr>
        </p:nvSpPr>
        <p:spPr>
          <a:xfrm>
            <a:off x="2761387" y="931395"/>
            <a:ext cx="8942934" cy="520699"/>
          </a:xfrm>
          <a:prstGeom prst="rect">
            <a:avLst/>
          </a:prstGeom>
        </p:spPr>
        <p:txBody>
          <a:bodyPr/>
          <a:lstStyle>
            <a:lvl1pPr>
              <a:defRPr sz="1800">
                <a:latin typeface="Poppins" pitchFamily="2" charset="77"/>
                <a:cs typeface="Poppins" pitchFamily="2" charset="77"/>
              </a:defRPr>
            </a:lvl1pPr>
          </a:lstStyle>
          <a:p>
            <a:pPr lvl="0"/>
            <a:r>
              <a:rPr lang="pt-BR" sz="3200" b="1" dirty="0">
                <a:solidFill>
                  <a:srgbClr val="FF161F"/>
                </a:solidFill>
              </a:rPr>
              <a:t>Usando tempo e recursos com eficiência </a:t>
            </a:r>
          </a:p>
          <a:p>
            <a:pPr lvl="0"/>
            <a:endParaRPr lang="pt-BR" sz="3200" b="1" dirty="0">
              <a:solidFill>
                <a:srgbClr val="FF161F"/>
              </a:solidFill>
            </a:endParaRPr>
          </a:p>
        </p:txBody>
      </p:sp>
      <p:sp>
        <p:nvSpPr>
          <p:cNvPr id="10" name="Espaço Reservado para Texto 13">
            <a:extLst>
              <a:ext uri="{FF2B5EF4-FFF2-40B4-BE49-F238E27FC236}">
                <a16:creationId xmlns:a16="http://schemas.microsoft.com/office/drawing/2014/main" id="{DD67258B-51DB-2792-E136-AC0ADA0E3DE7}"/>
              </a:ext>
            </a:extLst>
          </p:cNvPr>
          <p:cNvSpPr>
            <a:spLocks noGrp="1"/>
          </p:cNvSpPr>
          <p:nvPr>
            <p:ph type="body" sz="quarter" idx="11"/>
          </p:nvPr>
        </p:nvSpPr>
        <p:spPr>
          <a:xfrm>
            <a:off x="2762657" y="1707719"/>
            <a:ext cx="8781643" cy="907413"/>
          </a:xfrm>
          <a:prstGeom prst="rect">
            <a:avLst/>
          </a:prstGeom>
        </p:spPr>
        <p:txBody>
          <a:bodyPr/>
          <a:lstStyle>
            <a:lvl1pPr>
              <a:defRPr sz="1800">
                <a:latin typeface="Poppins" pitchFamily="2" charset="77"/>
                <a:cs typeface="Poppins" pitchFamily="2" charset="77"/>
              </a:defRPr>
            </a:lvl1pPr>
          </a:lstStyle>
          <a:p>
            <a:r>
              <a:rPr lang="pt-BR" dirty="0"/>
              <a:t>Ser eficiente é </a:t>
            </a:r>
            <a:r>
              <a:rPr lang="pt-BR" b="1" dirty="0"/>
              <a:t>usar o computador de forma inteligente</a:t>
            </a:r>
            <a:r>
              <a:rPr lang="pt-BR" dirty="0"/>
              <a:t>, evitando desperdícios e distrações. Abrir muitas abas, ouvir música e jogar ao mesmo tempo pode causar </a:t>
            </a:r>
            <a:r>
              <a:rPr lang="pt-BR" b="1" dirty="0"/>
              <a:t>lentidão</a:t>
            </a:r>
            <a:r>
              <a:rPr lang="pt-BR" dirty="0"/>
              <a:t> — tanto do computador quanto da sua concentração.</a:t>
            </a:r>
          </a:p>
        </p:txBody>
      </p:sp>
      <p:pic>
        <p:nvPicPr>
          <p:cNvPr id="4" name="Espaço Reservado para Imagem 3"/>
          <p:cNvPicPr>
            <a:picLocks noGrp="1" noChangeAspect="1"/>
          </p:cNvPicPr>
          <p:nvPr>
            <p:ph type="pic" sz="quarter" idx="4294967295"/>
          </p:nvPr>
        </p:nvPicPr>
        <p:blipFill>
          <a:blip r:embed="rId3" cstate="hqprint">
            <a:extLst>
              <a:ext uri="{28A0092B-C50C-407E-A947-70E740481C1C}">
                <a14:useLocalDpi xmlns:a14="http://schemas.microsoft.com/office/drawing/2010/main"/>
              </a:ext>
            </a:extLst>
          </a:blip>
          <a:srcRect/>
          <a:stretch>
            <a:fillRect/>
          </a:stretch>
        </p:blipFill>
        <p:spPr>
          <a:xfrm>
            <a:off x="7838288" y="2984121"/>
            <a:ext cx="3842082" cy="2617470"/>
          </a:xfrm>
          <a:prstGeom prst="rect">
            <a:avLst/>
          </a:prstGeom>
        </p:spPr>
      </p:pic>
      <p:sp>
        <p:nvSpPr>
          <p:cNvPr id="7" name="Google Shape;689;p48">
            <a:extLst>
              <a:ext uri="{FF2B5EF4-FFF2-40B4-BE49-F238E27FC236}">
                <a16:creationId xmlns:a16="http://schemas.microsoft.com/office/drawing/2014/main" id="{597AFBF4-117E-653F-334B-8878D6874ABA}"/>
              </a:ext>
            </a:extLst>
          </p:cNvPr>
          <p:cNvSpPr txBox="1">
            <a:spLocks/>
          </p:cNvSpPr>
          <p:nvPr/>
        </p:nvSpPr>
        <p:spPr>
          <a:xfrm>
            <a:off x="7838288" y="5631408"/>
            <a:ext cx="3905279"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None/>
            </a:pPr>
            <a:r>
              <a:rPr lang="pt-BR" sz="1100" dirty="0">
                <a:latin typeface="Poppins" panose="00000500000000000000" pitchFamily="2" charset="0"/>
                <a:cs typeface="Poppins" panose="00000500000000000000" pitchFamily="2" charset="0"/>
              </a:rPr>
              <a:t>Produzido pela SEDUC-SP com © Getty Images</a:t>
            </a:r>
          </a:p>
        </p:txBody>
      </p:sp>
      <p:sp>
        <p:nvSpPr>
          <p:cNvPr id="8" name="Espaço Reservado para Texto 13">
            <a:extLst>
              <a:ext uri="{FF2B5EF4-FFF2-40B4-BE49-F238E27FC236}">
                <a16:creationId xmlns:a16="http://schemas.microsoft.com/office/drawing/2014/main" id="{A4411683-09B5-0BCA-9A20-DAB5A513825B}"/>
              </a:ext>
            </a:extLst>
          </p:cNvPr>
          <p:cNvSpPr txBox="1">
            <a:spLocks/>
          </p:cNvSpPr>
          <p:nvPr/>
        </p:nvSpPr>
        <p:spPr>
          <a:xfrm>
            <a:off x="2762657" y="3086077"/>
            <a:ext cx="4445539" cy="24135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spcAft>
                <a:spcPts val="600"/>
              </a:spcAft>
            </a:pPr>
            <a:r>
              <a:rPr lang="pt-BR" b="1" dirty="0"/>
              <a:t>Dicas para ser mais eficiente:</a:t>
            </a:r>
          </a:p>
          <a:p>
            <a:pPr marL="285750" indent="-285750">
              <a:buFont typeface="Arial" panose="020B0604020202020204" pitchFamily="34" charset="0"/>
              <a:buChar char="•"/>
            </a:pPr>
            <a:r>
              <a:rPr lang="pt-BR" dirty="0"/>
              <a:t>Organize o espaço digital: use a tela dividida em vez de abrir e fechar janelas.</a:t>
            </a:r>
          </a:p>
          <a:p>
            <a:pPr marL="285750" indent="-285750">
              <a:buFont typeface="Arial" panose="020B0604020202020204" pitchFamily="34" charset="0"/>
              <a:buChar char="•"/>
            </a:pPr>
            <a:r>
              <a:rPr lang="pt-BR" dirty="0"/>
              <a:t>Priorize tarefas: conclua uma atividade antes de iniciar outra.</a:t>
            </a:r>
          </a:p>
          <a:p>
            <a:pPr marL="285750" indent="-285750">
              <a:buFont typeface="Arial" panose="020B0604020202020204" pitchFamily="34" charset="0"/>
              <a:buChar char="•"/>
            </a:pPr>
            <a:r>
              <a:rPr lang="pt-BR" dirty="0"/>
              <a:t>Evite distrações: silencie notificações durante os estudos.</a:t>
            </a:r>
          </a:p>
        </p:txBody>
      </p:sp>
      <p:sp>
        <p:nvSpPr>
          <p:cNvPr id="3" name="Triângulo 11">
            <a:extLst>
              <a:ext uri="{FF2B5EF4-FFF2-40B4-BE49-F238E27FC236}">
                <a16:creationId xmlns:a16="http://schemas.microsoft.com/office/drawing/2014/main" id="{4C29ADCE-05AC-2DF6-1B02-6EA3C7BE7339}"/>
              </a:ext>
            </a:extLst>
          </p:cNvPr>
          <p:cNvSpPr/>
          <p:nvPr/>
        </p:nvSpPr>
        <p:spPr>
          <a:xfrm rot="5400000">
            <a:off x="2837558" y="3535540"/>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
        <p:nvSpPr>
          <p:cNvPr id="5" name="Triângulo 11">
            <a:extLst>
              <a:ext uri="{FF2B5EF4-FFF2-40B4-BE49-F238E27FC236}">
                <a16:creationId xmlns:a16="http://schemas.microsoft.com/office/drawing/2014/main" id="{AB9FBDFA-A7F6-CAFE-DC0F-2609DA8C7BC2}"/>
              </a:ext>
            </a:extLst>
          </p:cNvPr>
          <p:cNvSpPr/>
          <p:nvPr/>
        </p:nvSpPr>
        <p:spPr>
          <a:xfrm rot="5400000">
            <a:off x="2837558" y="4350899"/>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
        <p:nvSpPr>
          <p:cNvPr id="11" name="Triângulo 11">
            <a:extLst>
              <a:ext uri="{FF2B5EF4-FFF2-40B4-BE49-F238E27FC236}">
                <a16:creationId xmlns:a16="http://schemas.microsoft.com/office/drawing/2014/main" id="{BFC26B39-6037-B191-82B1-0B5DF6954E2A}"/>
              </a:ext>
            </a:extLst>
          </p:cNvPr>
          <p:cNvSpPr/>
          <p:nvPr/>
        </p:nvSpPr>
        <p:spPr>
          <a:xfrm rot="5400000">
            <a:off x="2837558" y="4919796"/>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pt-BR" sz="622" dirty="0"/>
          </a:p>
        </p:txBody>
      </p:sp>
    </p:spTree>
    <p:extLst>
      <p:ext uri="{BB962C8B-B14F-4D97-AF65-F5344CB8AC3E}">
        <p14:creationId xmlns:p14="http://schemas.microsoft.com/office/powerpoint/2010/main" val="934067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13ECE-66BA-C307-0A8F-641213CA0A45}"/>
            </a:ext>
          </a:extLst>
        </p:cNvPr>
        <p:cNvGrpSpPr/>
        <p:nvPr/>
      </p:nvGrpSpPr>
      <p:grpSpPr>
        <a:xfrm>
          <a:off x="0" y="0"/>
          <a:ext cx="0" cy="0"/>
          <a:chOff x="0" y="0"/>
          <a:chExt cx="0" cy="0"/>
        </a:xfrm>
      </p:grpSpPr>
      <p:sp>
        <p:nvSpPr>
          <p:cNvPr id="12" name="Triângulo 11">
            <a:extLst>
              <a:ext uri="{FF2B5EF4-FFF2-40B4-BE49-F238E27FC236}">
                <a16:creationId xmlns:a16="http://schemas.microsoft.com/office/drawing/2014/main" id="{447E722C-0EE4-E7B7-E29C-087D77402018}"/>
              </a:ext>
            </a:extLst>
          </p:cNvPr>
          <p:cNvSpPr/>
          <p:nvPr/>
        </p:nvSpPr>
        <p:spPr>
          <a:xfrm rot="5400000">
            <a:off x="2839399" y="244813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18" name="Google Shape;136;p4">
            <a:extLst>
              <a:ext uri="{FF2B5EF4-FFF2-40B4-BE49-F238E27FC236}">
                <a16:creationId xmlns:a16="http://schemas.microsoft.com/office/drawing/2014/main" id="{8B00D2A2-FF82-0E84-7021-555FB0DD0C57}"/>
              </a:ext>
            </a:extLst>
          </p:cNvPr>
          <p:cNvSpPr txBox="1"/>
          <p:nvPr/>
        </p:nvSpPr>
        <p:spPr>
          <a:xfrm>
            <a:off x="2810027" y="4384779"/>
            <a:ext cx="7676392" cy="1170278"/>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buSzPts val="1800"/>
            </a:pPr>
            <a:endParaRPr lang="pt-BR" sz="1800" dirty="0">
              <a:latin typeface="Poppins" panose="00000500000000000000" pitchFamily="2" charset="0"/>
              <a:ea typeface="Lato"/>
              <a:cs typeface="Poppins" panose="00000500000000000000" pitchFamily="2" charset="0"/>
              <a:sym typeface="Lato"/>
            </a:endParaRPr>
          </a:p>
          <a:p>
            <a:pPr lvl="0"/>
            <a:r>
              <a:rPr lang="pt-BR" sz="1800" dirty="0">
                <a:solidFill>
                  <a:schemeClr val="tx1"/>
                </a:solidFill>
                <a:latin typeface="Poppins" panose="00000500000000000000" pitchFamily="2" charset="0"/>
                <a:cs typeface="Poppins" panose="00000500000000000000" pitchFamily="2" charset="0"/>
              </a:rPr>
              <a:t>Feche os aplicativos que não estão sendo utilizados para evitar distrações e uso desnecessário dos recursos do computador.</a:t>
            </a:r>
          </a:p>
        </p:txBody>
      </p:sp>
      <p:grpSp>
        <p:nvGrpSpPr>
          <p:cNvPr id="19" name="Agrupar 18">
            <a:extLst>
              <a:ext uri="{FF2B5EF4-FFF2-40B4-BE49-F238E27FC236}">
                <a16:creationId xmlns:a16="http://schemas.microsoft.com/office/drawing/2014/main" id="{50C13405-DF3E-92E6-F6E2-BD3F05EAEE34}"/>
              </a:ext>
            </a:extLst>
          </p:cNvPr>
          <p:cNvGrpSpPr/>
          <p:nvPr/>
        </p:nvGrpSpPr>
        <p:grpSpPr>
          <a:xfrm>
            <a:off x="2672649" y="4001727"/>
            <a:ext cx="3499948" cy="728133"/>
            <a:chOff x="12496121" y="1426319"/>
            <a:chExt cx="5249922" cy="1092200"/>
          </a:xfrm>
        </p:grpSpPr>
        <p:pic>
          <p:nvPicPr>
            <p:cNvPr id="20" name="Imagem 19">
              <a:extLst>
                <a:ext uri="{FF2B5EF4-FFF2-40B4-BE49-F238E27FC236}">
                  <a16:creationId xmlns:a16="http://schemas.microsoft.com/office/drawing/2014/main" id="{2A65FB85-627A-5790-D6D9-1D81154FF7DF}"/>
                </a:ext>
              </a:extLst>
            </p:cNvPr>
            <p:cNvPicPr>
              <a:picLocks noChangeAspect="1"/>
            </p:cNvPicPr>
            <p:nvPr/>
          </p:nvPicPr>
          <p:blipFill>
            <a:blip r:embed="rId2"/>
            <a:stretch>
              <a:fillRect/>
            </a:stretch>
          </p:blipFill>
          <p:spPr>
            <a:xfrm>
              <a:off x="12496121" y="1426319"/>
              <a:ext cx="5207000" cy="1092200"/>
            </a:xfrm>
            <a:prstGeom prst="rect">
              <a:avLst/>
            </a:prstGeom>
          </p:spPr>
        </p:pic>
        <p:pic>
          <p:nvPicPr>
            <p:cNvPr id="21" name="Gráfico 13">
              <a:extLst>
                <a:ext uri="{FF2B5EF4-FFF2-40B4-BE49-F238E27FC236}">
                  <a16:creationId xmlns:a16="http://schemas.microsoft.com/office/drawing/2014/main" id="{C8D2C377-50A5-71B1-30D9-D98FA5B681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90124" y="1574173"/>
              <a:ext cx="749300" cy="723900"/>
            </a:xfrm>
            <a:prstGeom prst="rect">
              <a:avLst/>
            </a:prstGeom>
          </p:spPr>
        </p:pic>
        <p:sp>
          <p:nvSpPr>
            <p:cNvPr id="22" name="CaixaDeTexto 21">
              <a:extLst>
                <a:ext uri="{FF2B5EF4-FFF2-40B4-BE49-F238E27FC236}">
                  <a16:creationId xmlns:a16="http://schemas.microsoft.com/office/drawing/2014/main" id="{69C77510-04A8-B4FA-51AC-3F9C86691749}"/>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FICA A DICA</a:t>
              </a:r>
            </a:p>
          </p:txBody>
        </p:sp>
      </p:grpSp>
      <p:sp>
        <p:nvSpPr>
          <p:cNvPr id="23" name="Retângulo 22"/>
          <p:cNvSpPr/>
          <p:nvPr/>
        </p:nvSpPr>
        <p:spPr>
          <a:xfrm>
            <a:off x="2797552" y="1856894"/>
            <a:ext cx="8872477" cy="369332"/>
          </a:xfrm>
          <a:prstGeom prst="rect">
            <a:avLst/>
          </a:prstGeom>
        </p:spPr>
        <p:txBody>
          <a:bodyPr wrap="square">
            <a:spAutoFit/>
          </a:bodyPr>
          <a:lstStyle/>
          <a:p>
            <a:r>
              <a:rPr lang="pt-BR" sz="1800" dirty="0">
                <a:latin typeface="Poppins" panose="00000500000000000000" pitchFamily="2" charset="0"/>
                <a:cs typeface="Poppins" panose="00000500000000000000" pitchFamily="2" charset="0"/>
              </a:rPr>
              <a:t>Veja como o sistema operacional (SO) cuida dos recursos do computador:</a:t>
            </a:r>
          </a:p>
        </p:txBody>
      </p:sp>
      <p:sp>
        <p:nvSpPr>
          <p:cNvPr id="6" name="Retângulo 5">
            <a:extLst>
              <a:ext uri="{FF2B5EF4-FFF2-40B4-BE49-F238E27FC236}">
                <a16:creationId xmlns:a16="http://schemas.microsoft.com/office/drawing/2014/main" id="{21F51492-4BCB-13D9-4733-457DF25BA030}"/>
              </a:ext>
            </a:extLst>
          </p:cNvPr>
          <p:cNvSpPr/>
          <p:nvPr/>
        </p:nvSpPr>
        <p:spPr>
          <a:xfrm>
            <a:off x="3015786" y="2371421"/>
            <a:ext cx="8540674" cy="1354217"/>
          </a:xfrm>
          <a:prstGeom prst="rect">
            <a:avLst/>
          </a:prstGeom>
        </p:spPr>
        <p:txBody>
          <a:bodyPr wrap="square">
            <a:spAutoFit/>
          </a:bodyPr>
          <a:lstStyle/>
          <a:p>
            <a:pPr>
              <a:spcAft>
                <a:spcPts val="600"/>
              </a:spcAft>
            </a:pPr>
            <a:r>
              <a:rPr lang="pt-BR" sz="1800" b="1" dirty="0">
                <a:latin typeface="Poppins" panose="00000500000000000000" pitchFamily="2" charset="0"/>
                <a:cs typeface="Poppins" panose="00000500000000000000" pitchFamily="2" charset="0"/>
              </a:rPr>
              <a:t>CPU</a:t>
            </a:r>
            <a:r>
              <a:rPr lang="pt-BR" sz="1800" dirty="0">
                <a:latin typeface="Poppins" panose="00000500000000000000" pitchFamily="2" charset="0"/>
                <a:cs typeface="Poppins" panose="00000500000000000000" pitchFamily="2" charset="0"/>
              </a:rPr>
              <a:t>: é o processador que cuida do tempo de processamento para cada programa aberto;</a:t>
            </a:r>
          </a:p>
          <a:p>
            <a:pPr>
              <a:spcAft>
                <a:spcPts val="600"/>
              </a:spcAft>
            </a:pPr>
            <a:r>
              <a:rPr lang="pt-BR" sz="1800" b="1" dirty="0">
                <a:latin typeface="Poppins" panose="00000500000000000000" pitchFamily="2" charset="0"/>
                <a:cs typeface="Poppins" panose="00000500000000000000" pitchFamily="2" charset="0"/>
              </a:rPr>
              <a:t>Memória</a:t>
            </a:r>
            <a:r>
              <a:rPr lang="pt-BR" sz="1800" dirty="0">
                <a:latin typeface="Poppins" panose="00000500000000000000" pitchFamily="2" charset="0"/>
                <a:cs typeface="Poppins" panose="00000500000000000000" pitchFamily="2" charset="0"/>
              </a:rPr>
              <a:t>: espaço para guardar os arquivos abertos;</a:t>
            </a:r>
          </a:p>
          <a:p>
            <a:pPr>
              <a:spcAft>
                <a:spcPts val="600"/>
              </a:spcAft>
            </a:pPr>
            <a:r>
              <a:rPr lang="pt-BR" sz="1800" b="1" dirty="0">
                <a:latin typeface="Poppins" panose="00000500000000000000" pitchFamily="2" charset="0"/>
                <a:cs typeface="Poppins" panose="00000500000000000000" pitchFamily="2" charset="0"/>
              </a:rPr>
              <a:t>Disco e rede</a:t>
            </a:r>
            <a:r>
              <a:rPr lang="pt-BR" sz="1800" dirty="0">
                <a:latin typeface="Poppins" panose="00000500000000000000" pitchFamily="2" charset="0"/>
                <a:cs typeface="Poppins" panose="00000500000000000000" pitchFamily="2" charset="0"/>
              </a:rPr>
              <a:t>: armazenar os programas e enviar/receber os dados.</a:t>
            </a:r>
          </a:p>
        </p:txBody>
      </p:sp>
      <p:sp>
        <p:nvSpPr>
          <p:cNvPr id="8" name="Espaço Reservado para Texto 13">
            <a:extLst>
              <a:ext uri="{FF2B5EF4-FFF2-40B4-BE49-F238E27FC236}">
                <a16:creationId xmlns:a16="http://schemas.microsoft.com/office/drawing/2014/main" id="{203B6C25-F13B-3063-C5FB-BF8742B6548E}"/>
              </a:ext>
            </a:extLst>
          </p:cNvPr>
          <p:cNvSpPr>
            <a:spLocks noGrp="1"/>
          </p:cNvSpPr>
          <p:nvPr>
            <p:ph type="body" sz="quarter" idx="10"/>
          </p:nvPr>
        </p:nvSpPr>
        <p:spPr>
          <a:xfrm>
            <a:off x="2761387" y="931395"/>
            <a:ext cx="8942934" cy="520699"/>
          </a:xfrm>
          <a:prstGeom prst="rect">
            <a:avLst/>
          </a:prstGeom>
        </p:spPr>
        <p:txBody>
          <a:bodyPr/>
          <a:lstStyle>
            <a:lvl1pPr>
              <a:defRPr sz="1800">
                <a:latin typeface="Poppins" pitchFamily="2" charset="77"/>
                <a:cs typeface="Poppins" pitchFamily="2" charset="77"/>
              </a:defRPr>
            </a:lvl1pPr>
          </a:lstStyle>
          <a:p>
            <a:pPr lvl="0"/>
            <a:r>
              <a:rPr lang="pt-BR" sz="3200" b="1" dirty="0">
                <a:solidFill>
                  <a:srgbClr val="FF161F"/>
                </a:solidFill>
              </a:rPr>
              <a:t>Usando tempo e recursos com eficiência </a:t>
            </a:r>
          </a:p>
          <a:p>
            <a:pPr lvl="0"/>
            <a:endParaRPr lang="pt-BR" sz="3200" b="1" dirty="0">
              <a:solidFill>
                <a:srgbClr val="FF161F"/>
              </a:solidFill>
            </a:endParaRPr>
          </a:p>
        </p:txBody>
      </p:sp>
      <p:sp>
        <p:nvSpPr>
          <p:cNvPr id="9" name="Triângulo 11">
            <a:extLst>
              <a:ext uri="{FF2B5EF4-FFF2-40B4-BE49-F238E27FC236}">
                <a16:creationId xmlns:a16="http://schemas.microsoft.com/office/drawing/2014/main" id="{659A74E4-BCB0-296E-2F28-07B1431D9321}"/>
              </a:ext>
            </a:extLst>
          </p:cNvPr>
          <p:cNvSpPr/>
          <p:nvPr/>
        </p:nvSpPr>
        <p:spPr>
          <a:xfrm rot="5400000">
            <a:off x="2839399" y="3070031"/>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10" name="Triângulo 11">
            <a:extLst>
              <a:ext uri="{FF2B5EF4-FFF2-40B4-BE49-F238E27FC236}">
                <a16:creationId xmlns:a16="http://schemas.microsoft.com/office/drawing/2014/main" id="{C3D5C6A8-7B40-5644-0946-F43533FC0433}"/>
              </a:ext>
            </a:extLst>
          </p:cNvPr>
          <p:cNvSpPr/>
          <p:nvPr/>
        </p:nvSpPr>
        <p:spPr>
          <a:xfrm rot="5400000">
            <a:off x="2839399" y="3435627"/>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Tree>
    <p:extLst>
      <p:ext uri="{BB962C8B-B14F-4D97-AF65-F5344CB8AC3E}">
        <p14:creationId xmlns:p14="http://schemas.microsoft.com/office/powerpoint/2010/main" val="2205722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7">
          <a:extLst>
            <a:ext uri="{FF2B5EF4-FFF2-40B4-BE49-F238E27FC236}">
              <a16:creationId xmlns:a16="http://schemas.microsoft.com/office/drawing/2014/main" id="{56FD887E-B93D-BDCD-9369-FD95FDE39634}"/>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B3C016AC-DDDD-DD91-73CB-CB42058B3B27}"/>
              </a:ext>
            </a:extLst>
          </p:cNvPr>
          <p:cNvSpPr/>
          <p:nvPr/>
        </p:nvSpPr>
        <p:spPr>
          <a:xfrm>
            <a:off x="3033638"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9DE43542-FAE4-28BF-0418-7CB783187862}"/>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82A5993B-A9D7-A8C0-6A63-505441FC9966}"/>
              </a:ext>
            </a:extLst>
          </p:cNvPr>
          <p:cNvSpPr/>
          <p:nvPr/>
        </p:nvSpPr>
        <p:spPr>
          <a:xfrm>
            <a:off x="3033638"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5" name="Google Shape;852;p64">
            <a:extLst>
              <a:ext uri="{FF2B5EF4-FFF2-40B4-BE49-F238E27FC236}">
                <a16:creationId xmlns:a16="http://schemas.microsoft.com/office/drawing/2014/main" id="{C61B1EC0-ED8B-BCB5-348F-E47EC80E50C3}"/>
              </a:ext>
            </a:extLst>
          </p:cNvPr>
          <p:cNvSpPr txBox="1"/>
          <p:nvPr/>
        </p:nvSpPr>
        <p:spPr>
          <a:xfrm>
            <a:off x="3182410" y="4476178"/>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Multitarefa</a:t>
            </a:r>
            <a:r>
              <a:rPr lang="pt-BR" dirty="0">
                <a:sym typeface="Poppins"/>
              </a:rPr>
              <a:t>.</a:t>
            </a:r>
            <a:endParaRPr lang="pt-BR" dirty="0"/>
          </a:p>
        </p:txBody>
      </p:sp>
      <p:sp>
        <p:nvSpPr>
          <p:cNvPr id="16" name="Google Shape;853;p64">
            <a:extLst>
              <a:ext uri="{FF2B5EF4-FFF2-40B4-BE49-F238E27FC236}">
                <a16:creationId xmlns:a16="http://schemas.microsoft.com/office/drawing/2014/main" id="{04C5C731-1F24-627B-19CB-5096C80BBF38}"/>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7" name="Google Shape;854;p64">
            <a:extLst>
              <a:ext uri="{FF2B5EF4-FFF2-40B4-BE49-F238E27FC236}">
                <a16:creationId xmlns:a16="http://schemas.microsoft.com/office/drawing/2014/main" id="{9E3950BC-9B34-CB66-4268-279D817CEEE2}"/>
              </a:ext>
            </a:extLst>
          </p:cNvPr>
          <p:cNvSpPr txBox="1"/>
          <p:nvPr/>
        </p:nvSpPr>
        <p:spPr>
          <a:xfrm>
            <a:off x="7080177" y="4399233"/>
            <a:ext cx="2818112"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Uso eficiente do tempo</a:t>
            </a:r>
            <a:r>
              <a:rPr lang="pt-BR" dirty="0">
                <a:sym typeface="Poppins"/>
              </a:rPr>
              <a:t>.</a:t>
            </a:r>
          </a:p>
        </p:txBody>
      </p:sp>
      <p:sp>
        <p:nvSpPr>
          <p:cNvPr id="18" name="Google Shape;855;p64">
            <a:extLst>
              <a:ext uri="{FF2B5EF4-FFF2-40B4-BE49-F238E27FC236}">
                <a16:creationId xmlns:a16="http://schemas.microsoft.com/office/drawing/2014/main" id="{6E3D2C29-296A-26DB-453E-18D42E75FC08}"/>
              </a:ext>
            </a:extLst>
          </p:cNvPr>
          <p:cNvSpPr txBox="1"/>
          <p:nvPr/>
        </p:nvSpPr>
        <p:spPr>
          <a:xfrm>
            <a:off x="3307133" y="3315333"/>
            <a:ext cx="2848088"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sym typeface="Poppins"/>
              </a:rPr>
              <a:t>Gerenciamento de janelas.</a:t>
            </a:r>
          </a:p>
        </p:txBody>
      </p:sp>
      <p:sp>
        <p:nvSpPr>
          <p:cNvPr id="19" name="Google Shape;856;p64">
            <a:extLst>
              <a:ext uri="{FF2B5EF4-FFF2-40B4-BE49-F238E27FC236}">
                <a16:creationId xmlns:a16="http://schemas.microsoft.com/office/drawing/2014/main" id="{F5FBB34A-2D83-0D0A-5DDE-E4ED71D44ABF}"/>
              </a:ext>
            </a:extLst>
          </p:cNvPr>
          <p:cNvSpPr txBox="1"/>
          <p:nvPr/>
        </p:nvSpPr>
        <p:spPr>
          <a:xfrm>
            <a:off x="6925729" y="3365627"/>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Divisão de tarefas</a:t>
            </a:r>
            <a:r>
              <a:rPr lang="pt-BR" dirty="0">
                <a:sym typeface="Poppins"/>
              </a:rPr>
              <a:t>. </a:t>
            </a:r>
          </a:p>
        </p:txBody>
      </p:sp>
      <p:sp>
        <p:nvSpPr>
          <p:cNvPr id="4" name="Google Shape;812;p61">
            <a:extLst>
              <a:ext uri="{FF2B5EF4-FFF2-40B4-BE49-F238E27FC236}">
                <a16:creationId xmlns:a16="http://schemas.microsoft.com/office/drawing/2014/main" id="{E6AF24B0-A248-71C3-C03C-F9303785060B}"/>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B69C4C47-8BDA-BC4E-4E6A-5DE09A91AB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7222916A-2D25-25DB-5ADF-9038E985538B}"/>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C3DD07AD-3BD0-5FA3-C078-0BCCB00616B8}"/>
              </a:ext>
            </a:extLst>
          </p:cNvPr>
          <p:cNvSpPr>
            <a:spLocks noGrp="1"/>
          </p:cNvSpPr>
          <p:nvPr>
            <p:ph type="body" sz="quarter" idx="10"/>
          </p:nvPr>
        </p:nvSpPr>
        <p:spPr>
          <a:xfrm>
            <a:off x="2958954" y="823474"/>
            <a:ext cx="8111123" cy="2008055"/>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o nome dado à capacidade do sistema de executar várias atividades ao mesmo tempo, revezando ou distribuindo recursos?</a:t>
            </a:r>
            <a:endParaRPr lang="pt-BR" sz="3200" dirty="0">
              <a:latin typeface="Poppins" panose="00000500000000000000" pitchFamily="2" charset="0"/>
            </a:endParaRPr>
          </a:p>
        </p:txBody>
      </p:sp>
    </p:spTree>
    <p:extLst>
      <p:ext uri="{BB962C8B-B14F-4D97-AF65-F5344CB8AC3E}">
        <p14:creationId xmlns:p14="http://schemas.microsoft.com/office/powerpoint/2010/main" val="895365708"/>
      </p:ext>
    </p:extLst>
  </p:cSld>
  <p:clrMapOvr>
    <a:overrideClrMapping bg1="lt1" tx1="dk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867">
          <a:extLst>
            <a:ext uri="{FF2B5EF4-FFF2-40B4-BE49-F238E27FC236}">
              <a16:creationId xmlns:a16="http://schemas.microsoft.com/office/drawing/2014/main" id="{EE721576-7848-DED1-3F4E-07A9A4E522DD}"/>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2C1F3EA-CD9A-FFF5-E74B-006C93289806}"/>
              </a:ext>
            </a:extLst>
          </p:cNvPr>
          <p:cNvSpPr/>
          <p:nvPr/>
        </p:nvSpPr>
        <p:spPr>
          <a:xfrm>
            <a:off x="303363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D3CC117A-0EDF-F612-4A01-D0D5B0EF936C}"/>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4488F1B3-DE8A-40D3-462F-A5A9951ECB23}"/>
              </a:ext>
            </a:extLst>
          </p:cNvPr>
          <p:cNvSpPr/>
          <p:nvPr/>
        </p:nvSpPr>
        <p:spPr>
          <a:xfrm>
            <a:off x="303363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6" name="Google Shape;853;p64">
            <a:extLst>
              <a:ext uri="{FF2B5EF4-FFF2-40B4-BE49-F238E27FC236}">
                <a16:creationId xmlns:a16="http://schemas.microsoft.com/office/drawing/2014/main" id="{6053A94E-353F-D35F-5A09-6B47F5E792CC}"/>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4" name="Google Shape;812;p61">
            <a:extLst>
              <a:ext uri="{FF2B5EF4-FFF2-40B4-BE49-F238E27FC236}">
                <a16:creationId xmlns:a16="http://schemas.microsoft.com/office/drawing/2014/main" id="{F589FB80-136E-B18E-8FBC-062C4350128C}"/>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B4A22EF0-BD36-4101-60E1-78975910D3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63814220-30AA-4F29-5C81-BAB32356E1B8}"/>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2" name="Google Shape;1434;p98">
            <a:extLst>
              <a:ext uri="{FF2B5EF4-FFF2-40B4-BE49-F238E27FC236}">
                <a16:creationId xmlns:a16="http://schemas.microsoft.com/office/drawing/2014/main" id="{0FEA2F2F-CAE1-9957-2EA7-A74BEFFCD352}"/>
              </a:ext>
            </a:extLst>
          </p:cNvPr>
          <p:cNvSpPr/>
          <p:nvPr/>
        </p:nvSpPr>
        <p:spPr>
          <a:xfrm>
            <a:off x="2419360" y="3429000"/>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3" name="Google Shape;1435;p98">
            <a:extLst>
              <a:ext uri="{FF2B5EF4-FFF2-40B4-BE49-F238E27FC236}">
                <a16:creationId xmlns:a16="http://schemas.microsoft.com/office/drawing/2014/main" id="{00499708-0822-C252-7374-1C14B6621AB9}"/>
              </a:ext>
            </a:extLst>
          </p:cNvPr>
          <p:cNvSpPr/>
          <p:nvPr/>
        </p:nvSpPr>
        <p:spPr>
          <a:xfrm>
            <a:off x="10210575" y="3429000"/>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5" name="Google Shape;1437;p98">
            <a:extLst>
              <a:ext uri="{FF2B5EF4-FFF2-40B4-BE49-F238E27FC236}">
                <a16:creationId xmlns:a16="http://schemas.microsoft.com/office/drawing/2014/main" id="{5BD06206-5299-4A63-38D2-DE7ACA6DD6E6}"/>
              </a:ext>
            </a:extLst>
          </p:cNvPr>
          <p:cNvSpPr/>
          <p:nvPr/>
        </p:nvSpPr>
        <p:spPr>
          <a:xfrm rot="-3043640">
            <a:off x="2478053" y="4571519"/>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8" name="Google Shape;1436;p98">
            <a:extLst>
              <a:ext uri="{FF2B5EF4-FFF2-40B4-BE49-F238E27FC236}">
                <a16:creationId xmlns:a16="http://schemas.microsoft.com/office/drawing/2014/main" id="{523BB62E-0E93-4A76-DC22-40EDE6F6A799}"/>
              </a:ext>
            </a:extLst>
          </p:cNvPr>
          <p:cNvSpPr/>
          <p:nvPr/>
        </p:nvSpPr>
        <p:spPr>
          <a:xfrm>
            <a:off x="10240049" y="4451186"/>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0" name="Google Shape;852;p64">
            <a:extLst>
              <a:ext uri="{FF2B5EF4-FFF2-40B4-BE49-F238E27FC236}">
                <a16:creationId xmlns:a16="http://schemas.microsoft.com/office/drawing/2014/main" id="{3C304D68-EFE3-1B13-C888-A42BA6031FB5}"/>
              </a:ext>
            </a:extLst>
          </p:cNvPr>
          <p:cNvSpPr txBox="1"/>
          <p:nvPr/>
        </p:nvSpPr>
        <p:spPr>
          <a:xfrm>
            <a:off x="3182409" y="4476178"/>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Multitarefa</a:t>
            </a:r>
            <a:r>
              <a:rPr lang="pt-BR" dirty="0">
                <a:sym typeface="Poppins"/>
              </a:rPr>
              <a:t>.</a:t>
            </a:r>
            <a:endParaRPr lang="pt-BR" dirty="0"/>
          </a:p>
        </p:txBody>
      </p:sp>
      <p:sp>
        <p:nvSpPr>
          <p:cNvPr id="21" name="Google Shape;854;p64">
            <a:extLst>
              <a:ext uri="{FF2B5EF4-FFF2-40B4-BE49-F238E27FC236}">
                <a16:creationId xmlns:a16="http://schemas.microsoft.com/office/drawing/2014/main" id="{61ED9F2B-DF04-C50D-64E5-E13AB72D5C42}"/>
              </a:ext>
            </a:extLst>
          </p:cNvPr>
          <p:cNvSpPr txBox="1"/>
          <p:nvPr/>
        </p:nvSpPr>
        <p:spPr>
          <a:xfrm>
            <a:off x="7080177" y="4399233"/>
            <a:ext cx="2818112"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Uso eficiente do tempo</a:t>
            </a:r>
            <a:r>
              <a:rPr lang="pt-BR" dirty="0">
                <a:sym typeface="Poppins"/>
              </a:rPr>
              <a:t>.</a:t>
            </a:r>
          </a:p>
        </p:txBody>
      </p:sp>
      <p:sp>
        <p:nvSpPr>
          <p:cNvPr id="22" name="Google Shape;855;p64">
            <a:extLst>
              <a:ext uri="{FF2B5EF4-FFF2-40B4-BE49-F238E27FC236}">
                <a16:creationId xmlns:a16="http://schemas.microsoft.com/office/drawing/2014/main" id="{A7DECB26-59F8-A3AC-8C20-4DE6F6009AC1}"/>
              </a:ext>
            </a:extLst>
          </p:cNvPr>
          <p:cNvSpPr txBox="1"/>
          <p:nvPr/>
        </p:nvSpPr>
        <p:spPr>
          <a:xfrm>
            <a:off x="3307132" y="3315333"/>
            <a:ext cx="2848088"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sym typeface="Poppins"/>
              </a:rPr>
              <a:t>Gerenciamento de janelas. </a:t>
            </a:r>
          </a:p>
        </p:txBody>
      </p:sp>
      <p:sp>
        <p:nvSpPr>
          <p:cNvPr id="23" name="Google Shape;856;p64">
            <a:extLst>
              <a:ext uri="{FF2B5EF4-FFF2-40B4-BE49-F238E27FC236}">
                <a16:creationId xmlns:a16="http://schemas.microsoft.com/office/drawing/2014/main" id="{897FAA65-216B-7047-C971-7F4843519D71}"/>
              </a:ext>
            </a:extLst>
          </p:cNvPr>
          <p:cNvSpPr txBox="1"/>
          <p:nvPr/>
        </p:nvSpPr>
        <p:spPr>
          <a:xfrm>
            <a:off x="6925729" y="3365627"/>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Divisão de tarefas</a:t>
            </a:r>
            <a:r>
              <a:rPr lang="pt-BR" dirty="0">
                <a:sym typeface="Poppins"/>
              </a:rPr>
              <a:t>. </a:t>
            </a:r>
          </a:p>
        </p:txBody>
      </p:sp>
      <p:sp>
        <p:nvSpPr>
          <p:cNvPr id="24" name="Espaço Reservado para Texto 10">
            <a:extLst>
              <a:ext uri="{FF2B5EF4-FFF2-40B4-BE49-F238E27FC236}">
                <a16:creationId xmlns:a16="http://schemas.microsoft.com/office/drawing/2014/main" id="{32344FE1-8143-8F5D-9D9F-B51B74F3D994}"/>
              </a:ext>
            </a:extLst>
          </p:cNvPr>
          <p:cNvSpPr>
            <a:spLocks noGrp="1"/>
          </p:cNvSpPr>
          <p:nvPr>
            <p:ph type="body" sz="quarter" idx="10"/>
          </p:nvPr>
        </p:nvSpPr>
        <p:spPr>
          <a:xfrm>
            <a:off x="2958954" y="823474"/>
            <a:ext cx="8111123" cy="2008055"/>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o nome dado à capacidade do sistema de executar várias atividades ao mesmo tempo, revezando ou distribuindo recursos?</a:t>
            </a:r>
            <a:endParaRPr lang="pt-BR" sz="3200" dirty="0">
              <a:latin typeface="Poppins" panose="00000500000000000000" pitchFamily="2" charset="0"/>
            </a:endParaRPr>
          </a:p>
        </p:txBody>
      </p:sp>
    </p:spTree>
    <p:extLst>
      <p:ext uri="{BB962C8B-B14F-4D97-AF65-F5344CB8AC3E}">
        <p14:creationId xmlns:p14="http://schemas.microsoft.com/office/powerpoint/2010/main" val="1431388551"/>
      </p:ext>
    </p:extLst>
  </p:cSld>
  <p:clrMapOvr>
    <a:overrideClrMapping bg1="lt1" tx1="dk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8EA3-028A-3523-A387-FADC8AC77316}"/>
            </a:ext>
          </a:extLst>
        </p:cNvPr>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7B3131E2-7F8D-4544-9420-C8BECE38C4DE}"/>
              </a:ext>
            </a:extLst>
          </p:cNvPr>
          <p:cNvSpPr>
            <a:spLocks noGrp="1"/>
          </p:cNvSpPr>
          <p:nvPr>
            <p:ph type="body" idx="4294967295"/>
          </p:nvPr>
        </p:nvSpPr>
        <p:spPr>
          <a:xfrm>
            <a:off x="3630391" y="402528"/>
            <a:ext cx="2465609" cy="522033"/>
          </a:xfrm>
          <a:prstGeom prst="rect">
            <a:avLst/>
          </a:prstGeom>
        </p:spPr>
        <p:txBody>
          <a:bodyPr>
            <a:noAutofit/>
          </a:bodyPr>
          <a:lstStyle/>
          <a:p>
            <a:r>
              <a:rPr lang="pt-BR" sz="3200" b="1" dirty="0">
                <a:solidFill>
                  <a:srgbClr val="FF161F"/>
                </a:solidFill>
                <a:latin typeface="Poppins" pitchFamily="2" charset="77"/>
                <a:cs typeface="Poppins" pitchFamily="2" charset="77"/>
              </a:rPr>
              <a:t>Situação</a:t>
            </a:r>
          </a:p>
        </p:txBody>
      </p:sp>
      <p:sp>
        <p:nvSpPr>
          <p:cNvPr id="12" name="Google Shape;675;p19">
            <a:extLst>
              <a:ext uri="{FF2B5EF4-FFF2-40B4-BE49-F238E27FC236}">
                <a16:creationId xmlns:a16="http://schemas.microsoft.com/office/drawing/2014/main" id="{477F85F4-BA96-B87A-9B32-15DC6DC1425C}"/>
              </a:ext>
            </a:extLst>
          </p:cNvPr>
          <p:cNvSpPr txBox="1"/>
          <p:nvPr/>
        </p:nvSpPr>
        <p:spPr>
          <a:xfrm>
            <a:off x="620994" y="663544"/>
            <a:ext cx="1742531" cy="923112"/>
          </a:xfrm>
          <a:prstGeom prst="rect">
            <a:avLst/>
          </a:prstGeom>
          <a:noFill/>
          <a:ln>
            <a:noFill/>
          </a:ln>
        </p:spPr>
        <p:txBody>
          <a:bodyPr spcFirstLastPara="1" wrap="square" lIns="60950" tIns="30467" rIns="60950" bIns="30467" anchor="t" anchorCtr="0">
            <a:spAutoFit/>
          </a:bodyPr>
          <a:lstStyle/>
          <a:p>
            <a:pPr>
              <a:buSzPts val="4400"/>
            </a:pPr>
            <a:r>
              <a:rPr lang="pt-BR" sz="2333">
                <a:solidFill>
                  <a:schemeClr val="lt1"/>
                </a:solidFill>
                <a:latin typeface="Poppins Light" pitchFamily="2" charset="77"/>
                <a:ea typeface="Poppins"/>
                <a:cs typeface="Poppins Light" pitchFamily="2" charset="77"/>
                <a:sym typeface="Poppins"/>
              </a:rPr>
              <a:t>Ser </a:t>
            </a:r>
            <a:endParaRPr sz="2333">
              <a:latin typeface="Poppins Light" pitchFamily="2" charset="77"/>
              <a:cs typeface="Poppins Light" pitchFamily="2" charset="77"/>
            </a:endParaRPr>
          </a:p>
          <a:p>
            <a:pPr>
              <a:buSzPts val="4400"/>
            </a:pPr>
            <a:r>
              <a:rPr lang="pt-BR" sz="2333" b="1">
                <a:solidFill>
                  <a:schemeClr val="lt1"/>
                </a:solidFill>
                <a:latin typeface="Poppins"/>
                <a:ea typeface="Poppins"/>
                <a:cs typeface="Poppins"/>
                <a:sym typeface="Poppins"/>
              </a:rPr>
              <a:t>sempre +</a:t>
            </a:r>
            <a:endParaRPr sz="2333"/>
          </a:p>
          <a:p>
            <a:pPr>
              <a:buSzPts val="1400"/>
            </a:pPr>
            <a:endParaRPr>
              <a:solidFill>
                <a:schemeClr val="lt1"/>
              </a:solidFill>
            </a:endParaRPr>
          </a:p>
        </p:txBody>
      </p:sp>
      <p:sp>
        <p:nvSpPr>
          <p:cNvPr id="4" name="Espaço Reservado para Texto 18">
            <a:extLst>
              <a:ext uri="{FF2B5EF4-FFF2-40B4-BE49-F238E27FC236}">
                <a16:creationId xmlns:a16="http://schemas.microsoft.com/office/drawing/2014/main" id="{ED460CE9-DBB3-7029-BD10-667BE425312F}"/>
              </a:ext>
            </a:extLst>
          </p:cNvPr>
          <p:cNvSpPr>
            <a:spLocks noGrp="1"/>
          </p:cNvSpPr>
          <p:nvPr>
            <p:ph type="body" sz="quarter" idx="4294967295"/>
          </p:nvPr>
        </p:nvSpPr>
        <p:spPr>
          <a:xfrm>
            <a:off x="3630390" y="1387854"/>
            <a:ext cx="8062499" cy="3077142"/>
          </a:xfrm>
          <a:prstGeom prst="rect">
            <a:avLst/>
          </a:prstGeom>
        </p:spPr>
        <p:txBody>
          <a:bodyPr lIns="91440" tIns="45720" rIns="91440" bIns="45720" anchor="t"/>
          <a:lstStyle>
            <a:lvl1pPr>
              <a:defRPr sz="2400">
                <a:latin typeface="Poppins" pitchFamily="2" charset="77"/>
                <a:cs typeface="Poppins" pitchFamily="2" charset="77"/>
              </a:defRPr>
            </a:lvl1pPr>
          </a:lstStyle>
          <a:p>
            <a:pPr lvl="0">
              <a:spcAft>
                <a:spcPts val="1200"/>
              </a:spcAft>
            </a:pPr>
            <a:r>
              <a:rPr lang="pt-BR" sz="1800" dirty="0"/>
              <a:t>Imagine que você está em seu primeiro dia de estágio em uma empresa. O gestor passa três tarefas para serem entregues até o final do dia: </a:t>
            </a:r>
          </a:p>
          <a:p>
            <a:pPr marL="252000" lvl="0">
              <a:spcAft>
                <a:spcPts val="600"/>
              </a:spcAft>
            </a:pPr>
            <a:r>
              <a:rPr lang="pt-BR" sz="1800" dirty="0"/>
              <a:t>responder e-mails;</a:t>
            </a:r>
          </a:p>
          <a:p>
            <a:pPr marL="252000" lvl="0">
              <a:spcAft>
                <a:spcPts val="600"/>
              </a:spcAft>
            </a:pPr>
            <a:r>
              <a:rPr lang="pt-BR" sz="1800" dirty="0"/>
              <a:t>elaborar um relatório simples;</a:t>
            </a:r>
          </a:p>
          <a:p>
            <a:pPr marL="252000" lvl="0">
              <a:spcAft>
                <a:spcPts val="1200"/>
              </a:spcAft>
            </a:pPr>
            <a:r>
              <a:rPr lang="pt-BR" sz="1800" dirty="0"/>
              <a:t>organizar uma planilha de dados. </a:t>
            </a:r>
          </a:p>
          <a:p>
            <a:pPr lvl="0">
              <a:spcAft>
                <a:spcPts val="600"/>
              </a:spcAft>
            </a:pPr>
            <a:r>
              <a:rPr lang="pt-BR" sz="1800" dirty="0"/>
              <a:t>No entanto, você também precisa participar de uma reunião rápida. O tempo é curto e os recursos (computador, internet e papel) devem ser usados de forma organizada.</a:t>
            </a:r>
          </a:p>
        </p:txBody>
      </p:sp>
      <p:sp>
        <p:nvSpPr>
          <p:cNvPr id="9" name="Triângulo 6">
            <a:extLst>
              <a:ext uri="{FF2B5EF4-FFF2-40B4-BE49-F238E27FC236}">
                <a16:creationId xmlns:a16="http://schemas.microsoft.com/office/drawing/2014/main" id="{74F4ECA0-1DDB-D303-4D68-E7DB249B1A4D}"/>
              </a:ext>
            </a:extLst>
          </p:cNvPr>
          <p:cNvSpPr/>
          <p:nvPr/>
        </p:nvSpPr>
        <p:spPr>
          <a:xfrm rot="5400000">
            <a:off x="3710719" y="2469607"/>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0" name="Triângulo 6">
            <a:extLst>
              <a:ext uri="{FF2B5EF4-FFF2-40B4-BE49-F238E27FC236}">
                <a16:creationId xmlns:a16="http://schemas.microsoft.com/office/drawing/2014/main" id="{AA5623D1-D779-8502-455B-8558D2193C90}"/>
              </a:ext>
            </a:extLst>
          </p:cNvPr>
          <p:cNvSpPr/>
          <p:nvPr/>
        </p:nvSpPr>
        <p:spPr>
          <a:xfrm rot="5400000">
            <a:off x="3710719" y="2819806"/>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1" name="Triângulo 6">
            <a:extLst>
              <a:ext uri="{FF2B5EF4-FFF2-40B4-BE49-F238E27FC236}">
                <a16:creationId xmlns:a16="http://schemas.microsoft.com/office/drawing/2014/main" id="{46FF006B-9B08-DD18-1F92-10C9CC33BE3B}"/>
              </a:ext>
            </a:extLst>
          </p:cNvPr>
          <p:cNvSpPr/>
          <p:nvPr/>
        </p:nvSpPr>
        <p:spPr>
          <a:xfrm rot="5400000">
            <a:off x="3710719" y="3174189"/>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Tree>
    <p:extLst>
      <p:ext uri="{BB962C8B-B14F-4D97-AF65-F5344CB8AC3E}">
        <p14:creationId xmlns:p14="http://schemas.microsoft.com/office/powerpoint/2010/main" val="1608986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3">
            <a:extLst>
              <a:ext uri="{FF2B5EF4-FFF2-40B4-BE49-F238E27FC236}">
                <a16:creationId xmlns:a16="http://schemas.microsoft.com/office/drawing/2014/main" id="{35784D91-7807-B12E-D278-EF1B1345D3FA}"/>
              </a:ext>
            </a:extLst>
          </p:cNvPr>
          <p:cNvSpPr>
            <a:spLocks noGrp="1"/>
          </p:cNvSpPr>
          <p:nvPr>
            <p:ph type="body" sz="quarter" idx="4294967295" hasCustomPrompt="1"/>
          </p:nvPr>
        </p:nvSpPr>
        <p:spPr>
          <a:xfrm>
            <a:off x="3623734" y="430488"/>
            <a:ext cx="2097617" cy="486833"/>
          </a:xfrm>
          <a:prstGeom prst="rect">
            <a:avLst/>
          </a:prstGeom>
        </p:spPr>
        <p:txBody>
          <a:bodyPr/>
          <a:lstStyle>
            <a:lvl1pPr>
              <a:defRPr sz="4000" b="1" i="0">
                <a:solidFill>
                  <a:srgbClr val="FF161F"/>
                </a:solidFill>
                <a:latin typeface="Poppins" pitchFamily="2" charset="77"/>
                <a:cs typeface="Poppins" pitchFamily="2" charset="77"/>
              </a:defRPr>
            </a:lvl1pPr>
          </a:lstStyle>
          <a:p>
            <a:pPr lvl="0"/>
            <a:r>
              <a:rPr lang="pt-BR" sz="3200"/>
              <a:t>Ação</a:t>
            </a:r>
          </a:p>
        </p:txBody>
      </p:sp>
      <p:sp>
        <p:nvSpPr>
          <p:cNvPr id="7" name="Google Shape;675;p19">
            <a:extLst>
              <a:ext uri="{FF2B5EF4-FFF2-40B4-BE49-F238E27FC236}">
                <a16:creationId xmlns:a16="http://schemas.microsoft.com/office/drawing/2014/main" id="{88B8F3B9-1846-6948-10F8-CA41A43EFABD}"/>
              </a:ext>
            </a:extLst>
          </p:cNvPr>
          <p:cNvSpPr txBox="1"/>
          <p:nvPr/>
        </p:nvSpPr>
        <p:spPr>
          <a:xfrm>
            <a:off x="620994" y="663544"/>
            <a:ext cx="1742531" cy="923112"/>
          </a:xfrm>
          <a:prstGeom prst="rect">
            <a:avLst/>
          </a:prstGeom>
          <a:noFill/>
          <a:ln>
            <a:noFill/>
          </a:ln>
        </p:spPr>
        <p:txBody>
          <a:bodyPr spcFirstLastPara="1" wrap="square" lIns="60950" tIns="30467" rIns="60950" bIns="30467" anchor="t" anchorCtr="0">
            <a:spAutoFit/>
          </a:bodyPr>
          <a:lstStyle/>
          <a:p>
            <a:pPr>
              <a:buSzPts val="4400"/>
            </a:pPr>
            <a:r>
              <a:rPr lang="pt-BR" sz="2333">
                <a:solidFill>
                  <a:schemeClr val="lt1"/>
                </a:solidFill>
                <a:latin typeface="Poppins Light" pitchFamily="2" charset="77"/>
                <a:ea typeface="Poppins"/>
                <a:cs typeface="Poppins Light" pitchFamily="2" charset="77"/>
                <a:sym typeface="Poppins"/>
              </a:rPr>
              <a:t>Ser </a:t>
            </a:r>
            <a:endParaRPr sz="2333">
              <a:latin typeface="Poppins Light" pitchFamily="2" charset="77"/>
              <a:cs typeface="Poppins Light" pitchFamily="2" charset="77"/>
            </a:endParaRPr>
          </a:p>
          <a:p>
            <a:pPr>
              <a:buSzPts val="4400"/>
            </a:pPr>
            <a:r>
              <a:rPr lang="pt-BR" sz="2333" b="1">
                <a:solidFill>
                  <a:schemeClr val="lt1"/>
                </a:solidFill>
                <a:latin typeface="Poppins"/>
                <a:ea typeface="Poppins"/>
                <a:cs typeface="Poppins"/>
                <a:sym typeface="Poppins"/>
              </a:rPr>
              <a:t>sempre +</a:t>
            </a:r>
            <a:endParaRPr sz="2333"/>
          </a:p>
          <a:p>
            <a:pPr>
              <a:buSzPts val="1400"/>
            </a:pPr>
            <a:endParaRPr>
              <a:solidFill>
                <a:schemeClr val="lt1"/>
              </a:solidFill>
            </a:endParaRPr>
          </a:p>
        </p:txBody>
      </p:sp>
      <p:sp>
        <p:nvSpPr>
          <p:cNvPr id="2" name="TextBox 1">
            <a:extLst>
              <a:ext uri="{FF2B5EF4-FFF2-40B4-BE49-F238E27FC236}">
                <a16:creationId xmlns:a16="http://schemas.microsoft.com/office/drawing/2014/main" id="{8CBA016E-3184-7676-E391-AC9679B86FD2}"/>
              </a:ext>
            </a:extLst>
          </p:cNvPr>
          <p:cNvSpPr txBox="1"/>
          <p:nvPr/>
        </p:nvSpPr>
        <p:spPr>
          <a:xfrm>
            <a:off x="3623734" y="1434265"/>
            <a:ext cx="7549007" cy="1231066"/>
          </a:xfrm>
          <a:prstGeom prst="rect">
            <a:avLst/>
          </a:prstGeom>
          <a:noFill/>
          <a:ln>
            <a:noFill/>
          </a:ln>
        </p:spPr>
        <p:txBody>
          <a:bodyPr rot="0" spcFirstLastPara="1" vertOverflow="overflow" horzOverflow="overflow" vert="horz" wrap="square" lIns="91425" tIns="45700" rIns="91425" bIns="45700" numCol="1" spcCol="0" rtlCol="0" fromWordArt="0" anchor="t" anchorCtr="0" forceAA="0" compatLnSpc="1">
            <a:prstTxWarp prst="textNoShape">
              <a:avLst/>
            </a:prstTxWarp>
            <a:spAutoFit/>
          </a:bodyPr>
          <a:lstStyle/>
          <a:p>
            <a:pPr>
              <a:spcAft>
                <a:spcPts val="1200"/>
              </a:spcAft>
            </a:pPr>
            <a:r>
              <a:rPr lang="pt-BR" sz="1800" dirty="0">
                <a:latin typeface="Poppins"/>
                <a:cs typeface="Poppins"/>
              </a:rPr>
              <a:t>Em duplas, reflitam e respondam: </a:t>
            </a:r>
          </a:p>
          <a:p>
            <a:pPr>
              <a:spcAft>
                <a:spcPts val="1200"/>
              </a:spcAft>
            </a:pPr>
            <a:r>
              <a:rPr lang="pt-BR" sz="1800" dirty="0">
                <a:latin typeface="Poppins"/>
                <a:cs typeface="Poppins"/>
              </a:rPr>
              <a:t>Como vocês se organizariam para dar conta de todas as tarefas e manter o equilíbrio emocional diante dessa situação?</a:t>
            </a:r>
            <a:endParaRPr lang="pt-BR" sz="1800" dirty="0">
              <a:latin typeface="Poppins"/>
            </a:endParaRPr>
          </a:p>
        </p:txBody>
      </p:sp>
      <p:pic>
        <p:nvPicPr>
          <p:cNvPr id="3" name="Imagem 2">
            <a:extLst>
              <a:ext uri="{FF2B5EF4-FFF2-40B4-BE49-F238E27FC236}">
                <a16:creationId xmlns:a16="http://schemas.microsoft.com/office/drawing/2014/main" id="{07411E7F-4A6F-E116-C72C-0D866A5C6CB3}"/>
              </a:ext>
            </a:extLst>
          </p:cNvPr>
          <p:cNvPicPr>
            <a:picLocks noChangeAspect="1"/>
          </p:cNvPicPr>
          <p:nvPr/>
        </p:nvPicPr>
        <p:blipFill>
          <a:blip r:embed="rId2"/>
          <a:stretch>
            <a:fillRect/>
          </a:stretch>
        </p:blipFill>
        <p:spPr>
          <a:xfrm>
            <a:off x="8553596" y="157819"/>
            <a:ext cx="3496733" cy="728133"/>
          </a:xfrm>
          <a:prstGeom prst="rect">
            <a:avLst/>
          </a:prstGeom>
        </p:spPr>
      </p:pic>
      <p:pic>
        <p:nvPicPr>
          <p:cNvPr id="11" name="Imagem 10">
            <a:extLst>
              <a:ext uri="{FF2B5EF4-FFF2-40B4-BE49-F238E27FC236}">
                <a16:creationId xmlns:a16="http://schemas.microsoft.com/office/drawing/2014/main" id="{FC6EDBDF-6EF8-0343-CDFA-5D2197CCF830}"/>
              </a:ext>
            </a:extLst>
          </p:cNvPr>
          <p:cNvPicPr>
            <a:picLocks noChangeAspect="1"/>
          </p:cNvPicPr>
          <p:nvPr/>
        </p:nvPicPr>
        <p:blipFill>
          <a:blip r:embed="rId3"/>
          <a:stretch>
            <a:fillRect/>
          </a:stretch>
        </p:blipFill>
        <p:spPr>
          <a:xfrm>
            <a:off x="8614476" y="229529"/>
            <a:ext cx="635000" cy="601133"/>
          </a:xfrm>
          <a:prstGeom prst="rect">
            <a:avLst/>
          </a:prstGeom>
        </p:spPr>
      </p:pic>
      <p:sp>
        <p:nvSpPr>
          <p:cNvPr id="12" name="CaixaDeTexto 11">
            <a:extLst>
              <a:ext uri="{FF2B5EF4-FFF2-40B4-BE49-F238E27FC236}">
                <a16:creationId xmlns:a16="http://schemas.microsoft.com/office/drawing/2014/main" id="{0A15F5E1-2CCA-83CE-B97A-724C6FC53885}"/>
              </a:ext>
            </a:extLst>
          </p:cNvPr>
          <p:cNvSpPr txBox="1"/>
          <p:nvPr/>
        </p:nvSpPr>
        <p:spPr>
          <a:xfrm>
            <a:off x="9523586" y="382149"/>
            <a:ext cx="2522013" cy="208713"/>
          </a:xfrm>
          <a:prstGeom prst="rect">
            <a:avLst/>
          </a:prstGeom>
          <a:noFill/>
          <a:ln>
            <a:noFill/>
          </a:ln>
        </p:spPr>
        <p:txBody>
          <a:bodyPr spcFirstLastPara="1" wrap="square" lIns="60950" tIns="30467" rIns="60950" bIns="30467" rtlCol="0" anchor="t" anchorCtr="0">
            <a:noAutofit/>
          </a:bodyPr>
          <a:lstStyle/>
          <a:p>
            <a:pPr algn="ctr"/>
            <a:r>
              <a:rPr lang="pt-BR" sz="1600" b="1" dirty="0">
                <a:solidFill>
                  <a:schemeClr val="bg1"/>
                </a:solidFill>
                <a:latin typeface="Poppins" pitchFamily="2" charset="77"/>
                <a:cs typeface="Poppins" pitchFamily="2" charset="77"/>
              </a:rPr>
              <a:t>VIREM E CONVERSEM</a:t>
            </a:r>
          </a:p>
        </p:txBody>
      </p:sp>
    </p:spTree>
    <p:extLst>
      <p:ext uri="{BB962C8B-B14F-4D97-AF65-F5344CB8AC3E}">
        <p14:creationId xmlns:p14="http://schemas.microsoft.com/office/powerpoint/2010/main" val="1093258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4879362" y="1807121"/>
            <a:ext cx="6998109" cy="1017227"/>
          </a:xfrm>
          <a:noFill/>
          <a:ln>
            <a:noFill/>
          </a:ln>
        </p:spPr>
        <p:txBody>
          <a:bodyPr spcFirstLastPara="1" wrap="square" lIns="91425" tIns="45700" rIns="91425" bIns="45700" anchor="t" anchorCtr="0">
            <a:noAutofit/>
          </a:bodyPr>
          <a:lstStyle/>
          <a:p>
            <a:pPr marL="0" indent="0">
              <a:spcBef>
                <a:spcPts val="0"/>
              </a:spcBef>
              <a:spcAft>
                <a:spcPts val="600"/>
              </a:spcAft>
            </a:pPr>
            <a:r>
              <a:rPr lang="pt-BR" sz="1800" dirty="0"/>
              <a:t>Compreendemos que a multitarefa é a forma como o computador organiza várias atividades ao mesmo tempo.</a:t>
            </a: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4879363" y="2983160"/>
            <a:ext cx="6354575" cy="1039552"/>
          </a:xfrm>
          <a:noFill/>
          <a:ln>
            <a:noFill/>
          </a:ln>
        </p:spPr>
        <p:txBody>
          <a:bodyPr spcFirstLastPara="1" wrap="square" lIns="91425" tIns="45700" rIns="91425" bIns="45700" anchor="t" anchorCtr="0">
            <a:noAutofit/>
          </a:bodyPr>
          <a:lstStyle/>
          <a:p>
            <a:pPr marL="0" indent="0">
              <a:spcBef>
                <a:spcPts val="0"/>
              </a:spcBef>
              <a:spcAft>
                <a:spcPts val="600"/>
              </a:spcAft>
            </a:pPr>
            <a:r>
              <a:rPr lang="pt-BR" sz="1800" dirty="0"/>
              <a:t>Identificamos que o gerenciamento de janelas permite visualizar e alternar entre diferentes tarefas com eficiência.</a:t>
            </a: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4879363" y="4175703"/>
            <a:ext cx="6354575" cy="931318"/>
          </a:xfrm>
          <a:noFill/>
          <a:ln>
            <a:noFill/>
          </a:ln>
        </p:spPr>
        <p:txBody>
          <a:bodyPr spcFirstLastPara="1" wrap="square" lIns="91425" tIns="45700" rIns="91425" bIns="45700" anchor="t" anchorCtr="0">
            <a:noAutofit/>
          </a:bodyPr>
          <a:lstStyle/>
          <a:p>
            <a:pPr marL="0" indent="0">
              <a:spcBef>
                <a:spcPts val="0"/>
              </a:spcBef>
              <a:spcAft>
                <a:spcPts val="600"/>
              </a:spcAft>
            </a:pPr>
            <a:r>
              <a:rPr lang="pt-BR" sz="1800" dirty="0"/>
              <a:t>Percebemos que a divisão de tarefas ajuda o sistema a organizar prioridades técnicas e nos ajuda a organizar prioridades pessoais, reduzindo distrações.</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4676921" y="734021"/>
            <a:ext cx="5440600" cy="561379"/>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pPr>
            <a:r>
              <a:rPr lang="pt-BR" sz="32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925201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5569126" y="1314450"/>
            <a:ext cx="6035971" cy="2848988"/>
          </a:xfrm>
          <a:prstGeom prst="rect">
            <a:avLst/>
          </a:prstGeom>
          <a:noFill/>
          <a:ln>
            <a:noFill/>
          </a:ln>
        </p:spPr>
        <p:txBody>
          <a:bodyPr spcFirstLastPara="1" wrap="square" lIns="60950" tIns="30467" rIns="60950" bIns="30467" anchor="t" anchorCtr="0">
            <a:noAutofit/>
          </a:bodyPr>
          <a:lstStyle/>
          <a:p>
            <a:pPr marL="0" lvl="0" indent="0">
              <a:spcBef>
                <a:spcPts val="0"/>
              </a:spcBef>
              <a:spcAft>
                <a:spcPts val="1200"/>
              </a:spcAft>
              <a:buClr>
                <a:schemeClr val="lt1"/>
              </a:buClr>
            </a:pPr>
            <a:r>
              <a:rPr lang="pt-BR" sz="1800" b="1" dirty="0"/>
              <a:t>Tá difícil manter o foco nos estudos?</a:t>
            </a:r>
            <a:br>
              <a:rPr lang="pt-BR" sz="1800" b="1" dirty="0"/>
            </a:br>
            <a:r>
              <a:rPr lang="pt-BR" sz="1800" b="1" dirty="0"/>
              <a:t>Entenda como uma técnica simples pode ajudar você a organizar melhor seu tempo e aproveitar cada minuto.</a:t>
            </a:r>
          </a:p>
          <a:p>
            <a:pPr marL="0" indent="0">
              <a:spcBef>
                <a:spcPts val="0"/>
              </a:spcBef>
              <a:spcAft>
                <a:spcPts val="1200"/>
              </a:spcAft>
            </a:pPr>
            <a:r>
              <a:rPr lang="pt-BR" sz="1800" dirty="0">
                <a:latin typeface="Poppins"/>
                <a:cs typeface="Poppins"/>
              </a:rPr>
              <a:t>ILUSTRADAMENTE. Como ter mais foco | A técnica Pomodoro | Resumo animado. YouTube, 15 set. 2016. Disponível em: </a:t>
            </a:r>
            <a:r>
              <a:rPr lang="pt-BR" sz="1800" dirty="0">
                <a:latin typeface="Poppins"/>
                <a:cs typeface="Poppins"/>
                <a:hlinkClick r:id="rId3"/>
              </a:rPr>
              <a:t>https://www.youtube.com/watch?v=hfxfJ7Qa4sg</a:t>
            </a:r>
            <a:r>
              <a:rPr lang="pt-BR" sz="1800" dirty="0">
                <a:latin typeface="Poppins"/>
                <a:cs typeface="Poppins"/>
              </a:rPr>
              <a:t>. Acesso em: 10 nov. 2025. </a:t>
            </a:r>
            <a:endParaRPr lang="pt-BR" sz="1800" dirty="0"/>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024125" y="1786467"/>
            <a:ext cx="3183000" cy="615553"/>
          </a:xfrm>
          <a:prstGeom prst="rect">
            <a:avLst/>
          </a:prstGeom>
          <a:noFill/>
          <a:ln>
            <a:noFill/>
          </a:ln>
        </p:spPr>
        <p:txBody>
          <a:bodyPr spcFirstLastPara="1" wrap="square" lIns="0" tIns="0" rIns="0" bIns="0" anchor="t" anchorCtr="0">
            <a:spAutoFit/>
          </a:bodyPr>
          <a:lstStyle/>
          <a:p>
            <a:pPr>
              <a:buSzPts val="6000"/>
            </a:pPr>
            <a:r>
              <a:rPr lang="pt-BR" sz="4000" b="1" dirty="0">
                <a:solidFill>
                  <a:schemeClr val="bg1"/>
                </a:solidFill>
                <a:latin typeface="Poppins"/>
                <a:ea typeface="Poppins"/>
                <a:cs typeface="Poppins"/>
                <a:sym typeface="Poppins"/>
              </a:rPr>
              <a:t>Saiba mais</a:t>
            </a:r>
            <a:endParaRPr lang="pt-BR" sz="4000" dirty="0">
              <a:solidFill>
                <a:schemeClr val="bg1"/>
              </a:solidFill>
              <a:latin typeface="Poppins Light"/>
              <a:ea typeface="Poppins Light"/>
              <a:cs typeface="Poppins Light"/>
              <a:sym typeface="Poppins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4">
            <a:extLst>
              <a:ext uri="{FF2B5EF4-FFF2-40B4-BE49-F238E27FC236}">
                <a16:creationId xmlns:a16="http://schemas.microsoft.com/office/drawing/2014/main" id="{5FA7FE17-1B51-A703-C60C-82294C88914A}"/>
              </a:ext>
            </a:extLst>
          </p:cNvPr>
          <p:cNvSpPr>
            <a:spLocks noGrp="1"/>
          </p:cNvSpPr>
          <p:nvPr>
            <p:ph type="body" idx="5"/>
          </p:nvPr>
        </p:nvSpPr>
        <p:spPr>
          <a:xfrm>
            <a:off x="1372706" y="1844473"/>
            <a:ext cx="10819294" cy="2746982"/>
          </a:xfrm>
        </p:spPr>
        <p:txBody>
          <a:bodyPr>
            <a:noAutofit/>
          </a:bodyPr>
          <a:lstStyle/>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BROOKSHEAR, J. G. </a:t>
            </a:r>
            <a:r>
              <a:rPr lang="pt-BR" b="1" i="0" u="none" strike="noStrike" dirty="0">
                <a:solidFill>
                  <a:srgbClr val="000000"/>
                </a:solidFill>
                <a:effectLst/>
                <a:latin typeface="Poppins" panose="00000500000000000000" pitchFamily="2" charset="0"/>
                <a:cs typeface="Poppins" panose="00000500000000000000" pitchFamily="2" charset="0"/>
              </a:rPr>
              <a:t>Ciência da Computação</a:t>
            </a:r>
            <a:r>
              <a:rPr lang="pt-BR" i="0" u="none" strike="noStrike" dirty="0">
                <a:solidFill>
                  <a:srgbClr val="000000"/>
                </a:solidFill>
                <a:effectLst/>
                <a:latin typeface="Poppins" panose="00000500000000000000" pitchFamily="2" charset="0"/>
                <a:cs typeface="Poppins" panose="00000500000000000000" pitchFamily="2" charset="0"/>
              </a:rPr>
              <a:t>: uma visão abrangente</a:t>
            </a:r>
            <a:r>
              <a:rPr lang="pt-BR" b="0" i="0" u="none" strike="noStrike" dirty="0">
                <a:solidFill>
                  <a:srgbClr val="000000"/>
                </a:solidFill>
                <a:effectLst/>
                <a:latin typeface="Poppins" panose="00000500000000000000" pitchFamily="2" charset="0"/>
                <a:cs typeface="Poppins" panose="00000500000000000000" pitchFamily="2" charset="0"/>
              </a:rPr>
              <a:t>. Porto Alegre: Bookman, 2013.</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MONTEIRO, M. A. </a:t>
            </a:r>
            <a:r>
              <a:rPr lang="pt-BR" b="1" i="0" u="none" strike="noStrike" dirty="0">
                <a:solidFill>
                  <a:srgbClr val="000000"/>
                </a:solidFill>
                <a:effectLst/>
                <a:latin typeface="Poppins" panose="00000500000000000000" pitchFamily="2" charset="0"/>
                <a:cs typeface="Poppins" panose="00000500000000000000" pitchFamily="2" charset="0"/>
              </a:rPr>
              <a:t>Introdução à </a:t>
            </a:r>
            <a:r>
              <a:rPr lang="pt-BR" b="1" dirty="0">
                <a:solidFill>
                  <a:srgbClr val="000000"/>
                </a:solidFill>
                <a:latin typeface="Poppins" panose="00000500000000000000" pitchFamily="2" charset="0"/>
                <a:cs typeface="Poppins" panose="00000500000000000000" pitchFamily="2" charset="0"/>
              </a:rPr>
              <a:t>organização </a:t>
            </a:r>
            <a:r>
              <a:rPr lang="pt-BR" b="1" i="0" u="none" strike="noStrike" dirty="0">
                <a:solidFill>
                  <a:srgbClr val="000000"/>
                </a:solidFill>
                <a:effectLst/>
                <a:latin typeface="Poppins" panose="00000500000000000000" pitchFamily="2" charset="0"/>
                <a:cs typeface="Poppins" panose="00000500000000000000" pitchFamily="2" charset="0"/>
              </a:rPr>
              <a:t>de </a:t>
            </a:r>
            <a:r>
              <a:rPr lang="pt-BR" b="1" dirty="0">
                <a:solidFill>
                  <a:srgbClr val="000000"/>
                </a:solidFill>
                <a:latin typeface="Poppins" panose="00000500000000000000" pitchFamily="2" charset="0"/>
                <a:cs typeface="Poppins" panose="00000500000000000000" pitchFamily="2" charset="0"/>
              </a:rPr>
              <a:t>computadores</a:t>
            </a:r>
            <a:r>
              <a:rPr lang="pt-BR" b="0" i="0" u="none" strike="noStrike" dirty="0">
                <a:solidFill>
                  <a:srgbClr val="000000"/>
                </a:solidFill>
                <a:effectLst/>
                <a:latin typeface="Poppins" panose="00000500000000000000" pitchFamily="2" charset="0"/>
                <a:cs typeface="Poppins" panose="00000500000000000000" pitchFamily="2" charset="0"/>
              </a:rPr>
              <a:t>. Rio de Janeiro: LTC, 2007.</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STALLINGS, W. </a:t>
            </a:r>
            <a:r>
              <a:rPr lang="pt-BR" b="1" i="0" u="none" strike="noStrike" dirty="0">
                <a:solidFill>
                  <a:srgbClr val="000000"/>
                </a:solidFill>
                <a:effectLst/>
                <a:latin typeface="Poppins" panose="00000500000000000000" pitchFamily="2" charset="0"/>
                <a:cs typeface="Poppins" panose="00000500000000000000" pitchFamily="2" charset="0"/>
              </a:rPr>
              <a:t>Arquitetura e </a:t>
            </a:r>
            <a:r>
              <a:rPr lang="pt-BR" b="1" dirty="0">
                <a:solidFill>
                  <a:srgbClr val="000000"/>
                </a:solidFill>
                <a:latin typeface="Poppins" panose="00000500000000000000" pitchFamily="2" charset="0"/>
                <a:cs typeface="Poppins" panose="00000500000000000000" pitchFamily="2" charset="0"/>
              </a:rPr>
              <a:t>organização </a:t>
            </a:r>
            <a:r>
              <a:rPr lang="pt-BR" b="1" i="0" u="none" strike="noStrike" dirty="0">
                <a:solidFill>
                  <a:srgbClr val="000000"/>
                </a:solidFill>
                <a:effectLst/>
                <a:latin typeface="Poppins" panose="00000500000000000000" pitchFamily="2" charset="0"/>
                <a:cs typeface="Poppins" panose="00000500000000000000" pitchFamily="2" charset="0"/>
              </a:rPr>
              <a:t>de </a:t>
            </a:r>
            <a:r>
              <a:rPr lang="pt-BR" b="1" dirty="0">
                <a:solidFill>
                  <a:srgbClr val="000000"/>
                </a:solidFill>
                <a:latin typeface="Poppins" panose="00000500000000000000" pitchFamily="2" charset="0"/>
                <a:cs typeface="Poppins" panose="00000500000000000000" pitchFamily="2" charset="0"/>
              </a:rPr>
              <a:t>computadores</a:t>
            </a:r>
            <a:r>
              <a:rPr lang="pt-BR" b="0" i="0" u="none" strike="noStrike" dirty="0">
                <a:solidFill>
                  <a:srgbClr val="000000"/>
                </a:solidFill>
                <a:effectLst/>
                <a:latin typeface="Poppins" panose="00000500000000000000" pitchFamily="2" charset="0"/>
                <a:cs typeface="Poppins" panose="00000500000000000000" pitchFamily="2" charset="0"/>
              </a:rPr>
              <a:t>. São Paulo: Pearson, 2017.</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TANENBAUM, A. S.; AUSTIN, T. </a:t>
            </a:r>
            <a:r>
              <a:rPr lang="pt-BR" b="1" i="0" u="none" strike="noStrike" dirty="0">
                <a:solidFill>
                  <a:srgbClr val="000000"/>
                </a:solidFill>
                <a:effectLst/>
                <a:latin typeface="Poppins" panose="00000500000000000000" pitchFamily="2" charset="0"/>
                <a:cs typeface="Poppins" panose="00000500000000000000" pitchFamily="2" charset="0"/>
              </a:rPr>
              <a:t>Organização </a:t>
            </a:r>
            <a:r>
              <a:rPr lang="pt-BR" b="1" dirty="0">
                <a:solidFill>
                  <a:srgbClr val="000000"/>
                </a:solidFill>
                <a:latin typeface="Poppins" panose="00000500000000000000" pitchFamily="2" charset="0"/>
                <a:cs typeface="Poppins" panose="00000500000000000000" pitchFamily="2" charset="0"/>
              </a:rPr>
              <a:t>estruturada </a:t>
            </a:r>
            <a:r>
              <a:rPr lang="pt-BR" b="1" i="0" u="none" strike="noStrike" dirty="0">
                <a:solidFill>
                  <a:srgbClr val="000000"/>
                </a:solidFill>
                <a:effectLst/>
                <a:latin typeface="Poppins" panose="00000500000000000000" pitchFamily="2" charset="0"/>
                <a:cs typeface="Poppins" panose="00000500000000000000" pitchFamily="2" charset="0"/>
              </a:rPr>
              <a:t>de </a:t>
            </a:r>
            <a:r>
              <a:rPr lang="pt-BR" b="1" dirty="0">
                <a:solidFill>
                  <a:srgbClr val="000000"/>
                </a:solidFill>
                <a:latin typeface="Poppins" panose="00000500000000000000" pitchFamily="2" charset="0"/>
                <a:cs typeface="Poppins" panose="00000500000000000000" pitchFamily="2" charset="0"/>
              </a:rPr>
              <a:t>computadores</a:t>
            </a:r>
            <a:r>
              <a:rPr lang="pt-BR" b="0" i="0" u="none" strike="noStrike" dirty="0">
                <a:solidFill>
                  <a:srgbClr val="000000"/>
                </a:solidFill>
                <a:effectLst/>
                <a:latin typeface="Poppins" panose="00000500000000000000" pitchFamily="2" charset="0"/>
                <a:cs typeface="Poppins" panose="00000500000000000000" pitchFamily="2" charset="0"/>
              </a:rPr>
              <a:t>. São Paulo: Pearson, 2013.</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dirty="0">
                <a:latin typeface="Poppins" panose="00000500000000000000" pitchFamily="2" charset="0"/>
                <a:cs typeface="Poppins" panose="00000500000000000000" pitchFamily="2" charset="0"/>
              </a:rPr>
              <a:t>Identidade visual: Imagens © Getty Images</a:t>
            </a:r>
          </a:p>
        </p:txBody>
      </p:sp>
    </p:spTree>
    <p:extLst>
      <p:ext uri="{BB962C8B-B14F-4D97-AF65-F5344CB8AC3E}">
        <p14:creationId xmlns:p14="http://schemas.microsoft.com/office/powerpoint/2010/main" val="221399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669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EAED0FCA-E30E-FCCE-6375-4A0D838E30DB}"/>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E962D4EB-CE73-1CB2-755F-817B788BC60D}"/>
              </a:ext>
            </a:extLst>
          </p:cNvPr>
          <p:cNvCxnSpPr>
            <a:cxnSpLocks/>
          </p:cNvCxnSpPr>
          <p:nvPr/>
        </p:nvCxnSpPr>
        <p:spPr>
          <a:xfrm flipV="1">
            <a:off x="690880" y="1036320"/>
            <a:ext cx="0" cy="5374208"/>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4F0AFEA1-9119-C042-CFE7-7B540E598DA4}"/>
              </a:ext>
            </a:extLst>
          </p:cNvPr>
          <p:cNvSpPr txBox="1"/>
          <p:nvPr/>
        </p:nvSpPr>
        <p:spPr>
          <a:xfrm>
            <a:off x="985519" y="1431050"/>
            <a:ext cx="10872497" cy="4791568"/>
          </a:xfrm>
          <a:prstGeom prst="rect">
            <a:avLst/>
          </a:prstGeom>
          <a:noFill/>
          <a:ln>
            <a:noFill/>
          </a:ln>
        </p:spPr>
        <p:txBody>
          <a:bodyPr wrap="square" lIns="60960" tIns="30480" rIns="60960" bIns="30480" anchor="t">
            <a:spAutoFit/>
          </a:bodyPr>
          <a:lstStyle/>
          <a:p>
            <a:pPr>
              <a:buClrTx/>
              <a:defRPr/>
            </a:pPr>
            <a:r>
              <a:rPr lang="pt-BR" sz="1000" b="1" dirty="0">
                <a:latin typeface="Poppins"/>
                <a:cs typeface="Poppins"/>
              </a:rPr>
              <a:t>Orientações: </a:t>
            </a:r>
            <a:r>
              <a:rPr lang="pt-BR" sz="1000" kern="100" dirty="0">
                <a:latin typeface="Poppins" panose="00000500000000000000" pitchFamily="2" charset="0"/>
                <a:cs typeface="Poppins" panose="00000500000000000000" pitchFamily="2" charset="0"/>
              </a:rPr>
              <a:t>a</a:t>
            </a:r>
            <a:r>
              <a:rPr lang="pt-BR" sz="1000" b="1" kern="100" dirty="0">
                <a:latin typeface="Poppins" panose="00000500000000000000" pitchFamily="2" charset="0"/>
                <a:cs typeface="Poppins" panose="00000500000000000000" pitchFamily="2" charset="0"/>
              </a:rPr>
              <a:t> </a:t>
            </a:r>
            <a:r>
              <a:rPr lang="pt-BR" sz="1000" kern="100" dirty="0">
                <a:latin typeface="Poppins" panose="00000500000000000000" pitchFamily="2" charset="0"/>
                <a:ea typeface="Aptos" panose="020B0004020202020204" pitchFamily="34" charset="0"/>
                <a:cs typeface="Poppins" panose="00000500000000000000" pitchFamily="2" charset="0"/>
              </a:rPr>
              <a:t>seção </a:t>
            </a:r>
            <a:r>
              <a:rPr lang="pt-BR" sz="1000" b="1" kern="100" dirty="0">
                <a:latin typeface="Poppins" panose="00000500000000000000" pitchFamily="2" charset="0"/>
                <a:ea typeface="Aptos" panose="020B0004020202020204" pitchFamily="34" charset="0"/>
                <a:cs typeface="Poppins" panose="00000500000000000000" pitchFamily="2" charset="0"/>
              </a:rPr>
              <a:t>Ponto de partida </a:t>
            </a:r>
            <a:r>
              <a:rPr lang="pt-BR" sz="1000" kern="100" dirty="0">
                <a:latin typeface="Poppins" panose="00000500000000000000" pitchFamily="2" charset="0"/>
                <a:ea typeface="Aptos" panose="020B0004020202020204" pitchFamily="34" charset="0"/>
                <a:cs typeface="Poppins" panose="00000500000000000000" pitchFamily="2" charset="0"/>
              </a:rPr>
              <a:t>tem o objetivo de ativar os conhecimentos prévios dos estudantes sobre o tema da aula e estimular o pensamento crítico e as habilidades comunicativas. Por meio de uma situação-problema ou exemplo próximo da realidade do estudante, pretende-se sair da abstração conceitual e promover um diálogo dinâmico para explorar hipóteses e soluções. Espera-se também que os estudantes compartilhem eventuais experiências que possam ter com os tópicos a serem abordados em aula. </a:t>
            </a:r>
            <a:endParaRPr lang="pt-BR" sz="1000" b="1" dirty="0">
              <a:latin typeface="Poppins" panose="00000500000000000000" pitchFamily="2" charset="0"/>
              <a:cs typeface="Poppins" panose="00000500000000000000" pitchFamily="2" charset="0"/>
            </a:endParaRPr>
          </a:p>
          <a:p>
            <a:pPr fontAlgn="base"/>
            <a:br>
              <a:rPr lang="pt-BR" sz="1000" b="1" dirty="0">
                <a:latin typeface="Poppins" panose="00000500000000000000" pitchFamily="2" charset="0"/>
                <a:cs typeface="Poppins" panose="00000500000000000000" pitchFamily="2" charset="0"/>
              </a:rPr>
            </a:br>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8 minutos.</a:t>
            </a:r>
          </a:p>
          <a:p>
            <a:pPr marL="229870">
              <a:lnSpc>
                <a:spcPct val="107000"/>
              </a:lnSpc>
              <a:spcAft>
                <a:spcPts val="800"/>
              </a:spcAft>
            </a:pPr>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p>
          <a:p>
            <a:pPr marL="171450" indent="-171450">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assegure que todos os estudantes tenham a oportunidade de participar. Se necessário, faça rodízio ou direcione perguntas a estudantes que estejam menos ativos para garantir a participação de todos;</a:t>
            </a:r>
          </a:p>
          <a:p>
            <a:pPr marL="171450" indent="-171450">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mantenha um ambiente de respeito, em que todas as opiniões são valorizadas, garantindo que todos se sintam confortáveis para expressar seus pontos de vista;</a:t>
            </a:r>
          </a:p>
          <a:p>
            <a:pPr marL="171450" indent="-171450">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conclua a atividade resumindo as principais ideias discutidas e vinculando-as aos objetivos de aprendizagem da aula. </a:t>
            </a:r>
          </a:p>
          <a:p>
            <a:pPr fontAlgn="base"/>
            <a:endParaRPr lang="pt-BR" sz="1000" dirty="0">
              <a:latin typeface="Poppins" panose="00000500000000000000" pitchFamily="2" charset="0"/>
              <a:cs typeface="Poppins" panose="00000500000000000000" pitchFamily="2" charset="0"/>
            </a:endParaRPr>
          </a:p>
          <a:p>
            <a:pPr fontAlgn="base"/>
            <a:br>
              <a:rPr lang="pt-BR" sz="1000" b="1" dirty="0">
                <a:latin typeface="Poppins" panose="00000500000000000000" pitchFamily="2" charset="0"/>
                <a:cs typeface="Poppins" panose="00000500000000000000" pitchFamily="2" charset="0"/>
              </a:rPr>
            </a:br>
            <a:r>
              <a:rPr lang="pt-BR" sz="1000" b="1" dirty="0">
                <a:latin typeface="Poppins" panose="00000500000000000000" pitchFamily="2" charset="0"/>
                <a:cs typeface="Poppins" panose="00000500000000000000" pitchFamily="2" charset="0"/>
              </a:rPr>
              <a:t>Condução da dinâmica: </a:t>
            </a:r>
            <a:r>
              <a:rPr lang="pt-BR" sz="1000" kern="100" dirty="0">
                <a:latin typeface="Poppins" panose="00000500000000000000" pitchFamily="2" charset="0"/>
                <a:ea typeface="Aptos" panose="020B0004020202020204" pitchFamily="34" charset="0"/>
                <a:cs typeface="Poppins" panose="00000500000000000000" pitchFamily="2" charset="0"/>
              </a:rPr>
              <a:t>apresente a situação-problema e </a:t>
            </a:r>
            <a:r>
              <a:rPr lang="pt-BR" sz="1000" dirty="0">
                <a:latin typeface="Poppins" panose="00000500000000000000" pitchFamily="2" charset="0"/>
                <a:cs typeface="Poppins" panose="00000500000000000000" pitchFamily="2" charset="0"/>
              </a:rPr>
              <a:t>a questão dando tempo para os alunos pensarem e discutirem. Peça para alguns alunos compartilharem suas ideias com a turma.</a:t>
            </a:r>
          </a:p>
          <a:p>
            <a:pPr fontAlgn="base"/>
            <a:endParaRPr lang="pt-BR" sz="1000" kern="100" dirty="0">
              <a:latin typeface="Poppins" panose="00000500000000000000" pitchFamily="2" charset="0"/>
              <a:ea typeface="Aptos" panose="020B0004020202020204" pitchFamily="34"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 de respostas:</a:t>
            </a:r>
            <a:endParaRPr lang="pt-BR" sz="1000" dirty="0">
              <a:latin typeface="Poppins" panose="00000500000000000000" pitchFamily="2" charset="0"/>
              <a:cs typeface="Poppins" panose="00000500000000000000" pitchFamily="2" charset="0"/>
            </a:endParaRPr>
          </a:p>
          <a:p>
            <a:pPr lvl="1"/>
            <a:br>
              <a:rPr lang="pt-BR" sz="1000" kern="100" dirty="0">
                <a:latin typeface="Poppins" panose="00000500000000000000" pitchFamily="2" charset="0"/>
                <a:cs typeface="Poppins" panose="00000500000000000000" pitchFamily="2" charset="0"/>
              </a:rPr>
            </a:br>
            <a:r>
              <a:rPr lang="pt-BR" sz="1000" u="sng" kern="100" dirty="0">
                <a:latin typeface="Poppins" panose="00000500000000000000" pitchFamily="2" charset="0"/>
                <a:cs typeface="Poppins" panose="00000500000000000000" pitchFamily="2" charset="0"/>
              </a:rPr>
              <a:t>Considerando esse cenário, como você se organizaria para conseguir finalizar a atividade</a:t>
            </a:r>
            <a:r>
              <a:rPr lang="pt-BR" sz="1000" kern="100" dirty="0">
                <a:latin typeface="Poppins" panose="00000500000000000000" pitchFamily="2" charset="0"/>
                <a:cs typeface="Poppins" panose="00000500000000000000" pitchFamily="2" charset="0"/>
              </a:rPr>
              <a:t>?</a:t>
            </a:r>
          </a:p>
          <a:p>
            <a:pPr lvl="1"/>
            <a:br>
              <a:rPr lang="pt-BR" sz="1000" kern="100" dirty="0">
                <a:latin typeface="Poppins" panose="00000500000000000000" pitchFamily="2" charset="0"/>
                <a:cs typeface="Poppins" panose="00000500000000000000" pitchFamily="2" charset="0"/>
              </a:rPr>
            </a:br>
            <a:r>
              <a:rPr lang="pt-BR" sz="1000" kern="100" dirty="0">
                <a:latin typeface="Poppins" panose="00000500000000000000" pitchFamily="2" charset="0"/>
                <a:cs typeface="Poppins" panose="00000500000000000000" pitchFamily="2" charset="0"/>
              </a:rPr>
              <a:t>Esperam-se respostas que mencionem ações como: </a:t>
            </a:r>
          </a:p>
          <a:p>
            <a:pPr marL="171450" lvl="1" indent="-171450">
              <a:buFont typeface="Arial" panose="020B0604020202020204" pitchFamily="34" charset="0"/>
              <a:buChar char="•"/>
            </a:pPr>
            <a:r>
              <a:rPr lang="pt-BR" sz="1000" kern="100" dirty="0">
                <a:latin typeface="Poppins" panose="00000500000000000000" pitchFamily="2" charset="0"/>
                <a:cs typeface="Poppins" panose="00000500000000000000" pitchFamily="2" charset="0"/>
              </a:rPr>
              <a:t>fechar abas ou aplicativos não essenciais; </a:t>
            </a:r>
          </a:p>
          <a:p>
            <a:pPr marL="171450" lvl="1" indent="-171450">
              <a:buFont typeface="Arial" panose="020B0604020202020204" pitchFamily="34" charset="0"/>
              <a:buChar char="•"/>
            </a:pPr>
            <a:r>
              <a:rPr lang="pt-BR" sz="1000" kern="100" dirty="0">
                <a:latin typeface="Poppins" panose="00000500000000000000" pitchFamily="2" charset="0"/>
                <a:cs typeface="Poppins" panose="00000500000000000000" pitchFamily="2" charset="0"/>
              </a:rPr>
              <a:t>ativar o modo “não perturbe” ou silenciar notificações; </a:t>
            </a:r>
          </a:p>
          <a:p>
            <a:pPr marL="171450" lvl="1" indent="-171450">
              <a:buFont typeface="Arial" panose="020B0604020202020204" pitchFamily="34" charset="0"/>
              <a:buChar char="•"/>
            </a:pPr>
            <a:r>
              <a:rPr lang="pt-BR" sz="1000" kern="100" dirty="0">
                <a:latin typeface="Poppins" panose="00000500000000000000" pitchFamily="2" charset="0"/>
                <a:cs typeface="Poppins" panose="00000500000000000000" pitchFamily="2" charset="0"/>
              </a:rPr>
              <a:t>definir prioridades, focando em uma tarefa por vez; </a:t>
            </a:r>
          </a:p>
          <a:p>
            <a:pPr marL="171450" lvl="1" indent="-171450">
              <a:buFont typeface="Arial" panose="020B0604020202020204" pitchFamily="34" charset="0"/>
              <a:buChar char="•"/>
            </a:pPr>
            <a:r>
              <a:rPr lang="pt-BR" sz="1000" kern="100" dirty="0">
                <a:latin typeface="Poppins" panose="00000500000000000000" pitchFamily="2" charset="0"/>
                <a:cs typeface="Poppins" panose="00000500000000000000" pitchFamily="2" charset="0"/>
              </a:rPr>
              <a:t>usar ferramentas de produtividade, como cronômetro ou lista de tarefas; </a:t>
            </a:r>
          </a:p>
          <a:p>
            <a:pPr lvl="1"/>
            <a:r>
              <a:rPr lang="pt-BR" sz="1000" kern="100" dirty="0">
                <a:latin typeface="Poppins" panose="00000500000000000000" pitchFamily="2" charset="0"/>
                <a:cs typeface="Poppins" panose="00000500000000000000" pitchFamily="2" charset="0"/>
              </a:rPr>
              <a:t>Alguns alunos podem ainda refletir sobre os próprios limites de atenção, indicando a necessidade de pausas programadas. </a:t>
            </a:r>
          </a:p>
          <a:p>
            <a:pPr lvl="1"/>
            <a:r>
              <a:rPr lang="pt-BR" sz="1000" kern="100" dirty="0">
                <a:latin typeface="Poppins" panose="00000500000000000000" pitchFamily="2" charset="0"/>
                <a:cs typeface="Poppins" panose="00000500000000000000" pitchFamily="2" charset="0"/>
              </a:rPr>
              <a:t>Após os alunos responderem, faça uma analogia entre o gerenciamento de tarefas de um sistema operacional e as estratégias de organização e foco citadas por eles. </a:t>
            </a:r>
            <a:endParaRPr lang="pt-BR" sz="1000" dirty="0">
              <a:latin typeface="Poppins"/>
              <a:cs typeface="Poppins"/>
            </a:endParaRPr>
          </a:p>
        </p:txBody>
      </p:sp>
      <p:sp>
        <p:nvSpPr>
          <p:cNvPr id="6" name="CaixaDeTexto 5">
            <a:extLst>
              <a:ext uri="{FF2B5EF4-FFF2-40B4-BE49-F238E27FC236}">
                <a16:creationId xmlns:a16="http://schemas.microsoft.com/office/drawing/2014/main" id="{E7D3BC7C-28C1-7DC2-665A-68D709ECA042}"/>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6</a:t>
            </a:r>
          </a:p>
        </p:txBody>
      </p:sp>
      <p:sp>
        <p:nvSpPr>
          <p:cNvPr id="9" name="Oval 8">
            <a:extLst>
              <a:ext uri="{FF2B5EF4-FFF2-40B4-BE49-F238E27FC236}">
                <a16:creationId xmlns:a16="http://schemas.microsoft.com/office/drawing/2014/main" id="{A04DBA7C-940F-C042-3626-460C69069086}"/>
              </a:ext>
            </a:extLst>
          </p:cNvPr>
          <p:cNvSpPr/>
          <p:nvPr/>
        </p:nvSpPr>
        <p:spPr>
          <a:xfrm>
            <a:off x="497630" y="420575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D1E66996-F575-2D9B-FB10-9D63ABDB8BE3}"/>
              </a:ext>
            </a:extLst>
          </p:cNvPr>
          <p:cNvSpPr/>
          <p:nvPr/>
        </p:nvSpPr>
        <p:spPr>
          <a:xfrm>
            <a:off x="497630" y="361752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1" name="Oval 10">
            <a:extLst>
              <a:ext uri="{FF2B5EF4-FFF2-40B4-BE49-F238E27FC236}">
                <a16:creationId xmlns:a16="http://schemas.microsoft.com/office/drawing/2014/main" id="{1A397EF8-7A9D-91D4-6673-39CEDC2E1885}"/>
              </a:ext>
            </a:extLst>
          </p:cNvPr>
          <p:cNvSpPr/>
          <p:nvPr/>
        </p:nvSpPr>
        <p:spPr>
          <a:xfrm>
            <a:off x="497630" y="254964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FEAC075A-B8C8-E930-4E60-044E1150CB99}"/>
              </a:ext>
            </a:extLst>
          </p:cNvPr>
          <p:cNvSpPr/>
          <p:nvPr/>
        </p:nvSpPr>
        <p:spPr>
          <a:xfrm>
            <a:off x="487902" y="2064026"/>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4465B433-3024-07D5-6E5E-A9C3D0A661E4}"/>
              </a:ext>
            </a:extLst>
          </p:cNvPr>
          <p:cNvSpPr/>
          <p:nvPr/>
        </p:nvSpPr>
        <p:spPr>
          <a:xfrm>
            <a:off x="497841" y="131860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FACBE87E-C3E9-093A-15DD-CF102B48BBFA}"/>
              </a:ext>
            </a:extLst>
          </p:cNvPr>
          <p:cNvSpPr/>
          <p:nvPr/>
        </p:nvSpPr>
        <p:spPr>
          <a:xfrm>
            <a:off x="569897" y="141716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16" name="Google Shape;2223;p100">
            <a:extLst>
              <a:ext uri="{FF2B5EF4-FFF2-40B4-BE49-F238E27FC236}">
                <a16:creationId xmlns:a16="http://schemas.microsoft.com/office/drawing/2014/main" id="{C7770A96-F87E-0498-2BA2-D02000C11890}"/>
              </a:ext>
            </a:extLst>
          </p:cNvPr>
          <p:cNvSpPr>
            <a:spLocks/>
          </p:cNvSpPr>
          <p:nvPr/>
        </p:nvSpPr>
        <p:spPr>
          <a:xfrm>
            <a:off x="566641" y="2628073"/>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3E502561-9DB9-2437-2E6E-EF32977DD6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695" y="3687983"/>
            <a:ext cx="235296" cy="240643"/>
          </a:xfrm>
          <a:prstGeom prst="rect">
            <a:avLst/>
          </a:prstGeom>
        </p:spPr>
      </p:pic>
      <p:pic>
        <p:nvPicPr>
          <p:cNvPr id="18" name="Gráfico 17">
            <a:extLst>
              <a:ext uri="{FF2B5EF4-FFF2-40B4-BE49-F238E27FC236}">
                <a16:creationId xmlns:a16="http://schemas.microsoft.com/office/drawing/2014/main" id="{EA88AAEC-DD86-FF7B-F21F-28ED7E431D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1571" y="4259873"/>
            <a:ext cx="208026" cy="266700"/>
          </a:xfrm>
          <a:prstGeom prst="rect">
            <a:avLst/>
          </a:prstGeom>
        </p:spPr>
      </p:pic>
      <p:pic>
        <p:nvPicPr>
          <p:cNvPr id="2" name="Imagem 1">
            <a:extLst>
              <a:ext uri="{FF2B5EF4-FFF2-40B4-BE49-F238E27FC236}">
                <a16:creationId xmlns:a16="http://schemas.microsoft.com/office/drawing/2014/main" id="{4E4B557A-0403-821E-4D0C-6342DA90828F}"/>
              </a:ext>
            </a:extLst>
          </p:cNvPr>
          <p:cNvPicPr>
            <a:picLocks noChangeAspect="1"/>
          </p:cNvPicPr>
          <p:nvPr/>
        </p:nvPicPr>
        <p:blipFill>
          <a:blip r:embed="rId7"/>
          <a:srcRect/>
          <a:stretch/>
        </p:blipFill>
        <p:spPr>
          <a:xfrm>
            <a:off x="606133" y="2157732"/>
            <a:ext cx="154445" cy="193056"/>
          </a:xfrm>
          <a:prstGeom prst="rect">
            <a:avLst/>
          </a:prstGeom>
        </p:spPr>
      </p:pic>
    </p:spTree>
    <p:extLst>
      <p:ext uri="{BB962C8B-B14F-4D97-AF65-F5344CB8AC3E}">
        <p14:creationId xmlns:p14="http://schemas.microsoft.com/office/powerpoint/2010/main" val="1533901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7E69C1-398B-8028-F762-BE72672D0D7C}"/>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803C9E65-D35A-0CE8-CBC0-70C669AB508C}"/>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3B946C5B-B0E9-B514-5B42-741C4F4D3CEB}"/>
              </a:ext>
            </a:extLst>
          </p:cNvPr>
          <p:cNvCxnSpPr>
            <a:cxnSpLocks/>
          </p:cNvCxnSpPr>
          <p:nvPr/>
        </p:nvCxnSpPr>
        <p:spPr>
          <a:xfrm flipV="1">
            <a:off x="690880" y="1036320"/>
            <a:ext cx="0" cy="532597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361E86D4-8330-72C8-1360-1CEF9AA48686}"/>
              </a:ext>
            </a:extLst>
          </p:cNvPr>
          <p:cNvSpPr txBox="1"/>
          <p:nvPr/>
        </p:nvSpPr>
        <p:spPr>
          <a:xfrm>
            <a:off x="985519" y="1431050"/>
            <a:ext cx="10663141" cy="4524315"/>
          </a:xfrm>
          <a:prstGeom prst="rect">
            <a:avLst/>
          </a:prstGeom>
          <a:noFill/>
          <a:ln>
            <a:noFill/>
          </a:ln>
        </p:spPr>
        <p:txBody>
          <a:bodyPr wrap="square" lIns="60960" tIns="30480" rIns="60960" bIns="30480" anchor="t">
            <a:spAutoFit/>
          </a:bodyPr>
          <a:lstStyle/>
          <a:p>
            <a:pPr defTabSz="609630">
              <a:buClrTx/>
              <a:defRPr/>
            </a:pPr>
            <a:r>
              <a:rPr lang="pt-BR" sz="1000" b="1" dirty="0">
                <a:latin typeface="Poppins"/>
                <a:cs typeface="Poppins"/>
              </a:rPr>
              <a:t>Orientações: </a:t>
            </a:r>
          </a:p>
          <a:p>
            <a:pPr defTabSz="609630">
              <a:buClrTx/>
              <a:defRPr/>
            </a:pPr>
            <a:endParaRPr lang="pt-BR" sz="1000" b="1" dirty="0">
              <a:latin typeface="Poppins"/>
              <a:cs typeface="Poppins"/>
            </a:endParaRP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a seção </a:t>
            </a:r>
            <a:r>
              <a:rPr lang="pt-BR" sz="1000" b="1" dirty="0">
                <a:latin typeface="Poppins" panose="00000500000000000000" pitchFamily="2" charset="0"/>
                <a:cs typeface="Poppins" panose="00000500000000000000" pitchFamily="2" charset="0"/>
              </a:rPr>
              <a:t>Construindo o conceito </a:t>
            </a:r>
            <a:r>
              <a:rPr lang="pt-BR" sz="1000" dirty="0">
                <a:latin typeface="Poppins" panose="00000500000000000000" pitchFamily="2" charset="0"/>
                <a:cs typeface="Poppins" panose="00000500000000000000" pitchFamily="2" charset="0"/>
              </a:rPr>
              <a:t>tem o objetivo de ajudar o estudante a sistematizar novos conceitos teóricos relacionados com a vivência profissional;</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durante a explicação, lembre-se de que os alunos estão tendo o primeiro contato com o tema. O objetivo é que eles saiam da aula entendendo o conceito de multitarefa e a importância do sistema operacional para que possam executar várias tarefas ao mesmo tempo, com organização e produtividade (eficiência);</a:t>
            </a:r>
          </a:p>
          <a:p>
            <a:pPr marL="171450" lvl="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o gerenciamento de janelas é como o sistema operacional: organiza e controla tudo o que aparece na tela, permitindo abrir vários programas ao mesmo tempo, sem confusão. Cada programa aberto no computador aparece em uma “janela”. Isso ajuda na organização, evita confusão e distrações; demonstre o gerenciamento de janelas (</a:t>
            </a:r>
            <a:r>
              <a:rPr lang="pt-BR" sz="1000" dirty="0" err="1">
                <a:latin typeface="Poppins" panose="00000500000000000000" pitchFamily="2" charset="0"/>
                <a:cs typeface="Poppins" panose="00000500000000000000" pitchFamily="2" charset="0"/>
              </a:rPr>
              <a:t>Alt+Tab</a:t>
            </a:r>
            <a:r>
              <a:rPr lang="pt-BR" sz="1000" dirty="0">
                <a:latin typeface="Poppins" panose="00000500000000000000" pitchFamily="2" charset="0"/>
                <a:cs typeface="Poppins" panose="00000500000000000000" pitchFamily="2" charset="0"/>
              </a:rPr>
              <a:t>, Snap </a:t>
            </a:r>
            <a:r>
              <a:rPr lang="pt-BR" sz="1000" dirty="0" err="1">
                <a:latin typeface="Poppins" panose="00000500000000000000" pitchFamily="2" charset="0"/>
                <a:cs typeface="Poppins" panose="00000500000000000000" pitchFamily="2" charset="0"/>
              </a:rPr>
              <a:t>Assist</a:t>
            </a:r>
            <a:r>
              <a:rPr lang="pt-BR" sz="1000" dirty="0">
                <a:latin typeface="Poppins" panose="00000500000000000000" pitchFamily="2" charset="0"/>
                <a:cs typeface="Poppins" panose="00000500000000000000" pitchFamily="2" charset="0"/>
              </a:rPr>
              <a:t>);</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na divisão de tarefas, discuta sobre fazer o mais importante ou o mais difícil primeiro. Simule a divisão de tarefas usando uma lista de prioridades de um tema escolhido junto com os alunos, por exemplo, qual conteúdo estudar primeiro, por ser mais difícil ou em maior quantidade etc. (Google </a:t>
            </a:r>
            <a:r>
              <a:rPr lang="pt-BR" sz="1000" dirty="0" err="1">
                <a:latin typeface="Poppins" panose="00000500000000000000" pitchFamily="2" charset="0"/>
                <a:cs typeface="Poppins" panose="00000500000000000000" pitchFamily="2" charset="0"/>
              </a:rPr>
              <a:t>Keep</a:t>
            </a:r>
            <a:r>
              <a:rPr lang="pt-BR" sz="1000" dirty="0">
                <a:latin typeface="Poppins" panose="00000500000000000000" pitchFamily="2" charset="0"/>
                <a:cs typeface="Poppins" panose="00000500000000000000" pitchFamily="2" charset="0"/>
              </a:rPr>
              <a:t>, bloco de notas);</a:t>
            </a:r>
          </a:p>
          <a:p>
            <a:pPr marL="171450" lvl="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uso eficiente do tempo e dos recursos: mostre que o computador nos ensina a fazer uso eficiente dos seus recursos - processador, memória e disco. Assim, também podemos fazer uma analogia com o uso eficiente dos recursos que temos para aproveitarmos bem o nosso tempo (estudo, trabalho, lazer).  Vantagens: evitar desperdício de tempo e energia, ajudar a cumprir prazos e a melhorar a qualidade do trabalho, ter mais tempo livre após organizar as tarefas;</a:t>
            </a:r>
          </a:p>
          <a:p>
            <a:pPr marL="171450" lvl="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explique que a matriz foi criada por Dwight Eisenhower, ex-presidente dos EUA, e é amplamente usada na gestão do tempo e produtividade. Relacione com a lógica do computador: assim como o sistema operacional define prioridades de processamento, nós também precisamos definir prioridades para não sobrecarregar nossa “memória” e manter a eficiência;</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conclua a explicação destacando como o sistema operacional organiza várias coisas (multitarefas), isto é, o sistema operacional é como um gerente de tempo que organiza várias coisas para funcionarem bem juntas. Ou seja, o computador nos ensina que organizar é essencial para sermos produtivos.</a:t>
            </a: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endParaRPr lang="pt-BR" sz="1000" b="1" dirty="0">
              <a:latin typeface="Poppins" panose="00000500000000000000" pitchFamily="2" charset="0"/>
              <a:cs typeface="Poppins" panose="00000500000000000000" pitchFamily="2" charset="0"/>
            </a:endParaRPr>
          </a:p>
          <a:p>
            <a:pPr defTabSz="609630">
              <a:buClrTx/>
              <a:defRPr/>
            </a:pPr>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20 minutos.</a:t>
            </a:r>
          </a:p>
          <a:p>
            <a:pPr defTabSz="609630">
              <a:buClrTx/>
              <a:defRPr/>
            </a:pPr>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 </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alterne a exposição com perguntas rápidas para manter a turma engajada;</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use exemplos próximos (WhatsApp, jogos on-line, dividir tela entre vídeo e navegador);</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demonstre o gerenciamento de janelas (</a:t>
            </a:r>
            <a:r>
              <a:rPr lang="pt-BR" sz="1000" dirty="0" err="1">
                <a:latin typeface="Poppins" panose="00000500000000000000" pitchFamily="2" charset="0"/>
                <a:cs typeface="Poppins" panose="00000500000000000000" pitchFamily="2" charset="0"/>
              </a:rPr>
              <a:t>Alt+Tab</a:t>
            </a:r>
            <a:r>
              <a:rPr lang="pt-BR" sz="1000" dirty="0">
                <a:latin typeface="Poppins" panose="00000500000000000000" pitchFamily="2" charset="0"/>
                <a:cs typeface="Poppins" panose="00000500000000000000" pitchFamily="2" charset="0"/>
              </a:rPr>
              <a:t>, Snap </a:t>
            </a:r>
            <a:r>
              <a:rPr lang="pt-BR" sz="1000" dirty="0" err="1">
                <a:latin typeface="Poppins" panose="00000500000000000000" pitchFamily="2" charset="0"/>
                <a:cs typeface="Poppins" panose="00000500000000000000" pitchFamily="2" charset="0"/>
              </a:rPr>
              <a:t>Assist</a:t>
            </a:r>
            <a:r>
              <a:rPr lang="pt-BR" sz="1000" dirty="0">
                <a:latin typeface="Poppins" panose="00000500000000000000" pitchFamily="2" charset="0"/>
                <a:cs typeface="Poppins" panose="00000500000000000000" pitchFamily="2" charset="0"/>
              </a:rPr>
              <a:t>);</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simule a divisão de tarefas usando uma lista de prioridades (Google </a:t>
            </a:r>
            <a:r>
              <a:rPr lang="pt-BR" sz="1000" dirty="0" err="1">
                <a:latin typeface="Poppins" panose="00000500000000000000" pitchFamily="2" charset="0"/>
                <a:cs typeface="Poppins" panose="00000500000000000000" pitchFamily="2" charset="0"/>
              </a:rPr>
              <a:t>Keep</a:t>
            </a:r>
            <a:r>
              <a:rPr lang="pt-BR" sz="1000" dirty="0">
                <a:latin typeface="Poppins" panose="00000500000000000000" pitchFamily="2" charset="0"/>
                <a:cs typeface="Poppins" panose="00000500000000000000" pitchFamily="2" charset="0"/>
              </a:rPr>
              <a:t>, bloco de notas);. </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incentive anotações no caderno (através do “Tome nota”).</a:t>
            </a:r>
          </a:p>
        </p:txBody>
      </p:sp>
      <p:sp>
        <p:nvSpPr>
          <p:cNvPr id="6" name="CaixaDeTexto 5">
            <a:extLst>
              <a:ext uri="{FF2B5EF4-FFF2-40B4-BE49-F238E27FC236}">
                <a16:creationId xmlns:a16="http://schemas.microsoft.com/office/drawing/2014/main" id="{3BAA5B53-88E8-2CC1-94D2-6B4984568CD8}"/>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Slides 7 a 14</a:t>
            </a:r>
          </a:p>
        </p:txBody>
      </p:sp>
      <p:sp>
        <p:nvSpPr>
          <p:cNvPr id="11" name="Oval 10">
            <a:extLst>
              <a:ext uri="{FF2B5EF4-FFF2-40B4-BE49-F238E27FC236}">
                <a16:creationId xmlns:a16="http://schemas.microsoft.com/office/drawing/2014/main" id="{1057760E-37C3-995A-DAFF-CC76140B37F0}"/>
              </a:ext>
            </a:extLst>
          </p:cNvPr>
          <p:cNvSpPr/>
          <p:nvPr/>
        </p:nvSpPr>
        <p:spPr>
          <a:xfrm>
            <a:off x="487902" y="489079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A2E87376-A2CB-C631-0E5B-F2E47051E329}"/>
              </a:ext>
            </a:extLst>
          </p:cNvPr>
          <p:cNvSpPr/>
          <p:nvPr/>
        </p:nvSpPr>
        <p:spPr>
          <a:xfrm>
            <a:off x="487902" y="430557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BB79CB2E-A3DB-FDBD-0D52-FD3C1A7B9BFB}"/>
              </a:ext>
            </a:extLst>
          </p:cNvPr>
          <p:cNvSpPr/>
          <p:nvPr/>
        </p:nvSpPr>
        <p:spPr>
          <a:xfrm>
            <a:off x="497841" y="141799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E795351E-8B48-8B31-823B-399691A2803A}"/>
              </a:ext>
            </a:extLst>
          </p:cNvPr>
          <p:cNvSpPr/>
          <p:nvPr/>
        </p:nvSpPr>
        <p:spPr>
          <a:xfrm>
            <a:off x="569897" y="151655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16" name="Google Shape;2223;p100">
            <a:extLst>
              <a:ext uri="{FF2B5EF4-FFF2-40B4-BE49-F238E27FC236}">
                <a16:creationId xmlns:a16="http://schemas.microsoft.com/office/drawing/2014/main" id="{F3F200BC-5E8E-EE9C-940A-2C6E5892D78E}"/>
              </a:ext>
            </a:extLst>
          </p:cNvPr>
          <p:cNvSpPr>
            <a:spLocks/>
          </p:cNvSpPr>
          <p:nvPr/>
        </p:nvSpPr>
        <p:spPr>
          <a:xfrm>
            <a:off x="556913" y="4969220"/>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2" name="Imagem 1">
            <a:extLst>
              <a:ext uri="{FF2B5EF4-FFF2-40B4-BE49-F238E27FC236}">
                <a16:creationId xmlns:a16="http://schemas.microsoft.com/office/drawing/2014/main" id="{8FA36DE0-60E6-ECFE-1A92-81CBF638C8FC}"/>
              </a:ext>
            </a:extLst>
          </p:cNvPr>
          <p:cNvPicPr>
            <a:picLocks noChangeAspect="1"/>
          </p:cNvPicPr>
          <p:nvPr/>
        </p:nvPicPr>
        <p:blipFill>
          <a:blip r:embed="rId3"/>
          <a:srcRect/>
          <a:stretch/>
        </p:blipFill>
        <p:spPr>
          <a:xfrm>
            <a:off x="606133" y="4399278"/>
            <a:ext cx="154445" cy="193056"/>
          </a:xfrm>
          <a:prstGeom prst="rect">
            <a:avLst/>
          </a:prstGeom>
        </p:spPr>
      </p:pic>
    </p:spTree>
    <p:extLst>
      <p:ext uri="{BB962C8B-B14F-4D97-AF65-F5344CB8AC3E}">
        <p14:creationId xmlns:p14="http://schemas.microsoft.com/office/powerpoint/2010/main" val="717478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1301"/>
        <p:cNvGrpSpPr/>
        <p:nvPr/>
      </p:nvGrpSpPr>
      <p:grpSpPr>
        <a:xfrm>
          <a:off x="0" y="0"/>
          <a:ext cx="0" cy="0"/>
          <a:chOff x="0" y="0"/>
          <a:chExt cx="0" cy="0"/>
        </a:xfrm>
      </p:grpSpPr>
      <p:sp>
        <p:nvSpPr>
          <p:cNvPr id="3" name="Retângulo 2">
            <a:extLst>
              <a:ext uri="{FF2B5EF4-FFF2-40B4-BE49-F238E27FC236}">
                <a16:creationId xmlns:a16="http://schemas.microsoft.com/office/drawing/2014/main" id="{72763E33-8C99-D6D0-17C4-D5D7B45F0035}"/>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1317" name="Google Shape;1317;p28"/>
          <p:cNvCxnSpPr>
            <a:cxnSpLocks/>
          </p:cNvCxnSpPr>
          <p:nvPr/>
        </p:nvCxnSpPr>
        <p:spPr>
          <a:xfrm flipV="1">
            <a:off x="693573" y="1026855"/>
            <a:ext cx="0" cy="2222186"/>
          </a:xfrm>
          <a:prstGeom prst="straightConnector1">
            <a:avLst/>
          </a:prstGeom>
          <a:noFill/>
          <a:ln w="19050" cap="flat" cmpd="sng">
            <a:solidFill>
              <a:schemeClr val="dk1"/>
            </a:solidFill>
            <a:prstDash val="solid"/>
            <a:round/>
            <a:headEnd type="oval" w="med" len="med"/>
            <a:tailEnd type="oval" w="med" len="med"/>
          </a:ln>
        </p:spPr>
      </p:cxnSp>
      <p:sp>
        <p:nvSpPr>
          <p:cNvPr id="1316" name="Google Shape;1316;p28"/>
          <p:cNvSpPr txBox="1"/>
          <p:nvPr/>
        </p:nvSpPr>
        <p:spPr>
          <a:xfrm>
            <a:off x="985520" y="1412022"/>
            <a:ext cx="10195764" cy="144654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Orientações:</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professor, a seção </a:t>
            </a: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Pause e responda </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traz uma pausa na exposição com o objetivo de fixar os conceitos apresentados e construídos e mobilizar os estudantes. </a:t>
            </a:r>
            <a:endParaRPr sz="1000" dirty="0">
              <a:latin typeface="Poppins" panose="00000500000000000000" pitchFamily="2" charset="0"/>
              <a:cs typeface="Poppins" panose="00000500000000000000" pitchFamily="2" charset="0"/>
            </a:endParaRPr>
          </a:p>
          <a:p>
            <a:pPr marL="0" marR="0" lvl="0" indent="0" algn="l" rtl="0">
              <a:lnSpc>
                <a:spcPct val="100000"/>
              </a:lnSpc>
              <a:spcBef>
                <a:spcPts val="0"/>
              </a:spcBef>
              <a:spcAft>
                <a:spcPts val="0"/>
              </a:spcAft>
              <a:buNone/>
            </a:pP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Tempo previsto: </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2 minutos.</a:t>
            </a:r>
            <a:endParaRPr sz="1000" dirty="0">
              <a:latin typeface="Poppins" panose="00000500000000000000" pitchFamily="2" charset="0"/>
              <a:cs typeface="Poppins" panose="00000500000000000000" pitchFamily="2" charset="0"/>
            </a:endParaRPr>
          </a:p>
          <a:p>
            <a:pPr marL="0" marR="0" lvl="0" indent="0" algn="l" rtl="0">
              <a:lnSpc>
                <a:spcPct val="100000"/>
              </a:lnSpc>
              <a:spcBef>
                <a:spcPts val="0"/>
              </a:spcBef>
              <a:spcAft>
                <a:spcPts val="0"/>
              </a:spcAft>
              <a:buNone/>
            </a:pPr>
            <a:b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b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lvl="0"/>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Resposta correta: </a:t>
            </a:r>
            <a:r>
              <a:rPr lang="pt-BR" sz="1000" i="0" u="none" strike="noStrike" cap="none" dirty="0">
                <a:solidFill>
                  <a:srgbClr val="000000"/>
                </a:solidFill>
                <a:latin typeface="Poppins" panose="00000500000000000000" pitchFamily="2" charset="0"/>
                <a:ea typeface="Poppins"/>
                <a:cs typeface="Poppins" panose="00000500000000000000" pitchFamily="2" charset="0"/>
                <a:sym typeface="Poppins"/>
              </a:rPr>
              <a:t>M</a:t>
            </a:r>
            <a:r>
              <a:rPr lang="pt-BR" sz="1000" dirty="0">
                <a:latin typeface="Poppins" panose="00000500000000000000" pitchFamily="2" charset="0"/>
                <a:cs typeface="Poppins" panose="00000500000000000000" pitchFamily="2" charset="0"/>
              </a:rPr>
              <a:t>ultitarefa. </a:t>
            </a:r>
          </a:p>
          <a:p>
            <a:pPr lvl="0"/>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Feedback da atividade</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M</a:t>
            </a:r>
            <a:r>
              <a:rPr lang="pt-BR" sz="1000" dirty="0">
                <a:latin typeface="Poppins" panose="00000500000000000000" pitchFamily="2" charset="0"/>
                <a:cs typeface="Poppins" panose="00000500000000000000" pitchFamily="2" charset="0"/>
              </a:rPr>
              <a:t>ultitarefa é a capacidade do sistema de executar várias atividades ao mesmo tempo, revezando ou distribuindo recursos. </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11113" marR="0" lvl="0" indent="0" algn="l" rtl="0">
              <a:lnSpc>
                <a:spcPct val="100000"/>
              </a:lnSpc>
              <a:spcBef>
                <a:spcPts val="0"/>
              </a:spcBef>
              <a:spcAft>
                <a:spcPts val="0"/>
              </a:spcAft>
              <a:buNone/>
            </a:pP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p:txBody>
      </p:sp>
      <p:sp>
        <p:nvSpPr>
          <p:cNvPr id="1318" name="Google Shape;1318;p28"/>
          <p:cNvSpPr/>
          <p:nvPr/>
        </p:nvSpPr>
        <p:spPr>
          <a:xfrm>
            <a:off x="497841" y="1353439"/>
            <a:ext cx="386079"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a:solidFill>
                <a:srgbClr val="000000"/>
              </a:solidFill>
              <a:latin typeface="Arial"/>
              <a:ea typeface="Arial"/>
              <a:cs typeface="Arial"/>
              <a:sym typeface="Arial"/>
            </a:endParaRPr>
          </a:p>
        </p:txBody>
      </p:sp>
      <p:sp>
        <p:nvSpPr>
          <p:cNvPr id="1319" name="Google Shape;1319;p28"/>
          <p:cNvSpPr/>
          <p:nvPr/>
        </p:nvSpPr>
        <p:spPr>
          <a:xfrm>
            <a:off x="569897" y="1439295"/>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Calibri"/>
              <a:ea typeface="Calibri"/>
              <a:cs typeface="Calibri"/>
              <a:sym typeface="Calibri"/>
            </a:endParaRPr>
          </a:p>
        </p:txBody>
      </p:sp>
      <p:sp>
        <p:nvSpPr>
          <p:cNvPr id="1320" name="Google Shape;1320;p28"/>
          <p:cNvSpPr/>
          <p:nvPr/>
        </p:nvSpPr>
        <p:spPr>
          <a:xfrm>
            <a:off x="500533" y="2289325"/>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dk1"/>
              </a:solidFill>
              <a:latin typeface="Arial"/>
              <a:ea typeface="Arial"/>
              <a:cs typeface="Arial"/>
              <a:sym typeface="Arial"/>
            </a:endParaRPr>
          </a:p>
        </p:txBody>
      </p:sp>
      <p:pic>
        <p:nvPicPr>
          <p:cNvPr id="1321" name="Google Shape;1321;p28"/>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584474" y="2343445"/>
            <a:ext cx="208027" cy="266700"/>
          </a:xfrm>
          <a:prstGeom prst="rect">
            <a:avLst/>
          </a:prstGeom>
          <a:noFill/>
          <a:ln>
            <a:noFill/>
          </a:ln>
        </p:spPr>
      </p:pic>
      <p:sp>
        <p:nvSpPr>
          <p:cNvPr id="1322" name="Google Shape;1322;p28"/>
          <p:cNvSpPr/>
          <p:nvPr/>
        </p:nvSpPr>
        <p:spPr>
          <a:xfrm>
            <a:off x="493035" y="1777457"/>
            <a:ext cx="386079"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a:solidFill>
                <a:srgbClr val="000000"/>
              </a:solidFill>
              <a:latin typeface="Arial"/>
              <a:ea typeface="Arial"/>
              <a:cs typeface="Arial"/>
              <a:sym typeface="Arial"/>
            </a:endParaRPr>
          </a:p>
        </p:txBody>
      </p:sp>
      <p:pic>
        <p:nvPicPr>
          <p:cNvPr id="1323" name="Google Shape;1323;p28"/>
          <p:cNvPicPr preferRelativeResize="0"/>
          <p:nvPr/>
        </p:nvPicPr>
        <p:blipFill rotWithShape="1">
          <a:blip r:embed="rId4">
            <a:alphaModFix/>
          </a:blip>
          <a:srcRect/>
          <a:stretch/>
        </p:blipFill>
        <p:spPr>
          <a:xfrm>
            <a:off x="610059" y="1873576"/>
            <a:ext cx="156858" cy="188229"/>
          </a:xfrm>
          <a:prstGeom prst="rect">
            <a:avLst/>
          </a:prstGeom>
          <a:noFill/>
          <a:ln>
            <a:noFill/>
          </a:ln>
        </p:spPr>
      </p:pic>
      <p:sp>
        <p:nvSpPr>
          <p:cNvPr id="4" name="CaixaDeTexto 3">
            <a:extLst>
              <a:ext uri="{FF2B5EF4-FFF2-40B4-BE49-F238E27FC236}">
                <a16:creationId xmlns:a16="http://schemas.microsoft.com/office/drawing/2014/main" id="{2A467210-2E20-D6C5-FEFE-0B373DB1EFAD}"/>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Slides 15 e 16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87FEA2-71CB-1EBE-6483-CC9F523234EB}"/>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48A8FF0B-04BA-9D4C-62A8-EB0ED8CF4714}"/>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342B5107-65C3-59FA-5828-6116AE429F16}"/>
              </a:ext>
            </a:extLst>
          </p:cNvPr>
          <p:cNvCxnSpPr>
            <a:cxnSpLocks/>
          </p:cNvCxnSpPr>
          <p:nvPr/>
        </p:nvCxnSpPr>
        <p:spPr>
          <a:xfrm flipV="1">
            <a:off x="690880" y="1036320"/>
            <a:ext cx="0" cy="4955918"/>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F60BA1A8-D3C0-F2BD-4195-7EF5EA59E5AF}"/>
              </a:ext>
            </a:extLst>
          </p:cNvPr>
          <p:cNvSpPr txBox="1"/>
          <p:nvPr/>
        </p:nvSpPr>
        <p:spPr>
          <a:xfrm>
            <a:off x="985520" y="1421322"/>
            <a:ext cx="10251440" cy="4607928"/>
          </a:xfrm>
          <a:prstGeom prst="rect">
            <a:avLst/>
          </a:prstGeom>
          <a:noFill/>
          <a:ln>
            <a:noFill/>
          </a:ln>
        </p:spPr>
        <p:txBody>
          <a:bodyPr wrap="square" lIns="60960" tIns="30480" rIns="60960" bIns="30480" anchor="t">
            <a:spAutoFit/>
          </a:bodyPr>
          <a:lstStyle/>
          <a:p>
            <a:pPr>
              <a:lnSpc>
                <a:spcPct val="107000"/>
              </a:lnSpc>
              <a:spcAft>
                <a:spcPts val="800"/>
              </a:spcAft>
            </a:pPr>
            <a:r>
              <a:rPr lang="pt-BR" sz="1000" b="1" dirty="0">
                <a:latin typeface="Poppins"/>
                <a:cs typeface="Poppins"/>
              </a:rPr>
              <a:t>Orientações: </a:t>
            </a:r>
            <a:r>
              <a:rPr lang="pt-BR" sz="1000" kern="100" dirty="0">
                <a:latin typeface="Poppins"/>
                <a:ea typeface="Aptos" panose="020B0004020202020204" pitchFamily="34" charset="0"/>
                <a:cs typeface="Poppins"/>
              </a:rPr>
              <a:t>a seção </a:t>
            </a:r>
            <a:r>
              <a:rPr lang="pt-BR" sz="1000" b="1" kern="100" dirty="0">
                <a:latin typeface="Poppins"/>
                <a:ea typeface="Aptos" panose="020B0004020202020204" pitchFamily="34" charset="0"/>
                <a:cs typeface="Poppins"/>
              </a:rPr>
              <a:t>Ser sempre + </a:t>
            </a:r>
            <a:r>
              <a:rPr lang="pt-BR" sz="1000" kern="100" dirty="0">
                <a:latin typeface="Poppins"/>
                <a:ea typeface="Aptos" panose="020B0004020202020204" pitchFamily="34" charset="0"/>
                <a:cs typeface="Poppins"/>
              </a:rPr>
              <a:t>tem o objetivo de ajudar os estudantes a desenvolver e aprimorar competências socioemocionais, focando especificamente nas situações desafiadoras que podem surgir no ambiente profissional.</a:t>
            </a:r>
            <a:endParaRPr lang="pt-BR" sz="1000" b="1" dirty="0">
              <a:latin typeface="Poppins" panose="00000500000000000000" pitchFamily="2" charset="0"/>
              <a:cs typeface="Poppins" panose="00000500000000000000" pitchFamily="2" charset="0"/>
            </a:endParaRPr>
          </a:p>
          <a:p>
            <a:pPr fontAlgn="base"/>
            <a:endParaRPr lang="pt-BR" sz="1000" b="1" dirty="0">
              <a:latin typeface="Poppins" panose="00000500000000000000" pitchFamily="2" charset="0"/>
              <a:cs typeface="Poppins" panose="00000500000000000000" pitchFamily="2" charset="0"/>
            </a:endParaRPr>
          </a:p>
          <a:p>
            <a:pPr fontAlgn="base"/>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17 minutos.</a:t>
            </a:r>
          </a:p>
          <a:p>
            <a:pPr marL="229870">
              <a:lnSpc>
                <a:spcPct val="107000"/>
              </a:lnSpc>
              <a:spcAft>
                <a:spcPts val="800"/>
              </a:spcAft>
            </a:pPr>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endParaRPr lang="pt-BR" sz="1000" b="1"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mantenha um ambiente de diálogo aberto e respeitoso;</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assegure participação equitativa, promovendo discussão inclusiva;</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reconheça a complexidade do tema e a diversidade de perspectivas que os estudantes podem trazer;</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forneça feedback construtivo e direcionamento à medida que os estudantes exploram possíveis soluções para o cenário proposto;</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ajude os estudantes a refinarem suas ideias e a considerarem todas as implicações de suas sugestões.</a:t>
            </a:r>
          </a:p>
          <a:p>
            <a:endParaRPr lang="pt-BR" sz="1000" dirty="0">
              <a:latin typeface="Poppins" panose="00000500000000000000" pitchFamily="2" charset="0"/>
              <a:cs typeface="Poppins" panose="00000500000000000000" pitchFamily="2" charset="0"/>
            </a:endParaRPr>
          </a:p>
          <a:p>
            <a:pPr fontAlgn="base"/>
            <a:r>
              <a:rPr lang="pt-BR" sz="1000" b="1" dirty="0">
                <a:latin typeface="Poppins" panose="00000500000000000000" pitchFamily="2" charset="0"/>
                <a:cs typeface="Poppins" panose="00000500000000000000" pitchFamily="2" charset="0"/>
              </a:rPr>
              <a:t>Condução da dinâmica: </a:t>
            </a:r>
          </a:p>
          <a:p>
            <a:pPr marL="228600" indent="-228600">
              <a:buAutoNum type="arabicPeriod"/>
            </a:pPr>
            <a:r>
              <a:rPr lang="pt-BR" sz="1000" b="1" dirty="0">
                <a:latin typeface="Poppins" panose="00000500000000000000" pitchFamily="2" charset="0"/>
                <a:cs typeface="Poppins" panose="00000500000000000000" pitchFamily="2" charset="0"/>
              </a:rPr>
              <a:t>Discussão em grupo (10 minutos): </a:t>
            </a:r>
            <a:r>
              <a:rPr lang="pt-BR" sz="1000" dirty="0">
                <a:latin typeface="Poppins" panose="00000500000000000000" pitchFamily="2" charset="0"/>
                <a:cs typeface="Poppins" panose="00000500000000000000" pitchFamily="2" charset="0"/>
              </a:rPr>
              <a:t>em duplas, os alunos devem propor estratégias práticas de como se organizariam. Podem anotar em tópicos a ordem das tarefas, divisão do tempo, uso de recursos (tecnologia, papel, anotações);</a:t>
            </a:r>
          </a:p>
          <a:p>
            <a:pPr marL="228600" indent="-228600">
              <a:buAutoNum type="arabicPeriod"/>
            </a:pPr>
            <a:r>
              <a:rPr lang="pt-BR" sz="1000" b="1" dirty="0">
                <a:latin typeface="Poppins"/>
                <a:cs typeface="Poppins"/>
              </a:rPr>
              <a:t>Socialização (5 minutos): </a:t>
            </a:r>
            <a:r>
              <a:rPr lang="pt-BR" sz="1000" dirty="0">
                <a:latin typeface="Poppins"/>
                <a:cs typeface="Poppins"/>
              </a:rPr>
              <a:t>peça que alguns grupos compartilhem suas ideias. Anote no quadro as estratégias recorrentes (exemplo: priorização, uso de checklists, pausas curtas, evitar distrações).</a:t>
            </a:r>
          </a:p>
          <a:p>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 Expectativa de respostas:</a:t>
            </a:r>
            <a:endParaRPr lang="pt-BR" sz="1000" dirty="0">
              <a:latin typeface="Poppins" panose="00000500000000000000" pitchFamily="2" charset="0"/>
              <a:cs typeface="Poppins" panose="00000500000000000000" pitchFamily="2" charset="0"/>
            </a:endParaRPr>
          </a:p>
          <a:p>
            <a:r>
              <a:rPr lang="pt-BR" sz="1000" u="sng" dirty="0">
                <a:latin typeface="Poppins"/>
                <a:cs typeface="Poppins"/>
              </a:rPr>
              <a:t>Como vocês se organizariam para dar conta de todas as tarefas e manter o equilíbrio emocional diante dessa situação</a:t>
            </a:r>
            <a:r>
              <a:rPr lang="pt-BR" sz="1000" dirty="0">
                <a:latin typeface="Poppins"/>
                <a:cs typeface="Poppins"/>
              </a:rPr>
              <a:t>?</a:t>
            </a:r>
          </a:p>
          <a:p>
            <a:pPr marL="171450" indent="-171450">
              <a:buFont typeface="Arial" panose="020B0604020202020204" pitchFamily="34" charset="0"/>
              <a:buChar char="•"/>
            </a:pPr>
            <a:r>
              <a:rPr lang="pt-BR" sz="1000" dirty="0">
                <a:latin typeface="Poppins"/>
                <a:cs typeface="Poppins"/>
              </a:rPr>
              <a:t>reconhecimento da importância de priorizar tarefas (fazer primeiro o que é mais urgente/importante)</a:t>
            </a:r>
            <a:r>
              <a:rPr lang="pt-BR" sz="1000" dirty="0">
                <a:latin typeface="Poppins" panose="00000500000000000000" pitchFamily="2" charset="0"/>
                <a:cs typeface="Poppins" panose="00000500000000000000" pitchFamily="2" charset="0"/>
              </a:rPr>
              <a:t>;</a:t>
            </a:r>
            <a:endParaRPr lang="pt-BR" sz="1000" dirty="0">
              <a:latin typeface="Poppins"/>
              <a:cs typeface="Poppins"/>
            </a:endParaRPr>
          </a:p>
          <a:p>
            <a:pPr marL="171450" indent="-171450">
              <a:buFont typeface="Arial" panose="020B0604020202020204" pitchFamily="34" charset="0"/>
              <a:buChar char="•"/>
            </a:pPr>
            <a:r>
              <a:rPr lang="pt-BR" sz="1000" dirty="0">
                <a:latin typeface="Poppins"/>
                <a:cs typeface="Poppins"/>
              </a:rPr>
              <a:t>uso de ferramentas de apoio: listas, agenda, celular, aplicativos ou papel</a:t>
            </a:r>
            <a:r>
              <a:rPr lang="pt-BR" sz="1000" dirty="0">
                <a:latin typeface="Poppins" panose="00000500000000000000" pitchFamily="2" charset="0"/>
                <a:cs typeface="Poppins" panose="00000500000000000000" pitchFamily="2" charset="0"/>
              </a:rPr>
              <a:t>;</a:t>
            </a:r>
            <a:endParaRPr lang="pt-BR" sz="1000" dirty="0">
              <a:latin typeface="Poppins"/>
              <a:cs typeface="Poppins"/>
            </a:endParaRPr>
          </a:p>
          <a:p>
            <a:pPr marL="171450" indent="-171450">
              <a:buFont typeface="Arial" panose="020B0604020202020204" pitchFamily="34" charset="0"/>
              <a:buChar char="•"/>
            </a:pPr>
            <a:r>
              <a:rPr lang="pt-BR" sz="1000" dirty="0">
                <a:latin typeface="Poppins"/>
                <a:cs typeface="Poppins"/>
              </a:rPr>
              <a:t>necessidade de focar em uma atividade por vez para evitar erros e desperdício de tempo</a:t>
            </a:r>
            <a:r>
              <a:rPr lang="pt-BR" sz="1000" dirty="0">
                <a:latin typeface="Poppins" panose="00000500000000000000" pitchFamily="2" charset="0"/>
                <a:cs typeface="Poppins" panose="00000500000000000000" pitchFamily="2" charset="0"/>
              </a:rPr>
              <a:t>;</a:t>
            </a:r>
            <a:endParaRPr lang="pt-BR" sz="1000" dirty="0">
              <a:latin typeface="Poppins"/>
              <a:cs typeface="Poppins"/>
            </a:endParaRPr>
          </a:p>
          <a:p>
            <a:pPr marL="171450" indent="-171450">
              <a:buFont typeface="Arial" panose="020B0604020202020204" pitchFamily="34" charset="0"/>
              <a:buChar char="•"/>
            </a:pPr>
            <a:r>
              <a:rPr lang="pt-BR" sz="1000" dirty="0">
                <a:latin typeface="Poppins"/>
                <a:cs typeface="Poppins"/>
              </a:rPr>
              <a:t>entendimento de que eficiência não significa fazer tudo correndo, mas organizar o tempo e os recursos de modo inteligente, evitando retrabalho e estresse</a:t>
            </a:r>
            <a:r>
              <a:rPr lang="pt-BR" sz="1000" dirty="0">
                <a:latin typeface="Poppins" panose="00000500000000000000" pitchFamily="2" charset="0"/>
                <a:cs typeface="Poppins" panose="00000500000000000000" pitchFamily="2" charset="0"/>
              </a:rPr>
              <a:t>;</a:t>
            </a:r>
            <a:endParaRPr lang="pt-BR" sz="1000" dirty="0">
              <a:latin typeface="Poppins"/>
              <a:cs typeface="Poppins"/>
            </a:endParaRPr>
          </a:p>
          <a:p>
            <a:pPr marL="171450" indent="-171450">
              <a:buFont typeface="Arial" panose="020B0604020202020204" pitchFamily="34" charset="0"/>
              <a:buChar char="•"/>
            </a:pPr>
            <a:r>
              <a:rPr lang="pt-BR" sz="1000" dirty="0">
                <a:latin typeface="Poppins"/>
                <a:cs typeface="Poppins"/>
              </a:rPr>
              <a:t>destacar que essa organização das tarefas ajuda a manter o equilíbrio emocional; desenvolve o senso de responsabilidade sobre prazos e resultados; ajuda o estudante a perceber que eficiência depende de planejamento, não apenas de esforço; exercita o controle da ansiedade e a capacidade de cumprir metas dentro de prazos limitados; incentiva a reflexão sobre prioridades e o uso consciente do tempo.</a:t>
            </a:r>
          </a:p>
        </p:txBody>
      </p:sp>
      <p:sp>
        <p:nvSpPr>
          <p:cNvPr id="6" name="CaixaDeTexto 5">
            <a:extLst>
              <a:ext uri="{FF2B5EF4-FFF2-40B4-BE49-F238E27FC236}">
                <a16:creationId xmlns:a16="http://schemas.microsoft.com/office/drawing/2014/main" id="{2FE5E234-EA72-9FDE-F3E2-FAAD8F5BE340}"/>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Slides 17 e 18</a:t>
            </a:r>
          </a:p>
        </p:txBody>
      </p:sp>
      <p:sp>
        <p:nvSpPr>
          <p:cNvPr id="9" name="Oval 8">
            <a:extLst>
              <a:ext uri="{FF2B5EF4-FFF2-40B4-BE49-F238E27FC236}">
                <a16:creationId xmlns:a16="http://schemas.microsoft.com/office/drawing/2014/main" id="{12616DF0-AE46-D5AD-04A6-42ADDA7E1977}"/>
              </a:ext>
            </a:extLst>
          </p:cNvPr>
          <p:cNvSpPr/>
          <p:nvPr/>
        </p:nvSpPr>
        <p:spPr>
          <a:xfrm>
            <a:off x="487902" y="430550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16E0AAE9-5909-9514-F79E-8AA1B1FB87B1}"/>
              </a:ext>
            </a:extLst>
          </p:cNvPr>
          <p:cNvSpPr/>
          <p:nvPr/>
        </p:nvSpPr>
        <p:spPr>
          <a:xfrm>
            <a:off x="487902" y="346880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1" name="Oval 10">
            <a:extLst>
              <a:ext uri="{FF2B5EF4-FFF2-40B4-BE49-F238E27FC236}">
                <a16:creationId xmlns:a16="http://schemas.microsoft.com/office/drawing/2014/main" id="{D52703E2-D401-9E6C-9A76-956B7B925D4B}"/>
              </a:ext>
            </a:extLst>
          </p:cNvPr>
          <p:cNvSpPr/>
          <p:nvPr/>
        </p:nvSpPr>
        <p:spPr>
          <a:xfrm>
            <a:off x="487902" y="240601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4529C8EF-6ADA-CA5C-31FE-F10ABAEA14DB}"/>
              </a:ext>
            </a:extLst>
          </p:cNvPr>
          <p:cNvSpPr/>
          <p:nvPr/>
        </p:nvSpPr>
        <p:spPr>
          <a:xfrm>
            <a:off x="487902" y="188042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02049DAE-4E01-3EE8-5116-B4A449FE63C1}"/>
              </a:ext>
            </a:extLst>
          </p:cNvPr>
          <p:cNvSpPr/>
          <p:nvPr/>
        </p:nvSpPr>
        <p:spPr>
          <a:xfrm>
            <a:off x="497841" y="142793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F7356DF3-F3D0-F541-36C4-B156693F7BE4}"/>
              </a:ext>
            </a:extLst>
          </p:cNvPr>
          <p:cNvSpPr/>
          <p:nvPr/>
        </p:nvSpPr>
        <p:spPr>
          <a:xfrm>
            <a:off x="569897" y="1526489"/>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16" name="Google Shape;2223;p100">
            <a:extLst>
              <a:ext uri="{FF2B5EF4-FFF2-40B4-BE49-F238E27FC236}">
                <a16:creationId xmlns:a16="http://schemas.microsoft.com/office/drawing/2014/main" id="{EB479D9E-0631-D88F-57E7-5EB294A4888F}"/>
              </a:ext>
            </a:extLst>
          </p:cNvPr>
          <p:cNvSpPr>
            <a:spLocks/>
          </p:cNvSpPr>
          <p:nvPr/>
        </p:nvSpPr>
        <p:spPr>
          <a:xfrm>
            <a:off x="556913" y="2484443"/>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74FECCBF-C0D6-6515-746E-62B65B573A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5967" y="3539258"/>
            <a:ext cx="235296" cy="240643"/>
          </a:xfrm>
          <a:prstGeom prst="rect">
            <a:avLst/>
          </a:prstGeom>
        </p:spPr>
      </p:pic>
      <p:pic>
        <p:nvPicPr>
          <p:cNvPr id="18" name="Gráfico 17">
            <a:extLst>
              <a:ext uri="{FF2B5EF4-FFF2-40B4-BE49-F238E27FC236}">
                <a16:creationId xmlns:a16="http://schemas.microsoft.com/office/drawing/2014/main" id="{6EA18B07-9E50-6C82-0147-6A6C5C7386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843" y="4359626"/>
            <a:ext cx="208026" cy="266700"/>
          </a:xfrm>
          <a:prstGeom prst="rect">
            <a:avLst/>
          </a:prstGeom>
        </p:spPr>
      </p:pic>
      <p:pic>
        <p:nvPicPr>
          <p:cNvPr id="2" name="Imagem 1">
            <a:extLst>
              <a:ext uri="{FF2B5EF4-FFF2-40B4-BE49-F238E27FC236}">
                <a16:creationId xmlns:a16="http://schemas.microsoft.com/office/drawing/2014/main" id="{FCCF4205-E3A5-166A-8EBA-4EBF9B111130}"/>
              </a:ext>
            </a:extLst>
          </p:cNvPr>
          <p:cNvPicPr>
            <a:picLocks noChangeAspect="1"/>
          </p:cNvPicPr>
          <p:nvPr/>
        </p:nvPicPr>
        <p:blipFill>
          <a:blip r:embed="rId7"/>
          <a:srcRect/>
          <a:stretch/>
        </p:blipFill>
        <p:spPr>
          <a:xfrm>
            <a:off x="606133" y="1974133"/>
            <a:ext cx="154445" cy="193056"/>
          </a:xfrm>
          <a:prstGeom prst="rect">
            <a:avLst/>
          </a:prstGeom>
        </p:spPr>
      </p:pic>
    </p:spTree>
    <p:extLst>
      <p:ext uri="{BB962C8B-B14F-4D97-AF65-F5344CB8AC3E}">
        <p14:creationId xmlns:p14="http://schemas.microsoft.com/office/powerpoint/2010/main" val="2588312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8A6595-FCDA-7529-524E-879351170EF5}"/>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B107EE20-DC33-077A-CEE8-427EBB1CA9AC}"/>
              </a:ext>
            </a:extLst>
          </p:cNvPr>
          <p:cNvSpPr/>
          <p:nvPr/>
        </p:nvSpPr>
        <p:spPr>
          <a:xfrm>
            <a:off x="0" y="618907"/>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sp>
        <p:nvSpPr>
          <p:cNvPr id="4" name="Google Shape;1737;p54">
            <a:extLst>
              <a:ext uri="{FF2B5EF4-FFF2-40B4-BE49-F238E27FC236}">
                <a16:creationId xmlns:a16="http://schemas.microsoft.com/office/drawing/2014/main" id="{C9E2FF8D-0353-3CC2-081D-EC46E5054A56}"/>
              </a:ext>
            </a:extLst>
          </p:cNvPr>
          <p:cNvSpPr/>
          <p:nvPr/>
        </p:nvSpPr>
        <p:spPr>
          <a:xfrm>
            <a:off x="0" y="5086001"/>
            <a:ext cx="12192000" cy="493059"/>
          </a:xfrm>
          <a:prstGeom prst="rect">
            <a:avLst/>
          </a:prstGeom>
          <a:solidFill>
            <a:srgbClr val="3E359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lt1"/>
              </a:solidFill>
              <a:latin typeface="Arial"/>
              <a:ea typeface="Arial"/>
              <a:cs typeface="Arial"/>
              <a:sym typeface="Arial"/>
            </a:endParaRPr>
          </a:p>
        </p:txBody>
      </p:sp>
      <p:cxnSp>
        <p:nvCxnSpPr>
          <p:cNvPr id="8" name="Google Shape;1739;p54">
            <a:extLst>
              <a:ext uri="{FF2B5EF4-FFF2-40B4-BE49-F238E27FC236}">
                <a16:creationId xmlns:a16="http://schemas.microsoft.com/office/drawing/2014/main" id="{860A93D2-02FE-8351-767B-2EE67B96DBCA}"/>
              </a:ext>
            </a:extLst>
          </p:cNvPr>
          <p:cNvCxnSpPr>
            <a:cxnSpLocks/>
          </p:cNvCxnSpPr>
          <p:nvPr/>
        </p:nvCxnSpPr>
        <p:spPr>
          <a:xfrm flipV="1">
            <a:off x="683554" y="5366500"/>
            <a:ext cx="0" cy="1326130"/>
          </a:xfrm>
          <a:prstGeom prst="straightConnector1">
            <a:avLst/>
          </a:prstGeom>
          <a:noFill/>
          <a:ln w="19050" cap="flat" cmpd="sng">
            <a:solidFill>
              <a:schemeClr val="dk1"/>
            </a:solidFill>
            <a:prstDash val="solid"/>
            <a:round/>
            <a:headEnd type="oval" w="med" len="med"/>
            <a:tailEnd type="oval" w="med" len="med"/>
          </a:ln>
        </p:spPr>
      </p:cxnSp>
      <p:cxnSp>
        <p:nvCxnSpPr>
          <p:cNvPr id="7" name="Conector Reto 6">
            <a:extLst>
              <a:ext uri="{FF2B5EF4-FFF2-40B4-BE49-F238E27FC236}">
                <a16:creationId xmlns:a16="http://schemas.microsoft.com/office/drawing/2014/main" id="{30C58D43-065F-33CF-5BC1-D623EE201EBD}"/>
              </a:ext>
            </a:extLst>
          </p:cNvPr>
          <p:cNvCxnSpPr>
            <a:cxnSpLocks/>
          </p:cNvCxnSpPr>
          <p:nvPr/>
        </p:nvCxnSpPr>
        <p:spPr>
          <a:xfrm flipV="1">
            <a:off x="683554" y="914400"/>
            <a:ext cx="0" cy="3988060"/>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AF72766C-3F24-9CF9-51EF-37293973C81C}"/>
              </a:ext>
            </a:extLst>
          </p:cNvPr>
          <p:cNvSpPr txBox="1"/>
          <p:nvPr/>
        </p:nvSpPr>
        <p:spPr>
          <a:xfrm>
            <a:off x="985520" y="629067"/>
            <a:ext cx="5923280" cy="482898"/>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19</a:t>
            </a:r>
            <a:endParaRPr lang="pt-BR" sz="3200" b="1" dirty="0">
              <a:solidFill>
                <a:schemeClr val="bg1"/>
              </a:solidFill>
              <a:latin typeface="Poppins" pitchFamily="2" charset="77"/>
              <a:cs typeface="Poppins" pitchFamily="2" charset="77"/>
            </a:endParaRPr>
          </a:p>
        </p:txBody>
      </p:sp>
      <p:sp>
        <p:nvSpPr>
          <p:cNvPr id="9" name="Oval 8">
            <a:extLst>
              <a:ext uri="{FF2B5EF4-FFF2-40B4-BE49-F238E27FC236}">
                <a16:creationId xmlns:a16="http://schemas.microsoft.com/office/drawing/2014/main" id="{16697077-1515-72C7-A04C-7129646370EA}"/>
              </a:ext>
            </a:extLst>
          </p:cNvPr>
          <p:cNvSpPr/>
          <p:nvPr/>
        </p:nvSpPr>
        <p:spPr>
          <a:xfrm>
            <a:off x="488113" y="407141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A722B4B8-B04C-3FAA-DE27-FE0184159781}"/>
              </a:ext>
            </a:extLst>
          </p:cNvPr>
          <p:cNvSpPr/>
          <p:nvPr/>
        </p:nvSpPr>
        <p:spPr>
          <a:xfrm>
            <a:off x="488113" y="287678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1" name="Oval 10">
            <a:extLst>
              <a:ext uri="{FF2B5EF4-FFF2-40B4-BE49-F238E27FC236}">
                <a16:creationId xmlns:a16="http://schemas.microsoft.com/office/drawing/2014/main" id="{35E03EA6-B223-AF60-0062-251E2C4DD47D}"/>
              </a:ext>
            </a:extLst>
          </p:cNvPr>
          <p:cNvSpPr/>
          <p:nvPr/>
        </p:nvSpPr>
        <p:spPr>
          <a:xfrm>
            <a:off x="488113" y="215444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33F10DA0-42F7-1249-BD8E-15F4B90C28B0}"/>
              </a:ext>
            </a:extLst>
          </p:cNvPr>
          <p:cNvSpPr/>
          <p:nvPr/>
        </p:nvSpPr>
        <p:spPr>
          <a:xfrm>
            <a:off x="488113" y="176315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6B4B4158-A32B-8236-63DC-DC499A74B882}"/>
              </a:ext>
            </a:extLst>
          </p:cNvPr>
          <p:cNvSpPr/>
          <p:nvPr/>
        </p:nvSpPr>
        <p:spPr>
          <a:xfrm>
            <a:off x="488113" y="123900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B43B1A4A-4532-B1A8-B775-275D7C0CD298}"/>
              </a:ext>
            </a:extLst>
          </p:cNvPr>
          <p:cNvSpPr/>
          <p:nvPr/>
        </p:nvSpPr>
        <p:spPr>
          <a:xfrm>
            <a:off x="560169" y="1337559"/>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F0405959-B500-DFA2-86DF-828E8052C4D9}"/>
              </a:ext>
            </a:extLst>
          </p:cNvPr>
          <p:cNvPicPr>
            <a:picLocks noChangeAspect="1"/>
          </p:cNvPicPr>
          <p:nvPr/>
        </p:nvPicPr>
        <p:blipFill>
          <a:blip r:embed="rId3"/>
          <a:srcRect/>
          <a:stretch/>
        </p:blipFill>
        <p:spPr>
          <a:xfrm>
            <a:off x="605137" y="1859274"/>
            <a:ext cx="156858" cy="188229"/>
          </a:xfrm>
          <a:prstGeom prst="rect">
            <a:avLst/>
          </a:prstGeom>
        </p:spPr>
      </p:pic>
      <p:sp>
        <p:nvSpPr>
          <p:cNvPr id="16" name="Google Shape;2223;p100">
            <a:extLst>
              <a:ext uri="{FF2B5EF4-FFF2-40B4-BE49-F238E27FC236}">
                <a16:creationId xmlns:a16="http://schemas.microsoft.com/office/drawing/2014/main" id="{ECC99A70-DA74-19AB-A33A-0E89AA0A7D28}"/>
              </a:ext>
            </a:extLst>
          </p:cNvPr>
          <p:cNvSpPr>
            <a:spLocks/>
          </p:cNvSpPr>
          <p:nvPr/>
        </p:nvSpPr>
        <p:spPr>
          <a:xfrm>
            <a:off x="557124" y="2232875"/>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E78379D2-1F57-9171-BD5D-8F32DC37E1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6178" y="2947242"/>
            <a:ext cx="235296" cy="240643"/>
          </a:xfrm>
          <a:prstGeom prst="rect">
            <a:avLst/>
          </a:prstGeom>
        </p:spPr>
      </p:pic>
      <p:pic>
        <p:nvPicPr>
          <p:cNvPr id="18" name="Gráfico 17">
            <a:extLst>
              <a:ext uri="{FF2B5EF4-FFF2-40B4-BE49-F238E27FC236}">
                <a16:creationId xmlns:a16="http://schemas.microsoft.com/office/drawing/2014/main" id="{0AF3AD59-AAB1-09E7-80F5-7D49744769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2054" y="4125530"/>
            <a:ext cx="208026" cy="266700"/>
          </a:xfrm>
          <a:prstGeom prst="rect">
            <a:avLst/>
          </a:prstGeom>
        </p:spPr>
      </p:pic>
      <p:sp>
        <p:nvSpPr>
          <p:cNvPr id="2" name="CaixaDeTexto 3">
            <a:extLst>
              <a:ext uri="{FF2B5EF4-FFF2-40B4-BE49-F238E27FC236}">
                <a16:creationId xmlns:a16="http://schemas.microsoft.com/office/drawing/2014/main" id="{5996E78F-92D6-A146-EBDC-6A52F26B4EAD}"/>
              </a:ext>
            </a:extLst>
          </p:cNvPr>
          <p:cNvSpPr txBox="1"/>
          <p:nvPr/>
        </p:nvSpPr>
        <p:spPr>
          <a:xfrm>
            <a:off x="959676" y="1301474"/>
            <a:ext cx="10748619" cy="3293209"/>
          </a:xfrm>
          <a:prstGeom prst="rect">
            <a:avLst/>
          </a:prstGeom>
          <a:noFill/>
          <a:ln>
            <a:noFill/>
          </a:ln>
        </p:spPr>
        <p:txBody>
          <a:bodyPr wrap="square" lIns="60960" tIns="30480" rIns="60960" bIns="3048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sz="1000" b="1" dirty="0">
                <a:latin typeface="Poppins"/>
                <a:cs typeface="Poppins"/>
              </a:rPr>
              <a:t>Orientações: </a:t>
            </a:r>
            <a:r>
              <a:rPr lang="pt-BR" sz="1000" dirty="0">
                <a:latin typeface="Poppins"/>
                <a:cs typeface="Poppins"/>
              </a:rPr>
              <a:t>professor, a seção </a:t>
            </a:r>
            <a:r>
              <a:rPr lang="pt-BR" sz="1000" b="1" dirty="0">
                <a:latin typeface="Poppins"/>
                <a:cs typeface="Poppins"/>
              </a:rPr>
              <a:t>O que nós aprendemos hoje? </a:t>
            </a:r>
            <a:r>
              <a:rPr lang="pt-BR" sz="1000" dirty="0">
                <a:latin typeface="Poppins"/>
                <a:cs typeface="Poppins"/>
              </a:rPr>
              <a:t>tem o objetivo de reforçar e esclarecer os conceitos principais discutidos na aula. Essa dinâmica pode ser uma ferramenta de avaliação informal do aprendizado dos estudantes, identificando áreas que podem precisar de mais atenção em aulas futuras. </a:t>
            </a:r>
          </a:p>
          <a:p>
            <a:pPr>
              <a:buClrTx/>
              <a:defRPr/>
            </a:pPr>
            <a:endParaRPr lang="pt-BR" sz="1000" dirty="0">
              <a:latin typeface="Poppins"/>
              <a:cs typeface="Poppins"/>
            </a:endParaRPr>
          </a:p>
          <a:p>
            <a:pPr rtl="0" fontAlgn="base"/>
            <a:r>
              <a:rPr lang="pt-BR" sz="1000" b="1" dirty="0">
                <a:latin typeface="Poppins"/>
                <a:cs typeface="Poppins"/>
              </a:rPr>
              <a:t>Tempo previsto: </a:t>
            </a:r>
            <a:r>
              <a:rPr lang="pt-BR" sz="1000" dirty="0">
                <a:latin typeface="Poppins"/>
                <a:cs typeface="Poppins"/>
              </a:rPr>
              <a:t>2 minutos.</a:t>
            </a:r>
          </a:p>
          <a:p>
            <a:pPr rtl="0" fontAlgn="base"/>
            <a:endParaRPr lang="pt-BR" sz="1000" dirty="0">
              <a:latin typeface="Poppins"/>
              <a:cs typeface="Poppins"/>
            </a:endParaRPr>
          </a:p>
          <a:p>
            <a:pPr rtl="0" fontAlgn="base"/>
            <a:r>
              <a:rPr lang="pt-BR" sz="1000" b="1" dirty="0">
                <a:latin typeface="Poppins" pitchFamily="2" charset="77"/>
                <a:cs typeface="Poppins" pitchFamily="2" charset="77"/>
              </a:rPr>
              <a:t>Gestão de sala de aula:</a:t>
            </a:r>
            <a:r>
              <a:rPr lang="pt-BR" sz="1000" dirty="0">
                <a:latin typeface="Poppins" pitchFamily="2" charset="77"/>
                <a:cs typeface="Poppins" pitchFamily="2" charset="77"/>
              </a:rPr>
              <a:t> </a:t>
            </a:r>
          </a:p>
          <a:p>
            <a:pPr marL="171450" indent="-171450" fontAlgn="base">
              <a:buFont typeface="Arial" panose="020B0604020202020204" pitchFamily="34" charset="0"/>
              <a:buChar char="•"/>
            </a:pPr>
            <a:r>
              <a:rPr lang="pt-BR" sz="1000" dirty="0">
                <a:latin typeface="Poppins" pitchFamily="2" charset="77"/>
                <a:cs typeface="Poppins" pitchFamily="2" charset="77"/>
              </a:rPr>
              <a:t>mantenha um tom positivo e construtivo, reforçando o aprendizado em vez de focar correções</a:t>
            </a:r>
            <a:r>
              <a:rPr lang="pt-BR" sz="1000" dirty="0">
                <a:latin typeface="Poppins" panose="00000500000000000000" pitchFamily="2" charset="0"/>
                <a:cs typeface="Poppins" panose="00000500000000000000" pitchFamily="2" charset="0"/>
              </a:rPr>
              <a:t>;</a:t>
            </a:r>
            <a:endParaRPr lang="pt-BR" sz="1000" dirty="0">
              <a:latin typeface="Poppins" pitchFamily="2" charset="77"/>
              <a:cs typeface="Poppins" pitchFamily="2" charset="77"/>
            </a:endParaRPr>
          </a:p>
          <a:p>
            <a:pPr marL="171450" indent="-171450" fontAlgn="base">
              <a:buFont typeface="Arial" panose="020B0604020202020204" pitchFamily="34" charset="0"/>
              <a:buChar char="•"/>
            </a:pPr>
            <a:r>
              <a:rPr lang="pt-BR" sz="1000" dirty="0">
                <a:latin typeface="Poppins" pitchFamily="2" charset="77"/>
                <a:cs typeface="Poppins" pitchFamily="2" charset="77"/>
              </a:rPr>
              <a:t>seja direto e objetivo nas explicações para manter a atividade dentro do tempo estipulado</a:t>
            </a:r>
            <a:r>
              <a:rPr lang="pt-BR" sz="1000" dirty="0">
                <a:latin typeface="Poppins" panose="00000500000000000000" pitchFamily="2" charset="0"/>
                <a:cs typeface="Poppins" panose="00000500000000000000" pitchFamily="2" charset="0"/>
              </a:rPr>
              <a:t>;</a:t>
            </a:r>
            <a:endParaRPr lang="pt-BR" sz="1000" dirty="0">
              <a:latin typeface="Poppins" pitchFamily="2" charset="77"/>
              <a:cs typeface="Poppins" pitchFamily="2" charset="77"/>
            </a:endParaRPr>
          </a:p>
          <a:p>
            <a:pPr marL="171450" indent="-171450" rtl="0" fontAlgn="base">
              <a:buFont typeface="Arial" panose="020B0604020202020204" pitchFamily="34" charset="0"/>
              <a:buChar char="•"/>
            </a:pPr>
            <a:r>
              <a:rPr lang="pt-BR" sz="1000" dirty="0">
                <a:latin typeface="Poppins" pitchFamily="2" charset="77"/>
                <a:cs typeface="Poppins" pitchFamily="2" charset="77"/>
              </a:rPr>
              <a:t>engaje os estudantes rapidamente, pedindo confirmações ou reações breves às definições apresentadas. </a:t>
            </a:r>
            <a:endParaRPr lang="pt-BR" sz="1000" dirty="0">
              <a:latin typeface="Poppins"/>
              <a:cs typeface="Poppins"/>
            </a:endParaRPr>
          </a:p>
          <a:p>
            <a:endParaRPr lang="pt-BR" sz="1000" dirty="0">
              <a:latin typeface="Poppins"/>
              <a:cs typeface="Poppins"/>
            </a:endParaRPr>
          </a:p>
          <a:p>
            <a:pPr rtl="0" fontAlgn="base"/>
            <a:r>
              <a:rPr lang="pt-BR" sz="1000" b="1" dirty="0">
                <a:latin typeface="Poppins" pitchFamily="2" charset="77"/>
                <a:cs typeface="Poppins" pitchFamily="2" charset="77"/>
              </a:rPr>
              <a:t>Condução da dinâmica: </a:t>
            </a:r>
          </a:p>
          <a:p>
            <a:pPr marL="171450" indent="-171450" fontAlgn="base">
              <a:buFont typeface="Arial" panose="020B0604020202020204" pitchFamily="34" charset="0"/>
              <a:buChar char="•"/>
            </a:pPr>
            <a:r>
              <a:rPr lang="pt-BR" sz="1000" dirty="0">
                <a:latin typeface="Poppins" pitchFamily="2" charset="77"/>
                <a:cs typeface="Poppins" pitchFamily="2" charset="77"/>
              </a:rPr>
              <a:t>explique que esta parte da seção, Então ficamos assim..., é um momento de reflexão e esclarecimento sobre os conceitos abordados na aula</a:t>
            </a:r>
            <a:r>
              <a:rPr lang="pt-BR" sz="1000" dirty="0">
                <a:latin typeface="Poppins" panose="00000500000000000000" pitchFamily="2" charset="0"/>
                <a:cs typeface="Poppins" panose="00000500000000000000" pitchFamily="2" charset="0"/>
              </a:rPr>
              <a:t>;</a:t>
            </a:r>
            <a:endParaRPr lang="pt-BR" sz="1000" dirty="0">
              <a:latin typeface="Poppins" pitchFamily="2" charset="77"/>
              <a:cs typeface="Poppins" pitchFamily="2" charset="77"/>
            </a:endParaRPr>
          </a:p>
          <a:p>
            <a:pPr marL="171450" indent="-171450" fontAlgn="base">
              <a:buFont typeface="Arial" panose="020B0604020202020204" pitchFamily="34" charset="0"/>
              <a:buChar char="•"/>
            </a:pPr>
            <a:r>
              <a:rPr lang="pt-BR" sz="1000" dirty="0">
                <a:latin typeface="Poppins" pitchFamily="2" charset="77"/>
                <a:cs typeface="Poppins" pitchFamily="2" charset="77"/>
              </a:rPr>
              <a:t>informe que será uma rápida revisão para assegurar que os entendimentos dos estudantes estão alinhados com as definições corretas dos conceitos</a:t>
            </a:r>
            <a:r>
              <a:rPr lang="pt-BR" sz="1000" dirty="0">
                <a:latin typeface="Poppins" panose="00000500000000000000" pitchFamily="2" charset="0"/>
                <a:cs typeface="Poppins" panose="00000500000000000000" pitchFamily="2" charset="0"/>
              </a:rPr>
              <a:t>; </a:t>
            </a:r>
            <a:r>
              <a:rPr lang="pt-BR" sz="1000" dirty="0">
                <a:latin typeface="Poppins" pitchFamily="2" charset="77"/>
                <a:cs typeface="Poppins" pitchFamily="2" charset="77"/>
              </a:rPr>
              <a:t> </a:t>
            </a:r>
          </a:p>
          <a:p>
            <a:pPr marL="171450" indent="-171450" fontAlgn="base">
              <a:buFont typeface="Arial" panose="020B0604020202020204" pitchFamily="34" charset="0"/>
              <a:buChar char="•"/>
            </a:pPr>
            <a:r>
              <a:rPr lang="pt-BR" sz="1000" dirty="0">
                <a:latin typeface="Poppins" pitchFamily="2" charset="77"/>
                <a:cs typeface="Poppins" pitchFamily="2" charset="77"/>
              </a:rPr>
              <a:t>apresente o slide com a definição sintética de cada conceito principal discutido na aula</a:t>
            </a:r>
            <a:r>
              <a:rPr lang="pt-BR" sz="1000" dirty="0">
                <a:latin typeface="Poppins" panose="00000500000000000000" pitchFamily="2" charset="0"/>
                <a:cs typeface="Poppins" panose="00000500000000000000" pitchFamily="2" charset="0"/>
              </a:rPr>
              <a:t>;</a:t>
            </a:r>
            <a:endParaRPr lang="pt-BR" sz="1000" dirty="0">
              <a:latin typeface="Poppins" pitchFamily="2" charset="77"/>
              <a:cs typeface="Poppins" pitchFamily="2" charset="77"/>
            </a:endParaRPr>
          </a:p>
          <a:p>
            <a:pPr marL="171450" indent="-171450" fontAlgn="base">
              <a:buFont typeface="Arial" panose="020B0604020202020204" pitchFamily="34" charset="0"/>
              <a:buChar char="•"/>
            </a:pPr>
            <a:r>
              <a:rPr lang="pt-BR" sz="1000" dirty="0">
                <a:latin typeface="Poppins" pitchFamily="2" charset="77"/>
                <a:cs typeface="Poppins" pitchFamily="2" charset="77"/>
              </a:rPr>
              <a:t>destaque se as contribuições dos estudantes estavam alinhadas com o conceito e ofereça esclarecimentos rápidos caso haja discrepâncias ou mal-entendidos</a:t>
            </a:r>
            <a:r>
              <a:rPr lang="pt-BR" sz="1000" dirty="0">
                <a:latin typeface="Poppins" panose="00000500000000000000" pitchFamily="2" charset="0"/>
                <a:cs typeface="Poppins" panose="00000500000000000000" pitchFamily="2" charset="0"/>
              </a:rPr>
              <a:t>;</a:t>
            </a:r>
            <a:endParaRPr lang="pt-BR" sz="1000" dirty="0">
              <a:latin typeface="Poppins" pitchFamily="2" charset="77"/>
              <a:cs typeface="Poppins" pitchFamily="2" charset="77"/>
            </a:endParaRPr>
          </a:p>
          <a:p>
            <a:pPr marL="171450" indent="-171450" fontAlgn="base">
              <a:buFont typeface="Arial" panose="020B0604020202020204" pitchFamily="34" charset="0"/>
              <a:buChar char="•"/>
            </a:pPr>
            <a:r>
              <a:rPr lang="pt-BR" sz="1000" dirty="0">
                <a:latin typeface="Poppins" pitchFamily="2" charset="77"/>
                <a:cs typeface="Poppins" pitchFamily="2" charset="77"/>
              </a:rPr>
              <a:t>finalize resumindo os pontos principais e reiterando a importância de cada conceito e como ele se encaixa no contexto maior da aula</a:t>
            </a:r>
            <a:r>
              <a:rPr lang="pt-BR" sz="1000" dirty="0">
                <a:latin typeface="Poppins" panose="00000500000000000000" pitchFamily="2" charset="0"/>
                <a:cs typeface="Poppins" panose="00000500000000000000" pitchFamily="2" charset="0"/>
              </a:rPr>
              <a:t>;</a:t>
            </a:r>
            <a:endParaRPr lang="pt-BR" sz="1000" dirty="0">
              <a:latin typeface="Poppins" pitchFamily="2" charset="77"/>
              <a:cs typeface="Poppins" pitchFamily="2" charset="77"/>
            </a:endParaRPr>
          </a:p>
          <a:p>
            <a:pPr marL="171450" indent="-171450" rtl="0" fontAlgn="base">
              <a:buFont typeface="Arial" panose="020B0604020202020204" pitchFamily="34" charset="0"/>
              <a:buChar char="•"/>
            </a:pPr>
            <a:r>
              <a:rPr lang="pt-BR" sz="1000" dirty="0">
                <a:latin typeface="Poppins" pitchFamily="2" charset="77"/>
                <a:cs typeface="Poppins" pitchFamily="2" charset="77"/>
              </a:rPr>
              <a:t>reforce a ideia de que essa revisão ajuda a solidificar o entendimento dos estudantes e prepará-los para aplicar esses conceitos em situações práticas.</a:t>
            </a:r>
          </a:p>
          <a:p>
            <a:pPr rtl="0" fontAlgn="base"/>
            <a:endParaRPr lang="pt-BR" sz="1000" b="1" dirty="0">
              <a:latin typeface="Poppins" pitchFamily="2" charset="77"/>
              <a:cs typeface="Poppins" pitchFamily="2" charset="77"/>
            </a:endParaRPr>
          </a:p>
          <a:p>
            <a:pPr rtl="0" fontAlgn="base"/>
            <a:r>
              <a:rPr lang="pt-BR" sz="1000" b="1" dirty="0">
                <a:latin typeface="Poppins" pitchFamily="2" charset="77"/>
                <a:cs typeface="Poppins" pitchFamily="2" charset="77"/>
              </a:rPr>
              <a:t>Expectativas de respostas: </a:t>
            </a:r>
          </a:p>
          <a:p>
            <a:pPr rtl="0" fontAlgn="base"/>
            <a:r>
              <a:rPr lang="pt-BR" sz="1000" dirty="0">
                <a:latin typeface="Poppins" pitchFamily="2" charset="77"/>
                <a:cs typeface="Poppins" pitchFamily="2" charset="77"/>
              </a:rPr>
              <a:t>Os estudantes devem sair da aula com um entendimento claro e preciso dos conceitos principais. A atividade serve como uma verificação rápida do entendimento dos estudantes e é uma oportunidade para corrigir quaisquer mal-entendidos.  </a:t>
            </a:r>
          </a:p>
        </p:txBody>
      </p:sp>
      <p:sp>
        <p:nvSpPr>
          <p:cNvPr id="19" name="Google Shape;1740;p54">
            <a:extLst>
              <a:ext uri="{FF2B5EF4-FFF2-40B4-BE49-F238E27FC236}">
                <a16:creationId xmlns:a16="http://schemas.microsoft.com/office/drawing/2014/main" id="{F972540D-4D33-55A6-0930-1982BF9093FA}"/>
              </a:ext>
            </a:extLst>
          </p:cNvPr>
          <p:cNvSpPr/>
          <p:nvPr/>
        </p:nvSpPr>
        <p:spPr>
          <a:xfrm>
            <a:off x="492761" y="5661809"/>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dk1"/>
              </a:solidFill>
              <a:latin typeface="Arial"/>
              <a:ea typeface="Arial"/>
              <a:cs typeface="Arial"/>
              <a:sym typeface="Arial"/>
            </a:endParaRPr>
          </a:p>
        </p:txBody>
      </p:sp>
      <p:sp>
        <p:nvSpPr>
          <p:cNvPr id="20" name="Google Shape;1741;p54">
            <a:extLst>
              <a:ext uri="{FF2B5EF4-FFF2-40B4-BE49-F238E27FC236}">
                <a16:creationId xmlns:a16="http://schemas.microsoft.com/office/drawing/2014/main" id="{9A9BE686-532D-250D-A1CD-F1E06A8B0B99}"/>
              </a:ext>
            </a:extLst>
          </p:cNvPr>
          <p:cNvSpPr txBox="1"/>
          <p:nvPr/>
        </p:nvSpPr>
        <p:spPr>
          <a:xfrm>
            <a:off x="970280" y="5104654"/>
            <a:ext cx="5923280" cy="613375"/>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None/>
            </a:pPr>
            <a:r>
              <a:rPr lang="pt-BR" sz="3000" b="1" i="0" u="none" strike="noStrike" cap="none" dirty="0">
                <a:solidFill>
                  <a:schemeClr val="lt1"/>
                </a:solidFill>
                <a:latin typeface="Poppins"/>
                <a:ea typeface="Poppins"/>
                <a:cs typeface="Poppins"/>
                <a:sym typeface="Poppins"/>
              </a:rPr>
              <a:t>Slide </a:t>
            </a:r>
            <a:r>
              <a:rPr lang="pt-BR" sz="3000" b="1" dirty="0">
                <a:solidFill>
                  <a:schemeClr val="lt1"/>
                </a:solidFill>
                <a:latin typeface="Poppins"/>
                <a:ea typeface="Poppins"/>
                <a:cs typeface="Poppins"/>
                <a:sym typeface="Poppins"/>
              </a:rPr>
              <a:t>20</a:t>
            </a:r>
            <a:endParaRPr dirty="0"/>
          </a:p>
        </p:txBody>
      </p:sp>
      <p:sp>
        <p:nvSpPr>
          <p:cNvPr id="21" name="Google Shape;1743;p54">
            <a:extLst>
              <a:ext uri="{FF2B5EF4-FFF2-40B4-BE49-F238E27FC236}">
                <a16:creationId xmlns:a16="http://schemas.microsoft.com/office/drawing/2014/main" id="{67AB8273-1585-0499-555B-FB04C8E75752}"/>
              </a:ext>
            </a:extLst>
          </p:cNvPr>
          <p:cNvSpPr/>
          <p:nvPr/>
        </p:nvSpPr>
        <p:spPr>
          <a:xfrm>
            <a:off x="492761" y="6181202"/>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dk1"/>
              </a:solidFill>
              <a:latin typeface="Arial"/>
              <a:ea typeface="Arial"/>
              <a:cs typeface="Arial"/>
              <a:sym typeface="Arial"/>
            </a:endParaRPr>
          </a:p>
        </p:txBody>
      </p:sp>
      <p:sp>
        <p:nvSpPr>
          <p:cNvPr id="22" name="Google Shape;1749;p54">
            <a:extLst>
              <a:ext uri="{FF2B5EF4-FFF2-40B4-BE49-F238E27FC236}">
                <a16:creationId xmlns:a16="http://schemas.microsoft.com/office/drawing/2014/main" id="{FFA1F209-4831-4B47-56FC-EDF763619F0F}"/>
              </a:ext>
            </a:extLst>
          </p:cNvPr>
          <p:cNvSpPr/>
          <p:nvPr/>
        </p:nvSpPr>
        <p:spPr>
          <a:xfrm>
            <a:off x="569898" y="5765676"/>
            <a:ext cx="237236"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pic>
        <p:nvPicPr>
          <p:cNvPr id="23" name="Google Shape;1751;p54">
            <a:extLst>
              <a:ext uri="{FF2B5EF4-FFF2-40B4-BE49-F238E27FC236}">
                <a16:creationId xmlns:a16="http://schemas.microsoft.com/office/drawing/2014/main" id="{56D4305A-FE20-0947-F1BD-B09D8F6A0875}"/>
              </a:ext>
            </a:extLst>
          </p:cNvPr>
          <p:cNvPicPr preferRelativeResize="0"/>
          <p:nvPr/>
        </p:nvPicPr>
        <p:blipFill rotWithShape="1">
          <a:blip r:embed="rId8">
            <a:alphaModFix/>
          </a:blip>
          <a:srcRect/>
          <a:stretch/>
        </p:blipFill>
        <p:spPr>
          <a:xfrm>
            <a:off x="608578" y="6269306"/>
            <a:ext cx="154445" cy="193056"/>
          </a:xfrm>
          <a:prstGeom prst="rect">
            <a:avLst/>
          </a:prstGeom>
          <a:noFill/>
          <a:ln>
            <a:noFill/>
          </a:ln>
        </p:spPr>
      </p:pic>
      <p:sp>
        <p:nvSpPr>
          <p:cNvPr id="24" name="Google Shape;1260;p25">
            <a:extLst>
              <a:ext uri="{FF2B5EF4-FFF2-40B4-BE49-F238E27FC236}">
                <a16:creationId xmlns:a16="http://schemas.microsoft.com/office/drawing/2014/main" id="{664EA752-9E02-1C31-A443-EF3A973D175C}"/>
              </a:ext>
            </a:extLst>
          </p:cNvPr>
          <p:cNvSpPr txBox="1"/>
          <p:nvPr/>
        </p:nvSpPr>
        <p:spPr>
          <a:xfrm>
            <a:off x="992497" y="5718029"/>
            <a:ext cx="10251300" cy="1292651"/>
          </a:xfrm>
          <a:prstGeom prst="rect">
            <a:avLst/>
          </a:prstGeom>
          <a:noFill/>
          <a:ln>
            <a:noFill/>
          </a:ln>
        </p:spPr>
        <p:txBody>
          <a:bodyPr spcFirstLastPara="1" wrap="square" lIns="60950" tIns="30475" rIns="60950" bIns="30475" anchor="t" anchorCtr="0">
            <a:spAutoFit/>
          </a:bodyPr>
          <a:lstStyle/>
          <a:p>
            <a:pPr marL="0" marR="0" lvl="0" indent="0"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Orientações: </a:t>
            </a:r>
            <a:r>
              <a:rPr lang="pt-BR" sz="1000" dirty="0">
                <a:latin typeface="Poppins" pitchFamily="2" charset="77"/>
                <a:ea typeface="Poppins"/>
                <a:cs typeface="Poppins" pitchFamily="2" charset="77"/>
                <a:sym typeface="Poppins"/>
              </a:rPr>
              <a:t>p</a:t>
            </a:r>
            <a:r>
              <a:rPr lang="pt-BR" sz="1000" b="0" i="0" u="none" strike="noStrike" cap="none" dirty="0">
                <a:solidFill>
                  <a:srgbClr val="000000"/>
                </a:solidFill>
                <a:latin typeface="Poppins" pitchFamily="2" charset="77"/>
                <a:ea typeface="Poppins"/>
                <a:cs typeface="Poppins" pitchFamily="2" charset="77"/>
                <a:sym typeface="Poppins"/>
              </a:rPr>
              <a:t>rofessor, a seção </a:t>
            </a:r>
            <a:r>
              <a:rPr lang="pt-BR" sz="1000" b="1" i="0" u="none" strike="noStrike" cap="none" dirty="0">
                <a:solidFill>
                  <a:srgbClr val="000000"/>
                </a:solidFill>
                <a:latin typeface="Poppins" pitchFamily="2" charset="77"/>
                <a:ea typeface="Poppins"/>
                <a:cs typeface="Poppins" pitchFamily="2" charset="77"/>
                <a:sym typeface="Poppins"/>
              </a:rPr>
              <a:t>Saiba mais </a:t>
            </a:r>
            <a:r>
              <a:rPr lang="pt-BR" sz="1000" b="0" i="0" u="none" strike="noStrike" cap="none" dirty="0">
                <a:solidFill>
                  <a:srgbClr val="000000"/>
                </a:solidFill>
                <a:latin typeface="Poppins" pitchFamily="2" charset="77"/>
                <a:ea typeface="Poppins"/>
                <a:cs typeface="Poppins" pitchFamily="2" charset="77"/>
                <a:sym typeface="Poppins"/>
              </a:rPr>
              <a:t>tem o objetivo de </a:t>
            </a:r>
            <a:r>
              <a:rPr lang="pt-BR" sz="1000" dirty="0">
                <a:latin typeface="Poppins" pitchFamily="2" charset="77"/>
                <a:cs typeface="Poppins" pitchFamily="2" charset="77"/>
              </a:rPr>
              <a:t>complementar os tópicos expostos, apresentando ao estudante recursos extraclasse para complementar sua formação. Reserve o minuto final da aula para sugerir esse aprofundamento.</a:t>
            </a:r>
          </a:p>
          <a:p>
            <a:pPr marL="0" marR="0" lvl="0" indent="0"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Tempo previsto: </a:t>
            </a:r>
            <a:r>
              <a:rPr lang="pt-BR" sz="1000" dirty="0">
                <a:latin typeface="Poppins" pitchFamily="2" charset="77"/>
                <a:ea typeface="Poppins"/>
                <a:cs typeface="Poppins" pitchFamily="2" charset="77"/>
                <a:sym typeface="Poppins"/>
              </a:rPr>
              <a:t>1</a:t>
            </a:r>
            <a:r>
              <a:rPr lang="pt-BR" sz="1000" b="0" i="0" u="none" strike="noStrike" cap="none" dirty="0">
                <a:solidFill>
                  <a:srgbClr val="000000"/>
                </a:solidFill>
                <a:latin typeface="Poppins" pitchFamily="2" charset="77"/>
                <a:ea typeface="Poppins"/>
                <a:cs typeface="Poppins" pitchFamily="2" charset="77"/>
                <a:sym typeface="Poppins"/>
              </a:rPr>
              <a:t> minuto.</a:t>
            </a:r>
            <a:endParaRPr sz="1000" b="0" i="0" u="none" strike="noStrike" cap="none" dirty="0">
              <a:solidFill>
                <a:srgbClr val="000000"/>
              </a:solidFill>
              <a:latin typeface="Poppins" pitchFamily="2" charset="77"/>
              <a:cs typeface="Poppins" pitchFamily="2" charset="77"/>
              <a:sym typeface="Arial"/>
            </a:endParaRPr>
          </a:p>
          <a:p>
            <a:pPr marL="0" marR="0" lvl="0" indent="0"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rtl="0">
              <a:lnSpc>
                <a:spcPct val="100000"/>
              </a:lnSpc>
              <a:spcBef>
                <a:spcPts val="0"/>
              </a:spcBef>
              <a:spcAft>
                <a:spcPts val="0"/>
              </a:spcAft>
              <a:buClr>
                <a:srgbClr val="000000"/>
              </a:buClr>
              <a:buSzPts val="933"/>
              <a:buFont typeface="Arial"/>
              <a:buNone/>
            </a:pPr>
            <a:endParaRPr sz="1000" b="1" i="0" u="none" strike="noStrike" cap="none" dirty="0">
              <a:solidFill>
                <a:srgbClr val="000000"/>
              </a:solidFill>
              <a:latin typeface="Poppins" pitchFamily="2" charset="77"/>
              <a:ea typeface="Poppins"/>
              <a:cs typeface="Poppins" pitchFamily="2" charset="77"/>
              <a:sym typeface="Poppins"/>
            </a:endParaRPr>
          </a:p>
        </p:txBody>
      </p:sp>
    </p:spTree>
    <p:extLst>
      <p:ext uri="{BB962C8B-B14F-4D97-AF65-F5344CB8AC3E}">
        <p14:creationId xmlns:p14="http://schemas.microsoft.com/office/powerpoint/2010/main" val="2146344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58559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0AF221F30FA1D846BC6503DE840D959B" ma:contentTypeVersion="8" ma:contentTypeDescription="Crie um novo documento." ma:contentTypeScope="" ma:versionID="64f56a52a51cc80b8ddb3d94a2f0550b">
  <xsd:schema xmlns:xsd="http://www.w3.org/2001/XMLSchema" xmlns:xs="http://www.w3.org/2001/XMLSchema" xmlns:p="http://schemas.microsoft.com/office/2006/metadata/properties" xmlns:ns2="4facdbb2-8ef9-464d-a709-26ca1c337062" targetNamespace="http://schemas.microsoft.com/office/2006/metadata/properties" ma:root="true" ma:fieldsID="6bd439814cc2a84ec9ae5087f29ffa06" ns2:_="">
    <xsd:import namespace="4facdbb2-8ef9-464d-a709-26ca1c33706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acdbb2-8ef9-464d-a709-26ca1c3370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2.xml><?xml version="1.0" encoding="utf-8"?>
<ds:datastoreItem xmlns:ds="http://schemas.openxmlformats.org/officeDocument/2006/customXml" ds:itemID="{EC661F7A-1649-4A39-91A5-A3893F5678E5}">
  <ds:schemaRefs>
    <ds:schemaRef ds:uri="http://www.w3.org/XML/1998/namespace"/>
    <ds:schemaRef ds:uri="http://purl.org/dc/dcmitype/"/>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4facdbb2-8ef9-464d-a709-26ca1c337062"/>
    <ds:schemaRef ds:uri="http://purl.org/dc/terms/"/>
  </ds:schemaRefs>
</ds:datastoreItem>
</file>

<file path=customXml/itemProps3.xml><?xml version="1.0" encoding="utf-8"?>
<ds:datastoreItem xmlns:ds="http://schemas.openxmlformats.org/officeDocument/2006/customXml" ds:itemID="{8F2396A6-4422-4B27-B95E-3A964ABD2F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acdbb2-8ef9-464d-a709-26ca1c3370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7952</TotalTime>
  <Words>2935</Words>
  <Application>Microsoft Office PowerPoint</Application>
  <PresentationFormat>Widescreen</PresentationFormat>
  <Paragraphs>247</Paragraphs>
  <Slides>28</Slides>
  <Notes>21</Notes>
  <HiddenSlides>7</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28</vt:i4>
      </vt:variant>
    </vt:vector>
  </HeadingPairs>
  <TitlesOfParts>
    <vt:vector size="35" baseType="lpstr">
      <vt:lpstr>Poppins</vt:lpstr>
      <vt:lpstr>Poppins Light</vt:lpstr>
      <vt:lpstr>Arial</vt:lpstr>
      <vt:lpstr>Poppins Bold</vt:lpstr>
      <vt:lpstr>Poppins Medium</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SANTIAGO ROCHA</cp:lastModifiedBy>
  <cp:revision>1376</cp:revision>
  <dcterms:modified xsi:type="dcterms:W3CDTF">2026-01-29T13:37:35Z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0x0101000AF221F30FA1D846BC6503DE840D959B</vt:lpwstr>
  </property>
  <property fmtid="{D5CDD505-2E9C-101B-9397-08002B2CF9AE}" pid="3" name="MediaServiceImageTags">
    <vt:lpwstr/>
  </property>
  <property fmtid="{D5CDD505-2E9C-101B-9397-08002B2CF9AE}" pid="4" name="Order">
    <vt:lpwstr>378100.000000000</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