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Lst>
  <p:notesMasterIdLst>
    <p:notesMasterId r:id="rId30"/>
  </p:notesMasterIdLst>
  <p:handoutMasterIdLst>
    <p:handoutMasterId r:id="rId31"/>
  </p:handoutMasterIdLst>
  <p:sldIdLst>
    <p:sldId id="1240" r:id="rId5"/>
    <p:sldId id="1396" r:id="rId6"/>
    <p:sldId id="1397" r:id="rId7"/>
    <p:sldId id="1398" r:id="rId8"/>
    <p:sldId id="1399" r:id="rId9"/>
    <p:sldId id="1441" r:id="rId10"/>
    <p:sldId id="558" r:id="rId11"/>
    <p:sldId id="1385" r:id="rId12"/>
    <p:sldId id="1436" r:id="rId13"/>
    <p:sldId id="1401" r:id="rId14"/>
    <p:sldId id="1435" r:id="rId15"/>
    <p:sldId id="1447" r:id="rId16"/>
    <p:sldId id="1257" r:id="rId17"/>
    <p:sldId id="1406" r:id="rId18"/>
    <p:sldId id="1339" r:id="rId19"/>
    <p:sldId id="1259" r:id="rId20"/>
    <p:sldId id="1260" r:id="rId21"/>
    <p:sldId id="1261" r:id="rId22"/>
    <p:sldId id="1262" r:id="rId23"/>
    <p:sldId id="1974" r:id="rId24"/>
    <p:sldId id="1975" r:id="rId25"/>
    <p:sldId id="1976" r:id="rId26"/>
    <p:sldId id="1977" r:id="rId27"/>
    <p:sldId id="1978" r:id="rId28"/>
    <p:sldId id="1268" r:id="rId29"/>
  </p:sldIdLst>
  <p:sldSz cx="12192000" cy="6858000"/>
  <p:notesSz cx="6858000" cy="9144000"/>
  <p:embeddedFontLst>
    <p:embeddedFont>
      <p:font typeface="Poppins" panose="00000500000000000000" pitchFamily="2" charset="0"/>
      <p:regular r:id="rId32"/>
      <p:bold r:id="rId33"/>
      <p:italic r:id="rId34"/>
      <p:boldItalic r:id="rId35"/>
    </p:embeddedFont>
    <p:embeddedFont>
      <p:font typeface="Poppins Bold" panose="00000800000000000000" pitchFamily="2" charset="0"/>
      <p:regular r:id="rId36"/>
      <p:bold r:id="rId37"/>
      <p:italic r:id="rId38"/>
      <p:boldItalic r:id="rId39"/>
    </p:embeddedFont>
    <p:embeddedFont>
      <p:font typeface="Poppins Light" panose="000004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2" id="{3CB5281A-F532-451D-9D16-973652AFE04C}">
          <p14:sldIdLst>
            <p14:sldId id="1240"/>
            <p14:sldId id="1396"/>
            <p14:sldId id="1397"/>
            <p14:sldId id="1398"/>
            <p14:sldId id="1399"/>
            <p14:sldId id="1441"/>
            <p14:sldId id="558"/>
            <p14:sldId id="1385"/>
            <p14:sldId id="1436"/>
            <p14:sldId id="1401"/>
            <p14:sldId id="1435"/>
            <p14:sldId id="1447"/>
            <p14:sldId id="1257"/>
            <p14:sldId id="1406"/>
            <p14:sldId id="1339"/>
            <p14:sldId id="1259"/>
            <p14:sldId id="1260"/>
            <p14:sldId id="1261"/>
            <p14:sldId id="1262"/>
            <p14:sldId id="1974"/>
            <p14:sldId id="1975"/>
            <p14:sldId id="1976"/>
            <p14:sldId id="1977"/>
            <p14:sldId id="1978"/>
            <p14:sldId id="12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93F123-A5E2-A62B-D9E3-D9303D1BB86B}" name="Gustavo Cruz dos Reis" initials="GC" userId="S::greis@vanzolini-ead.org.br::837664e1-438f-44d7-9e01-7f6012fe004f" providerId="AD"/>
  <p188:author id="{6847585A-4F42-89DD-D691-905E424E6AC8}" name="Direitos Autorais" initials="DA" userId="S::direitosautorais@vanzolini-ead.org.br::a458ea69-155c-4a8e-a4bb-1fd63a5f4859" providerId="AD"/>
  <p188:author id="{C6975768-E079-2129-EF66-8C7D8D20589C}" name="Usuário Convidado" initials="UC" userId="S::urn:spo:anon#9c1a6640c4cf430e37b8e52984f4ed92aa1896e2c9d3b1637fd5ce4c8fd5c9d5::" providerId="AD"/>
  <p188:author id="{50A82C6A-F915-E440-2676-7ED0B9B624D1}" name="Lilian Machado" initials="LM" userId="4ac3cebf31a33102" providerId="Windows Live"/>
  <p188:author id="{A42D7C86-2999-ABEF-315C-7093285DA929}" name="Utilizador Convidado" initials="UC" userId="S::urn:spo:tenantanon#4a187474-b69b-445f-9d2d-b39f721fca7f::" providerId="AD"/>
  <p188:author id="{8DD8E787-7B43-E508-6891-C6122D24A71C}" name="Douglas José Mendonça" initials="DM" userId="4153c5f748151241" providerId="Windows Live"/>
  <p188:author id="{EA7E6897-FBE9-9C70-C068-FD298403604C}" name="JOSE AVELINO PLACCA" initials="JP" userId="S::jose.placca@fatec.sp.gov.br::5607103a-18bc-4249-a88b-cf9b68ce5d63" providerId="AD"/>
  <p188:author id="{8467A299-AEEB-4E65-505E-275447848D9D}" name="ACER" initials="A" userId="ACER" providerId="None"/>
  <p188:author id="{E0388DF7-5B9F-86E5-E6C5-3F344187204B}" name="Eloisa Dalbem" initials="ED" userId="S::eldalbem@vanzolini-ead.org.br::9ae0c03a-8642-493e-97df-c9fd93e6c3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A6D3"/>
    <a:srgbClr val="3E3593"/>
    <a:srgbClr val="FB932D"/>
    <a:srgbClr val="E83D68"/>
    <a:srgbClr val="000000"/>
    <a:srgbClr val="FF0000"/>
    <a:srgbClr val="EE0000"/>
    <a:srgbClr val="312F67"/>
    <a:srgbClr val="EC4E58"/>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393BF8-9B7A-7E0C-1035-7BFE61498F3D}" v="3" dt="2025-11-17T14:42:52.792"/>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0" autoAdjust="0"/>
    <p:restoredTop sz="90661" autoAdjust="0"/>
  </p:normalViewPr>
  <p:slideViewPr>
    <p:cSldViewPr snapToGrid="0">
      <p:cViewPr>
        <p:scale>
          <a:sx n="66" d="100"/>
          <a:sy n="66" d="100"/>
        </p:scale>
        <p:origin x="1282" y="192"/>
      </p:cViewPr>
      <p:guideLst/>
    </p:cSldViewPr>
  </p:slideViewPr>
  <p:notesTextViewPr>
    <p:cViewPr>
      <p:scale>
        <a:sx n="1" d="1"/>
        <a:sy n="1" d="1"/>
      </p:scale>
      <p:origin x="0" y="0"/>
    </p:cViewPr>
  </p:notesTextViewPr>
  <p:notesViewPr>
    <p:cSldViewPr snapToGrid="0">
      <p:cViewPr>
        <p:scale>
          <a:sx n="1" d="2"/>
          <a:sy n="1" d="2"/>
        </p:scale>
        <p:origin x="2176" y="-8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font" Target="fonts/font13.fntdata"/><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6.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29/01/2026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5387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i="1"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8029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72551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9295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a:extLst>
            <a:ext uri="{FF2B5EF4-FFF2-40B4-BE49-F238E27FC236}">
              <a16:creationId xmlns:a16="http://schemas.microsoft.com/office/drawing/2014/main" id="{5E5406EE-A086-4057-CE0D-74AF9C898588}"/>
            </a:ext>
          </a:extLst>
        </p:cNvPr>
        <p:cNvGrpSpPr/>
        <p:nvPr/>
      </p:nvGrpSpPr>
      <p:grpSpPr>
        <a:xfrm>
          <a:off x="0" y="0"/>
          <a:ext cx="0" cy="0"/>
          <a:chOff x="0" y="0"/>
          <a:chExt cx="0" cy="0"/>
        </a:xfrm>
      </p:grpSpPr>
      <p:sp>
        <p:nvSpPr>
          <p:cNvPr id="671" name="Google Shape;671;p5:notes">
            <a:extLst>
              <a:ext uri="{FF2B5EF4-FFF2-40B4-BE49-F238E27FC236}">
                <a16:creationId xmlns:a16="http://schemas.microsoft.com/office/drawing/2014/main" id="{7EBBC70A-FEC8-2D95-EF3E-C06379F4DC6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2" name="Google Shape;672;p5:notes">
            <a:extLst>
              <a:ext uri="{FF2B5EF4-FFF2-40B4-BE49-F238E27FC236}">
                <a16:creationId xmlns:a16="http://schemas.microsoft.com/office/drawing/2014/main" id="{98DD2C4C-725C-F9C4-A33B-331B6DC254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204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B76F30A-5EFE-3CCD-F11E-167422ADB714}"/>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2E6B615F-FD7A-6DF5-7BA7-7B18B061F1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FC96FF24-BA94-5CD9-FF44-DCBA09F821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3200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B76F30A-5EFE-3CCD-F11E-167422ADB714}"/>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2E6B615F-FD7A-6DF5-7BA7-7B18B061F1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FC96FF24-BA94-5CD9-FF44-DCBA09F821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907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21B6-3410-E6A4-AEFF-DA667FA9B90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6B70AAB-BE42-1490-E334-3522A21A7F2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4BE1133-3DA2-DF57-7F2F-23DC45A9C7F5}"/>
              </a:ext>
            </a:extLst>
          </p:cNvPr>
          <p:cNvSpPr>
            <a:spLocks noGrp="1"/>
          </p:cNvSpPr>
          <p:nvPr>
            <p:ph type="body" idx="1"/>
          </p:nvPr>
        </p:nvSpPr>
        <p:spPr/>
        <p:txBody>
          <a:bodyPr/>
          <a:lstStyle/>
          <a:p>
            <a:pPr marL="230400">
              <a:lnSpc>
                <a:spcPct val="107000"/>
              </a:lnSpc>
              <a:spcAft>
                <a:spcPts val="800"/>
              </a:spcAft>
            </a:pPr>
            <a:r>
              <a:rPr lang="pt-BR" sz="18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4" name="Espaço Reservado para Número de Slide 3">
            <a:extLst>
              <a:ext uri="{FF2B5EF4-FFF2-40B4-BE49-F238E27FC236}">
                <a16:creationId xmlns:a16="http://schemas.microsoft.com/office/drawing/2014/main" id="{A875E589-B4CD-03D9-BF00-F11917A4AE6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3398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6987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1715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0914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BE75E-4570-3A2D-661C-379EAE83C2F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65039C7-981F-F530-EF87-9C3ED6CC45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870588D-E8B0-F6FA-C080-730E621301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t>      </a:t>
            </a:r>
            <a:br>
              <a:rPr lang="pt-BR" dirty="0"/>
            </a:br>
            <a:endParaRPr lang="pt-BR" dirty="0"/>
          </a:p>
          <a:p>
            <a:endParaRPr lang="pt-BR" dirty="0"/>
          </a:p>
        </p:txBody>
      </p:sp>
      <p:sp>
        <p:nvSpPr>
          <p:cNvPr id="4" name="Espaço Reservado para Número de Slide 3">
            <a:extLst>
              <a:ext uri="{FF2B5EF4-FFF2-40B4-BE49-F238E27FC236}">
                <a16:creationId xmlns:a16="http://schemas.microsoft.com/office/drawing/2014/main" id="{AE850A80-C848-D2B0-F9FB-A75442CBAFB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8852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608ED-81B2-9480-7746-5EBE162A4B9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C8A0D7B-E6A3-47BE-9783-5E1E0185D96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2223813-E314-D2E3-588A-AC21D1DD2FDE}"/>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64A0FD52-AAA1-CD27-2672-644B938D898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38035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a:extLst>
            <a:ext uri="{FF2B5EF4-FFF2-40B4-BE49-F238E27FC236}">
              <a16:creationId xmlns:a16="http://schemas.microsoft.com/office/drawing/2014/main" id="{87B823B5-DFEA-414E-FB5E-089059407E13}"/>
            </a:ext>
          </a:extLst>
        </p:cNvPr>
        <p:cNvGrpSpPr/>
        <p:nvPr/>
      </p:nvGrpSpPr>
      <p:grpSpPr>
        <a:xfrm>
          <a:off x="0" y="0"/>
          <a:ext cx="0" cy="0"/>
          <a:chOff x="0" y="0"/>
          <a:chExt cx="0" cy="0"/>
        </a:xfrm>
      </p:grpSpPr>
      <p:sp>
        <p:nvSpPr>
          <p:cNvPr id="1298" name="Google Shape;1298;p28:notes">
            <a:extLst>
              <a:ext uri="{FF2B5EF4-FFF2-40B4-BE49-F238E27FC236}">
                <a16:creationId xmlns:a16="http://schemas.microsoft.com/office/drawing/2014/main" id="{32F8232E-5B06-62D9-BE04-B9A7235978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28:notes">
            <a:extLst>
              <a:ext uri="{FF2B5EF4-FFF2-40B4-BE49-F238E27FC236}">
                <a16:creationId xmlns:a16="http://schemas.microsoft.com/office/drawing/2014/main" id="{2ABD15D3-7345-820D-BB6F-5EC1621C2C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1300" name="Google Shape;1300;p28:notes">
            <a:extLst>
              <a:ext uri="{FF2B5EF4-FFF2-40B4-BE49-F238E27FC236}">
                <a16:creationId xmlns:a16="http://schemas.microsoft.com/office/drawing/2014/main" id="{88982006-F9FE-9684-D1F1-DFC98C004C8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4953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BD15B-8195-25A6-413F-0CC6DA00E7E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A9C75C0-2A02-3A58-C2A4-B7E4BDF07BD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ED9A452-DE00-E50B-C936-E3241DCC36D4}"/>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EECD7386-7AF5-DAEF-037A-ADC316ABD07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86393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A817A-B54F-8ABA-A862-F8B60CA3058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6BA99CA-DF3E-75AF-7214-2397782CF85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E1AC83-DA67-554D-3233-B6D67741D4F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CED4958-39B0-6407-6083-1C26D9A11B9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3364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5657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6A9610ED-F980-1B8B-EAF4-3F2AAF96B531}"/>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sp>
        <p:nvSpPr>
          <p:cNvPr id="4" name="Retângulo: Cantos Arredondados 3">
            <a:extLst>
              <a:ext uri="{FF2B5EF4-FFF2-40B4-BE49-F238E27FC236}">
                <a16:creationId xmlns:a16="http://schemas.microsoft.com/office/drawing/2014/main" id="{D4684CE0-2BE3-AAF1-1568-F897A74EB5F4}"/>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Box 4">
            <a:extLst>
              <a:ext uri="{FF2B5EF4-FFF2-40B4-BE49-F238E27FC236}">
                <a16:creationId xmlns:a16="http://schemas.microsoft.com/office/drawing/2014/main" id="{A2C07E62-2AEC-6079-1356-147BCA909717}"/>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a:solidFill>
                  <a:srgbClr val="000000"/>
                </a:solidFill>
                <a:latin typeface="Poppins Bold"/>
              </a:rPr>
              <a:t>Educação Profissional Paulista</a:t>
            </a:r>
          </a:p>
        </p:txBody>
      </p:sp>
      <p:sp>
        <p:nvSpPr>
          <p:cNvPr id="9" name="TextBox 5">
            <a:extLst>
              <a:ext uri="{FF2B5EF4-FFF2-40B4-BE49-F238E27FC236}">
                <a16:creationId xmlns:a16="http://schemas.microsoft.com/office/drawing/2014/main" id="{ED011D71-0C70-0DF1-7B6F-2E21E352BB95}"/>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a:solidFill>
                  <a:srgbClr val="FFFFFF"/>
                </a:solidFill>
                <a:latin typeface="Poppins Light"/>
              </a:rPr>
              <a:t>Técnico em </a:t>
            </a:r>
          </a:p>
        </p:txBody>
      </p:sp>
      <p:sp>
        <p:nvSpPr>
          <p:cNvPr id="13" name="TextBox 6">
            <a:extLst>
              <a:ext uri="{FF2B5EF4-FFF2-40B4-BE49-F238E27FC236}">
                <a16:creationId xmlns:a16="http://schemas.microsoft.com/office/drawing/2014/main" id="{9A2DF425-C82A-A566-D423-A150068825DA}"/>
              </a:ext>
            </a:extLst>
          </p:cNvPr>
          <p:cNvSpPr txBox="1"/>
          <p:nvPr userDrawn="1"/>
        </p:nvSpPr>
        <p:spPr>
          <a:xfrm>
            <a:off x="6116401" y="2879829"/>
            <a:ext cx="3578455" cy="1026178"/>
          </a:xfrm>
          <a:prstGeom prst="rect">
            <a:avLst/>
          </a:prstGeom>
        </p:spPr>
        <p:txBody>
          <a:bodyPr lIns="0" tIns="0" rIns="0" bIns="0" rtlCol="0" anchor="t">
            <a:spAutoFit/>
          </a:bodyPr>
          <a:lstStyle/>
          <a:p>
            <a:pPr>
              <a:lnSpc>
                <a:spcPct val="100000"/>
              </a:lnSpc>
            </a:pPr>
            <a:r>
              <a:rPr lang="pt-BR" sz="3334" noProof="0">
                <a:solidFill>
                  <a:srgbClr val="FFFFFF"/>
                </a:solidFill>
                <a:latin typeface="Poppins Bold"/>
              </a:rPr>
              <a:t>Ciência de</a:t>
            </a:r>
          </a:p>
          <a:p>
            <a:pPr>
              <a:lnSpc>
                <a:spcPct val="100000"/>
              </a:lnSpc>
            </a:pPr>
            <a:r>
              <a:rPr lang="pt-BR" sz="3334" noProof="0">
                <a:solidFill>
                  <a:srgbClr val="FFFFFF"/>
                </a:solidFill>
                <a:latin typeface="Poppins Bold"/>
              </a:rPr>
              <a:t>Dados</a:t>
            </a:r>
          </a:p>
        </p:txBody>
      </p:sp>
      <p:pic>
        <p:nvPicPr>
          <p:cNvPr id="14" name="Imagem 13" descr="Logotipo&#10;&#10;O conteúdo gerado por IA pode estar incorreto.">
            <a:extLst>
              <a:ext uri="{FF2B5EF4-FFF2-40B4-BE49-F238E27FC236}">
                <a16:creationId xmlns:a16="http://schemas.microsoft.com/office/drawing/2014/main" id="{2D4C6492-16E3-1942-58B9-9CE2FBFD7395}"/>
              </a:ext>
            </a:extLst>
          </p:cNvPr>
          <p:cNvPicPr>
            <a:picLocks noChangeAspect="1"/>
          </p:cNvPicPr>
          <p:nvPr userDrawn="1"/>
        </p:nvPicPr>
        <p:blipFill>
          <a:blip r:embed="rId2"/>
          <a:srcRect l="12566" t="26436" r="13369" b="26176"/>
          <a:stretch>
            <a:fillRect/>
          </a:stretch>
        </p:blipFill>
        <p:spPr>
          <a:xfrm>
            <a:off x="4828111" y="5385674"/>
            <a:ext cx="2535779" cy="1147457"/>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pic>
        <p:nvPicPr>
          <p:cNvPr id="6" name="Google Shape;11;p2">
            <a:extLst>
              <a:ext uri="{FF2B5EF4-FFF2-40B4-BE49-F238E27FC236}">
                <a16:creationId xmlns:a16="http://schemas.microsoft.com/office/drawing/2014/main" id="{E3DBC0E2-CC5F-CFAA-E235-2F7984DE88ED}"/>
              </a:ext>
            </a:extLst>
          </p:cNvPr>
          <p:cNvPicPr preferRelativeResize="0"/>
          <p:nvPr userDrawn="1"/>
        </p:nvPicPr>
        <p:blipFill rotWithShape="1">
          <a:blip r:embed="rId2">
            <a:alphaModFix/>
          </a:blip>
          <a:srcRect/>
          <a:stretch/>
        </p:blipFill>
        <p:spPr>
          <a:xfrm>
            <a:off x="0" y="12"/>
            <a:ext cx="12192000" cy="6857988"/>
          </a:xfrm>
          <a:prstGeom prst="rect">
            <a:avLst/>
          </a:prstGeom>
          <a:noFill/>
          <a:ln>
            <a:noFill/>
          </a:ln>
        </p:spPr>
      </p:pic>
      <p:sp>
        <p:nvSpPr>
          <p:cNvPr id="10" name="CaixaDeTexto 9">
            <a:extLst>
              <a:ext uri="{FF2B5EF4-FFF2-40B4-BE49-F238E27FC236}">
                <a16:creationId xmlns:a16="http://schemas.microsoft.com/office/drawing/2014/main" id="{BB2748C6-2311-54B8-6E76-A579E669A6C4}"/>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grpSp>
        <p:nvGrpSpPr>
          <p:cNvPr id="11" name="Agrupar 10">
            <a:extLst>
              <a:ext uri="{FF2B5EF4-FFF2-40B4-BE49-F238E27FC236}">
                <a16:creationId xmlns:a16="http://schemas.microsoft.com/office/drawing/2014/main" id="{7674A946-B6D8-71C8-5B5E-6E71668D938F}"/>
              </a:ext>
            </a:extLst>
          </p:cNvPr>
          <p:cNvGrpSpPr/>
          <p:nvPr userDrawn="1"/>
        </p:nvGrpSpPr>
        <p:grpSpPr>
          <a:xfrm>
            <a:off x="10400796" y="6090630"/>
            <a:ext cx="1791203" cy="767370"/>
            <a:chOff x="10400796" y="6090630"/>
            <a:chExt cx="1791203" cy="767370"/>
          </a:xfrm>
        </p:grpSpPr>
        <p:sp>
          <p:nvSpPr>
            <p:cNvPr id="12" name="Retângulo: Cantos Superiores Arredondados 11">
              <a:extLst>
                <a:ext uri="{FF2B5EF4-FFF2-40B4-BE49-F238E27FC236}">
                  <a16:creationId xmlns:a16="http://schemas.microsoft.com/office/drawing/2014/main" id="{FE2862C9-1EB2-65FC-AEE8-118EE5A5AE0A}"/>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AE829015-6ED1-1BC3-DBC7-12CE57BA2A51}"/>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5" name="Imagem 14" descr="Logotipo&#10;&#10;O conteúdo gerado por IA pode estar incorreto.">
            <a:extLst>
              <a:ext uri="{FF2B5EF4-FFF2-40B4-BE49-F238E27FC236}">
                <a16:creationId xmlns:a16="http://schemas.microsoft.com/office/drawing/2014/main" id="{4109CC7A-A457-8A4C-0C54-FDF89FCFDAF2}"/>
              </a:ext>
            </a:extLst>
          </p:cNvPr>
          <p:cNvPicPr>
            <a:picLocks noChangeAspect="1"/>
          </p:cNvPicPr>
          <p:nvPr userDrawn="1"/>
        </p:nvPicPr>
        <p:blipFill>
          <a:blip r:embed="rId3"/>
          <a:srcRect l="12566" t="26436" r="13369" b="26176"/>
          <a:stretch>
            <a:fillRect/>
          </a:stretch>
        </p:blipFill>
        <p:spPr>
          <a:xfrm>
            <a:off x="10534930" y="6126882"/>
            <a:ext cx="1539046" cy="696429"/>
          </a:xfrm>
          <a:prstGeom prst="rect">
            <a:avLst/>
          </a:prstGeom>
        </p:spPr>
      </p:pic>
      <p:grpSp>
        <p:nvGrpSpPr>
          <p:cNvPr id="16" name="Agrupar 15">
            <a:extLst>
              <a:ext uri="{FF2B5EF4-FFF2-40B4-BE49-F238E27FC236}">
                <a16:creationId xmlns:a16="http://schemas.microsoft.com/office/drawing/2014/main" id="{4D431840-D81A-9A38-2BB0-02F0D6CB3BF9}"/>
              </a:ext>
            </a:extLst>
          </p:cNvPr>
          <p:cNvGrpSpPr/>
          <p:nvPr userDrawn="1"/>
        </p:nvGrpSpPr>
        <p:grpSpPr>
          <a:xfrm>
            <a:off x="0" y="1"/>
            <a:ext cx="8566485" cy="5380264"/>
            <a:chOff x="0" y="0"/>
            <a:chExt cx="8566485" cy="5808133"/>
          </a:xfrm>
        </p:grpSpPr>
        <p:sp>
          <p:nvSpPr>
            <p:cNvPr id="17" name="Retângulo 16">
              <a:extLst>
                <a:ext uri="{FF2B5EF4-FFF2-40B4-BE49-F238E27FC236}">
                  <a16:creationId xmlns:a16="http://schemas.microsoft.com/office/drawing/2014/main" id="{CECC922C-EC60-49E9-B7FC-B79CE27D2216}"/>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Cantos Arredondados 17">
              <a:extLst>
                <a:ext uri="{FF2B5EF4-FFF2-40B4-BE49-F238E27FC236}">
                  <a16:creationId xmlns:a16="http://schemas.microsoft.com/office/drawing/2014/main" id="{05E10DB4-CE3E-B0B6-7796-F7C11C8692E4}"/>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1EB9C5BB-FB4A-EE5B-E917-5B48847FB5DF}"/>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32E6938C-9936-AB04-902C-7A2D6FF05FFF}"/>
              </a:ext>
            </a:extLst>
          </p:cNvPr>
          <p:cNvPicPr preferRelativeResize="0"/>
          <p:nvPr userDrawn="1"/>
        </p:nvPicPr>
        <p:blipFill rotWithShape="1">
          <a:blip r:embed="rId2">
            <a:alphaModFix/>
          </a:blip>
          <a:srcRect/>
          <a:stretch/>
        </p:blipFill>
        <p:spPr>
          <a:xfrm>
            <a:off x="4" y="0"/>
            <a:ext cx="12192000" cy="6857989"/>
          </a:xfrm>
          <a:prstGeom prst="rect">
            <a:avLst/>
          </a:prstGeom>
          <a:noFill/>
          <a:ln>
            <a:noFill/>
          </a:ln>
        </p:spPr>
      </p:pic>
      <p:grpSp>
        <p:nvGrpSpPr>
          <p:cNvPr id="9" name="Agrupar 8">
            <a:extLst>
              <a:ext uri="{FF2B5EF4-FFF2-40B4-BE49-F238E27FC236}">
                <a16:creationId xmlns:a16="http://schemas.microsoft.com/office/drawing/2014/main" id="{1C0DCEC2-F16A-FC4A-CA9E-2F9F7378B5BA}"/>
              </a:ext>
            </a:extLst>
          </p:cNvPr>
          <p:cNvGrpSpPr/>
          <p:nvPr userDrawn="1"/>
        </p:nvGrpSpPr>
        <p:grpSpPr>
          <a:xfrm>
            <a:off x="0" y="1"/>
            <a:ext cx="8566485" cy="5380264"/>
            <a:chOff x="0" y="0"/>
            <a:chExt cx="8566485" cy="5808133"/>
          </a:xfrm>
        </p:grpSpPr>
        <p:sp>
          <p:nvSpPr>
            <p:cNvPr id="10" name="Retângulo 9">
              <a:extLst>
                <a:ext uri="{FF2B5EF4-FFF2-40B4-BE49-F238E27FC236}">
                  <a16:creationId xmlns:a16="http://schemas.microsoft.com/office/drawing/2014/main" id="{557A63FE-410C-4625-E2A1-4AAA4A9F6085}"/>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Cantos Arredondados 10">
              <a:extLst>
                <a:ext uri="{FF2B5EF4-FFF2-40B4-BE49-F238E27FC236}">
                  <a16:creationId xmlns:a16="http://schemas.microsoft.com/office/drawing/2014/main" id="{3CBE38E0-6F84-278A-74E7-65CF97DF0870}"/>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915A0F8-EDB0-842D-CC0C-C558F0832036}"/>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4" name="CaixaDeTexto 13">
            <a:extLst>
              <a:ext uri="{FF2B5EF4-FFF2-40B4-BE49-F238E27FC236}">
                <a16:creationId xmlns:a16="http://schemas.microsoft.com/office/drawing/2014/main" id="{CC9D4B05-DA78-51D2-08FE-F49EDF09BC46}"/>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15" name="Google Shape;643;p43">
            <a:extLst>
              <a:ext uri="{FF2B5EF4-FFF2-40B4-BE49-F238E27FC236}">
                <a16:creationId xmlns:a16="http://schemas.microsoft.com/office/drawing/2014/main" id="{85129751-7A2E-FCB9-AE05-1BA3E38DE1CF}"/>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18" name="Google Shape;22;p4">
            <a:extLst>
              <a:ext uri="{FF2B5EF4-FFF2-40B4-BE49-F238E27FC236}">
                <a16:creationId xmlns:a16="http://schemas.microsoft.com/office/drawing/2014/main" id="{0441BF1F-C7EE-076D-0E64-5ADFC9612C2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19" name="Google Shape;23;p4">
            <a:extLst>
              <a:ext uri="{FF2B5EF4-FFF2-40B4-BE49-F238E27FC236}">
                <a16:creationId xmlns:a16="http://schemas.microsoft.com/office/drawing/2014/main" id="{9951514B-0229-7045-2962-7AE28BD6721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Objetivos da aula</a:t>
            </a:r>
            <a:endParaRPr sz="20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Habilidades técnicas</a:t>
            </a:r>
            <a:endParaRPr lang="pt-BR" sz="20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910758"/>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Recursos didáticos</a:t>
            </a:r>
            <a:endParaRPr sz="20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Duração da aula</a:t>
            </a:r>
            <a:endParaRPr sz="20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Habilidades socioemocionais</a:t>
            </a:r>
            <a:endParaRPr lang="pt-BR" sz="20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538284" y="96008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sp>
        <p:nvSpPr>
          <p:cNvPr id="69" name="Google Shape;42;p31">
            <a:extLst>
              <a:ext uri="{FF2B5EF4-FFF2-40B4-BE49-F238E27FC236}">
                <a16:creationId xmlns:a16="http://schemas.microsoft.com/office/drawing/2014/main" id="{9872EE60-7A4F-1BA5-6C65-F74323570E69}"/>
              </a:ext>
            </a:extLst>
          </p:cNvPr>
          <p:cNvSpPr/>
          <p:nvPr userDrawn="1"/>
        </p:nvSpPr>
        <p:spPr>
          <a:xfrm>
            <a:off x="514540" y="2965834"/>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632680" y="3096505"/>
            <a:ext cx="486839" cy="481169"/>
            <a:chOff x="8278989" y="8660410"/>
            <a:chExt cx="569755" cy="563121"/>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516205" y="470010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658917" y="4858582"/>
            <a:ext cx="380919" cy="380919"/>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6537750" y="974816"/>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6643328" y="1077215"/>
            <a:ext cx="472784" cy="435244"/>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6537750" y="314469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grpSp>
        <p:nvGrpSpPr>
          <p:cNvPr id="7" name="Google Shape;34;p31">
            <a:extLst>
              <a:ext uri="{FF2B5EF4-FFF2-40B4-BE49-F238E27FC236}">
                <a16:creationId xmlns:a16="http://schemas.microsoft.com/office/drawing/2014/main" id="{C430FFE2-579C-F0FF-C290-CF4D2EB9FE97}"/>
              </a:ext>
            </a:extLst>
          </p:cNvPr>
          <p:cNvGrpSpPr/>
          <p:nvPr userDrawn="1"/>
        </p:nvGrpSpPr>
        <p:grpSpPr>
          <a:xfrm>
            <a:off x="664474" y="1066003"/>
            <a:ext cx="428502" cy="428501"/>
            <a:chOff x="9358184" y="2764785"/>
            <a:chExt cx="495514" cy="495513"/>
          </a:xfrm>
        </p:grpSpPr>
        <p:grpSp>
          <p:nvGrpSpPr>
            <p:cNvPr id="9" name="Google Shape;35;p31">
              <a:extLst>
                <a:ext uri="{FF2B5EF4-FFF2-40B4-BE49-F238E27FC236}">
                  <a16:creationId xmlns:a16="http://schemas.microsoft.com/office/drawing/2014/main" id="{75DCD9A7-81F9-4D17-9997-5B22594BE3C9}"/>
                </a:ext>
              </a:extLst>
            </p:cNvPr>
            <p:cNvGrpSpPr/>
            <p:nvPr/>
          </p:nvGrpSpPr>
          <p:grpSpPr>
            <a:xfrm>
              <a:off x="9358184" y="2802389"/>
              <a:ext cx="457909" cy="457909"/>
              <a:chOff x="9358184" y="2802389"/>
              <a:chExt cx="457909" cy="457909"/>
            </a:xfrm>
          </p:grpSpPr>
          <p:sp>
            <p:nvSpPr>
              <p:cNvPr id="14" name="Google Shape;36;p31">
                <a:extLst>
                  <a:ext uri="{FF2B5EF4-FFF2-40B4-BE49-F238E27FC236}">
                    <a16:creationId xmlns:a16="http://schemas.microsoft.com/office/drawing/2014/main" id="{90EABD33-493E-E54A-1A23-1BA99D60F8B0}"/>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5" name="Google Shape;37;p31">
                <a:extLst>
                  <a:ext uri="{FF2B5EF4-FFF2-40B4-BE49-F238E27FC236}">
                    <a16:creationId xmlns:a16="http://schemas.microsoft.com/office/drawing/2014/main" id="{A8D933AC-72DA-D72F-77D3-A7207C548944}"/>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7" name="Google Shape;38;p31">
                <a:extLst>
                  <a:ext uri="{FF2B5EF4-FFF2-40B4-BE49-F238E27FC236}">
                    <a16:creationId xmlns:a16="http://schemas.microsoft.com/office/drawing/2014/main" id="{4A4515EE-AAD5-6566-FB77-56CD51465C34}"/>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12" name="Google Shape;39;p31">
              <a:extLst>
                <a:ext uri="{FF2B5EF4-FFF2-40B4-BE49-F238E27FC236}">
                  <a16:creationId xmlns:a16="http://schemas.microsoft.com/office/drawing/2014/main" id="{C178D74F-1BD9-301F-4848-BDD92A8BD252}"/>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3" name="Google Shape;40;p31">
              <a:extLst>
                <a:ext uri="{FF2B5EF4-FFF2-40B4-BE49-F238E27FC236}">
                  <a16:creationId xmlns:a16="http://schemas.microsoft.com/office/drawing/2014/main" id="{2FB8305B-313B-9DA6-397B-FD10C2E02AD9}"/>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3751838" y="21702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3751838" y="31227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3751838" y="40498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3751838" y="49896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3514725" y="559205"/>
            <a:ext cx="7208308" cy="1260627"/>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9837212F-8595-524D-68EC-B7C5F44D1C6A}"/>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Google Shape;69;p32">
            <a:extLst>
              <a:ext uri="{FF2B5EF4-FFF2-40B4-BE49-F238E27FC236}">
                <a16:creationId xmlns:a16="http://schemas.microsoft.com/office/drawing/2014/main" id="{FDE7D43A-126B-EB13-A981-135B5AB1D19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25498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3" name="Google Shape;22;p4">
            <a:extLst>
              <a:ext uri="{FF2B5EF4-FFF2-40B4-BE49-F238E27FC236}">
                <a16:creationId xmlns:a16="http://schemas.microsoft.com/office/drawing/2014/main" id="{4C6347CA-4494-5E4E-E655-CDA6EC629BB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16" name="Google Shape;23;p4">
            <a:extLst>
              <a:ext uri="{FF2B5EF4-FFF2-40B4-BE49-F238E27FC236}">
                <a16:creationId xmlns:a16="http://schemas.microsoft.com/office/drawing/2014/main" id="{AE1F9DD4-49DE-EFA5-E344-674DCAD12147}"/>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 name="Retângulo: Cantos Arredondados 1">
            <a:extLst>
              <a:ext uri="{FF2B5EF4-FFF2-40B4-BE49-F238E27FC236}">
                <a16:creationId xmlns:a16="http://schemas.microsoft.com/office/drawing/2014/main" id="{BF92D0CD-A1C4-6799-5975-0010E03D8056}"/>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Google Shape;101;p34">
            <a:extLst>
              <a:ext uri="{FF2B5EF4-FFF2-40B4-BE49-F238E27FC236}">
                <a16:creationId xmlns:a16="http://schemas.microsoft.com/office/drawing/2014/main" id="{7E16B027-20A8-E6FA-184A-BB9C0257FDD1}"/>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712842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3" name="Google Shape;203;p21">
            <a:extLst>
              <a:ext uri="{FF2B5EF4-FFF2-40B4-BE49-F238E27FC236}">
                <a16:creationId xmlns:a16="http://schemas.microsoft.com/office/drawing/2014/main" id="{04070031-126A-1C18-A638-9AC483966AB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11" name="Retângulo: Cantos Arredondados 10">
            <a:extLst>
              <a:ext uri="{FF2B5EF4-FFF2-40B4-BE49-F238E27FC236}">
                <a16:creationId xmlns:a16="http://schemas.microsoft.com/office/drawing/2014/main" id="{CE229CEF-58F2-9F59-41B3-0155A5C7603C}"/>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Google Shape;231;p21">
            <a:extLst>
              <a:ext uri="{FF2B5EF4-FFF2-40B4-BE49-F238E27FC236}">
                <a16:creationId xmlns:a16="http://schemas.microsoft.com/office/drawing/2014/main" id="{0512835F-6367-B2A4-F98F-B55CEBC9CE25}"/>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7413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6" name="Google Shape;203;p21">
            <a:extLst>
              <a:ext uri="{FF2B5EF4-FFF2-40B4-BE49-F238E27FC236}">
                <a16:creationId xmlns:a16="http://schemas.microsoft.com/office/drawing/2014/main" id="{C2D53C5C-653B-C871-5FD5-4980C285D2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0" y="12"/>
            <a:ext cx="12192000" cy="6857989"/>
          </a:xfrm>
          <a:prstGeom prst="rect">
            <a:avLst/>
          </a:prstGeom>
          <a:noFill/>
          <a:ln>
            <a:noFill/>
          </a:ln>
        </p:spPr>
      </p:pic>
      <p:sp>
        <p:nvSpPr>
          <p:cNvPr id="4" name="Retângulo: Cantos Arredondados 3">
            <a:extLst>
              <a:ext uri="{FF2B5EF4-FFF2-40B4-BE49-F238E27FC236}">
                <a16:creationId xmlns:a16="http://schemas.microsoft.com/office/drawing/2014/main" id="{02276DD7-D6E9-2087-A4F8-719FC6EF25B5}"/>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6" name="Google Shape;316;p32">
            <a:extLst>
              <a:ext uri="{FF2B5EF4-FFF2-40B4-BE49-F238E27FC236}">
                <a16:creationId xmlns:a16="http://schemas.microsoft.com/office/drawing/2014/main" id="{7C738FF4-2E01-8DDD-6839-4D26CF39941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8000"/>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a:solidFill>
                  <a:schemeClr val="bg1"/>
                </a:solidFill>
                <a:latin typeface="Poppins Light" panose="00000400000000000000" pitchFamily="2" charset="0"/>
                <a:cs typeface="Poppins Light" panose="00000400000000000000" pitchFamily="2" charset="0"/>
              </a:rPr>
              <a:t>© Getty </a:t>
            </a:r>
            <a:r>
              <a:rPr lang="pt-BR" sz="800" err="1">
                <a:solidFill>
                  <a:schemeClr val="bg1"/>
                </a:solidFill>
                <a:latin typeface="Poppins Light" panose="00000400000000000000" pitchFamily="2" charset="0"/>
                <a:cs typeface="Poppins Light" panose="00000400000000000000" pitchFamily="2" charset="0"/>
              </a:rPr>
              <a:t>Images</a:t>
            </a:r>
            <a:endParaRPr lang="pt-BR" sz="800">
              <a:solidFill>
                <a:schemeClr val="bg1"/>
              </a:solidFill>
              <a:latin typeface="Poppins Light" panose="00000400000000000000" pitchFamily="2" charset="0"/>
              <a:cs typeface="Poppins Light" panose="00000400000000000000" pitchFamily="2" charset="0"/>
            </a:endParaRP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1</a:t>
            </a:r>
            <a:endParaRPr sz="933"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2</a:t>
            </a:r>
            <a:endParaRPr sz="933"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3</a:t>
            </a:r>
            <a:endParaRPr sz="933"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3" name="Retângulo: Cantos Arredondados 2">
            <a:extLst>
              <a:ext uri="{FF2B5EF4-FFF2-40B4-BE49-F238E27FC236}">
                <a16:creationId xmlns:a16="http://schemas.microsoft.com/office/drawing/2014/main" id="{42DD3700-DBEB-E4C3-D174-91B02EF01A8C}"/>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Google Shape;353;p32">
            <a:extLst>
              <a:ext uri="{FF2B5EF4-FFF2-40B4-BE49-F238E27FC236}">
                <a16:creationId xmlns:a16="http://schemas.microsoft.com/office/drawing/2014/main" id="{60D5E5E8-C8A9-6528-E11C-137251D92E55}"/>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4" name="Google Shape;22;p4">
            <a:extLst>
              <a:ext uri="{FF2B5EF4-FFF2-40B4-BE49-F238E27FC236}">
                <a16:creationId xmlns:a16="http://schemas.microsoft.com/office/drawing/2014/main" id="{96D0DE7F-92AF-A646-0FF2-A77FC5D2471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79131217-7207-B376-583C-711407C3744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397" name="Google Shape;397;p33"/>
          <p:cNvSpPr txBox="1">
            <a:spLocks noGrp="1"/>
          </p:cNvSpPr>
          <p:nvPr>
            <p:ph type="body" idx="5"/>
          </p:nvPr>
        </p:nvSpPr>
        <p:spPr>
          <a:xfrm>
            <a:off x="1450528" y="1854200"/>
            <a:ext cx="8305873" cy="382291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1450528" y="1180890"/>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a:solidFill>
                  <a:srgbClr val="FF161F"/>
                </a:solidFill>
                <a:latin typeface="Poppins"/>
                <a:ea typeface="Poppins"/>
                <a:cs typeface="Poppins"/>
                <a:sym typeface="Poppins"/>
              </a:rPr>
              <a:t>Referências</a:t>
            </a:r>
            <a:r>
              <a:rPr lang="en-US" sz="3200" b="1" i="0" u="none" strike="noStrike" cap="none">
                <a:solidFill>
                  <a:srgbClr val="FF161F"/>
                </a:solidFill>
                <a:latin typeface="Poppins"/>
                <a:ea typeface="Poppins"/>
                <a:cs typeface="Poppins"/>
                <a:sym typeface="Poppins"/>
              </a:rPr>
              <a:t> da aula</a:t>
            </a:r>
            <a:endParaRPr sz="32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5E705E55-01E4-945B-7072-330DFCE9FFC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3" name="Google Shape;23;p4">
            <a:extLst>
              <a:ext uri="{FF2B5EF4-FFF2-40B4-BE49-F238E27FC236}">
                <a16:creationId xmlns:a16="http://schemas.microsoft.com/office/drawing/2014/main" id="{F49E36B5-2934-9CA4-7B2E-4F438B27C5E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ED658C9D-3746-9D1A-B171-A73C73A9ECD5}"/>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Google Shape;101;p34">
            <a:extLst>
              <a:ext uri="{FF2B5EF4-FFF2-40B4-BE49-F238E27FC236}">
                <a16:creationId xmlns:a16="http://schemas.microsoft.com/office/drawing/2014/main" id="{3D5B4B96-5059-A061-FA32-44BA573071AC}"/>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210429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Tree>
    <p:extLst>
      <p:ext uri="{BB962C8B-B14F-4D97-AF65-F5344CB8AC3E}">
        <p14:creationId xmlns:p14="http://schemas.microsoft.com/office/powerpoint/2010/main" val="1358944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5" name="Google Shape;22;p4">
            <a:extLst>
              <a:ext uri="{FF2B5EF4-FFF2-40B4-BE49-F238E27FC236}">
                <a16:creationId xmlns:a16="http://schemas.microsoft.com/office/drawing/2014/main" id="{B36FC4F7-12D0-9D87-77F5-84F03FCC4B2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6" name="Google Shape;23;p4">
            <a:extLst>
              <a:ext uri="{FF2B5EF4-FFF2-40B4-BE49-F238E27FC236}">
                <a16:creationId xmlns:a16="http://schemas.microsoft.com/office/drawing/2014/main" id="{2B016A40-80F4-2C44-91CC-E0383C166B3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461" name="Google Shape;461;p35"/>
          <p:cNvSpPr txBox="1">
            <a:spLocks noGrp="1"/>
          </p:cNvSpPr>
          <p:nvPr>
            <p:ph type="body" idx="1"/>
          </p:nvPr>
        </p:nvSpPr>
        <p:spPr>
          <a:xfrm>
            <a:off x="5327897" y="131009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5327897" y="271436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5327897" y="415273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5327897" y="555700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526578" y="3658093"/>
            <a:ext cx="2403423" cy="264240"/>
          </a:xfrm>
          <a:prstGeom prst="rect">
            <a:avLst/>
          </a:prstGeom>
          <a:noFill/>
          <a:ln>
            <a:noFill/>
          </a:ln>
        </p:spPr>
        <p:txBody>
          <a:bodyPr spcFirstLastPara="1" wrap="square" lIns="0" tIns="0" rIns="0" bIns="0" anchor="t" anchorCtr="0">
            <a:spAutoFit/>
          </a:bodyPr>
          <a:lstStyle>
            <a:lvl1pPr marL="0" marR="0" lvl="0" indent="-152408"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854491" y="4775003"/>
            <a:ext cx="1733054"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152408" algn="l" defTabSz="609630" rtl="0" eaLnBrk="1" fontAlgn="auto" latinLnBrk="0" hangingPunct="1">
              <a:lnSpc>
                <a:spcPct val="100000"/>
              </a:lnSpc>
              <a:spcBef>
                <a:spcPts val="227"/>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882213" y="5217603"/>
            <a:ext cx="1705332"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227"/>
              </a:spcBef>
              <a:spcAft>
                <a:spcPts val="0"/>
              </a:spcAft>
              <a:buClr>
                <a:schemeClr val="dk1"/>
              </a:buClr>
              <a:buSzPts val="1700"/>
              <a:buFont typeface="Poppins"/>
              <a:buNone/>
            </a:pPr>
            <a:r>
              <a:rPr lang="pt-BR"/>
              <a:t>Em grupo</a:t>
            </a:r>
          </a:p>
          <a:p>
            <a:endParaRPr/>
          </a:p>
        </p:txBody>
      </p:sp>
      <p:sp>
        <p:nvSpPr>
          <p:cNvPr id="8" name="Retângulo: Cantos Arredondados 7">
            <a:extLst>
              <a:ext uri="{FF2B5EF4-FFF2-40B4-BE49-F238E27FC236}">
                <a16:creationId xmlns:a16="http://schemas.microsoft.com/office/drawing/2014/main" id="{8672D24B-C93F-C262-E17F-D63F0844C469}"/>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Google Shape;207;p37">
            <a:extLst>
              <a:ext uri="{FF2B5EF4-FFF2-40B4-BE49-F238E27FC236}">
                <a16:creationId xmlns:a16="http://schemas.microsoft.com/office/drawing/2014/main" id="{7D7C5316-05F2-0154-FDAD-C2D1300743D1}"/>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878912996"/>
      </p:ext>
    </p:extLst>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EstudoCaso" preserve="1" userDrawn="1">
  <p:cSld name="4_EstudoCaso">
    <p:spTree>
      <p:nvGrpSpPr>
        <p:cNvPr id="1" name="Shape 513"/>
        <p:cNvGrpSpPr/>
        <p:nvPr/>
      </p:nvGrpSpPr>
      <p:grpSpPr>
        <a:xfrm>
          <a:off x="0" y="0"/>
          <a:ext cx="0" cy="0"/>
          <a:chOff x="0" y="0"/>
          <a:chExt cx="0" cy="0"/>
        </a:xfrm>
      </p:grpSpPr>
      <p:pic>
        <p:nvPicPr>
          <p:cNvPr id="2" name="Google Shape;113;p10">
            <a:extLst>
              <a:ext uri="{FF2B5EF4-FFF2-40B4-BE49-F238E27FC236}">
                <a16:creationId xmlns:a16="http://schemas.microsoft.com/office/drawing/2014/main" id="{6DB00E26-BCDE-0E55-ED92-7563396D697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218199" cy="6858000"/>
          </a:xfrm>
          <a:prstGeom prst="rect">
            <a:avLst/>
          </a:prstGeom>
          <a:noFill/>
          <a:ln>
            <a:noFill/>
          </a:ln>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3641085" y="1210734"/>
            <a:ext cx="7610475" cy="2825557"/>
          </a:xfrm>
          <a:prstGeom prst="rect">
            <a:avLst/>
          </a:prstGeom>
          <a:solidFill>
            <a:srgbClr val="D9D9D9"/>
          </a:solidFill>
        </p:spPr>
        <p:txBody>
          <a:bodyPr/>
          <a:lstStyle>
            <a:lvl1pPr>
              <a:defRPr sz="12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4736123" y="-64476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10" name="Retângulo: Cantos Arredondados 9">
            <a:extLst>
              <a:ext uri="{FF2B5EF4-FFF2-40B4-BE49-F238E27FC236}">
                <a16:creationId xmlns:a16="http://schemas.microsoft.com/office/drawing/2014/main" id="{74A6EA79-B13A-2614-CDA5-B65B974F596E}"/>
              </a:ext>
            </a:extLst>
          </p:cNvPr>
          <p:cNvSpPr/>
          <p:nvPr userDrawn="1"/>
        </p:nvSpPr>
        <p:spPr>
          <a:xfrm>
            <a:off x="229449" y="3216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Google Shape;101;p34">
            <a:extLst>
              <a:ext uri="{FF2B5EF4-FFF2-40B4-BE49-F238E27FC236}">
                <a16:creationId xmlns:a16="http://schemas.microsoft.com/office/drawing/2014/main" id="{81074840-2151-A4A6-EA91-91656783E1F7}"/>
              </a:ext>
            </a:extLst>
          </p:cNvPr>
          <p:cNvSpPr txBox="1"/>
          <p:nvPr userDrawn="1"/>
        </p:nvSpPr>
        <p:spPr>
          <a:xfrm>
            <a:off x="495695" y="757428"/>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486229137"/>
      </p:ext>
    </p:extLst>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10" r:id="rId4"/>
    <p:sldLayoutId id="2147483735" r:id="rId5"/>
    <p:sldLayoutId id="2147483712" r:id="rId6"/>
    <p:sldLayoutId id="2147483713" r:id="rId7"/>
    <p:sldLayoutId id="2147483701" r:id="rId8"/>
    <p:sldLayoutId id="2147483658" r:id="rId9"/>
    <p:sldLayoutId id="2147483705" r:id="rId10"/>
    <p:sldLayoutId id="2147483707" r:id="rId11"/>
    <p:sldLayoutId id="2147483757" r:id="rId12"/>
    <p:sldLayoutId id="2147483730" r:id="rId13"/>
    <p:sldLayoutId id="2147483766" r:id="rId14"/>
    <p:sldLayoutId id="214748376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sv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jpeg"/><Relationship Id="rId1" Type="http://schemas.openxmlformats.org/officeDocument/2006/relationships/slideLayout" Target="../slideLayouts/slideLayout12.xml"/><Relationship Id="rId5" Type="http://schemas.openxmlformats.org/officeDocument/2006/relationships/image" Target="../media/image26.sv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9BvJY87PSgY"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sv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7.sv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886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 name="Google Shape;643;p43">
            <a:extLst>
              <a:ext uri="{FF2B5EF4-FFF2-40B4-BE49-F238E27FC236}">
                <a16:creationId xmlns:a16="http://schemas.microsoft.com/office/drawing/2014/main" id="{21B44D14-C032-9E7B-6137-9125CF4AE115}"/>
              </a:ext>
            </a:extLst>
          </p:cNvPr>
          <p:cNvSpPr txBox="1">
            <a:spLocks/>
          </p:cNvSpPr>
          <p:nvPr/>
        </p:nvSpPr>
        <p:spPr>
          <a:xfrm>
            <a:off x="1018822" y="1345791"/>
            <a:ext cx="6003459"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200" dirty="0">
                <a:solidFill>
                  <a:srgbClr val="FF161F"/>
                </a:solidFill>
              </a:rPr>
              <a:t>Introdução à Informática</a:t>
            </a:r>
          </a:p>
        </p:txBody>
      </p:sp>
      <p:sp>
        <p:nvSpPr>
          <p:cNvPr id="8" name="Google Shape;643;p43">
            <a:extLst>
              <a:ext uri="{FF2B5EF4-FFF2-40B4-BE49-F238E27FC236}">
                <a16:creationId xmlns:a16="http://schemas.microsoft.com/office/drawing/2014/main" id="{79C53378-5638-4394-B211-79094EBC8787}"/>
              </a:ext>
            </a:extLst>
          </p:cNvPr>
          <p:cNvSpPr txBox="1">
            <a:spLocks/>
          </p:cNvSpPr>
          <p:nvPr/>
        </p:nvSpPr>
        <p:spPr>
          <a:xfrm>
            <a:off x="613181" y="2221967"/>
            <a:ext cx="6814747" cy="469116"/>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4500"/>
              <a:defRPr/>
            </a:pPr>
            <a:r>
              <a:rPr lang="pt-BR" sz="2600" b="1" dirty="0">
                <a:solidFill>
                  <a:schemeClr val="tx1"/>
                </a:solidFill>
                <a:latin typeface="Poppins" panose="00000500000000000000" pitchFamily="2" charset="0"/>
                <a:cs typeface="Poppins" pitchFamily="2" charset="77"/>
              </a:rPr>
              <a:t>Organização digital e produtividade II</a:t>
            </a:r>
          </a:p>
        </p:txBody>
      </p:sp>
      <p:sp>
        <p:nvSpPr>
          <p:cNvPr id="9" name="Google Shape;644;p43">
            <a:extLst>
              <a:ext uri="{FF2B5EF4-FFF2-40B4-BE49-F238E27FC236}">
                <a16:creationId xmlns:a16="http://schemas.microsoft.com/office/drawing/2014/main" id="{B612F43F-1A04-48AE-A3B3-9823407766F9}"/>
              </a:ext>
            </a:extLst>
          </p:cNvPr>
          <p:cNvSpPr txBox="1">
            <a:spLocks/>
          </p:cNvSpPr>
          <p:nvPr/>
        </p:nvSpPr>
        <p:spPr>
          <a:xfrm>
            <a:off x="613179" y="3008121"/>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defTabSz="609630">
              <a:spcBef>
                <a:spcPts val="0"/>
              </a:spcBef>
              <a:buClr>
                <a:srgbClr val="000000"/>
              </a:buClr>
              <a:defRPr/>
            </a:pPr>
            <a:r>
              <a:rPr lang="pt-BR" sz="1800" b="0" dirty="0">
                <a:solidFill>
                  <a:schemeClr val="bg1">
                    <a:lumMod val="75000"/>
                  </a:schemeClr>
                </a:solidFill>
                <a:latin typeface="Poppins Medium" panose="00000600000000000000" pitchFamily="2" charset="0"/>
                <a:cs typeface="Poppins Medium" panose="00000600000000000000" pitchFamily="2" charset="0"/>
              </a:rPr>
              <a:t>Aula 2: Backup e restauração de arquivos</a:t>
            </a:r>
          </a:p>
        </p:txBody>
      </p:sp>
      <p:sp>
        <p:nvSpPr>
          <p:cNvPr id="10" name="Google Shape;644;p43">
            <a:extLst>
              <a:ext uri="{FF2B5EF4-FFF2-40B4-BE49-F238E27FC236}">
                <a16:creationId xmlns:a16="http://schemas.microsoft.com/office/drawing/2014/main" id="{29D62C2D-8EF0-4993-A4E9-775F2B38E16E}"/>
              </a:ext>
            </a:extLst>
          </p:cNvPr>
          <p:cNvSpPr txBox="1">
            <a:spLocks/>
          </p:cNvSpPr>
          <p:nvPr/>
        </p:nvSpPr>
        <p:spPr>
          <a:xfrm>
            <a:off x="613179" y="3650557"/>
            <a:ext cx="6814747" cy="69923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2500"/>
              <a:defRPr/>
            </a:pPr>
            <a:r>
              <a:rPr lang="pt-BR" sz="1800" dirty="0">
                <a:latin typeface="Poppins" panose="00000500000000000000" pitchFamily="2" charset="0"/>
                <a:cs typeface="Poppins"/>
              </a:rPr>
              <a:t>Código da aula: DADOSANO1C1B2S10A2</a:t>
            </a:r>
          </a:p>
        </p:txBody>
      </p:sp>
    </p:spTree>
    <p:extLst>
      <p:ext uri="{BB962C8B-B14F-4D97-AF65-F5344CB8AC3E}">
        <p14:creationId xmlns:p14="http://schemas.microsoft.com/office/powerpoint/2010/main" val="2282162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5D7D75E9-0F4B-DBE3-CC79-711BCF1FE0C8}"/>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1999" r="949"/>
          <a:stretch/>
        </p:blipFill>
        <p:spPr>
          <a:xfrm>
            <a:off x="-5171" y="1336655"/>
            <a:ext cx="12197171" cy="4987270"/>
          </a:xfrm>
          <a:prstGeom prst="rect">
            <a:avLst/>
          </a:prstGeom>
        </p:spPr>
      </p:pic>
      <p:sp>
        <p:nvSpPr>
          <p:cNvPr id="6" name="Google Shape;293;p3">
            <a:extLst>
              <a:ext uri="{FF2B5EF4-FFF2-40B4-BE49-F238E27FC236}">
                <a16:creationId xmlns:a16="http://schemas.microsoft.com/office/drawing/2014/main" id="{EA53E5E4-D3ED-749E-28C3-DEE2A2835353}"/>
              </a:ext>
            </a:extLst>
          </p:cNvPr>
          <p:cNvSpPr/>
          <p:nvPr/>
        </p:nvSpPr>
        <p:spPr>
          <a:xfrm rot="-3438299">
            <a:off x="3101898" y="4687148"/>
            <a:ext cx="210524" cy="210524"/>
          </a:xfrm>
          <a:prstGeom prst="ellipse">
            <a:avLst/>
          </a:prstGeom>
          <a:solidFill>
            <a:schemeClr val="tx1"/>
          </a:solidFill>
          <a:ln>
            <a:noFill/>
          </a:ln>
        </p:spPr>
        <p:txBody>
          <a:bodyPr spcFirstLastPara="1" wrap="square" lIns="60950" tIns="30467" rIns="60950" bIns="30467" anchor="ctr" anchorCtr="0">
            <a:noAutofit/>
          </a:bodyPr>
          <a:lstStyle/>
          <a:p>
            <a:pPr algn="r">
              <a:buSzPts val="2700"/>
            </a:pPr>
            <a:endParaRPr sz="1800" dirty="0">
              <a:solidFill>
                <a:schemeClr val="tx1"/>
              </a:solidFill>
              <a:latin typeface="Calibri"/>
              <a:ea typeface="Calibri"/>
              <a:cs typeface="Calibri"/>
              <a:sym typeface="Calibri"/>
            </a:endParaRPr>
          </a:p>
        </p:txBody>
      </p:sp>
      <p:sp>
        <p:nvSpPr>
          <p:cNvPr id="11" name="Google Shape;298;p3">
            <a:extLst>
              <a:ext uri="{FF2B5EF4-FFF2-40B4-BE49-F238E27FC236}">
                <a16:creationId xmlns:a16="http://schemas.microsoft.com/office/drawing/2014/main" id="{4A2899B7-3121-4E75-668A-D6819BA310CC}"/>
              </a:ext>
            </a:extLst>
          </p:cNvPr>
          <p:cNvSpPr/>
          <p:nvPr/>
        </p:nvSpPr>
        <p:spPr>
          <a:xfrm rot="8953789">
            <a:off x="6038168" y="1499766"/>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5" name="Google Shape;302;p3">
            <a:extLst>
              <a:ext uri="{FF2B5EF4-FFF2-40B4-BE49-F238E27FC236}">
                <a16:creationId xmlns:a16="http://schemas.microsoft.com/office/drawing/2014/main" id="{B526F078-F664-0138-7558-AC45725A848F}"/>
              </a:ext>
            </a:extLst>
          </p:cNvPr>
          <p:cNvSpPr/>
          <p:nvPr/>
        </p:nvSpPr>
        <p:spPr>
          <a:xfrm rot="-4951757">
            <a:off x="7445899" y="244551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6" name="Google Shape;303;p3">
            <a:extLst>
              <a:ext uri="{FF2B5EF4-FFF2-40B4-BE49-F238E27FC236}">
                <a16:creationId xmlns:a16="http://schemas.microsoft.com/office/drawing/2014/main" id="{F56660FF-75DD-636F-27CC-F8F675E987DE}"/>
              </a:ext>
            </a:extLst>
          </p:cNvPr>
          <p:cNvSpPr/>
          <p:nvPr/>
        </p:nvSpPr>
        <p:spPr>
          <a:xfrm rot="-2290074">
            <a:off x="8128877" y="5906090"/>
            <a:ext cx="210524" cy="210524"/>
          </a:xfrm>
          <a:prstGeom prst="ellipse">
            <a:avLst/>
          </a:prstGeom>
          <a:solidFill>
            <a:srgbClr val="FF0000"/>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21" name="Google Shape;308;p3">
            <a:extLst>
              <a:ext uri="{FF2B5EF4-FFF2-40B4-BE49-F238E27FC236}">
                <a16:creationId xmlns:a16="http://schemas.microsoft.com/office/drawing/2014/main" id="{4808A2D2-A4FC-3D56-47CE-166BBAB51C4E}"/>
              </a:ext>
            </a:extLst>
          </p:cNvPr>
          <p:cNvSpPr/>
          <p:nvPr/>
        </p:nvSpPr>
        <p:spPr>
          <a:xfrm rot="4160691">
            <a:off x="9504311" y="402326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grpSp>
        <p:nvGrpSpPr>
          <p:cNvPr id="49" name="Agrupar 48">
            <a:extLst>
              <a:ext uri="{FF2B5EF4-FFF2-40B4-BE49-F238E27FC236}">
                <a16:creationId xmlns:a16="http://schemas.microsoft.com/office/drawing/2014/main" id="{2ADF4355-9ECC-B4E2-9FBC-DA12643DF645}"/>
              </a:ext>
            </a:extLst>
          </p:cNvPr>
          <p:cNvGrpSpPr/>
          <p:nvPr/>
        </p:nvGrpSpPr>
        <p:grpSpPr>
          <a:xfrm>
            <a:off x="587293" y="1657363"/>
            <a:ext cx="11429063" cy="4353397"/>
            <a:chOff x="880938" y="2486044"/>
            <a:chExt cx="17143595" cy="6530095"/>
          </a:xfrm>
          <a:solidFill>
            <a:srgbClr val="3E3593"/>
          </a:solidFill>
        </p:grpSpPr>
        <p:sp>
          <p:nvSpPr>
            <p:cNvPr id="3" name="Google Shape;290;p3">
              <a:extLst>
                <a:ext uri="{FF2B5EF4-FFF2-40B4-BE49-F238E27FC236}">
                  <a16:creationId xmlns:a16="http://schemas.microsoft.com/office/drawing/2014/main" id="{AE89209E-AD43-F36B-EC55-50B97549360D}"/>
                </a:ext>
              </a:extLst>
            </p:cNvPr>
            <p:cNvSpPr/>
            <p:nvPr/>
          </p:nvSpPr>
          <p:spPr>
            <a:xfrm>
              <a:off x="880938"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4" name="Google Shape;291;p3">
              <a:extLst>
                <a:ext uri="{FF2B5EF4-FFF2-40B4-BE49-F238E27FC236}">
                  <a16:creationId xmlns:a16="http://schemas.microsoft.com/office/drawing/2014/main" id="{EB71AE8F-D310-98D6-CA71-79035040DEC1}"/>
                </a:ext>
              </a:extLst>
            </p:cNvPr>
            <p:cNvSpPr/>
            <p:nvPr/>
          </p:nvSpPr>
          <p:spPr>
            <a:xfrm>
              <a:off x="2332293"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5" name="Google Shape;292;p3">
              <a:extLst>
                <a:ext uri="{FF2B5EF4-FFF2-40B4-BE49-F238E27FC236}">
                  <a16:creationId xmlns:a16="http://schemas.microsoft.com/office/drawing/2014/main" id="{6C307A4F-094A-23FC-557D-912DF9A29E01}"/>
                </a:ext>
              </a:extLst>
            </p:cNvPr>
            <p:cNvSpPr/>
            <p:nvPr/>
          </p:nvSpPr>
          <p:spPr>
            <a:xfrm>
              <a:off x="3751845" y="8108805"/>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7" name="Google Shape;294;p3">
              <a:extLst>
                <a:ext uri="{FF2B5EF4-FFF2-40B4-BE49-F238E27FC236}">
                  <a16:creationId xmlns:a16="http://schemas.microsoft.com/office/drawing/2014/main" id="{916F17AB-B0F5-C1FB-97C4-50122119F3CA}"/>
                </a:ext>
              </a:extLst>
            </p:cNvPr>
            <p:cNvSpPr/>
            <p:nvPr/>
          </p:nvSpPr>
          <p:spPr>
            <a:xfrm rot="-3438299">
              <a:off x="5201643" y="5679995"/>
              <a:ext cx="315786" cy="315786"/>
            </a:xfrm>
            <a:prstGeom prst="ellipse">
              <a:avLst/>
            </a:prstGeom>
            <a:grpFill/>
            <a:ln>
              <a:noFill/>
            </a:ln>
          </p:spPr>
          <p:txBody>
            <a:bodyPr spcFirstLastPara="1" wrap="square" lIns="60950" tIns="30467" rIns="60950" bIns="30467" anchor="ctr" anchorCtr="0">
              <a:noAutofit/>
            </a:bodyPr>
            <a:lstStyle/>
            <a:p>
              <a:pPr algn="r">
                <a:buSzPts val="2700"/>
              </a:pPr>
              <a:endParaRPr sz="1800" dirty="0">
                <a:solidFill>
                  <a:srgbClr val="E38099"/>
                </a:solidFill>
                <a:latin typeface="Calibri"/>
                <a:ea typeface="Calibri"/>
                <a:cs typeface="Calibri"/>
                <a:sym typeface="Calibri"/>
              </a:endParaRPr>
            </a:p>
          </p:txBody>
        </p:sp>
        <p:sp>
          <p:nvSpPr>
            <p:cNvPr id="8" name="Google Shape;295;p3">
              <a:extLst>
                <a:ext uri="{FF2B5EF4-FFF2-40B4-BE49-F238E27FC236}">
                  <a16:creationId xmlns:a16="http://schemas.microsoft.com/office/drawing/2014/main" id="{0A8D9351-46FD-D23A-3037-C46C45F92D91}"/>
                </a:ext>
              </a:extLst>
            </p:cNvPr>
            <p:cNvSpPr/>
            <p:nvPr/>
          </p:nvSpPr>
          <p:spPr>
            <a:xfrm rot="-911770">
              <a:off x="6624186" y="541966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9" name="Google Shape;296;p3">
              <a:extLst>
                <a:ext uri="{FF2B5EF4-FFF2-40B4-BE49-F238E27FC236}">
                  <a16:creationId xmlns:a16="http://schemas.microsoft.com/office/drawing/2014/main" id="{22631971-8A49-57CD-7FBA-7BE977CEAB6E}"/>
                </a:ext>
              </a:extLst>
            </p:cNvPr>
            <p:cNvSpPr/>
            <p:nvPr/>
          </p:nvSpPr>
          <p:spPr>
            <a:xfrm rot="-911770">
              <a:off x="7693774" y="475130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0" name="Google Shape;297;p3">
              <a:extLst>
                <a:ext uri="{FF2B5EF4-FFF2-40B4-BE49-F238E27FC236}">
                  <a16:creationId xmlns:a16="http://schemas.microsoft.com/office/drawing/2014/main" id="{50D90645-AF57-FEAD-2749-2B51069E1233}"/>
                </a:ext>
              </a:extLst>
            </p:cNvPr>
            <p:cNvSpPr/>
            <p:nvPr/>
          </p:nvSpPr>
          <p:spPr>
            <a:xfrm rot="8953789">
              <a:off x="10518635" y="248604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2" name="Google Shape;299;p3">
              <a:extLst>
                <a:ext uri="{FF2B5EF4-FFF2-40B4-BE49-F238E27FC236}">
                  <a16:creationId xmlns:a16="http://schemas.microsoft.com/office/drawing/2014/main" id="{9B89F5CA-3CF3-066E-9671-313FE3DA7DD3}"/>
                </a:ext>
              </a:extLst>
            </p:cNvPr>
            <p:cNvSpPr/>
            <p:nvPr/>
          </p:nvSpPr>
          <p:spPr>
            <a:xfrm rot="8953789">
              <a:off x="8026134" y="314839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3" name="Google Shape;300;p3">
              <a:extLst>
                <a:ext uri="{FF2B5EF4-FFF2-40B4-BE49-F238E27FC236}">
                  <a16:creationId xmlns:a16="http://schemas.microsoft.com/office/drawing/2014/main" id="{99644665-3712-5F2D-5826-629ED5D6892B}"/>
                </a:ext>
              </a:extLst>
            </p:cNvPr>
            <p:cNvSpPr/>
            <p:nvPr/>
          </p:nvSpPr>
          <p:spPr>
            <a:xfrm rot="-4951757">
              <a:off x="11180603" y="650909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4" name="Google Shape;301;p3">
              <a:extLst>
                <a:ext uri="{FF2B5EF4-FFF2-40B4-BE49-F238E27FC236}">
                  <a16:creationId xmlns:a16="http://schemas.microsoft.com/office/drawing/2014/main" id="{28D0CE33-4442-076D-969F-E0A34D86FAFE}"/>
                </a:ext>
              </a:extLst>
            </p:cNvPr>
            <p:cNvSpPr/>
            <p:nvPr/>
          </p:nvSpPr>
          <p:spPr>
            <a:xfrm rot="-4951757">
              <a:off x="11209817" y="5070056"/>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7" name="Google Shape;304;p3">
              <a:extLst>
                <a:ext uri="{FF2B5EF4-FFF2-40B4-BE49-F238E27FC236}">
                  <a16:creationId xmlns:a16="http://schemas.microsoft.com/office/drawing/2014/main" id="{29001061-2B4E-2A97-25E1-E7EF16B56B34}"/>
                </a:ext>
              </a:extLst>
            </p:cNvPr>
            <p:cNvSpPr/>
            <p:nvPr/>
          </p:nvSpPr>
          <p:spPr>
            <a:xfrm rot="-2290074">
              <a:off x="13545995" y="8700353"/>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8" name="Google Shape;305;p3">
              <a:extLst>
                <a:ext uri="{FF2B5EF4-FFF2-40B4-BE49-F238E27FC236}">
                  <a16:creationId xmlns:a16="http://schemas.microsoft.com/office/drawing/2014/main" id="{1F0E5483-CD99-2945-FC23-E3806E0A67D1}"/>
                </a:ext>
              </a:extLst>
            </p:cNvPr>
            <p:cNvSpPr/>
            <p:nvPr/>
          </p:nvSpPr>
          <p:spPr>
            <a:xfrm rot="-2290074">
              <a:off x="14277272" y="752483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9" name="Google Shape;306;p3">
              <a:extLst>
                <a:ext uri="{FF2B5EF4-FFF2-40B4-BE49-F238E27FC236}">
                  <a16:creationId xmlns:a16="http://schemas.microsoft.com/office/drawing/2014/main" id="{04211789-F56F-C23C-C247-0FAC2D857D69}"/>
                </a:ext>
              </a:extLst>
            </p:cNvPr>
            <p:cNvSpPr/>
            <p:nvPr/>
          </p:nvSpPr>
          <p:spPr>
            <a:xfrm rot="5404380">
              <a:off x="11261456" y="797140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0" name="Google Shape;307;p3">
              <a:extLst>
                <a:ext uri="{FF2B5EF4-FFF2-40B4-BE49-F238E27FC236}">
                  <a16:creationId xmlns:a16="http://schemas.microsoft.com/office/drawing/2014/main" id="{52CFE4AB-8A58-6560-93BB-FE230AD3F22F}"/>
                </a:ext>
              </a:extLst>
            </p:cNvPr>
            <p:cNvSpPr/>
            <p:nvPr/>
          </p:nvSpPr>
          <p:spPr>
            <a:xfrm rot="4160691">
              <a:off x="14897363" y="488467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2" name="Google Shape;309;p3">
              <a:extLst>
                <a:ext uri="{FF2B5EF4-FFF2-40B4-BE49-F238E27FC236}">
                  <a16:creationId xmlns:a16="http://schemas.microsoft.com/office/drawing/2014/main" id="{5126F024-2398-EBCB-6024-73271DC2FCE8}"/>
                </a:ext>
              </a:extLst>
            </p:cNvPr>
            <p:cNvSpPr/>
            <p:nvPr/>
          </p:nvSpPr>
          <p:spPr>
            <a:xfrm rot="-9744855">
              <a:off x="17708747" y="475701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3" name="Google Shape;310;p3">
              <a:extLst>
                <a:ext uri="{FF2B5EF4-FFF2-40B4-BE49-F238E27FC236}">
                  <a16:creationId xmlns:a16="http://schemas.microsoft.com/office/drawing/2014/main" id="{3DAC69B2-F4BA-1C4E-B6AB-7423C4FE510B}"/>
                </a:ext>
              </a:extLst>
            </p:cNvPr>
            <p:cNvSpPr/>
            <p:nvPr/>
          </p:nvSpPr>
          <p:spPr>
            <a:xfrm rot="-9744855">
              <a:off x="16321559" y="4758488"/>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grpSp>
      <p:sp>
        <p:nvSpPr>
          <p:cNvPr id="24" name="Google Shape;311;p3">
            <a:extLst>
              <a:ext uri="{FF2B5EF4-FFF2-40B4-BE49-F238E27FC236}">
                <a16:creationId xmlns:a16="http://schemas.microsoft.com/office/drawing/2014/main" id="{C009BA89-22BC-CFB4-3C0E-83100D24268B}"/>
              </a:ext>
            </a:extLst>
          </p:cNvPr>
          <p:cNvSpPr/>
          <p:nvPr/>
        </p:nvSpPr>
        <p:spPr>
          <a:xfrm>
            <a:off x="2933526" y="2830191"/>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7</a:t>
            </a:r>
            <a:endParaRPr sz="2000" dirty="0">
              <a:solidFill>
                <a:srgbClr val="FFFFFF"/>
              </a:solidFill>
              <a:latin typeface="Calibri"/>
              <a:ea typeface="Calibri"/>
              <a:cs typeface="Calibri"/>
              <a:sym typeface="Calibri"/>
            </a:endParaRPr>
          </a:p>
        </p:txBody>
      </p:sp>
      <p:cxnSp>
        <p:nvCxnSpPr>
          <p:cNvPr id="25" name="Google Shape;312;p3">
            <a:extLst>
              <a:ext uri="{FF2B5EF4-FFF2-40B4-BE49-F238E27FC236}">
                <a16:creationId xmlns:a16="http://schemas.microsoft.com/office/drawing/2014/main" id="{D8F92167-29C2-CA3E-0AD6-79D50CFE9919}"/>
              </a:ext>
            </a:extLst>
          </p:cNvPr>
          <p:cNvCxnSpPr>
            <a:cxnSpLocks/>
            <a:stCxn id="24" idx="4"/>
          </p:cNvCxnSpPr>
          <p:nvPr/>
        </p:nvCxnSpPr>
        <p:spPr>
          <a:xfrm>
            <a:off x="3201572" y="3366284"/>
            <a:ext cx="89" cy="1323283"/>
          </a:xfrm>
          <a:prstGeom prst="straightConnector1">
            <a:avLst/>
          </a:prstGeom>
          <a:noFill/>
          <a:ln w="9525" cap="flat" cmpd="sng">
            <a:solidFill>
              <a:schemeClr val="tx1"/>
            </a:solidFill>
            <a:prstDash val="solid"/>
            <a:round/>
            <a:headEnd type="none" w="sm" len="sm"/>
            <a:tailEnd type="none" w="sm" len="sm"/>
          </a:ln>
        </p:spPr>
      </p:cxnSp>
      <p:cxnSp>
        <p:nvCxnSpPr>
          <p:cNvPr id="28" name="Google Shape;315;p3">
            <a:extLst>
              <a:ext uri="{FF2B5EF4-FFF2-40B4-BE49-F238E27FC236}">
                <a16:creationId xmlns:a16="http://schemas.microsoft.com/office/drawing/2014/main" id="{AE113DAB-1467-3300-D48F-76A846FDA5DB}"/>
              </a:ext>
            </a:extLst>
          </p:cNvPr>
          <p:cNvCxnSpPr>
            <a:cxnSpLocks/>
            <a:endCxn id="16" idx="1"/>
          </p:cNvCxnSpPr>
          <p:nvPr/>
        </p:nvCxnSpPr>
        <p:spPr>
          <a:xfrm flipV="1">
            <a:off x="7013622" y="5998830"/>
            <a:ext cx="1116003" cy="15420"/>
          </a:xfrm>
          <a:prstGeom prst="straightConnector1">
            <a:avLst/>
          </a:prstGeom>
          <a:noFill/>
          <a:ln w="9525" cap="flat" cmpd="sng">
            <a:solidFill>
              <a:srgbClr val="FF0000"/>
            </a:solidFill>
            <a:prstDash val="solid"/>
            <a:round/>
            <a:headEnd type="none" w="sm" len="sm"/>
            <a:tailEnd type="none" w="sm" len="sm"/>
          </a:ln>
        </p:spPr>
      </p:cxnSp>
      <p:sp>
        <p:nvSpPr>
          <p:cNvPr id="30" name="Google Shape;317;p3">
            <a:extLst>
              <a:ext uri="{FF2B5EF4-FFF2-40B4-BE49-F238E27FC236}">
                <a16:creationId xmlns:a16="http://schemas.microsoft.com/office/drawing/2014/main" id="{BC591161-98D6-0211-EA98-799357E38698}"/>
              </a:ext>
            </a:extLst>
          </p:cNvPr>
          <p:cNvSpPr/>
          <p:nvPr/>
        </p:nvSpPr>
        <p:spPr>
          <a:xfrm>
            <a:off x="5860040" y="62685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8</a:t>
            </a:r>
            <a:endParaRPr sz="2000" dirty="0">
              <a:solidFill>
                <a:srgbClr val="FFFFFF"/>
              </a:solidFill>
              <a:latin typeface="Calibri"/>
              <a:ea typeface="Calibri"/>
              <a:cs typeface="Calibri"/>
              <a:sym typeface="Calibri"/>
            </a:endParaRPr>
          </a:p>
        </p:txBody>
      </p:sp>
      <p:cxnSp>
        <p:nvCxnSpPr>
          <p:cNvPr id="31" name="Google Shape;318;p3">
            <a:extLst>
              <a:ext uri="{FF2B5EF4-FFF2-40B4-BE49-F238E27FC236}">
                <a16:creationId xmlns:a16="http://schemas.microsoft.com/office/drawing/2014/main" id="{1E1ABABF-EEF2-4B32-8408-6EC59AAD3800}"/>
              </a:ext>
            </a:extLst>
          </p:cNvPr>
          <p:cNvCxnSpPr>
            <a:cxnSpLocks/>
            <a:stCxn id="30" idx="4"/>
            <a:endCxn id="11" idx="7"/>
          </p:cNvCxnSpPr>
          <p:nvPr/>
        </p:nvCxnSpPr>
        <p:spPr>
          <a:xfrm flipH="1">
            <a:off x="6117555" y="1162945"/>
            <a:ext cx="10531" cy="544115"/>
          </a:xfrm>
          <a:prstGeom prst="straightConnector1">
            <a:avLst/>
          </a:prstGeom>
          <a:noFill/>
          <a:ln w="9525" cap="flat" cmpd="sng">
            <a:solidFill>
              <a:schemeClr val="tx1"/>
            </a:solidFill>
            <a:prstDash val="solid"/>
            <a:round/>
            <a:headEnd type="none" w="sm" len="sm"/>
            <a:tailEnd type="none" w="sm" len="sm"/>
          </a:ln>
        </p:spPr>
      </p:cxnSp>
      <p:sp>
        <p:nvSpPr>
          <p:cNvPr id="33" name="Google Shape;320;p3">
            <a:extLst>
              <a:ext uri="{FF2B5EF4-FFF2-40B4-BE49-F238E27FC236}">
                <a16:creationId xmlns:a16="http://schemas.microsoft.com/office/drawing/2014/main" id="{9B8FDE68-E380-EB27-40EA-3B826FED28DE}"/>
              </a:ext>
            </a:extLst>
          </p:cNvPr>
          <p:cNvSpPr/>
          <p:nvPr/>
        </p:nvSpPr>
        <p:spPr>
          <a:xfrm>
            <a:off x="8025148" y="168813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9</a:t>
            </a:r>
            <a:endParaRPr sz="2000" dirty="0">
              <a:solidFill>
                <a:srgbClr val="FFFFFF"/>
              </a:solidFill>
              <a:latin typeface="Calibri"/>
              <a:ea typeface="Calibri"/>
              <a:cs typeface="Calibri"/>
              <a:sym typeface="Calibri"/>
            </a:endParaRPr>
          </a:p>
        </p:txBody>
      </p:sp>
      <p:cxnSp>
        <p:nvCxnSpPr>
          <p:cNvPr id="34" name="Google Shape;321;p3">
            <a:extLst>
              <a:ext uri="{FF2B5EF4-FFF2-40B4-BE49-F238E27FC236}">
                <a16:creationId xmlns:a16="http://schemas.microsoft.com/office/drawing/2014/main" id="{C0E391BB-50C3-FED4-8AA1-8F92A5936C6B}"/>
              </a:ext>
            </a:extLst>
          </p:cNvPr>
          <p:cNvCxnSpPr>
            <a:cxnSpLocks/>
            <a:stCxn id="33" idx="3"/>
            <a:endCxn id="15" idx="5"/>
          </p:cNvCxnSpPr>
          <p:nvPr/>
        </p:nvCxnSpPr>
        <p:spPr>
          <a:xfrm flipH="1">
            <a:off x="7634639" y="2145716"/>
            <a:ext cx="469019" cy="340942"/>
          </a:xfrm>
          <a:prstGeom prst="straightConnector1">
            <a:avLst/>
          </a:prstGeom>
          <a:noFill/>
          <a:ln w="9525" cap="flat" cmpd="sng">
            <a:solidFill>
              <a:schemeClr val="tx1"/>
            </a:solidFill>
            <a:prstDash val="solid"/>
            <a:round/>
            <a:headEnd type="none" w="sm" len="sm"/>
            <a:tailEnd type="none" w="sm" len="sm"/>
          </a:ln>
        </p:spPr>
      </p:cxnSp>
      <p:pic>
        <p:nvPicPr>
          <p:cNvPr id="38" name="Google Shape;325;p3">
            <a:extLst>
              <a:ext uri="{FF2B5EF4-FFF2-40B4-BE49-F238E27FC236}">
                <a16:creationId xmlns:a16="http://schemas.microsoft.com/office/drawing/2014/main" id="{9B875051-FE9F-A696-248F-67EFDD495C14}"/>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18723761">
            <a:off x="7890945" y="1533230"/>
            <a:ext cx="595814" cy="351746"/>
          </a:xfrm>
          <a:prstGeom prst="rect">
            <a:avLst/>
          </a:prstGeom>
          <a:noFill/>
          <a:ln>
            <a:noFill/>
          </a:ln>
        </p:spPr>
      </p:pic>
      <p:pic>
        <p:nvPicPr>
          <p:cNvPr id="39"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10072805" y="3716052"/>
            <a:ext cx="595814" cy="351746"/>
          </a:xfrm>
          <a:prstGeom prst="rect">
            <a:avLst/>
          </a:prstGeom>
          <a:noFill/>
          <a:ln>
            <a:noFill/>
          </a:ln>
        </p:spPr>
      </p:pic>
      <p:pic>
        <p:nvPicPr>
          <p:cNvPr id="40" name="Google Shape;327;p3">
            <a:extLst>
              <a:ext uri="{FF2B5EF4-FFF2-40B4-BE49-F238E27FC236}">
                <a16:creationId xmlns:a16="http://schemas.microsoft.com/office/drawing/2014/main" id="{14D81371-99D7-4FAA-B842-A3B7E1B4A643}"/>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5730774" y="483267"/>
            <a:ext cx="595814" cy="351746"/>
          </a:xfrm>
          <a:prstGeom prst="rect">
            <a:avLst/>
          </a:prstGeom>
          <a:noFill/>
          <a:ln>
            <a:noFill/>
          </a:ln>
        </p:spPr>
      </p:pic>
      <p:sp>
        <p:nvSpPr>
          <p:cNvPr id="45" name="Google Shape;332;p3">
            <a:extLst>
              <a:ext uri="{FF2B5EF4-FFF2-40B4-BE49-F238E27FC236}">
                <a16:creationId xmlns:a16="http://schemas.microsoft.com/office/drawing/2014/main" id="{20D05082-7FE0-9C08-E511-E5ABF433E1FA}"/>
              </a:ext>
            </a:extLst>
          </p:cNvPr>
          <p:cNvSpPr/>
          <p:nvPr/>
        </p:nvSpPr>
        <p:spPr>
          <a:xfrm>
            <a:off x="10174052" y="3851166"/>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11</a:t>
            </a:r>
            <a:endParaRPr sz="2000" dirty="0">
              <a:solidFill>
                <a:srgbClr val="FFFFFF"/>
              </a:solidFill>
              <a:latin typeface="Calibri"/>
              <a:ea typeface="Calibri"/>
              <a:cs typeface="Calibri"/>
              <a:sym typeface="Calibri"/>
            </a:endParaRPr>
          </a:p>
        </p:txBody>
      </p:sp>
      <p:cxnSp>
        <p:nvCxnSpPr>
          <p:cNvPr id="46" name="Google Shape;333;p3">
            <a:extLst>
              <a:ext uri="{FF2B5EF4-FFF2-40B4-BE49-F238E27FC236}">
                <a16:creationId xmlns:a16="http://schemas.microsoft.com/office/drawing/2014/main" id="{0DF76807-11D9-D815-F260-1D7E45733370}"/>
              </a:ext>
            </a:extLst>
          </p:cNvPr>
          <p:cNvCxnSpPr>
            <a:cxnSpLocks/>
            <a:stCxn id="45" idx="2"/>
          </p:cNvCxnSpPr>
          <p:nvPr/>
        </p:nvCxnSpPr>
        <p:spPr>
          <a:xfrm flipH="1">
            <a:off x="9579615" y="4119213"/>
            <a:ext cx="594436" cy="12271"/>
          </a:xfrm>
          <a:prstGeom prst="straightConnector1">
            <a:avLst/>
          </a:prstGeom>
          <a:noFill/>
          <a:ln w="9525" cap="flat" cmpd="sng">
            <a:solidFill>
              <a:schemeClr val="tx1"/>
            </a:solidFill>
            <a:prstDash val="solid"/>
            <a:round/>
            <a:headEnd type="none" w="sm" len="sm"/>
            <a:tailEnd type="none" w="sm" len="sm"/>
          </a:ln>
        </p:spPr>
      </p:cxnSp>
      <p:sp>
        <p:nvSpPr>
          <p:cNvPr id="50" name="Google Shape;313;p3">
            <a:extLst>
              <a:ext uri="{FF2B5EF4-FFF2-40B4-BE49-F238E27FC236}">
                <a16:creationId xmlns:a16="http://schemas.microsoft.com/office/drawing/2014/main" id="{2534AD05-DEC5-F97B-ADD8-DA0028DFF764}"/>
              </a:ext>
            </a:extLst>
          </p:cNvPr>
          <p:cNvSpPr txBox="1"/>
          <p:nvPr/>
        </p:nvSpPr>
        <p:spPr>
          <a:xfrm>
            <a:off x="132384" y="3333328"/>
            <a:ext cx="2832564" cy="584749"/>
          </a:xfrm>
          <a:prstGeom prst="rect">
            <a:avLst/>
          </a:prstGeom>
          <a:noFill/>
          <a:ln>
            <a:noFill/>
          </a:ln>
        </p:spPr>
        <p:txBody>
          <a:bodyPr spcFirstLastPara="1" wrap="square" lIns="60950" tIns="30467" rIns="60950" bIns="30467" anchor="t" anchorCtr="0">
            <a:spAutoFit/>
          </a:bodyPr>
          <a:lstStyle/>
          <a:p>
            <a:pPr algn="r">
              <a:buSzPts val="2250"/>
            </a:pPr>
            <a:r>
              <a:rPr lang="pt-BR" sz="1700" dirty="0">
                <a:latin typeface="Poppins" pitchFamily="2" charset="77"/>
                <a:ea typeface="Poppins Light"/>
                <a:cs typeface="Poppins" pitchFamily="2" charset="77"/>
                <a:sym typeface="Poppins Light"/>
              </a:rPr>
              <a:t>Redes e dispositivos de conectividade</a:t>
            </a:r>
          </a:p>
        </p:txBody>
      </p:sp>
      <p:sp>
        <p:nvSpPr>
          <p:cNvPr id="51" name="Google Shape;316;p3">
            <a:extLst>
              <a:ext uri="{FF2B5EF4-FFF2-40B4-BE49-F238E27FC236}">
                <a16:creationId xmlns:a16="http://schemas.microsoft.com/office/drawing/2014/main" id="{0E40C7D1-B07D-7607-3919-E959E42D9AE8}"/>
              </a:ext>
            </a:extLst>
          </p:cNvPr>
          <p:cNvSpPr txBox="1"/>
          <p:nvPr/>
        </p:nvSpPr>
        <p:spPr>
          <a:xfrm>
            <a:off x="4006963" y="5757692"/>
            <a:ext cx="2454965" cy="584749"/>
          </a:xfrm>
          <a:prstGeom prst="rect">
            <a:avLst/>
          </a:prstGeom>
          <a:noFill/>
          <a:ln>
            <a:noFill/>
          </a:ln>
        </p:spPr>
        <p:txBody>
          <a:bodyPr spcFirstLastPara="1" wrap="square" lIns="60950" tIns="30467" rIns="60950" bIns="30467" anchor="t" anchorCtr="0">
            <a:spAutoFit/>
          </a:bodyPr>
          <a:lstStyle/>
          <a:p>
            <a:pPr algn="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52" name="Google Shape;319;p3">
            <a:extLst>
              <a:ext uri="{FF2B5EF4-FFF2-40B4-BE49-F238E27FC236}">
                <a16:creationId xmlns:a16="http://schemas.microsoft.com/office/drawing/2014/main" id="{C7EBBC61-12C1-8FD9-FE3E-95B596546E94}"/>
              </a:ext>
            </a:extLst>
          </p:cNvPr>
          <p:cNvSpPr txBox="1"/>
          <p:nvPr/>
        </p:nvSpPr>
        <p:spPr>
          <a:xfrm>
            <a:off x="6510730" y="504694"/>
            <a:ext cx="3526107"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Endereçamento e protocolos de rede</a:t>
            </a:r>
          </a:p>
        </p:txBody>
      </p:sp>
      <p:sp>
        <p:nvSpPr>
          <p:cNvPr id="53" name="Google Shape;322;p3">
            <a:extLst>
              <a:ext uri="{FF2B5EF4-FFF2-40B4-BE49-F238E27FC236}">
                <a16:creationId xmlns:a16="http://schemas.microsoft.com/office/drawing/2014/main" id="{E937EEE7-8AD5-0965-AFEF-7972D3B0E0C6}"/>
              </a:ext>
            </a:extLst>
          </p:cNvPr>
          <p:cNvSpPr txBox="1"/>
          <p:nvPr/>
        </p:nvSpPr>
        <p:spPr>
          <a:xfrm>
            <a:off x="8673545" y="1652519"/>
            <a:ext cx="275645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a:t>
            </a:r>
          </a:p>
        </p:txBody>
      </p:sp>
      <p:sp>
        <p:nvSpPr>
          <p:cNvPr id="57" name="Google Shape;335;p3">
            <a:extLst>
              <a:ext uri="{FF2B5EF4-FFF2-40B4-BE49-F238E27FC236}">
                <a16:creationId xmlns:a16="http://schemas.microsoft.com/office/drawing/2014/main" id="{27DF6EEE-ABB9-F21D-DC51-574CA07674FA}"/>
              </a:ext>
            </a:extLst>
          </p:cNvPr>
          <p:cNvSpPr txBox="1"/>
          <p:nvPr/>
        </p:nvSpPr>
        <p:spPr>
          <a:xfrm>
            <a:off x="9949272" y="4530800"/>
            <a:ext cx="209334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Ferramentas de escritório I</a:t>
            </a:r>
            <a:endParaRPr lang="pt-BR" sz="1700" dirty="0">
              <a:latin typeface="Poppins" pitchFamily="2" charset="77"/>
              <a:cs typeface="Poppins" pitchFamily="2" charset="77"/>
            </a:endParaRPr>
          </a:p>
        </p:txBody>
      </p:sp>
      <p:sp>
        <p:nvSpPr>
          <p:cNvPr id="27" name="Google Shape;314;p3">
            <a:extLst>
              <a:ext uri="{FF2B5EF4-FFF2-40B4-BE49-F238E27FC236}">
                <a16:creationId xmlns:a16="http://schemas.microsoft.com/office/drawing/2014/main" id="{4001D8D6-34F2-D9E9-BFE3-F0D9953EABE5}"/>
              </a:ext>
            </a:extLst>
          </p:cNvPr>
          <p:cNvSpPr/>
          <p:nvPr/>
        </p:nvSpPr>
        <p:spPr>
          <a:xfrm>
            <a:off x="6649008" y="5735630"/>
            <a:ext cx="536093" cy="536093"/>
          </a:xfrm>
          <a:prstGeom prst="ellipse">
            <a:avLst/>
          </a:prstGeom>
          <a:solidFill>
            <a:srgbClr val="FF0000"/>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10</a:t>
            </a:r>
            <a:endParaRPr sz="2000" dirty="0">
              <a:solidFill>
                <a:srgbClr val="FFFFFF"/>
              </a:solidFill>
              <a:latin typeface="Calibri"/>
              <a:ea typeface="Calibri"/>
              <a:cs typeface="Calibri"/>
              <a:sym typeface="Calibri"/>
            </a:endParaRPr>
          </a:p>
        </p:txBody>
      </p:sp>
      <p:sp>
        <p:nvSpPr>
          <p:cNvPr id="29" name="Google Shape;323;p3">
            <a:extLst>
              <a:ext uri="{FF2B5EF4-FFF2-40B4-BE49-F238E27FC236}">
                <a16:creationId xmlns:a16="http://schemas.microsoft.com/office/drawing/2014/main" id="{7B57060B-3C4F-2A46-EE0E-178F4AEDFD7B}"/>
              </a:ext>
            </a:extLst>
          </p:cNvPr>
          <p:cNvSpPr txBox="1"/>
          <p:nvPr/>
        </p:nvSpPr>
        <p:spPr>
          <a:xfrm>
            <a:off x="4729240" y="5424291"/>
            <a:ext cx="1728649" cy="276973"/>
          </a:xfrm>
          <a:prstGeom prst="rect">
            <a:avLst/>
          </a:prstGeom>
          <a:noFill/>
          <a:ln>
            <a:noFill/>
          </a:ln>
        </p:spPr>
        <p:txBody>
          <a:bodyPr spcFirstLastPara="1" wrap="square" lIns="60950" tIns="30467" rIns="60950" bIns="30467" anchor="t" anchorCtr="0">
            <a:spAutoFit/>
          </a:bodyPr>
          <a:lstStyle/>
          <a:p>
            <a:pPr algn="r">
              <a:buSzPts val="1800"/>
            </a:pPr>
            <a:r>
              <a:rPr lang="pt-BR" sz="1400" b="1" dirty="0">
                <a:solidFill>
                  <a:srgbClr val="FA161E"/>
                </a:solidFill>
                <a:latin typeface="Poppins"/>
                <a:ea typeface="Poppins"/>
                <a:cs typeface="Poppins"/>
                <a:sym typeface="Poppins"/>
              </a:rPr>
              <a:t>Você está aqui!</a:t>
            </a:r>
            <a:endParaRPr sz="1400" dirty="0"/>
          </a:p>
        </p:txBody>
      </p:sp>
      <p:pic>
        <p:nvPicPr>
          <p:cNvPr id="56" name="Google Shape;324;p3">
            <a:extLst>
              <a:ext uri="{FF2B5EF4-FFF2-40B4-BE49-F238E27FC236}">
                <a16:creationId xmlns:a16="http://schemas.microsoft.com/office/drawing/2014/main" id="{2AC5785F-8AC1-DC32-1160-39BF253736D4}"/>
              </a:ext>
            </a:extLst>
          </p:cNvPr>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rot="-2744266">
            <a:off x="6553043" y="5566094"/>
            <a:ext cx="595814" cy="351746"/>
          </a:xfrm>
          <a:prstGeom prst="rect">
            <a:avLst/>
          </a:prstGeom>
          <a:noFill/>
          <a:ln>
            <a:noFill/>
          </a:ln>
        </p:spPr>
      </p:pic>
      <p:pic>
        <p:nvPicPr>
          <p:cNvPr id="58"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2837257" y="2684184"/>
            <a:ext cx="595814" cy="351746"/>
          </a:xfrm>
          <a:prstGeom prst="rect">
            <a:avLst/>
          </a:prstGeom>
          <a:noFill/>
          <a:ln>
            <a:noFill/>
          </a:ln>
        </p:spPr>
      </p:pic>
      <p:sp>
        <p:nvSpPr>
          <p:cNvPr id="32" name="Retângulo: Cantos Arredondados 31">
            <a:extLst>
              <a:ext uri="{FF2B5EF4-FFF2-40B4-BE49-F238E27FC236}">
                <a16:creationId xmlns:a16="http://schemas.microsoft.com/office/drawing/2014/main" id="{C3D1B657-A128-44D2-089F-18465D79CD4F}"/>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Google Shape;329;p3">
            <a:extLst>
              <a:ext uri="{FF2B5EF4-FFF2-40B4-BE49-F238E27FC236}">
                <a16:creationId xmlns:a16="http://schemas.microsoft.com/office/drawing/2014/main" id="{42432261-8224-FC2F-91DE-2B3F3938C0F3}"/>
              </a:ext>
            </a:extLst>
          </p:cNvPr>
          <p:cNvSpPr txBox="1"/>
          <p:nvPr/>
        </p:nvSpPr>
        <p:spPr>
          <a:xfrm>
            <a:off x="135519" y="1439639"/>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00" b="1" dirty="0">
                <a:solidFill>
                  <a:srgbClr val="FFFFFF"/>
                </a:solidFill>
                <a:latin typeface="Poppins" pitchFamily="2" charset="77"/>
                <a:ea typeface="Poppins SemiBold"/>
                <a:cs typeface="Poppins" pitchFamily="2" charset="77"/>
                <a:sym typeface="Poppins SemiBold"/>
              </a:rPr>
              <a:t>Introdução à Informática </a:t>
            </a:r>
          </a:p>
        </p:txBody>
      </p:sp>
      <p:sp>
        <p:nvSpPr>
          <p:cNvPr id="36" name="Retângulo: Cantos Arredondados 35">
            <a:extLst>
              <a:ext uri="{FF2B5EF4-FFF2-40B4-BE49-F238E27FC236}">
                <a16:creationId xmlns:a16="http://schemas.microsoft.com/office/drawing/2014/main" id="{476A16D3-02A6-4B3A-C903-D81F8E0F418D}"/>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Google Shape;331;p3">
            <a:extLst>
              <a:ext uri="{FF2B5EF4-FFF2-40B4-BE49-F238E27FC236}">
                <a16:creationId xmlns:a16="http://schemas.microsoft.com/office/drawing/2014/main" id="{695AE25C-4E55-2638-F732-CDC7FF315CBE}"/>
              </a:ext>
            </a:extLst>
          </p:cNvPr>
          <p:cNvSpPr txBox="1"/>
          <p:nvPr/>
        </p:nvSpPr>
        <p:spPr>
          <a:xfrm>
            <a:off x="2160045" y="891153"/>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00" b="1" dirty="0">
                <a:solidFill>
                  <a:srgbClr val="FFFFFF"/>
                </a:solidFill>
                <a:latin typeface="Poppins"/>
                <a:ea typeface="Poppins"/>
                <a:cs typeface="Poppins"/>
                <a:sym typeface="Poppins"/>
              </a:rPr>
              <a:t>Mapa da Unidade 1   Componente 1</a:t>
            </a:r>
          </a:p>
        </p:txBody>
      </p:sp>
    </p:spTree>
    <p:extLst>
      <p:ext uri="{BB962C8B-B14F-4D97-AF65-F5344CB8AC3E}">
        <p14:creationId xmlns:p14="http://schemas.microsoft.com/office/powerpoint/2010/main" val="2797289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B2669C60-1B2E-CB26-6D65-F137874BFC6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6" t="30197" r="53546" b="6024"/>
          <a:stretch/>
        </p:blipFill>
        <p:spPr>
          <a:xfrm rot="21026348">
            <a:off x="5708588" y="2655329"/>
            <a:ext cx="8603297" cy="4647676"/>
          </a:xfrm>
          <a:prstGeom prst="rect">
            <a:avLst/>
          </a:prstGeom>
        </p:spPr>
      </p:pic>
      <p:sp>
        <p:nvSpPr>
          <p:cNvPr id="7" name="Google Shape;341;p4">
            <a:extLst>
              <a:ext uri="{FF2B5EF4-FFF2-40B4-BE49-F238E27FC236}">
                <a16:creationId xmlns:a16="http://schemas.microsoft.com/office/drawing/2014/main" id="{454BE3FB-DBF5-B9B9-2C32-D91EB68E7728}"/>
              </a:ext>
            </a:extLst>
          </p:cNvPr>
          <p:cNvSpPr/>
          <p:nvPr/>
        </p:nvSpPr>
        <p:spPr>
          <a:xfrm rot="-3438299">
            <a:off x="10617267" y="5326573"/>
            <a:ext cx="408000" cy="408000"/>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SzPts val="2700"/>
            </a:pPr>
            <a:endParaRPr sz="1800" dirty="0">
              <a:solidFill>
                <a:srgbClr val="FFFFFF"/>
              </a:solidFill>
              <a:latin typeface="Calibri"/>
              <a:ea typeface="Calibri"/>
              <a:cs typeface="Calibri"/>
              <a:sym typeface="Calibri"/>
            </a:endParaRPr>
          </a:p>
        </p:txBody>
      </p:sp>
      <p:sp>
        <p:nvSpPr>
          <p:cNvPr id="8" name="Google Shape;342;p4">
            <a:extLst>
              <a:ext uri="{FF2B5EF4-FFF2-40B4-BE49-F238E27FC236}">
                <a16:creationId xmlns:a16="http://schemas.microsoft.com/office/drawing/2014/main" id="{11417446-22F7-018A-FD17-8BE6870376DA}"/>
              </a:ext>
            </a:extLst>
          </p:cNvPr>
          <p:cNvSpPr/>
          <p:nvPr/>
        </p:nvSpPr>
        <p:spPr>
          <a:xfrm>
            <a:off x="9084502" y="3402930"/>
            <a:ext cx="1317209" cy="1317209"/>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36000" tIns="36000" rIns="36000" bIns="36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SzPts val="6000"/>
            </a:pPr>
            <a:r>
              <a:rPr lang="pt-BR" sz="4200" b="1" dirty="0">
                <a:solidFill>
                  <a:srgbClr val="FFFFFF"/>
                </a:solidFill>
                <a:latin typeface="Poppins"/>
                <a:ea typeface="Calibri"/>
                <a:cs typeface="Poppins"/>
                <a:sym typeface="Poppins"/>
              </a:rPr>
              <a:t>10</a:t>
            </a:r>
            <a:endParaRPr sz="4200" dirty="0">
              <a:solidFill>
                <a:srgbClr val="FFFFFF"/>
              </a:solidFill>
              <a:latin typeface="Calibri"/>
              <a:ea typeface="Calibri"/>
              <a:cs typeface="Calibri"/>
              <a:sym typeface="Calibri"/>
            </a:endParaRPr>
          </a:p>
        </p:txBody>
      </p:sp>
      <p:cxnSp>
        <p:nvCxnSpPr>
          <p:cNvPr id="9" name="Google Shape;343;p4">
            <a:extLst>
              <a:ext uri="{FF2B5EF4-FFF2-40B4-BE49-F238E27FC236}">
                <a16:creationId xmlns:a16="http://schemas.microsoft.com/office/drawing/2014/main" id="{38C1C8A1-D576-D03F-ABAB-56823E51B9F2}"/>
              </a:ext>
            </a:extLst>
          </p:cNvPr>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10" name="Google Shape;344;p4">
            <a:extLst>
              <a:ext uri="{FF2B5EF4-FFF2-40B4-BE49-F238E27FC236}">
                <a16:creationId xmlns:a16="http://schemas.microsoft.com/office/drawing/2014/main" id="{5EB2AABC-411A-4DB1-754E-398B32A01EC9}"/>
              </a:ext>
            </a:extLst>
          </p:cNvPr>
          <p:cNvSpPr txBox="1"/>
          <p:nvPr/>
        </p:nvSpPr>
        <p:spPr>
          <a:xfrm>
            <a:off x="3361984" y="3253512"/>
            <a:ext cx="4487736" cy="33852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250"/>
            </a:pPr>
            <a:r>
              <a:rPr lang="pt-BR" sz="18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11" name="Google Shape;345;p4">
            <a:extLst>
              <a:ext uri="{FF2B5EF4-FFF2-40B4-BE49-F238E27FC236}">
                <a16:creationId xmlns:a16="http://schemas.microsoft.com/office/drawing/2014/main" id="{9DC627E0-692B-B963-150C-C9ABA2375B7B}"/>
              </a:ext>
            </a:extLst>
          </p:cNvPr>
          <p:cNvSpPr txBox="1"/>
          <p:nvPr/>
        </p:nvSpPr>
        <p:spPr>
          <a:xfrm>
            <a:off x="3361984" y="2834485"/>
            <a:ext cx="2582980" cy="4000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000"/>
            </a:pPr>
            <a:r>
              <a:rPr lang="pt-BR" sz="2200" b="1" dirty="0">
                <a:solidFill>
                  <a:srgbClr val="FA161E"/>
                </a:solidFill>
                <a:latin typeface="Poppins"/>
                <a:ea typeface="Poppins"/>
                <a:cs typeface="Poppins"/>
                <a:sym typeface="Poppins"/>
              </a:rPr>
              <a:t>Você está aqui!</a:t>
            </a:r>
            <a:endParaRPr sz="2200" dirty="0">
              <a:latin typeface="Arial"/>
              <a:ea typeface="Arial"/>
              <a:cs typeface="Arial"/>
            </a:endParaRPr>
          </a:p>
        </p:txBody>
      </p:sp>
      <p:sp>
        <p:nvSpPr>
          <p:cNvPr id="15" name="Google Shape;349;p4">
            <a:extLst>
              <a:ext uri="{FF2B5EF4-FFF2-40B4-BE49-F238E27FC236}">
                <a16:creationId xmlns:a16="http://schemas.microsoft.com/office/drawing/2014/main" id="{AFF9433E-50D2-8459-4418-8A47B897A114}"/>
              </a:ext>
            </a:extLst>
          </p:cNvPr>
          <p:cNvSpPr txBox="1"/>
          <p:nvPr/>
        </p:nvSpPr>
        <p:spPr>
          <a:xfrm>
            <a:off x="3331830" y="5324225"/>
            <a:ext cx="4833602" cy="699232"/>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500"/>
            </a:pPr>
            <a:r>
              <a:rPr lang="pt-BR" sz="1800" dirty="0">
                <a:latin typeface="Poppins"/>
                <a:ea typeface="Poppins"/>
                <a:cs typeface="Poppins"/>
                <a:sym typeface="Poppins"/>
              </a:rPr>
              <a:t>Código da aula: DADOSANO1C1B2S10A2</a:t>
            </a:r>
            <a:endParaRPr lang="pt-BR" sz="1800" dirty="0">
              <a:latin typeface="Arial"/>
              <a:ea typeface="Arial"/>
              <a:cs typeface="Arial"/>
            </a:endParaRPr>
          </a:p>
        </p:txBody>
      </p:sp>
      <p:sp>
        <p:nvSpPr>
          <p:cNvPr id="16" name="Google Shape;350;p4">
            <a:extLst>
              <a:ext uri="{FF2B5EF4-FFF2-40B4-BE49-F238E27FC236}">
                <a16:creationId xmlns:a16="http://schemas.microsoft.com/office/drawing/2014/main" id="{7678E78B-4D53-2DA7-5F21-B11136BABC01}"/>
              </a:ext>
            </a:extLst>
          </p:cNvPr>
          <p:cNvSpPr txBox="1"/>
          <p:nvPr/>
        </p:nvSpPr>
        <p:spPr>
          <a:xfrm>
            <a:off x="3331829" y="4591957"/>
            <a:ext cx="5849811" cy="53543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defPPr marR="0" lvl="0" algn="l" rtl="0">
              <a:lnSpc>
                <a:spcPct val="100000"/>
              </a:lnSpc>
              <a:spcBef>
                <a:spcPts val="0"/>
              </a:spcBef>
              <a:spcAft>
                <a:spcPts val="0"/>
              </a:spcAft>
              <a:defRPr/>
            </a:defPPr>
            <a:lvl1pPr>
              <a:buClr>
                <a:schemeClr val="dk1"/>
              </a:buClr>
              <a:buSzPts val="2500"/>
              <a:defRPr sz="1800" b="1">
                <a:solidFill>
                  <a:schemeClr val="dk1"/>
                </a:solidFill>
                <a:latin typeface="Poppins"/>
                <a:ea typeface="Poppins"/>
                <a:cs typeface="Poppin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pt-BR" dirty="0">
                <a:sym typeface="Poppins"/>
              </a:rPr>
              <a:t>Aula 2: </a:t>
            </a:r>
            <a:r>
              <a:rPr lang="pt-BR" dirty="0"/>
              <a:t>Backup e restauração de arquivos</a:t>
            </a:r>
          </a:p>
        </p:txBody>
      </p:sp>
      <p:sp>
        <p:nvSpPr>
          <p:cNvPr id="2" name="Retângulo: Cantos Arredondados 1">
            <a:extLst>
              <a:ext uri="{FF2B5EF4-FFF2-40B4-BE49-F238E27FC236}">
                <a16:creationId xmlns:a16="http://schemas.microsoft.com/office/drawing/2014/main" id="{BAADCB54-C914-07FE-4A67-68AAFEA97105}"/>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Google Shape;329;p3">
            <a:extLst>
              <a:ext uri="{FF2B5EF4-FFF2-40B4-BE49-F238E27FC236}">
                <a16:creationId xmlns:a16="http://schemas.microsoft.com/office/drawing/2014/main" id="{0B8CFCE4-39F9-6B33-5249-BD759E12D527}"/>
              </a:ext>
            </a:extLst>
          </p:cNvPr>
          <p:cNvSpPr txBox="1"/>
          <p:nvPr/>
        </p:nvSpPr>
        <p:spPr>
          <a:xfrm>
            <a:off x="135519" y="1439639"/>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00" b="1" dirty="0">
                <a:solidFill>
                  <a:srgbClr val="FFFFFF"/>
                </a:solidFill>
                <a:latin typeface="Poppins" pitchFamily="2" charset="77"/>
                <a:ea typeface="Poppins SemiBold"/>
                <a:cs typeface="Poppins" pitchFamily="2" charset="77"/>
                <a:sym typeface="Poppins SemiBold"/>
              </a:rPr>
              <a:t>Introdução à Informática </a:t>
            </a:r>
          </a:p>
        </p:txBody>
      </p:sp>
      <p:sp>
        <p:nvSpPr>
          <p:cNvPr id="12" name="Retângulo: Cantos Arredondados 11">
            <a:extLst>
              <a:ext uri="{FF2B5EF4-FFF2-40B4-BE49-F238E27FC236}">
                <a16:creationId xmlns:a16="http://schemas.microsoft.com/office/drawing/2014/main" id="{E05B539C-B751-5007-267B-490C21116DEC}"/>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Google Shape;331;p3">
            <a:extLst>
              <a:ext uri="{FF2B5EF4-FFF2-40B4-BE49-F238E27FC236}">
                <a16:creationId xmlns:a16="http://schemas.microsoft.com/office/drawing/2014/main" id="{79D63F7A-2FF3-6222-74E2-EF0FBB20C7B6}"/>
              </a:ext>
            </a:extLst>
          </p:cNvPr>
          <p:cNvSpPr txBox="1"/>
          <p:nvPr/>
        </p:nvSpPr>
        <p:spPr>
          <a:xfrm>
            <a:off x="2160045" y="891153"/>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00" b="1" dirty="0">
                <a:solidFill>
                  <a:srgbClr val="FFFFFF"/>
                </a:solidFill>
                <a:latin typeface="Poppins"/>
                <a:ea typeface="Poppins"/>
                <a:cs typeface="Poppins"/>
                <a:sym typeface="Poppins"/>
              </a:rPr>
              <a:t>Mapa da Unidade 1   Componente 1</a:t>
            </a:r>
          </a:p>
        </p:txBody>
      </p:sp>
    </p:spTree>
    <p:extLst>
      <p:ext uri="{BB962C8B-B14F-4D97-AF65-F5344CB8AC3E}">
        <p14:creationId xmlns:p14="http://schemas.microsoft.com/office/powerpoint/2010/main" val="1826819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1403740" y="1342524"/>
            <a:ext cx="4209119" cy="977766"/>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Compreender e aplicar o conceito de backup e restauração de arquivos.</a:t>
            </a:r>
            <a:endParaRPr lang="pt-BR" sz="1500" noProof="0" dirty="0">
              <a:solidFill>
                <a:schemeClr val="tx1">
                  <a:lumMod val="95000"/>
                  <a:lumOff val="5000"/>
                </a:schemeClr>
              </a:solidFill>
              <a:latin typeface="Poppins" panose="00000500000000000000" pitchFamily="2" charset="0"/>
            </a:endParaRPr>
          </a:p>
        </p:txBody>
      </p:sp>
      <p:sp>
        <p:nvSpPr>
          <p:cNvPr id="13" name="Espaço Reservado para Texto 7">
            <a:extLst>
              <a:ext uri="{FF2B5EF4-FFF2-40B4-BE49-F238E27FC236}">
                <a16:creationId xmlns:a16="http://schemas.microsoft.com/office/drawing/2014/main" id="{D4D707D4-C5C3-358C-828D-F0E51DF1C563}"/>
              </a:ext>
            </a:extLst>
          </p:cNvPr>
          <p:cNvSpPr>
            <a:spLocks noGrp="1"/>
          </p:cNvSpPr>
          <p:nvPr>
            <p:ph type="body" sz="quarter" idx="11"/>
          </p:nvPr>
        </p:nvSpPr>
        <p:spPr>
          <a:xfrm>
            <a:off x="7387165" y="1355465"/>
            <a:ext cx="3814235" cy="1159135"/>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Utilizar estratégias de otimização e segurança digital no sistema.</a:t>
            </a:r>
            <a:endParaRPr lang="pt-BR" sz="1500" noProof="0" dirty="0">
              <a:solidFill>
                <a:schemeClr val="tx1">
                  <a:lumMod val="95000"/>
                  <a:lumOff val="5000"/>
                </a:schemeClr>
              </a:solidFill>
              <a:latin typeface="Poppins" panose="00000500000000000000" pitchFamily="2" charset="0"/>
            </a:endParaRPr>
          </a:p>
        </p:txBody>
      </p:sp>
      <p:sp>
        <p:nvSpPr>
          <p:cNvPr id="14" name="Espaço Reservado para Texto 7">
            <a:extLst>
              <a:ext uri="{FF2B5EF4-FFF2-40B4-BE49-F238E27FC236}">
                <a16:creationId xmlns:a16="http://schemas.microsoft.com/office/drawing/2014/main" id="{DE336765-0FB7-BD47-5351-9D659F6B6C07}"/>
              </a:ext>
            </a:extLst>
          </p:cNvPr>
          <p:cNvSpPr>
            <a:spLocks noGrp="1"/>
          </p:cNvSpPr>
          <p:nvPr>
            <p:ph type="body" sz="quarter" idx="12"/>
          </p:nvPr>
        </p:nvSpPr>
        <p:spPr>
          <a:xfrm>
            <a:off x="7387165" y="3649331"/>
            <a:ext cx="4202855" cy="11855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Manter equilíbrio emocional diante de imprevistos nas tarefas.</a:t>
            </a:r>
          </a:p>
        </p:txBody>
      </p:sp>
      <p:sp>
        <p:nvSpPr>
          <p:cNvPr id="15" name="Espaço Reservado para Texto 7">
            <a:extLst>
              <a:ext uri="{FF2B5EF4-FFF2-40B4-BE49-F238E27FC236}">
                <a16:creationId xmlns:a16="http://schemas.microsoft.com/office/drawing/2014/main" id="{6E3FB853-DB70-A92D-898B-C5E6E9178764}"/>
              </a:ext>
            </a:extLst>
          </p:cNvPr>
          <p:cNvSpPr>
            <a:spLocks noGrp="1"/>
          </p:cNvSpPr>
          <p:nvPr>
            <p:ph type="body" sz="quarter" idx="13"/>
          </p:nvPr>
        </p:nvSpPr>
        <p:spPr>
          <a:xfrm>
            <a:off x="1395390" y="3308863"/>
            <a:ext cx="3976711" cy="152602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400"/>
              </a:spcAft>
            </a:pPr>
            <a:r>
              <a:rPr lang="pt-BR" sz="1500" noProof="0" dirty="0">
                <a:solidFill>
                  <a:schemeClr val="tx1">
                    <a:lumMod val="95000"/>
                    <a:lumOff val="5000"/>
                  </a:schemeClr>
                </a:solidFill>
                <a:latin typeface="Poppins" panose="00000500000000000000" pitchFamily="2" charset="0"/>
              </a:rPr>
              <a:t>Recurso audiovisual para exibição de vídeos e imagens.</a:t>
            </a:r>
          </a:p>
          <a:p>
            <a:pPr>
              <a:spcAft>
                <a:spcPts val="400"/>
              </a:spcAft>
            </a:pPr>
            <a:r>
              <a:rPr lang="pt-BR" sz="1500" noProof="0" dirty="0">
                <a:solidFill>
                  <a:schemeClr val="tx1">
                    <a:lumMod val="95000"/>
                    <a:lumOff val="5000"/>
                  </a:schemeClr>
                </a:solidFill>
                <a:latin typeface="Poppins" panose="00000500000000000000" pitchFamily="2" charset="0"/>
              </a:rPr>
              <a:t>Acesso ao laboratório de informática e/ou à internet.</a:t>
            </a:r>
          </a:p>
          <a:p>
            <a:pPr>
              <a:spcAft>
                <a:spcPts val="400"/>
              </a:spcAft>
            </a:pPr>
            <a:r>
              <a:rPr lang="pt-BR" sz="1500" dirty="0">
                <a:solidFill>
                  <a:schemeClr val="tx1">
                    <a:lumMod val="95000"/>
                    <a:lumOff val="5000"/>
                  </a:schemeClr>
                </a:solidFill>
                <a:latin typeface="Poppins" panose="00000500000000000000" pitchFamily="2" charset="0"/>
              </a:rPr>
              <a:t>Papel e caneta.</a:t>
            </a: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p:txBody>
      </p:sp>
    </p:spTree>
    <p:extLst>
      <p:ext uri="{BB962C8B-B14F-4D97-AF65-F5344CB8AC3E}">
        <p14:creationId xmlns:p14="http://schemas.microsoft.com/office/powerpoint/2010/main" val="3079088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3">
          <a:extLst>
            <a:ext uri="{FF2B5EF4-FFF2-40B4-BE49-F238E27FC236}">
              <a16:creationId xmlns:a16="http://schemas.microsoft.com/office/drawing/2014/main" id="{A1C5B500-7226-C027-C673-E5203C3530AC}"/>
            </a:ext>
          </a:extLst>
        </p:cNvPr>
        <p:cNvGrpSpPr/>
        <p:nvPr/>
      </p:nvGrpSpPr>
      <p:grpSpPr>
        <a:xfrm>
          <a:off x="0" y="0"/>
          <a:ext cx="0" cy="0"/>
          <a:chOff x="0" y="0"/>
          <a:chExt cx="0" cy="0"/>
        </a:xfrm>
      </p:grpSpPr>
      <p:sp>
        <p:nvSpPr>
          <p:cNvPr id="16" name="Espaço Reservado para Texto 15">
            <a:extLst>
              <a:ext uri="{FF2B5EF4-FFF2-40B4-BE49-F238E27FC236}">
                <a16:creationId xmlns:a16="http://schemas.microsoft.com/office/drawing/2014/main" id="{73C7754F-18A2-94ED-C282-F1A714FEB5D5}"/>
              </a:ext>
            </a:extLst>
          </p:cNvPr>
          <p:cNvSpPr>
            <a:spLocks noGrp="1"/>
          </p:cNvSpPr>
          <p:nvPr>
            <p:ph type="body" sz="quarter" idx="11"/>
          </p:nvPr>
        </p:nvSpPr>
        <p:spPr>
          <a:xfrm>
            <a:off x="4001051" y="2396006"/>
            <a:ext cx="6971195" cy="592667"/>
          </a:xfrm>
        </p:spPr>
        <p:txBody>
          <a:bodyPr/>
          <a:lstStyle/>
          <a:p>
            <a:r>
              <a:rPr lang="pt-BR" sz="1600" dirty="0"/>
              <a:t>Qual é a função principal do sistema operacional em um computador multitarefa?</a:t>
            </a:r>
          </a:p>
        </p:txBody>
      </p:sp>
      <p:sp>
        <p:nvSpPr>
          <p:cNvPr id="17" name="Espaço Reservado para Texto 16">
            <a:extLst>
              <a:ext uri="{FF2B5EF4-FFF2-40B4-BE49-F238E27FC236}">
                <a16:creationId xmlns:a16="http://schemas.microsoft.com/office/drawing/2014/main" id="{03B7F2BB-88ED-B829-C82C-5D27EDF26045}"/>
              </a:ext>
            </a:extLst>
          </p:cNvPr>
          <p:cNvSpPr>
            <a:spLocks noGrp="1"/>
          </p:cNvSpPr>
          <p:nvPr>
            <p:ph type="body" sz="quarter" idx="12"/>
          </p:nvPr>
        </p:nvSpPr>
        <p:spPr>
          <a:xfrm>
            <a:off x="4001051" y="3565188"/>
            <a:ext cx="6971195" cy="369962"/>
          </a:xfrm>
        </p:spPr>
        <p:txBody>
          <a:bodyPr/>
          <a:lstStyle/>
          <a:p>
            <a:r>
              <a:rPr lang="pt-BR" sz="1600" dirty="0"/>
              <a:t>Como o gerenciamento de janelas ajuda o usuário no dia a dia?</a:t>
            </a:r>
          </a:p>
        </p:txBody>
      </p:sp>
      <p:sp>
        <p:nvSpPr>
          <p:cNvPr id="21" name="Espaço Reservado para Texto 20">
            <a:extLst>
              <a:ext uri="{FF2B5EF4-FFF2-40B4-BE49-F238E27FC236}">
                <a16:creationId xmlns:a16="http://schemas.microsoft.com/office/drawing/2014/main" id="{56D3E260-4A4E-453D-41B1-2CE9BA4636C3}"/>
              </a:ext>
            </a:extLst>
          </p:cNvPr>
          <p:cNvSpPr>
            <a:spLocks noGrp="1"/>
          </p:cNvSpPr>
          <p:nvPr>
            <p:ph type="body" sz="quarter" idx="15"/>
          </p:nvPr>
        </p:nvSpPr>
        <p:spPr>
          <a:xfrm>
            <a:off x="3467606" y="856863"/>
            <a:ext cx="6020990" cy="592666"/>
          </a:xfrm>
        </p:spPr>
        <p:txBody>
          <a:bodyPr/>
          <a:lstStyle/>
          <a:p>
            <a:r>
              <a:rPr lang="pt-BR" sz="3200" b="1" dirty="0">
                <a:solidFill>
                  <a:srgbClr val="EE0000"/>
                </a:solidFill>
              </a:rPr>
              <a:t>Uso eficiente dos recursos</a:t>
            </a:r>
          </a:p>
        </p:txBody>
      </p:sp>
      <p:pic>
        <p:nvPicPr>
          <p:cNvPr id="6" name="Imagem 5">
            <a:extLst>
              <a:ext uri="{FF2B5EF4-FFF2-40B4-BE49-F238E27FC236}">
                <a16:creationId xmlns:a16="http://schemas.microsoft.com/office/drawing/2014/main" id="{8FBA3CB1-5B6B-9794-0651-9C36A83FF8E9}"/>
              </a:ext>
            </a:extLst>
          </p:cNvPr>
          <p:cNvPicPr>
            <a:picLocks noChangeAspect="1"/>
          </p:cNvPicPr>
          <p:nvPr/>
        </p:nvPicPr>
        <p:blipFill>
          <a:blip r:embed="rId3"/>
          <a:stretch>
            <a:fillRect/>
          </a:stretch>
        </p:blipFill>
        <p:spPr>
          <a:xfrm>
            <a:off x="3467605" y="2424609"/>
            <a:ext cx="296333" cy="592667"/>
          </a:xfrm>
          <a:prstGeom prst="rect">
            <a:avLst/>
          </a:prstGeom>
        </p:spPr>
      </p:pic>
      <p:pic>
        <p:nvPicPr>
          <p:cNvPr id="7" name="Imagem 6">
            <a:extLst>
              <a:ext uri="{FF2B5EF4-FFF2-40B4-BE49-F238E27FC236}">
                <a16:creationId xmlns:a16="http://schemas.microsoft.com/office/drawing/2014/main" id="{4601E932-1F6F-0DB5-0644-894B92B15153}"/>
              </a:ext>
            </a:extLst>
          </p:cNvPr>
          <p:cNvPicPr>
            <a:picLocks noChangeAspect="1"/>
          </p:cNvPicPr>
          <p:nvPr/>
        </p:nvPicPr>
        <p:blipFill>
          <a:blip r:embed="rId3"/>
          <a:stretch>
            <a:fillRect/>
          </a:stretch>
        </p:blipFill>
        <p:spPr>
          <a:xfrm>
            <a:off x="3467605" y="3431756"/>
            <a:ext cx="296333" cy="592667"/>
          </a:xfrm>
          <a:prstGeom prst="rect">
            <a:avLst/>
          </a:prstGeom>
        </p:spPr>
      </p:pic>
      <p:sp>
        <p:nvSpPr>
          <p:cNvPr id="19" name="Espaço Reservado para Texto 15">
            <a:extLst>
              <a:ext uri="{FF2B5EF4-FFF2-40B4-BE49-F238E27FC236}">
                <a16:creationId xmlns:a16="http://schemas.microsoft.com/office/drawing/2014/main" id="{B6CC110D-6FD7-3A13-EFD5-D13585B962C2}"/>
              </a:ext>
            </a:extLst>
          </p:cNvPr>
          <p:cNvSpPr txBox="1">
            <a:spLocks/>
          </p:cNvSpPr>
          <p:nvPr/>
        </p:nvSpPr>
        <p:spPr>
          <a:xfrm>
            <a:off x="4001051" y="4608011"/>
            <a:ext cx="6971195" cy="592667"/>
          </a:xfrm>
          <a:prstGeom prst="rect">
            <a:avLst/>
          </a:prstGeom>
        </p:spPr>
        <p:txBody>
          <a:bodyPr/>
          <a:lstStyle>
            <a:defPPr marR="0" lvl="0" algn="l" rtl="0">
              <a:lnSpc>
                <a:spcPct val="100000"/>
              </a:lnSpc>
              <a:spcBef>
                <a:spcPts val="0"/>
              </a:spcBef>
              <a:spcAft>
                <a:spcPts val="0"/>
              </a:spcAft>
            </a:defPPr>
            <a:lvl1pPr marL="0" indent="0" algn="just">
              <a:buClr>
                <a:schemeClr val="tx1"/>
              </a:buClr>
              <a:buFontTx/>
              <a:buNone/>
              <a:defRPr sz="1600">
                <a:latin typeface="Poppins" pitchFamily="2" charset="77"/>
                <a:cs typeface="Poppins" pitchFamily="2" charset="77"/>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l"/>
            <a:r>
              <a:rPr lang="pt-BR" dirty="0"/>
              <a:t>Por que é importante usar o tempo e os recursos do computador com eficiência?</a:t>
            </a:r>
          </a:p>
        </p:txBody>
      </p:sp>
      <p:pic>
        <p:nvPicPr>
          <p:cNvPr id="22" name="Imagem 21">
            <a:extLst>
              <a:ext uri="{FF2B5EF4-FFF2-40B4-BE49-F238E27FC236}">
                <a16:creationId xmlns:a16="http://schemas.microsoft.com/office/drawing/2014/main" id="{E4C54D9B-92C3-DCDC-1ECD-E94417E945B5}"/>
              </a:ext>
            </a:extLst>
          </p:cNvPr>
          <p:cNvPicPr>
            <a:picLocks noChangeAspect="1"/>
          </p:cNvPicPr>
          <p:nvPr/>
        </p:nvPicPr>
        <p:blipFill>
          <a:blip r:embed="rId3"/>
          <a:stretch>
            <a:fillRect/>
          </a:stretch>
        </p:blipFill>
        <p:spPr>
          <a:xfrm>
            <a:off x="3467605" y="4609884"/>
            <a:ext cx="296333" cy="592667"/>
          </a:xfrm>
          <a:prstGeom prst="rect">
            <a:avLst/>
          </a:prstGeom>
        </p:spPr>
      </p:pic>
      <p:pic>
        <p:nvPicPr>
          <p:cNvPr id="25" name="Gráfico 24">
            <a:extLst>
              <a:ext uri="{FF2B5EF4-FFF2-40B4-BE49-F238E27FC236}">
                <a16:creationId xmlns:a16="http://schemas.microsoft.com/office/drawing/2014/main" id="{9A337DAF-E39B-326E-E04C-CFDC85F278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32419" y="221995"/>
            <a:ext cx="425236" cy="380475"/>
          </a:xfrm>
          <a:prstGeom prst="rect">
            <a:avLst/>
          </a:prstGeom>
        </p:spPr>
      </p:pic>
      <p:sp>
        <p:nvSpPr>
          <p:cNvPr id="26" name="Google Shape;833;p62">
            <a:extLst>
              <a:ext uri="{FF2B5EF4-FFF2-40B4-BE49-F238E27FC236}">
                <a16:creationId xmlns:a16="http://schemas.microsoft.com/office/drawing/2014/main" id="{E9BACF25-556F-C450-7FD8-B33E6569D474}"/>
              </a:ext>
            </a:extLst>
          </p:cNvPr>
          <p:cNvSpPr txBox="1"/>
          <p:nvPr/>
        </p:nvSpPr>
        <p:spPr>
          <a:xfrm>
            <a:off x="11472292" y="4815"/>
            <a:ext cx="704005" cy="193847"/>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a:solidFill>
                  <a:schemeClr val="lt1"/>
                </a:solidFill>
                <a:latin typeface="Poppins"/>
                <a:ea typeface="Poppins"/>
                <a:cs typeface="Poppins"/>
                <a:sym typeface="Poppins"/>
              </a:rPr>
              <a:t>Registro</a:t>
            </a:r>
            <a:endParaRPr sz="800"/>
          </a:p>
          <a:p>
            <a:pPr algn="r">
              <a:lnSpc>
                <a:spcPct val="107000"/>
              </a:lnSpc>
              <a:spcBef>
                <a:spcPts val="715"/>
              </a:spcBef>
              <a:buSzPts val="2700"/>
            </a:pPr>
            <a:endParaRPr sz="800">
              <a:solidFill>
                <a:schemeClr val="lt1"/>
              </a:solidFill>
              <a:latin typeface="Poppins Light"/>
              <a:ea typeface="Poppins Light"/>
              <a:cs typeface="Poppins Light"/>
              <a:sym typeface="Poppins Light"/>
            </a:endParaRPr>
          </a:p>
        </p:txBody>
      </p:sp>
      <p:sp>
        <p:nvSpPr>
          <p:cNvPr id="27" name="Google Shape;369;p6">
            <a:extLst>
              <a:ext uri="{FF2B5EF4-FFF2-40B4-BE49-F238E27FC236}">
                <a16:creationId xmlns:a16="http://schemas.microsoft.com/office/drawing/2014/main" id="{033AB270-6DF5-7E92-B2EB-9E00CC42B89E}"/>
              </a:ext>
            </a:extLst>
          </p:cNvPr>
          <p:cNvSpPr/>
          <p:nvPr/>
        </p:nvSpPr>
        <p:spPr>
          <a:xfrm flipH="1">
            <a:off x="11472465" y="-7680"/>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a:p>
        </p:txBody>
      </p:sp>
      <p:grpSp>
        <p:nvGrpSpPr>
          <p:cNvPr id="28" name="Google Shape;370;p6">
            <a:extLst>
              <a:ext uri="{FF2B5EF4-FFF2-40B4-BE49-F238E27FC236}">
                <a16:creationId xmlns:a16="http://schemas.microsoft.com/office/drawing/2014/main" id="{1E097EF5-2DBA-22CA-B808-18EF52E205CD}"/>
              </a:ext>
            </a:extLst>
          </p:cNvPr>
          <p:cNvGrpSpPr/>
          <p:nvPr/>
        </p:nvGrpSpPr>
        <p:grpSpPr>
          <a:xfrm>
            <a:off x="11654317" y="198029"/>
            <a:ext cx="382615" cy="456000"/>
            <a:chOff x="16810081" y="921861"/>
            <a:chExt cx="743773" cy="886429"/>
          </a:xfrm>
        </p:grpSpPr>
        <p:grpSp>
          <p:nvGrpSpPr>
            <p:cNvPr id="29" name="Google Shape;371;p6">
              <a:extLst>
                <a:ext uri="{FF2B5EF4-FFF2-40B4-BE49-F238E27FC236}">
                  <a16:creationId xmlns:a16="http://schemas.microsoft.com/office/drawing/2014/main" id="{4D048900-D687-1527-0A7C-F65AC8894435}"/>
                </a:ext>
              </a:extLst>
            </p:cNvPr>
            <p:cNvGrpSpPr/>
            <p:nvPr/>
          </p:nvGrpSpPr>
          <p:grpSpPr>
            <a:xfrm>
              <a:off x="16810084" y="1434434"/>
              <a:ext cx="691713" cy="373856"/>
              <a:chOff x="16866377" y="1492565"/>
              <a:chExt cx="691713" cy="373856"/>
            </a:xfrm>
          </p:grpSpPr>
          <p:sp>
            <p:nvSpPr>
              <p:cNvPr id="33" name="Google Shape;372;p6">
                <a:extLst>
                  <a:ext uri="{FF2B5EF4-FFF2-40B4-BE49-F238E27FC236}">
                    <a16:creationId xmlns:a16="http://schemas.microsoft.com/office/drawing/2014/main" id="{BEE8AE08-C4B7-10DE-1D30-50CCBC86D408}"/>
                  </a:ext>
                </a:extLst>
              </p:cNvPr>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4" name="Google Shape;373;p6">
                <a:extLst>
                  <a:ext uri="{FF2B5EF4-FFF2-40B4-BE49-F238E27FC236}">
                    <a16:creationId xmlns:a16="http://schemas.microsoft.com/office/drawing/2014/main" id="{C5CB7ACF-8098-3E98-DDB2-FAF5D6C7BFAF}"/>
                  </a:ext>
                </a:extLst>
              </p:cNvPr>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5" name="Google Shape;374;p6">
                <a:extLst>
                  <a:ext uri="{FF2B5EF4-FFF2-40B4-BE49-F238E27FC236}">
                    <a16:creationId xmlns:a16="http://schemas.microsoft.com/office/drawing/2014/main" id="{7A48369F-57F5-34CE-0996-BB0172E1A0B6}"/>
                  </a:ext>
                </a:extLst>
              </p:cNvPr>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6" name="Google Shape;375;p6">
                <a:extLst>
                  <a:ext uri="{FF2B5EF4-FFF2-40B4-BE49-F238E27FC236}">
                    <a16:creationId xmlns:a16="http://schemas.microsoft.com/office/drawing/2014/main" id="{25578836-6AE0-0AF3-115C-4414E6E77AC7}"/>
                  </a:ext>
                </a:extLst>
              </p:cNvPr>
              <p:cNvSpPr/>
              <p:nvPr/>
            </p:nvSpPr>
            <p:spPr>
              <a:xfrm>
                <a:off x="16866377" y="1660872"/>
                <a:ext cx="268605" cy="148398"/>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7" name="Google Shape;376;p6">
                <a:extLst>
                  <a:ext uri="{FF2B5EF4-FFF2-40B4-BE49-F238E27FC236}">
                    <a16:creationId xmlns:a16="http://schemas.microsoft.com/office/drawing/2014/main" id="{B30B3A6B-A956-5340-AA83-5D33C4352F2B}"/>
                  </a:ext>
                </a:extLst>
              </p:cNvPr>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8" name="Google Shape;377;p6">
                <a:extLst>
                  <a:ext uri="{FF2B5EF4-FFF2-40B4-BE49-F238E27FC236}">
                    <a16:creationId xmlns:a16="http://schemas.microsoft.com/office/drawing/2014/main" id="{50F88113-7795-FCA3-3CF2-0D8170D792E8}"/>
                  </a:ext>
                </a:extLst>
              </p:cNvPr>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grpSp>
        <p:grpSp>
          <p:nvGrpSpPr>
            <p:cNvPr id="30" name="Google Shape;378;p6">
              <a:extLst>
                <a:ext uri="{FF2B5EF4-FFF2-40B4-BE49-F238E27FC236}">
                  <a16:creationId xmlns:a16="http://schemas.microsoft.com/office/drawing/2014/main" id="{63600F33-2242-54BA-ED73-40FBAEF651AF}"/>
                </a:ext>
              </a:extLst>
            </p:cNvPr>
            <p:cNvGrpSpPr/>
            <p:nvPr/>
          </p:nvGrpSpPr>
          <p:grpSpPr>
            <a:xfrm>
              <a:off x="16810081" y="921861"/>
              <a:ext cx="743773" cy="512573"/>
              <a:chOff x="16933626" y="782036"/>
              <a:chExt cx="743773" cy="512573"/>
            </a:xfrm>
          </p:grpSpPr>
          <p:sp>
            <p:nvSpPr>
              <p:cNvPr id="31" name="Google Shape;379;p6">
                <a:extLst>
                  <a:ext uri="{FF2B5EF4-FFF2-40B4-BE49-F238E27FC236}">
                    <a16:creationId xmlns:a16="http://schemas.microsoft.com/office/drawing/2014/main" id="{4C66E319-7E6C-44B9-5649-53494C7905D8}"/>
                  </a:ext>
                </a:extLst>
              </p:cNvPr>
              <p:cNvSpPr/>
              <p:nvPr/>
            </p:nvSpPr>
            <p:spPr>
              <a:xfrm>
                <a:off x="16933626" y="782036"/>
                <a:ext cx="476249"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2" name="Google Shape;380;p6">
                <a:extLst>
                  <a:ext uri="{FF2B5EF4-FFF2-40B4-BE49-F238E27FC236}">
                    <a16:creationId xmlns:a16="http://schemas.microsoft.com/office/drawing/2014/main" id="{6EF48B45-9B5B-0546-9C50-FD077E509496}"/>
                  </a:ext>
                </a:extLst>
              </p:cNvPr>
              <p:cNvSpPr/>
              <p:nvPr/>
            </p:nvSpPr>
            <p:spPr>
              <a:xfrm>
                <a:off x="17201150" y="865984"/>
                <a:ext cx="476249"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grpSp>
      </p:grpSp>
      <p:sp>
        <p:nvSpPr>
          <p:cNvPr id="39" name="Google Shape;381;p6">
            <a:extLst>
              <a:ext uri="{FF2B5EF4-FFF2-40B4-BE49-F238E27FC236}">
                <a16:creationId xmlns:a16="http://schemas.microsoft.com/office/drawing/2014/main" id="{BD5F65CF-897B-0BFA-95C1-925ACB92B8D6}"/>
              </a:ext>
            </a:extLst>
          </p:cNvPr>
          <p:cNvSpPr txBox="1"/>
          <p:nvPr/>
        </p:nvSpPr>
        <p:spPr>
          <a:xfrm>
            <a:off x="11462298" y="-22860"/>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a:ea typeface="Poppins"/>
                <a:cs typeface="Poppins"/>
                <a:sym typeface="Poppins"/>
              </a:rPr>
              <a:t>Diálogo</a:t>
            </a:r>
            <a:endParaRPr sz="800" dirty="0">
              <a:latin typeface="Poppins"/>
              <a:ea typeface="Poppins"/>
              <a:cs typeface="Poppins"/>
              <a:sym typeface="Poppins"/>
            </a:endParaRPr>
          </a:p>
          <a:p>
            <a:pPr algn="r">
              <a:lnSpc>
                <a:spcPct val="107000"/>
              </a:lnSpc>
              <a:spcBef>
                <a:spcPts val="715"/>
              </a:spcBef>
              <a:buSzPts val="2700"/>
            </a:pPr>
            <a:endParaRPr sz="800"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4225252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5D6F-E601-AF07-ACE0-6259C0974200}"/>
            </a:ext>
          </a:extLst>
        </p:cNvPr>
        <p:cNvGrpSpPr/>
        <p:nvPr/>
      </p:nvGrpSpPr>
      <p:grpSpPr>
        <a:xfrm>
          <a:off x="0" y="0"/>
          <a:ext cx="0" cy="0"/>
          <a:chOff x="0" y="0"/>
          <a:chExt cx="0" cy="0"/>
        </a:xfrm>
      </p:grpSpPr>
      <p:sp>
        <p:nvSpPr>
          <p:cNvPr id="28" name="Rectangle 2">
            <a:extLst>
              <a:ext uri="{FF2B5EF4-FFF2-40B4-BE49-F238E27FC236}">
                <a16:creationId xmlns:a16="http://schemas.microsoft.com/office/drawing/2014/main" id="{06D0ACA7-2AB4-3296-6A20-A9D44A7C3EF4}"/>
              </a:ext>
            </a:extLst>
          </p:cNvPr>
          <p:cNvSpPr txBox="1">
            <a:spLocks noChangeArrowheads="1"/>
          </p:cNvSpPr>
          <p:nvPr/>
        </p:nvSpPr>
        <p:spPr bwMode="auto">
          <a:xfrm>
            <a:off x="3447286" y="1067850"/>
            <a:ext cx="83078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dirty="0">
                <a:latin typeface="Poppins" panose="00000500000000000000" pitchFamily="2" charset="0"/>
                <a:cs typeface="Poppins" panose="00000500000000000000" pitchFamily="2" charset="0"/>
              </a:rPr>
              <a:t>Backup é uma cópia de segurança dos dados. Ele protege contra perda, falha, roubo ou exclusão acidental. Alguns tipos de backup são:</a:t>
            </a:r>
          </a:p>
        </p:txBody>
      </p:sp>
      <p:sp>
        <p:nvSpPr>
          <p:cNvPr id="29" name="Espaço Reservado para Texto 22">
            <a:extLst>
              <a:ext uri="{FF2B5EF4-FFF2-40B4-BE49-F238E27FC236}">
                <a16:creationId xmlns:a16="http://schemas.microsoft.com/office/drawing/2014/main" id="{6D9EB65D-1EC0-FCF7-0C71-56F8E5631687}"/>
              </a:ext>
            </a:extLst>
          </p:cNvPr>
          <p:cNvSpPr txBox="1">
            <a:spLocks/>
          </p:cNvSpPr>
          <p:nvPr/>
        </p:nvSpPr>
        <p:spPr>
          <a:xfrm>
            <a:off x="4284474" y="1963779"/>
            <a:ext cx="3238898" cy="23177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latin typeface="Poppins" pitchFamily="2" charset="77"/>
                <a:cs typeface="Poppins" pitchFamily="2" charset="77"/>
              </a:rPr>
              <a:t>Completo</a:t>
            </a:r>
          </a:p>
        </p:txBody>
      </p:sp>
      <p:sp>
        <p:nvSpPr>
          <p:cNvPr id="30" name="Espaço Reservado para Texto 22">
            <a:extLst>
              <a:ext uri="{FF2B5EF4-FFF2-40B4-BE49-F238E27FC236}">
                <a16:creationId xmlns:a16="http://schemas.microsoft.com/office/drawing/2014/main" id="{2132CF99-A67A-500F-B75E-02E21E4BDA60}"/>
              </a:ext>
            </a:extLst>
          </p:cNvPr>
          <p:cNvSpPr txBox="1">
            <a:spLocks/>
          </p:cNvSpPr>
          <p:nvPr/>
        </p:nvSpPr>
        <p:spPr>
          <a:xfrm>
            <a:off x="4329956" y="2932080"/>
            <a:ext cx="3238898" cy="23177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latin typeface="Poppins"/>
                <a:cs typeface="Poppins"/>
              </a:rPr>
              <a:t>Incremental</a:t>
            </a:r>
            <a:endParaRPr lang="pt-BR" sz="1800" b="1" dirty="0">
              <a:latin typeface="Poppins" pitchFamily="2" charset="77"/>
              <a:cs typeface="Poppins" pitchFamily="2" charset="77"/>
            </a:endParaRPr>
          </a:p>
        </p:txBody>
      </p:sp>
      <p:sp>
        <p:nvSpPr>
          <p:cNvPr id="31" name="Espaço Reservado para Texto 22">
            <a:extLst>
              <a:ext uri="{FF2B5EF4-FFF2-40B4-BE49-F238E27FC236}">
                <a16:creationId xmlns:a16="http://schemas.microsoft.com/office/drawing/2014/main" id="{16731BF7-F9C9-4EA2-3A3C-12AB7BE53140}"/>
              </a:ext>
            </a:extLst>
          </p:cNvPr>
          <p:cNvSpPr txBox="1">
            <a:spLocks/>
          </p:cNvSpPr>
          <p:nvPr/>
        </p:nvSpPr>
        <p:spPr>
          <a:xfrm>
            <a:off x="4329956" y="4021139"/>
            <a:ext cx="3224209" cy="23176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latin typeface="Poppins" panose="00000500000000000000" pitchFamily="2" charset="0"/>
                <a:cs typeface="Poppins" panose="00000500000000000000" pitchFamily="2" charset="0"/>
              </a:rPr>
              <a:t>Diferencial</a:t>
            </a:r>
            <a:endParaRPr lang="pt-BR" sz="1800" b="1" dirty="0">
              <a:latin typeface="Poppins" pitchFamily="2" charset="77"/>
              <a:cs typeface="Poppins" pitchFamily="2" charset="77"/>
            </a:endParaRPr>
          </a:p>
        </p:txBody>
      </p:sp>
      <p:sp>
        <p:nvSpPr>
          <p:cNvPr id="32" name="Espaço Reservado para Texto 44">
            <a:extLst>
              <a:ext uri="{FF2B5EF4-FFF2-40B4-BE49-F238E27FC236}">
                <a16:creationId xmlns:a16="http://schemas.microsoft.com/office/drawing/2014/main" id="{5699B529-CDEB-2452-8C67-2F4CB239C682}"/>
              </a:ext>
            </a:extLst>
          </p:cNvPr>
          <p:cNvSpPr txBox="1">
            <a:spLocks/>
          </p:cNvSpPr>
          <p:nvPr/>
        </p:nvSpPr>
        <p:spPr>
          <a:xfrm>
            <a:off x="4277945" y="2309371"/>
            <a:ext cx="7564876" cy="520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latin typeface="Poppins" panose="00000500000000000000" pitchFamily="2" charset="0"/>
                <a:cs typeface="Poppins" panose="00000500000000000000" pitchFamily="2" charset="0"/>
              </a:rPr>
              <a:t>Cópia de todos os arquivos. É mais seguro, mas ocupa mais espaço.</a:t>
            </a:r>
          </a:p>
          <a:p>
            <a:endParaRPr lang="pt-BR" sz="1400" dirty="0"/>
          </a:p>
        </p:txBody>
      </p:sp>
      <p:sp>
        <p:nvSpPr>
          <p:cNvPr id="33" name="Espaço Reservado para Texto 44">
            <a:extLst>
              <a:ext uri="{FF2B5EF4-FFF2-40B4-BE49-F238E27FC236}">
                <a16:creationId xmlns:a16="http://schemas.microsoft.com/office/drawing/2014/main" id="{748A64D4-3670-A20C-C98D-7F6D6D5B1AF4}"/>
              </a:ext>
            </a:extLst>
          </p:cNvPr>
          <p:cNvSpPr txBox="1">
            <a:spLocks/>
          </p:cNvSpPr>
          <p:nvPr/>
        </p:nvSpPr>
        <p:spPr>
          <a:xfrm>
            <a:off x="4323427" y="3279895"/>
            <a:ext cx="6954173" cy="520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latin typeface="Poppins" panose="00000500000000000000" pitchFamily="2" charset="0"/>
                <a:cs typeface="Poppins" panose="00000500000000000000" pitchFamily="2" charset="0"/>
              </a:rPr>
              <a:t>Copia apenas os arquivos modificados desde o último backup. É mais rápido e ocupa menos espaço.</a:t>
            </a:r>
          </a:p>
          <a:p>
            <a:endParaRPr lang="pt-BR" sz="1400" dirty="0"/>
          </a:p>
        </p:txBody>
      </p:sp>
      <p:sp>
        <p:nvSpPr>
          <p:cNvPr id="34" name="Espaço Reservado para Texto 44">
            <a:extLst>
              <a:ext uri="{FF2B5EF4-FFF2-40B4-BE49-F238E27FC236}">
                <a16:creationId xmlns:a16="http://schemas.microsoft.com/office/drawing/2014/main" id="{4A487BA1-09BB-7CC4-2003-B5C64AA3AA69}"/>
              </a:ext>
            </a:extLst>
          </p:cNvPr>
          <p:cNvSpPr txBox="1">
            <a:spLocks/>
          </p:cNvSpPr>
          <p:nvPr/>
        </p:nvSpPr>
        <p:spPr>
          <a:xfrm>
            <a:off x="4329956" y="4371547"/>
            <a:ext cx="6876524" cy="520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latin typeface="Poppins" panose="00000500000000000000" pitchFamily="2" charset="0"/>
                <a:cs typeface="Poppins" panose="00000500000000000000" pitchFamily="2" charset="0"/>
              </a:rPr>
              <a:t>Copia todos os arquivos modificados desde o último backup completo. É intermediário em tempo e espaço.</a:t>
            </a:r>
          </a:p>
          <a:p>
            <a:endParaRPr lang="pt-BR" sz="1400" dirty="0"/>
          </a:p>
        </p:txBody>
      </p:sp>
      <p:sp>
        <p:nvSpPr>
          <p:cNvPr id="35" name="Google Shape;566;p14">
            <a:extLst>
              <a:ext uri="{FF2B5EF4-FFF2-40B4-BE49-F238E27FC236}">
                <a16:creationId xmlns:a16="http://schemas.microsoft.com/office/drawing/2014/main" id="{77456349-FB7B-CF91-AAC4-7878E2C369E8}"/>
              </a:ext>
            </a:extLst>
          </p:cNvPr>
          <p:cNvSpPr/>
          <p:nvPr/>
        </p:nvSpPr>
        <p:spPr>
          <a:xfrm>
            <a:off x="3584536" y="2023273"/>
            <a:ext cx="600000" cy="600000"/>
          </a:xfrm>
          <a:prstGeom prst="ellipse">
            <a:avLst/>
          </a:prstGeom>
          <a:solidFill>
            <a:srgbClr val="AAA6D3"/>
          </a:solidFill>
          <a:ln w="25400" cap="flat" cmpd="sng">
            <a:solidFill>
              <a:srgbClr val="AAA6D3"/>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a:solidFill>
                <a:schemeClr val="lt1"/>
              </a:solidFill>
              <a:latin typeface="Calibri"/>
              <a:ea typeface="Calibri"/>
              <a:cs typeface="Calibri"/>
              <a:sym typeface="Calibri"/>
            </a:endParaRPr>
          </a:p>
        </p:txBody>
      </p:sp>
      <p:sp>
        <p:nvSpPr>
          <p:cNvPr id="37" name="Google Shape;563;p14">
            <a:extLst>
              <a:ext uri="{FF2B5EF4-FFF2-40B4-BE49-F238E27FC236}">
                <a16:creationId xmlns:a16="http://schemas.microsoft.com/office/drawing/2014/main" id="{CC163EFF-519F-CD23-830C-4EBDB4A723AD}"/>
              </a:ext>
            </a:extLst>
          </p:cNvPr>
          <p:cNvSpPr/>
          <p:nvPr/>
        </p:nvSpPr>
        <p:spPr>
          <a:xfrm>
            <a:off x="3630018" y="3049138"/>
            <a:ext cx="600000" cy="600000"/>
          </a:xfrm>
          <a:prstGeom prst="ellipse">
            <a:avLst/>
          </a:prstGeom>
          <a:solidFill>
            <a:srgbClr val="AAA6D3"/>
          </a:solidFill>
          <a:ln w="25400" cap="flat" cmpd="sng">
            <a:solidFill>
              <a:srgbClr val="AAA6D3"/>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a:solidFill>
                <a:schemeClr val="lt1"/>
              </a:solidFill>
              <a:latin typeface="Calibri"/>
              <a:ea typeface="Calibri"/>
              <a:cs typeface="Calibri"/>
              <a:sym typeface="Calibri"/>
            </a:endParaRPr>
          </a:p>
        </p:txBody>
      </p:sp>
      <p:sp>
        <p:nvSpPr>
          <p:cNvPr id="39" name="Google Shape;569;p14">
            <a:extLst>
              <a:ext uri="{FF2B5EF4-FFF2-40B4-BE49-F238E27FC236}">
                <a16:creationId xmlns:a16="http://schemas.microsoft.com/office/drawing/2014/main" id="{AED1BAFF-5DA6-6F55-AE62-F85E1F3AE1E3}"/>
              </a:ext>
            </a:extLst>
          </p:cNvPr>
          <p:cNvSpPr/>
          <p:nvPr/>
        </p:nvSpPr>
        <p:spPr>
          <a:xfrm>
            <a:off x="3630018" y="4157652"/>
            <a:ext cx="600000" cy="600000"/>
          </a:xfrm>
          <a:prstGeom prst="ellipse">
            <a:avLst/>
          </a:prstGeom>
          <a:solidFill>
            <a:srgbClr val="AAA6D3"/>
          </a:solidFill>
          <a:ln w="25400" cap="flat" cmpd="sng">
            <a:solidFill>
              <a:srgbClr val="AAA6D3"/>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a:solidFill>
                <a:schemeClr val="lt1"/>
              </a:solidFill>
              <a:latin typeface="Calibri"/>
              <a:ea typeface="Calibri"/>
              <a:cs typeface="Calibri"/>
              <a:sym typeface="Calibri"/>
            </a:endParaRPr>
          </a:p>
        </p:txBody>
      </p:sp>
      <p:sp>
        <p:nvSpPr>
          <p:cNvPr id="41" name="Espaço Reservado para Texto 22">
            <a:extLst>
              <a:ext uri="{FF2B5EF4-FFF2-40B4-BE49-F238E27FC236}">
                <a16:creationId xmlns:a16="http://schemas.microsoft.com/office/drawing/2014/main" id="{6BE84E23-C172-F56A-1752-0AE67DB86A37}"/>
              </a:ext>
            </a:extLst>
          </p:cNvPr>
          <p:cNvSpPr txBox="1">
            <a:spLocks/>
          </p:cNvSpPr>
          <p:nvPr/>
        </p:nvSpPr>
        <p:spPr>
          <a:xfrm>
            <a:off x="4329956" y="5183102"/>
            <a:ext cx="3224209" cy="23176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latin typeface="Poppins" panose="00000500000000000000" pitchFamily="2" charset="0"/>
                <a:cs typeface="Poppins" panose="00000500000000000000" pitchFamily="2" charset="0"/>
              </a:rPr>
              <a:t>Espelhamento (</a:t>
            </a:r>
            <a:r>
              <a:rPr lang="pt-BR" sz="1800" b="1" i="1" dirty="0" err="1">
                <a:latin typeface="Poppins" panose="00000500000000000000" pitchFamily="2" charset="0"/>
                <a:cs typeface="Poppins" panose="00000500000000000000" pitchFamily="2" charset="0"/>
              </a:rPr>
              <a:t>Mirror</a:t>
            </a:r>
            <a:r>
              <a:rPr lang="pt-BR" sz="1800" b="1" dirty="0">
                <a:latin typeface="Poppins" panose="00000500000000000000" pitchFamily="2" charset="0"/>
                <a:cs typeface="Poppins" panose="00000500000000000000" pitchFamily="2" charset="0"/>
              </a:rPr>
              <a:t>)</a:t>
            </a:r>
            <a:endParaRPr lang="pt-BR" sz="1800" b="1" dirty="0">
              <a:latin typeface="Poppins" pitchFamily="2" charset="77"/>
              <a:cs typeface="Poppins" pitchFamily="2" charset="77"/>
            </a:endParaRPr>
          </a:p>
        </p:txBody>
      </p:sp>
      <p:sp>
        <p:nvSpPr>
          <p:cNvPr id="42" name="Espaço Reservado para Texto 44">
            <a:extLst>
              <a:ext uri="{FF2B5EF4-FFF2-40B4-BE49-F238E27FC236}">
                <a16:creationId xmlns:a16="http://schemas.microsoft.com/office/drawing/2014/main" id="{399051B5-4471-E235-60A7-5DEFD7432B25}"/>
              </a:ext>
            </a:extLst>
          </p:cNvPr>
          <p:cNvSpPr txBox="1">
            <a:spLocks/>
          </p:cNvSpPr>
          <p:nvPr/>
        </p:nvSpPr>
        <p:spPr>
          <a:xfrm>
            <a:off x="4329956" y="5533510"/>
            <a:ext cx="6876524" cy="520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latin typeface="Poppins" panose="00000500000000000000" pitchFamily="2" charset="0"/>
                <a:cs typeface="Poppins" panose="00000500000000000000" pitchFamily="2" charset="0"/>
              </a:rPr>
              <a:t>Mantém uma cópia idêntica em outro local e é atualizado constantemente.</a:t>
            </a:r>
            <a:endParaRPr lang="pt-BR" sz="1400" dirty="0"/>
          </a:p>
        </p:txBody>
      </p:sp>
      <p:sp>
        <p:nvSpPr>
          <p:cNvPr id="43" name="Google Shape;569;p14">
            <a:extLst>
              <a:ext uri="{FF2B5EF4-FFF2-40B4-BE49-F238E27FC236}">
                <a16:creationId xmlns:a16="http://schemas.microsoft.com/office/drawing/2014/main" id="{34ED32D3-07C6-A1A9-57AA-C6282DCC5479}"/>
              </a:ext>
            </a:extLst>
          </p:cNvPr>
          <p:cNvSpPr/>
          <p:nvPr/>
        </p:nvSpPr>
        <p:spPr>
          <a:xfrm>
            <a:off x="3630018" y="5251522"/>
            <a:ext cx="600000" cy="600000"/>
          </a:xfrm>
          <a:prstGeom prst="ellipse">
            <a:avLst/>
          </a:prstGeom>
          <a:solidFill>
            <a:srgbClr val="AAA6D3"/>
          </a:solidFill>
          <a:ln w="25400" cap="flat" cmpd="sng">
            <a:solidFill>
              <a:srgbClr val="AAA6D3"/>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a:solidFill>
                <a:schemeClr val="lt1"/>
              </a:solidFill>
              <a:latin typeface="Calibri"/>
              <a:ea typeface="Calibri"/>
              <a:cs typeface="Calibri"/>
              <a:sym typeface="Calibri"/>
            </a:endParaRPr>
          </a:p>
        </p:txBody>
      </p:sp>
      <p:sp>
        <p:nvSpPr>
          <p:cNvPr id="50" name="Espaço Reservado para Texto 20">
            <a:extLst>
              <a:ext uri="{FF2B5EF4-FFF2-40B4-BE49-F238E27FC236}">
                <a16:creationId xmlns:a16="http://schemas.microsoft.com/office/drawing/2014/main" id="{CFAC43C0-04F9-0AB1-A58B-62D1DFBADE69}"/>
              </a:ext>
            </a:extLst>
          </p:cNvPr>
          <p:cNvSpPr txBox="1">
            <a:spLocks/>
          </p:cNvSpPr>
          <p:nvPr/>
        </p:nvSpPr>
        <p:spPr>
          <a:xfrm>
            <a:off x="3447286" y="336106"/>
            <a:ext cx="6020990" cy="72998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3200" b="1" dirty="0">
                <a:solidFill>
                  <a:srgbClr val="EE0000"/>
                </a:solidFill>
                <a:latin typeface="Poppins" panose="00000500000000000000" pitchFamily="2" charset="0"/>
                <a:cs typeface="Poppins" panose="00000500000000000000" pitchFamily="2" charset="0"/>
              </a:rPr>
              <a:t>Backup</a:t>
            </a:r>
          </a:p>
        </p:txBody>
      </p:sp>
      <p:pic>
        <p:nvPicPr>
          <p:cNvPr id="55" name="Gráfico 54">
            <a:extLst>
              <a:ext uri="{FF2B5EF4-FFF2-40B4-BE49-F238E27FC236}">
                <a16:creationId xmlns:a16="http://schemas.microsoft.com/office/drawing/2014/main" id="{A6AA202C-89F4-3E36-B888-CEA2F8790D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84511" y="2138032"/>
            <a:ext cx="400050" cy="336550"/>
          </a:xfrm>
          <a:prstGeom prst="rect">
            <a:avLst/>
          </a:prstGeom>
        </p:spPr>
      </p:pic>
      <p:pic>
        <p:nvPicPr>
          <p:cNvPr id="56" name="Gráfico 55">
            <a:extLst>
              <a:ext uri="{FF2B5EF4-FFF2-40B4-BE49-F238E27FC236}">
                <a16:creationId xmlns:a16="http://schemas.microsoft.com/office/drawing/2014/main" id="{DE330612-4B2F-4D4F-28D7-14D859D238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29993" y="3184580"/>
            <a:ext cx="400050" cy="336550"/>
          </a:xfrm>
          <a:prstGeom prst="rect">
            <a:avLst/>
          </a:prstGeom>
        </p:spPr>
      </p:pic>
      <p:pic>
        <p:nvPicPr>
          <p:cNvPr id="57" name="Gráfico 56">
            <a:extLst>
              <a:ext uri="{FF2B5EF4-FFF2-40B4-BE49-F238E27FC236}">
                <a16:creationId xmlns:a16="http://schemas.microsoft.com/office/drawing/2014/main" id="{1E657716-ECE8-27E2-2173-CCEE3B3862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29993" y="4285069"/>
            <a:ext cx="400050" cy="336550"/>
          </a:xfrm>
          <a:prstGeom prst="rect">
            <a:avLst/>
          </a:prstGeom>
        </p:spPr>
      </p:pic>
      <p:pic>
        <p:nvPicPr>
          <p:cNvPr id="58" name="Gráfico 57">
            <a:extLst>
              <a:ext uri="{FF2B5EF4-FFF2-40B4-BE49-F238E27FC236}">
                <a16:creationId xmlns:a16="http://schemas.microsoft.com/office/drawing/2014/main" id="{7743C787-612A-14B2-C9F6-4EEDE41F8A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28609" y="5367081"/>
            <a:ext cx="400050" cy="336550"/>
          </a:xfrm>
          <a:prstGeom prst="rect">
            <a:avLst/>
          </a:prstGeom>
        </p:spPr>
      </p:pic>
    </p:spTree>
    <p:extLst>
      <p:ext uri="{BB962C8B-B14F-4D97-AF65-F5344CB8AC3E}">
        <p14:creationId xmlns:p14="http://schemas.microsoft.com/office/powerpoint/2010/main" val="3567065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D965A-2170-062A-C37A-5BE2CA2E693D}"/>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75500D78-3614-75FB-E886-B86289CD16D7}"/>
              </a:ext>
            </a:extLst>
          </p:cNvPr>
          <p:cNvSpPr>
            <a:spLocks noGrp="1"/>
          </p:cNvSpPr>
          <p:nvPr>
            <p:ph type="body" sz="quarter" idx="10"/>
          </p:nvPr>
        </p:nvSpPr>
        <p:spPr>
          <a:xfrm>
            <a:off x="2793920" y="918462"/>
            <a:ext cx="8540120" cy="520699"/>
          </a:xfrm>
        </p:spPr>
        <p:txBody>
          <a:bodyPr>
            <a:noAutofit/>
          </a:bodyPr>
          <a:lstStyle>
            <a:lvl1pPr>
              <a:defRPr sz="2400">
                <a:latin typeface="Poppins" pitchFamily="2" charset="77"/>
                <a:cs typeface="Poppins" pitchFamily="2" charset="77"/>
              </a:defRPr>
            </a:lvl1pPr>
          </a:lstStyle>
          <a:p>
            <a:pPr>
              <a:lnSpc>
                <a:spcPct val="90000"/>
              </a:lnSpc>
              <a:spcAft>
                <a:spcPts val="600"/>
              </a:spcAft>
            </a:pPr>
            <a:r>
              <a:rPr lang="pt-BR" sz="3200" b="1" dirty="0">
                <a:solidFill>
                  <a:srgbClr val="FF161F"/>
                </a:solidFill>
              </a:rPr>
              <a:t>F</a:t>
            </a:r>
            <a:r>
              <a:rPr lang="pt-BR" sz="3200" b="1" i="0" u="none" strike="noStrike" cap="none" dirty="0">
                <a:solidFill>
                  <a:srgbClr val="FF161F"/>
                </a:solidFill>
                <a:latin typeface="Poppins" pitchFamily="2" charset="77"/>
                <a:ea typeface="Arial"/>
                <a:cs typeface="Poppins" pitchFamily="2" charset="77"/>
                <a:sym typeface="Arial"/>
              </a:rPr>
              <a:t>erramentas de backup</a:t>
            </a:r>
          </a:p>
        </p:txBody>
      </p:sp>
      <p:sp>
        <p:nvSpPr>
          <p:cNvPr id="5" name="CaixaDeTexto 4">
            <a:extLst>
              <a:ext uri="{FF2B5EF4-FFF2-40B4-BE49-F238E27FC236}">
                <a16:creationId xmlns:a16="http://schemas.microsoft.com/office/drawing/2014/main" id="{0EB85E80-C3F3-5592-9BEC-943EB805742C}"/>
              </a:ext>
            </a:extLst>
          </p:cNvPr>
          <p:cNvSpPr txBox="1"/>
          <p:nvPr/>
        </p:nvSpPr>
        <p:spPr>
          <a:xfrm>
            <a:off x="3115382" y="1705222"/>
            <a:ext cx="6545713" cy="2251447"/>
          </a:xfrm>
          <a:prstGeom prst="rect">
            <a:avLst/>
          </a:prstGeom>
        </p:spPr>
        <p:txBody>
          <a:bodyPr>
            <a:normAutofit/>
          </a:bodyPr>
          <a:lstStyle/>
          <a:p>
            <a:r>
              <a:rPr lang="pt-BR" sz="1800" b="1" dirty="0">
                <a:latin typeface="Poppins" panose="00000500000000000000" pitchFamily="2" charset="0"/>
                <a:cs typeface="Poppins" panose="00000500000000000000" pitchFamily="2" charset="0"/>
              </a:rPr>
              <a:t>No computador (Windows/Linux/Mac)</a:t>
            </a:r>
          </a:p>
          <a:p>
            <a:pPr lvl="1"/>
            <a:r>
              <a:rPr lang="pt-BR" sz="1600" dirty="0">
                <a:latin typeface="Poppins" panose="00000500000000000000" pitchFamily="2" charset="0"/>
                <a:cs typeface="Poppins" panose="00000500000000000000" pitchFamily="2" charset="0"/>
              </a:rPr>
              <a:t>Windows Backup, Time Machine (MacOS), Déjà </a:t>
            </a:r>
            <a:r>
              <a:rPr lang="pt-BR" sz="1600" dirty="0" err="1">
                <a:latin typeface="Poppins" panose="00000500000000000000" pitchFamily="2" charset="0"/>
                <a:cs typeface="Poppins" panose="00000500000000000000" pitchFamily="2" charset="0"/>
              </a:rPr>
              <a:t>Dup</a:t>
            </a:r>
            <a:r>
              <a:rPr lang="pt-BR" sz="1600" dirty="0">
                <a:latin typeface="Poppins" panose="00000500000000000000" pitchFamily="2" charset="0"/>
                <a:cs typeface="Poppins" panose="00000500000000000000" pitchFamily="2" charset="0"/>
              </a:rPr>
              <a:t> (Linux).</a:t>
            </a:r>
          </a:p>
          <a:p>
            <a:pPr lvl="1"/>
            <a:endParaRPr lang="pt-BR" sz="1800" dirty="0">
              <a:latin typeface="Poppins" panose="00000500000000000000" pitchFamily="2" charset="0"/>
              <a:cs typeface="Poppins" panose="00000500000000000000" pitchFamily="2" charset="0"/>
            </a:endParaRPr>
          </a:p>
          <a:p>
            <a:r>
              <a:rPr lang="pt-BR" sz="1800" b="1" dirty="0">
                <a:latin typeface="Poppins" panose="00000500000000000000" pitchFamily="2" charset="0"/>
                <a:cs typeface="Poppins" panose="00000500000000000000" pitchFamily="2" charset="0"/>
              </a:rPr>
              <a:t>Na nuvem (cloud)</a:t>
            </a:r>
          </a:p>
          <a:p>
            <a:pPr lvl="1"/>
            <a:r>
              <a:rPr lang="pt-BR" sz="1600" dirty="0">
                <a:latin typeface="Poppins" panose="00000500000000000000" pitchFamily="2" charset="0"/>
                <a:cs typeface="Poppins" panose="00000500000000000000" pitchFamily="2" charset="0"/>
              </a:rPr>
              <a:t>Google Drive, OneDrive (Microsoft), iCloud (Apple), Dropbox.</a:t>
            </a:r>
          </a:p>
          <a:p>
            <a:pPr lvl="2"/>
            <a:endParaRPr lang="pt-BR" sz="1800" dirty="0">
              <a:latin typeface="Poppins" panose="00000500000000000000" pitchFamily="2" charset="0"/>
              <a:cs typeface="Poppins" panose="00000500000000000000" pitchFamily="2" charset="0"/>
            </a:endParaRPr>
          </a:p>
          <a:p>
            <a:r>
              <a:rPr lang="pt-BR" sz="1800" b="1" dirty="0">
                <a:latin typeface="Poppins" panose="00000500000000000000" pitchFamily="2" charset="0"/>
                <a:cs typeface="Poppins" panose="00000500000000000000" pitchFamily="2" charset="0"/>
              </a:rPr>
              <a:t>Externo</a:t>
            </a:r>
          </a:p>
          <a:p>
            <a:pPr lvl="1"/>
            <a:r>
              <a:rPr lang="pt-BR" sz="1600" dirty="0">
                <a:latin typeface="Poppins" panose="00000500000000000000" pitchFamily="2" charset="0"/>
                <a:cs typeface="Poppins" panose="00000500000000000000" pitchFamily="2" charset="0"/>
              </a:rPr>
              <a:t>Pen drive, HD externo, SSD portátil.</a:t>
            </a:r>
          </a:p>
        </p:txBody>
      </p:sp>
      <p:sp>
        <p:nvSpPr>
          <p:cNvPr id="12" name="Triângulo 7">
            <a:extLst>
              <a:ext uri="{FF2B5EF4-FFF2-40B4-BE49-F238E27FC236}">
                <a16:creationId xmlns:a16="http://schemas.microsoft.com/office/drawing/2014/main" id="{7583B72D-2B01-CFB1-0BBD-E3D1A8A5B2F9}"/>
              </a:ext>
            </a:extLst>
          </p:cNvPr>
          <p:cNvSpPr/>
          <p:nvPr/>
        </p:nvSpPr>
        <p:spPr>
          <a:xfrm rot="5400000">
            <a:off x="2938995" y="1823673"/>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9" name="Triângulo 11">
            <a:extLst>
              <a:ext uri="{FF2B5EF4-FFF2-40B4-BE49-F238E27FC236}">
                <a16:creationId xmlns:a16="http://schemas.microsoft.com/office/drawing/2014/main" id="{10020B69-BF04-581E-6330-2C68969440A1}"/>
              </a:ext>
            </a:extLst>
          </p:cNvPr>
          <p:cNvSpPr/>
          <p:nvPr/>
        </p:nvSpPr>
        <p:spPr>
          <a:xfrm rot="5400000">
            <a:off x="2917136" y="2624922"/>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1" name="Triângulo 11">
            <a:extLst>
              <a:ext uri="{FF2B5EF4-FFF2-40B4-BE49-F238E27FC236}">
                <a16:creationId xmlns:a16="http://schemas.microsoft.com/office/drawing/2014/main" id="{DA7D15F2-B711-8B1C-64C2-4D19284769AF}"/>
              </a:ext>
            </a:extLst>
          </p:cNvPr>
          <p:cNvSpPr/>
          <p:nvPr/>
        </p:nvSpPr>
        <p:spPr>
          <a:xfrm rot="5400000">
            <a:off x="2917136" y="3426171"/>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3" name="Google Shape;529;p12">
            <a:extLst>
              <a:ext uri="{FF2B5EF4-FFF2-40B4-BE49-F238E27FC236}">
                <a16:creationId xmlns:a16="http://schemas.microsoft.com/office/drawing/2014/main" id="{E088AAB2-E428-81DC-F762-9D93343C7B4D}"/>
              </a:ext>
            </a:extLst>
          </p:cNvPr>
          <p:cNvSpPr/>
          <p:nvPr/>
        </p:nvSpPr>
        <p:spPr>
          <a:xfrm>
            <a:off x="2958511" y="4517568"/>
            <a:ext cx="8301324" cy="1451673"/>
          </a:xfrm>
          <a:prstGeom prst="rect">
            <a:avLst/>
          </a:prstGeom>
          <a:solidFill>
            <a:srgbClr val="3E3593"/>
          </a:solidFill>
          <a:ln>
            <a:noFill/>
          </a:ln>
        </p:spPr>
        <p:txBody>
          <a:bodyPr spcFirstLastPara="1" wrap="square" lIns="60950" tIns="30467" rIns="60950" bIns="30467" anchor="ctr" anchorCtr="0">
            <a:noAutofit/>
          </a:bodyPr>
          <a:lstStyle/>
          <a:p>
            <a:pPr algn="ctr">
              <a:buSzPts val="1400"/>
            </a:pPr>
            <a:endParaRPr>
              <a:solidFill>
                <a:schemeClr val="lt1"/>
              </a:solidFill>
            </a:endParaRPr>
          </a:p>
        </p:txBody>
      </p:sp>
      <p:sp>
        <p:nvSpPr>
          <p:cNvPr id="14" name="Google Shape;531;p12">
            <a:extLst>
              <a:ext uri="{FF2B5EF4-FFF2-40B4-BE49-F238E27FC236}">
                <a16:creationId xmlns:a16="http://schemas.microsoft.com/office/drawing/2014/main" id="{34A138CA-E721-231B-E141-6A4DF9B272CC}"/>
              </a:ext>
            </a:extLst>
          </p:cNvPr>
          <p:cNvSpPr/>
          <p:nvPr/>
        </p:nvSpPr>
        <p:spPr>
          <a:xfrm>
            <a:off x="3106992" y="4403659"/>
            <a:ext cx="868725" cy="90390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a:p>
        </p:txBody>
      </p:sp>
      <p:pic>
        <p:nvPicPr>
          <p:cNvPr id="15" name="Google Shape;533;p12">
            <a:extLst>
              <a:ext uri="{FF2B5EF4-FFF2-40B4-BE49-F238E27FC236}">
                <a16:creationId xmlns:a16="http://schemas.microsoft.com/office/drawing/2014/main" id="{90E54412-D325-FD95-A204-BACD8F7CF7E7}"/>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3328285" y="4549454"/>
            <a:ext cx="548441" cy="526088"/>
          </a:xfrm>
          <a:prstGeom prst="rect">
            <a:avLst/>
          </a:prstGeom>
          <a:noFill/>
          <a:ln>
            <a:noFill/>
          </a:ln>
        </p:spPr>
      </p:pic>
      <p:sp>
        <p:nvSpPr>
          <p:cNvPr id="16" name="Espaço Reservado para Texto 22">
            <a:extLst>
              <a:ext uri="{FF2B5EF4-FFF2-40B4-BE49-F238E27FC236}">
                <a16:creationId xmlns:a16="http://schemas.microsoft.com/office/drawing/2014/main" id="{7FF58B85-358C-FBD2-2093-8D3FF5B5EEFA}"/>
              </a:ext>
            </a:extLst>
          </p:cNvPr>
          <p:cNvSpPr txBox="1">
            <a:spLocks/>
          </p:cNvSpPr>
          <p:nvPr/>
        </p:nvSpPr>
        <p:spPr>
          <a:xfrm>
            <a:off x="4197010" y="4623706"/>
            <a:ext cx="6770665" cy="3287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solidFill>
                  <a:schemeClr val="bg1"/>
                </a:solidFill>
                <a:latin typeface="Poppins" pitchFamily="2" charset="77"/>
                <a:cs typeface="Poppins" pitchFamily="2" charset="77"/>
              </a:rPr>
              <a:t>Tome nota</a:t>
            </a:r>
          </a:p>
        </p:txBody>
      </p:sp>
      <p:sp>
        <p:nvSpPr>
          <p:cNvPr id="17" name="Espaço Reservado para Texto 12">
            <a:extLst>
              <a:ext uri="{FF2B5EF4-FFF2-40B4-BE49-F238E27FC236}">
                <a16:creationId xmlns:a16="http://schemas.microsoft.com/office/drawing/2014/main" id="{42B1865F-D55E-42C4-E975-37D4B48AEEBF}"/>
              </a:ext>
            </a:extLst>
          </p:cNvPr>
          <p:cNvSpPr txBox="1">
            <a:spLocks/>
          </p:cNvSpPr>
          <p:nvPr/>
        </p:nvSpPr>
        <p:spPr>
          <a:xfrm>
            <a:off x="4197010" y="5063117"/>
            <a:ext cx="6770665" cy="90612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solidFill>
                  <a:schemeClr val="bg1"/>
                </a:solidFill>
                <a:latin typeface="Poppins"/>
              </a:rPr>
              <a:t>A nuvem é um espaço de armazenamento na internet onde você pode guardar seus arquivos (como fotos, vídeos e trabalhos) para acessá-los de qualquer lugar, usando o celular, computador ou tablet.</a:t>
            </a:r>
          </a:p>
          <a:p>
            <a:endParaRPr lang="pt-BR" sz="1400" dirty="0">
              <a:solidFill>
                <a:schemeClr val="bg1"/>
              </a:solidFill>
            </a:endParaRPr>
          </a:p>
        </p:txBody>
      </p:sp>
    </p:spTree>
    <p:extLst>
      <p:ext uri="{BB962C8B-B14F-4D97-AF65-F5344CB8AC3E}">
        <p14:creationId xmlns:p14="http://schemas.microsoft.com/office/powerpoint/2010/main" val="2329777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F83E-19C4-7146-CE87-493D436ADB21}"/>
            </a:ext>
          </a:extLst>
        </p:cNvPr>
        <p:cNvGrpSpPr/>
        <p:nvPr/>
      </p:nvGrpSpPr>
      <p:grpSpPr>
        <a:xfrm>
          <a:off x="0" y="0"/>
          <a:ext cx="0" cy="0"/>
          <a:chOff x="0" y="0"/>
          <a:chExt cx="0" cy="0"/>
        </a:xfrm>
      </p:grpSpPr>
      <p:sp>
        <p:nvSpPr>
          <p:cNvPr id="18" name="CaixaDeTexto 17">
            <a:extLst>
              <a:ext uri="{FF2B5EF4-FFF2-40B4-BE49-F238E27FC236}">
                <a16:creationId xmlns:a16="http://schemas.microsoft.com/office/drawing/2014/main" id="{A5C863FA-FEF3-22CE-212B-31CDDC605AFD}"/>
              </a:ext>
            </a:extLst>
          </p:cNvPr>
          <p:cNvSpPr txBox="1"/>
          <p:nvPr/>
        </p:nvSpPr>
        <p:spPr>
          <a:xfrm>
            <a:off x="13093349" y="509833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61" name="CaixaDeTexto 60">
            <a:extLst>
              <a:ext uri="{FF2B5EF4-FFF2-40B4-BE49-F238E27FC236}">
                <a16:creationId xmlns:a16="http://schemas.microsoft.com/office/drawing/2014/main" id="{CB361B78-3F0C-2A57-C1BD-007B55CB92B9}"/>
              </a:ext>
            </a:extLst>
          </p:cNvPr>
          <p:cNvSpPr txBox="1"/>
          <p:nvPr/>
        </p:nvSpPr>
        <p:spPr>
          <a:xfrm>
            <a:off x="1404218" y="5433323"/>
            <a:ext cx="6096000" cy="261610"/>
          </a:xfrm>
          <a:prstGeom prst="rect">
            <a:avLst/>
          </a:prstGeom>
          <a:noFill/>
          <a:ln>
            <a:noFill/>
          </a:ln>
        </p:spPr>
        <p:txBody>
          <a:bodyPr wrap="square">
            <a:spAutoFit/>
          </a:bodyPr>
          <a:lstStyle/>
          <a:p>
            <a:pPr>
              <a:buNone/>
            </a:pPr>
            <a:r>
              <a:rPr lang="pt-BR" sz="1100" dirty="0">
                <a:latin typeface="Poppins" panose="00000500000000000000" pitchFamily="2" charset="0"/>
                <a:cs typeface="Poppins" panose="00000500000000000000" pitchFamily="2" charset="0"/>
              </a:rPr>
              <a:t>Crédito: Produzido pela SEDUC-SP com auxílio da ferramenta Windows 11.</a:t>
            </a:r>
          </a:p>
        </p:txBody>
      </p:sp>
      <p:pic>
        <p:nvPicPr>
          <p:cNvPr id="3" name="Imagem 2" descr="Texto&#10;&#10;O conteúdo gerado por IA pode estar incorreto.">
            <a:extLst>
              <a:ext uri="{FF2B5EF4-FFF2-40B4-BE49-F238E27FC236}">
                <a16:creationId xmlns:a16="http://schemas.microsoft.com/office/drawing/2014/main" id="{27E8DB97-727B-D3EC-A5E3-2BCAE8A15E1C}"/>
              </a:ext>
            </a:extLst>
          </p:cNvPr>
          <p:cNvPicPr>
            <a:picLocks noChangeAspect="1"/>
          </p:cNvPicPr>
          <p:nvPr/>
        </p:nvPicPr>
        <p:blipFill>
          <a:blip r:embed="rId2"/>
          <a:stretch>
            <a:fillRect/>
          </a:stretch>
        </p:blipFill>
        <p:spPr>
          <a:xfrm>
            <a:off x="1245658" y="1293871"/>
            <a:ext cx="10759462" cy="4270257"/>
          </a:xfrm>
          <a:prstGeom prst="rect">
            <a:avLst/>
          </a:prstGeom>
        </p:spPr>
      </p:pic>
    </p:spTree>
    <p:extLst>
      <p:ext uri="{BB962C8B-B14F-4D97-AF65-F5344CB8AC3E}">
        <p14:creationId xmlns:p14="http://schemas.microsoft.com/office/powerpoint/2010/main" val="2357512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5D6F-E601-AF07-ACE0-6259C0974200}"/>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D337BACE-E84A-1D00-42AB-2B25DA162DE9}"/>
              </a:ext>
            </a:extLst>
          </p:cNvPr>
          <p:cNvSpPr>
            <a:spLocks noGrp="1"/>
          </p:cNvSpPr>
          <p:nvPr>
            <p:ph type="body" sz="quarter" idx="10"/>
          </p:nvPr>
        </p:nvSpPr>
        <p:spPr>
          <a:xfrm>
            <a:off x="2967826" y="968538"/>
            <a:ext cx="8540120" cy="520699"/>
          </a:xfrm>
        </p:spPr>
        <p:txBody>
          <a:bodyPr lIns="91440" tIns="45720" rIns="91440" bIns="45720" anchor="t">
            <a:noAutofit/>
          </a:bodyPr>
          <a:lstStyle>
            <a:lvl1pPr>
              <a:defRPr sz="2400">
                <a:latin typeface="Poppins" pitchFamily="2" charset="77"/>
                <a:cs typeface="Poppins" pitchFamily="2" charset="77"/>
              </a:defRPr>
            </a:lvl1pPr>
          </a:lstStyle>
          <a:p>
            <a:pPr>
              <a:lnSpc>
                <a:spcPct val="90000"/>
              </a:lnSpc>
              <a:spcAft>
                <a:spcPts val="600"/>
              </a:spcAft>
            </a:pPr>
            <a:r>
              <a:rPr lang="pt-BR" sz="3200" b="1" dirty="0">
                <a:solidFill>
                  <a:srgbClr val="FF161F"/>
                </a:solidFill>
                <a:latin typeface="Poppins"/>
                <a:cs typeface="Poppins"/>
              </a:rPr>
              <a:t>Recuperação/restauração de arquivos</a:t>
            </a:r>
          </a:p>
        </p:txBody>
      </p:sp>
      <p:sp>
        <p:nvSpPr>
          <p:cNvPr id="7" name="Rectangle 2">
            <a:extLst>
              <a:ext uri="{FF2B5EF4-FFF2-40B4-BE49-F238E27FC236}">
                <a16:creationId xmlns:a16="http://schemas.microsoft.com/office/drawing/2014/main" id="{9D0F7C71-225C-6721-E22D-0E6FC0C66431}"/>
              </a:ext>
            </a:extLst>
          </p:cNvPr>
          <p:cNvSpPr>
            <a:spLocks noGrp="1" noChangeArrowheads="1"/>
          </p:cNvSpPr>
          <p:nvPr>
            <p:ph type="body" sz="quarter" idx="4294967295"/>
          </p:nvPr>
        </p:nvSpPr>
        <p:spPr bwMode="auto">
          <a:xfrm>
            <a:off x="2967826" y="1844677"/>
            <a:ext cx="444897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r>
              <a:rPr lang="pt-BR" sz="1800" dirty="0">
                <a:latin typeface="Poppins"/>
                <a:cs typeface="Poppins"/>
              </a:rPr>
              <a:t>Quando um arquivo é apagado (de propósito ou por acidente), ele nem sempre some de imediato do computador ou celular. Muitas vezes, fica “escondido” no disco até ser substituído por outro. Por isso, ele pode ser recuperado ou restaurado.</a:t>
            </a:r>
            <a:endParaRPr lang="pt-BR" sz="1800" dirty="0">
              <a:latin typeface="Poppins" panose="00000500000000000000" pitchFamily="2" charset="0"/>
              <a:cs typeface="Poppins" panose="00000500000000000000" pitchFamily="2" charset="0"/>
            </a:endParaRPr>
          </a:p>
        </p:txBody>
      </p:sp>
      <p:pic>
        <p:nvPicPr>
          <p:cNvPr id="3074" name="Picture 2">
            <a:extLst>
              <a:ext uri="{FF2B5EF4-FFF2-40B4-BE49-F238E27FC236}">
                <a16:creationId xmlns:a16="http://schemas.microsoft.com/office/drawing/2014/main" id="{89278AEE-3C94-1FD3-BFE1-4A5CB4E5A16A}"/>
              </a:ext>
            </a:extLst>
          </p:cNvPr>
          <p:cNvPicPr>
            <a:picLocks noChangeAspect="1" noChangeArrowheads="1"/>
          </p:cNvPicPr>
          <p:nvPr/>
        </p:nvPicPr>
        <p:blipFill>
          <a:blip r:embed="rId2" cstate="hqprint">
            <a:extLst>
              <a:ext uri="{28A0092B-C50C-407E-A947-70E740481C1C}">
                <a14:useLocalDpi xmlns:a14="http://schemas.microsoft.com/office/drawing/2010/main"/>
              </a:ext>
            </a:extLst>
          </a:blip>
          <a:srcRect/>
          <a:stretch/>
        </p:blipFill>
        <p:spPr bwMode="auto">
          <a:xfrm>
            <a:off x="7669517" y="1843963"/>
            <a:ext cx="4098994" cy="2898561"/>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36;p4">
            <a:extLst>
              <a:ext uri="{FF2B5EF4-FFF2-40B4-BE49-F238E27FC236}">
                <a16:creationId xmlns:a16="http://schemas.microsoft.com/office/drawing/2014/main" id="{8182CF34-7B37-D33D-53D6-3F41831E9341}"/>
              </a:ext>
            </a:extLst>
          </p:cNvPr>
          <p:cNvSpPr txBox="1"/>
          <p:nvPr/>
        </p:nvSpPr>
        <p:spPr>
          <a:xfrm>
            <a:off x="2967826" y="4974300"/>
            <a:ext cx="8800982" cy="1031779"/>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endParaRPr lang="pt-BR" sz="1500" dirty="0">
              <a:latin typeface="Poppins" panose="00000500000000000000" pitchFamily="2" charset="0"/>
              <a:cs typeface="Poppins" panose="00000500000000000000" pitchFamily="2" charset="0"/>
            </a:endParaRPr>
          </a:p>
          <a:p>
            <a:r>
              <a:rPr lang="pt-BR" sz="1500" dirty="0">
                <a:latin typeface="Poppins" panose="00000500000000000000" pitchFamily="2" charset="0"/>
                <a:cs typeface="Poppins" panose="00000500000000000000" pitchFamily="2" charset="0"/>
              </a:rPr>
              <a:t>É como uma folha rasgada do caderno que você joga na mochila. Ela não desaparece de imediato, só fica perdida até ser jogada fora de verdade ou substituída.</a:t>
            </a:r>
          </a:p>
        </p:txBody>
      </p:sp>
      <p:pic>
        <p:nvPicPr>
          <p:cNvPr id="8" name="Imagem 7">
            <a:extLst>
              <a:ext uri="{FF2B5EF4-FFF2-40B4-BE49-F238E27FC236}">
                <a16:creationId xmlns:a16="http://schemas.microsoft.com/office/drawing/2014/main" id="{CAC4E9E6-F8A0-AC18-A21F-5ED73D82BB61}"/>
              </a:ext>
            </a:extLst>
          </p:cNvPr>
          <p:cNvPicPr>
            <a:picLocks noChangeAspect="1"/>
          </p:cNvPicPr>
          <p:nvPr/>
        </p:nvPicPr>
        <p:blipFill>
          <a:blip r:embed="rId3"/>
          <a:stretch>
            <a:fillRect/>
          </a:stretch>
        </p:blipFill>
        <p:spPr>
          <a:xfrm>
            <a:off x="3078028" y="4511129"/>
            <a:ext cx="3471333" cy="728133"/>
          </a:xfrm>
          <a:prstGeom prst="rect">
            <a:avLst/>
          </a:prstGeom>
        </p:spPr>
      </p:pic>
      <p:pic>
        <p:nvPicPr>
          <p:cNvPr id="9" name="Gráfico 8">
            <a:extLst>
              <a:ext uri="{FF2B5EF4-FFF2-40B4-BE49-F238E27FC236}">
                <a16:creationId xmlns:a16="http://schemas.microsoft.com/office/drawing/2014/main" id="{07A40A90-3265-D3B8-8290-2F62DA8F95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53881" y="4590225"/>
            <a:ext cx="592667" cy="550333"/>
          </a:xfrm>
          <a:prstGeom prst="rect">
            <a:avLst/>
          </a:prstGeom>
        </p:spPr>
      </p:pic>
      <p:sp>
        <p:nvSpPr>
          <p:cNvPr id="10" name="CaixaDeTexto 9">
            <a:extLst>
              <a:ext uri="{FF2B5EF4-FFF2-40B4-BE49-F238E27FC236}">
                <a16:creationId xmlns:a16="http://schemas.microsoft.com/office/drawing/2014/main" id="{1869933A-4753-E5B0-2798-BABCFA6BCA7D}"/>
              </a:ext>
            </a:extLst>
          </p:cNvPr>
          <p:cNvSpPr txBox="1"/>
          <p:nvPr/>
        </p:nvSpPr>
        <p:spPr>
          <a:xfrm>
            <a:off x="4248142" y="4742524"/>
            <a:ext cx="2166696" cy="231776"/>
          </a:xfrm>
          <a:prstGeom prst="rect">
            <a:avLst/>
          </a:prstGeom>
          <a:noFill/>
          <a:ln>
            <a:noFill/>
          </a:ln>
        </p:spPr>
        <p:txBody>
          <a:bodyPr spcFirstLastPara="1" wrap="square" lIns="60950" tIns="30467" rIns="60950" bIns="30467" rtlCol="0" anchor="t" anchorCtr="0">
            <a:noAutofit/>
          </a:bodyPr>
          <a:lstStyle/>
          <a:p>
            <a:pPr algn="ctr"/>
            <a:r>
              <a:rPr lang="pt-BR" sz="1500" b="1">
                <a:solidFill>
                  <a:schemeClr val="bg1"/>
                </a:solidFill>
                <a:latin typeface="Poppins" pitchFamily="2" charset="77"/>
                <a:cs typeface="Poppins" pitchFamily="2" charset="77"/>
              </a:rPr>
              <a:t>PARA REFLETIR</a:t>
            </a:r>
          </a:p>
        </p:txBody>
      </p:sp>
      <p:sp>
        <p:nvSpPr>
          <p:cNvPr id="12" name="Google Shape;689;p48">
            <a:extLst>
              <a:ext uri="{FF2B5EF4-FFF2-40B4-BE49-F238E27FC236}">
                <a16:creationId xmlns:a16="http://schemas.microsoft.com/office/drawing/2014/main" id="{B68768CA-0415-E8F1-3ACC-39154B28B016}"/>
              </a:ext>
            </a:extLst>
          </p:cNvPr>
          <p:cNvSpPr txBox="1">
            <a:spLocks/>
          </p:cNvSpPr>
          <p:nvPr/>
        </p:nvSpPr>
        <p:spPr>
          <a:xfrm>
            <a:off x="7669517" y="4728222"/>
            <a:ext cx="115064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 Getty Images</a:t>
            </a:r>
          </a:p>
        </p:txBody>
      </p:sp>
    </p:spTree>
    <p:extLst>
      <p:ext uri="{BB962C8B-B14F-4D97-AF65-F5344CB8AC3E}">
        <p14:creationId xmlns:p14="http://schemas.microsoft.com/office/powerpoint/2010/main" val="3291175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D965A-2170-062A-C37A-5BE2CA2E693D}"/>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75500D78-3614-75FB-E886-B86289CD16D7}"/>
              </a:ext>
            </a:extLst>
          </p:cNvPr>
          <p:cNvSpPr>
            <a:spLocks noGrp="1"/>
          </p:cNvSpPr>
          <p:nvPr>
            <p:ph type="body" sz="quarter" idx="10"/>
          </p:nvPr>
        </p:nvSpPr>
        <p:spPr>
          <a:xfrm>
            <a:off x="2849072" y="926597"/>
            <a:ext cx="9099087" cy="520699"/>
          </a:xfrm>
        </p:spPr>
        <p:txBody>
          <a:bodyPr lIns="91440" tIns="45720" rIns="91440" bIns="45720" anchor="t">
            <a:noAutofit/>
          </a:bodyPr>
          <a:lstStyle>
            <a:lvl1pPr>
              <a:defRPr sz="2400">
                <a:latin typeface="Poppins" pitchFamily="2" charset="77"/>
                <a:cs typeface="Poppins" pitchFamily="2" charset="77"/>
              </a:defRPr>
            </a:lvl1pPr>
          </a:lstStyle>
          <a:p>
            <a:pPr>
              <a:lnSpc>
                <a:spcPct val="90000"/>
              </a:lnSpc>
              <a:spcAft>
                <a:spcPts val="600"/>
              </a:spcAft>
            </a:pPr>
            <a:r>
              <a:rPr lang="pt-BR" sz="3200" b="1" dirty="0">
                <a:solidFill>
                  <a:srgbClr val="FF161F"/>
                </a:solidFill>
                <a:latin typeface="Poppins"/>
                <a:cs typeface="Poppins"/>
              </a:rPr>
              <a:t>Ferramentas de recuperação/restauração</a:t>
            </a:r>
            <a:endParaRPr lang="pt-BR" sz="3200" b="1" dirty="0">
              <a:solidFill>
                <a:srgbClr val="FF161F"/>
              </a:solidFill>
            </a:endParaRPr>
          </a:p>
        </p:txBody>
      </p:sp>
      <p:sp>
        <p:nvSpPr>
          <p:cNvPr id="5" name="CaixaDeTexto 4">
            <a:extLst>
              <a:ext uri="{FF2B5EF4-FFF2-40B4-BE49-F238E27FC236}">
                <a16:creationId xmlns:a16="http://schemas.microsoft.com/office/drawing/2014/main" id="{0EB85E80-C3F3-5592-9BEC-943EB805742C}"/>
              </a:ext>
            </a:extLst>
          </p:cNvPr>
          <p:cNvSpPr txBox="1"/>
          <p:nvPr/>
        </p:nvSpPr>
        <p:spPr>
          <a:xfrm>
            <a:off x="2937369" y="1594294"/>
            <a:ext cx="8301323" cy="3063240"/>
          </a:xfrm>
          <a:prstGeom prst="rect">
            <a:avLst/>
          </a:prstGeom>
        </p:spPr>
        <p:txBody>
          <a:bodyPr lIns="91440" tIns="45720" rIns="91440" bIns="45720" anchor="t">
            <a:normAutofit/>
          </a:bodyPr>
          <a:lstStyle/>
          <a:p>
            <a:pPr>
              <a:spcAft>
                <a:spcPts val="600"/>
              </a:spcAft>
            </a:pPr>
            <a:r>
              <a:rPr lang="pt-BR" sz="1600" b="1" dirty="0">
                <a:latin typeface="Poppins"/>
                <a:cs typeface="Poppins"/>
              </a:rPr>
              <a:t>Windows 10 e 11</a:t>
            </a:r>
            <a:endParaRPr lang="pt-BR" sz="1600" b="1" dirty="0">
              <a:latin typeface="Poppins" panose="00000500000000000000" pitchFamily="2" charset="0"/>
              <a:cs typeface="Poppins" panose="00000500000000000000" pitchFamily="2" charset="0"/>
            </a:endParaRPr>
          </a:p>
          <a:p>
            <a:pPr marL="285750" lvl="3" indent="-285750">
              <a:spcAft>
                <a:spcPts val="600"/>
              </a:spcAft>
              <a:buFont typeface="Arial" panose="020B0604020202020204" pitchFamily="34" charset="0"/>
              <a:buChar char="•"/>
            </a:pPr>
            <a:r>
              <a:rPr lang="pt-BR" sz="1600" dirty="0">
                <a:latin typeface="Poppins" panose="00000500000000000000" pitchFamily="2" charset="0"/>
                <a:cs typeface="Poppins" panose="00000500000000000000" pitchFamily="2" charset="0"/>
              </a:rPr>
              <a:t>Restauração do sistema: recupera o sistema operacional e configurações para um ponto anterior;</a:t>
            </a:r>
          </a:p>
          <a:p>
            <a:pPr marL="285750" lvl="1" indent="-285750">
              <a:spcAft>
                <a:spcPts val="600"/>
              </a:spcAft>
              <a:buFont typeface="Arial" panose="020B0604020202020204" pitchFamily="34" charset="0"/>
              <a:buChar char="•"/>
            </a:pPr>
            <a:r>
              <a:rPr lang="pt-BR" sz="1600" dirty="0">
                <a:latin typeface="Poppins" panose="00000500000000000000" pitchFamily="2" charset="0"/>
                <a:cs typeface="Poppins" panose="00000500000000000000" pitchFamily="2" charset="0"/>
              </a:rPr>
              <a:t>Histórico de arquivos/backup: acessa versões antigas de documentos;</a:t>
            </a:r>
          </a:p>
          <a:p>
            <a:pPr marL="285750" lvl="1" indent="-285750">
              <a:spcAft>
                <a:spcPts val="600"/>
              </a:spcAft>
              <a:buFont typeface="Arial" panose="020B0604020202020204" pitchFamily="34" charset="0"/>
              <a:buChar char="•"/>
            </a:pPr>
            <a:r>
              <a:rPr lang="pt-BR" sz="1600" dirty="0">
                <a:latin typeface="Poppins" panose="00000500000000000000" pitchFamily="2" charset="0"/>
                <a:cs typeface="Poppins" panose="00000500000000000000" pitchFamily="2" charset="0"/>
              </a:rPr>
              <a:t>Programas de terceiros: </a:t>
            </a:r>
            <a:r>
              <a:rPr lang="pt-BR" sz="1600" dirty="0" err="1">
                <a:latin typeface="Poppins" panose="00000500000000000000" pitchFamily="2" charset="0"/>
                <a:cs typeface="Poppins" panose="00000500000000000000" pitchFamily="2" charset="0"/>
              </a:rPr>
              <a:t>Recuva</a:t>
            </a:r>
            <a:r>
              <a:rPr lang="pt-BR" sz="1600" dirty="0">
                <a:latin typeface="Poppins" panose="00000500000000000000" pitchFamily="2" charset="0"/>
                <a:cs typeface="Poppins" panose="00000500000000000000" pitchFamily="2" charset="0"/>
              </a:rPr>
              <a:t> (gratuito), </a:t>
            </a:r>
            <a:r>
              <a:rPr lang="pt-BR" sz="1600" dirty="0" err="1">
                <a:latin typeface="Poppins" panose="00000500000000000000" pitchFamily="2" charset="0"/>
                <a:cs typeface="Poppins" panose="00000500000000000000" pitchFamily="2" charset="0"/>
              </a:rPr>
              <a:t>EaseUS</a:t>
            </a:r>
            <a:r>
              <a:rPr lang="pt-BR" sz="1600" dirty="0">
                <a:latin typeface="Poppins" panose="00000500000000000000" pitchFamily="2" charset="0"/>
                <a:cs typeface="Poppins" panose="00000500000000000000" pitchFamily="2" charset="0"/>
              </a:rPr>
              <a:t> Data Recovery.</a:t>
            </a:r>
          </a:p>
          <a:p>
            <a:endParaRPr lang="pt-BR" sz="1600" b="1" dirty="0">
              <a:latin typeface="Poppins" panose="00000500000000000000" pitchFamily="2" charset="0"/>
              <a:cs typeface="Poppins" panose="00000500000000000000" pitchFamily="2" charset="0"/>
            </a:endParaRPr>
          </a:p>
          <a:p>
            <a:pPr>
              <a:spcAft>
                <a:spcPts val="600"/>
              </a:spcAft>
            </a:pPr>
            <a:r>
              <a:rPr lang="pt-BR" sz="1600" b="1" dirty="0">
                <a:latin typeface="Poppins" panose="00000500000000000000" pitchFamily="2" charset="0"/>
                <a:cs typeface="Poppins" panose="00000500000000000000" pitchFamily="2" charset="0"/>
              </a:rPr>
              <a:t>Celular</a:t>
            </a:r>
          </a:p>
          <a:p>
            <a:pPr marL="285750" lvl="3" indent="-285750">
              <a:spcAft>
                <a:spcPts val="600"/>
              </a:spcAft>
              <a:buFont typeface="Arial" panose="020B0604020202020204" pitchFamily="34" charset="0"/>
              <a:buChar char="•"/>
            </a:pPr>
            <a:r>
              <a:rPr lang="pt-BR" sz="1600" dirty="0">
                <a:latin typeface="Poppins" panose="00000500000000000000" pitchFamily="2" charset="0"/>
                <a:cs typeface="Poppins" panose="00000500000000000000" pitchFamily="2" charset="0"/>
              </a:rPr>
              <a:t>Google Fotos: fotos apagadas ficam até 30 dias na lixeira;</a:t>
            </a:r>
          </a:p>
          <a:p>
            <a:pPr marL="285750" lvl="3" indent="-285750">
              <a:spcAft>
                <a:spcPts val="600"/>
              </a:spcAft>
              <a:buFont typeface="Arial" panose="020B0604020202020204" pitchFamily="34" charset="0"/>
              <a:buChar char="•"/>
            </a:pPr>
            <a:r>
              <a:rPr lang="pt-BR" sz="1600" dirty="0">
                <a:latin typeface="Poppins" panose="00000500000000000000" pitchFamily="2" charset="0"/>
                <a:cs typeface="Poppins" panose="00000500000000000000" pitchFamily="2" charset="0"/>
              </a:rPr>
              <a:t>Drive/OneDrive: versões anteriores de arquivos.</a:t>
            </a:r>
          </a:p>
        </p:txBody>
      </p:sp>
      <p:sp>
        <p:nvSpPr>
          <p:cNvPr id="3" name="Google Shape;529;p12">
            <a:extLst>
              <a:ext uri="{FF2B5EF4-FFF2-40B4-BE49-F238E27FC236}">
                <a16:creationId xmlns:a16="http://schemas.microsoft.com/office/drawing/2014/main" id="{993A147D-CFE9-D116-0A00-189903734B8C}"/>
              </a:ext>
            </a:extLst>
          </p:cNvPr>
          <p:cNvSpPr/>
          <p:nvPr/>
        </p:nvSpPr>
        <p:spPr>
          <a:xfrm>
            <a:off x="3029631" y="4791748"/>
            <a:ext cx="8301324" cy="1243539"/>
          </a:xfrm>
          <a:prstGeom prst="rect">
            <a:avLst/>
          </a:prstGeom>
          <a:solidFill>
            <a:srgbClr val="3E3593"/>
          </a:solidFill>
          <a:ln>
            <a:noFill/>
          </a:ln>
        </p:spPr>
        <p:txBody>
          <a:bodyPr spcFirstLastPara="1" wrap="square" lIns="60950" tIns="30467" rIns="60950" bIns="30467" anchor="ctr" anchorCtr="0">
            <a:noAutofit/>
          </a:bodyPr>
          <a:lstStyle/>
          <a:p>
            <a:pPr algn="ctr">
              <a:buSzPts val="1400"/>
            </a:pPr>
            <a:endParaRPr>
              <a:solidFill>
                <a:schemeClr val="lt1"/>
              </a:solidFill>
            </a:endParaRPr>
          </a:p>
        </p:txBody>
      </p:sp>
      <p:sp>
        <p:nvSpPr>
          <p:cNvPr id="4" name="Google Shape;531;p12">
            <a:extLst>
              <a:ext uri="{FF2B5EF4-FFF2-40B4-BE49-F238E27FC236}">
                <a16:creationId xmlns:a16="http://schemas.microsoft.com/office/drawing/2014/main" id="{553D57E4-7ADD-8D43-686E-3E6B8325E879}"/>
              </a:ext>
            </a:extLst>
          </p:cNvPr>
          <p:cNvSpPr/>
          <p:nvPr/>
        </p:nvSpPr>
        <p:spPr>
          <a:xfrm>
            <a:off x="3178112" y="4677839"/>
            <a:ext cx="868725" cy="90390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a:p>
        </p:txBody>
      </p:sp>
      <p:pic>
        <p:nvPicPr>
          <p:cNvPr id="6" name="Google Shape;533;p12">
            <a:extLst>
              <a:ext uri="{FF2B5EF4-FFF2-40B4-BE49-F238E27FC236}">
                <a16:creationId xmlns:a16="http://schemas.microsoft.com/office/drawing/2014/main" id="{01559214-06BB-1829-A079-F097D37A54A0}"/>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3399405" y="4823634"/>
            <a:ext cx="548441" cy="526088"/>
          </a:xfrm>
          <a:prstGeom prst="rect">
            <a:avLst/>
          </a:prstGeom>
          <a:noFill/>
          <a:ln>
            <a:noFill/>
          </a:ln>
        </p:spPr>
      </p:pic>
      <p:sp>
        <p:nvSpPr>
          <p:cNvPr id="7" name="Espaço Reservado para Texto 22">
            <a:extLst>
              <a:ext uri="{FF2B5EF4-FFF2-40B4-BE49-F238E27FC236}">
                <a16:creationId xmlns:a16="http://schemas.microsoft.com/office/drawing/2014/main" id="{9827E4BE-E2EB-28E9-044C-B52747F6F8F0}"/>
              </a:ext>
            </a:extLst>
          </p:cNvPr>
          <p:cNvSpPr txBox="1">
            <a:spLocks/>
          </p:cNvSpPr>
          <p:nvPr/>
        </p:nvSpPr>
        <p:spPr>
          <a:xfrm>
            <a:off x="4268130" y="4897886"/>
            <a:ext cx="6770665" cy="3287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solidFill>
                  <a:schemeClr val="bg1"/>
                </a:solidFill>
                <a:latin typeface="Poppins" pitchFamily="2" charset="77"/>
                <a:cs typeface="Poppins" pitchFamily="2" charset="77"/>
              </a:rPr>
              <a:t>Tome nota</a:t>
            </a:r>
          </a:p>
        </p:txBody>
      </p:sp>
      <p:sp>
        <p:nvSpPr>
          <p:cNvPr id="8" name="Espaço Reservado para Texto 12">
            <a:extLst>
              <a:ext uri="{FF2B5EF4-FFF2-40B4-BE49-F238E27FC236}">
                <a16:creationId xmlns:a16="http://schemas.microsoft.com/office/drawing/2014/main" id="{227AAC66-C54C-9662-2A8C-6696049FE546}"/>
              </a:ext>
            </a:extLst>
          </p:cNvPr>
          <p:cNvSpPr txBox="1">
            <a:spLocks/>
          </p:cNvSpPr>
          <p:nvPr/>
        </p:nvSpPr>
        <p:spPr>
          <a:xfrm>
            <a:off x="4268130" y="5337297"/>
            <a:ext cx="6770665" cy="65409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solidFill>
                  <a:schemeClr val="bg1"/>
                </a:solidFill>
                <a:latin typeface="Poppins"/>
              </a:rPr>
              <a:t>O </a:t>
            </a:r>
            <a:r>
              <a:rPr lang="pt-BR" sz="1400" b="1" dirty="0">
                <a:solidFill>
                  <a:schemeClr val="bg1"/>
                </a:solidFill>
                <a:latin typeface="Poppins"/>
              </a:rPr>
              <a:t>backup</a:t>
            </a:r>
            <a:r>
              <a:rPr lang="pt-BR" sz="1400" dirty="0">
                <a:solidFill>
                  <a:schemeClr val="bg1"/>
                </a:solidFill>
                <a:latin typeface="Poppins"/>
              </a:rPr>
              <a:t> é utilizado preventivamente, enquanto a </a:t>
            </a:r>
            <a:r>
              <a:rPr lang="pt-BR" sz="1400" b="1" dirty="0">
                <a:solidFill>
                  <a:schemeClr val="bg1"/>
                </a:solidFill>
                <a:latin typeface="Poppins"/>
              </a:rPr>
              <a:t>recuperação</a:t>
            </a:r>
            <a:r>
              <a:rPr lang="pt-BR" sz="1400" dirty="0">
                <a:solidFill>
                  <a:schemeClr val="bg1"/>
                </a:solidFill>
                <a:latin typeface="Poppins"/>
              </a:rPr>
              <a:t> é uma solução de emergência.</a:t>
            </a:r>
          </a:p>
          <a:p>
            <a:endParaRPr lang="pt-BR" sz="1400" dirty="0">
              <a:solidFill>
                <a:schemeClr val="bg1"/>
              </a:solidFill>
            </a:endParaRPr>
          </a:p>
        </p:txBody>
      </p:sp>
      <p:sp>
        <p:nvSpPr>
          <p:cNvPr id="11" name="Triângulo 7">
            <a:extLst>
              <a:ext uri="{FF2B5EF4-FFF2-40B4-BE49-F238E27FC236}">
                <a16:creationId xmlns:a16="http://schemas.microsoft.com/office/drawing/2014/main" id="{6240F7A5-74F5-DE01-92F5-534B3E98BB48}"/>
              </a:ext>
            </a:extLst>
          </p:cNvPr>
          <p:cNvSpPr/>
          <p:nvPr/>
        </p:nvSpPr>
        <p:spPr>
          <a:xfrm rot="5400000">
            <a:off x="3010114" y="199354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2" name="Triângulo 7">
            <a:extLst>
              <a:ext uri="{FF2B5EF4-FFF2-40B4-BE49-F238E27FC236}">
                <a16:creationId xmlns:a16="http://schemas.microsoft.com/office/drawing/2014/main" id="{B61C4465-5DEB-422A-132E-B396218FE728}"/>
              </a:ext>
            </a:extLst>
          </p:cNvPr>
          <p:cNvSpPr/>
          <p:nvPr/>
        </p:nvSpPr>
        <p:spPr>
          <a:xfrm rot="5400000">
            <a:off x="3010114" y="2565261"/>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3" name="Triângulo 7">
            <a:extLst>
              <a:ext uri="{FF2B5EF4-FFF2-40B4-BE49-F238E27FC236}">
                <a16:creationId xmlns:a16="http://schemas.microsoft.com/office/drawing/2014/main" id="{455105A6-7071-1590-F344-7C9B508A832E}"/>
              </a:ext>
            </a:extLst>
          </p:cNvPr>
          <p:cNvSpPr/>
          <p:nvPr/>
        </p:nvSpPr>
        <p:spPr>
          <a:xfrm rot="5400000">
            <a:off x="3010114" y="2884802"/>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4" name="Triângulo 7">
            <a:extLst>
              <a:ext uri="{FF2B5EF4-FFF2-40B4-BE49-F238E27FC236}">
                <a16:creationId xmlns:a16="http://schemas.microsoft.com/office/drawing/2014/main" id="{E0F38E3E-6773-141F-6AE3-480AC8B240CA}"/>
              </a:ext>
            </a:extLst>
          </p:cNvPr>
          <p:cNvSpPr/>
          <p:nvPr/>
        </p:nvSpPr>
        <p:spPr>
          <a:xfrm rot="5400000">
            <a:off x="3010114" y="378578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5" name="Triângulo 7">
            <a:extLst>
              <a:ext uri="{FF2B5EF4-FFF2-40B4-BE49-F238E27FC236}">
                <a16:creationId xmlns:a16="http://schemas.microsoft.com/office/drawing/2014/main" id="{16256A46-483C-434E-7283-E28FB19166DC}"/>
              </a:ext>
            </a:extLst>
          </p:cNvPr>
          <p:cNvSpPr/>
          <p:nvPr/>
        </p:nvSpPr>
        <p:spPr>
          <a:xfrm rot="5400000">
            <a:off x="3010114" y="410533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Tree>
    <p:extLst>
      <p:ext uri="{BB962C8B-B14F-4D97-AF65-F5344CB8AC3E}">
        <p14:creationId xmlns:p14="http://schemas.microsoft.com/office/powerpoint/2010/main" val="1935514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2DAF-43FB-AB13-D3F3-8D12D71BA31D}"/>
            </a:ext>
          </a:extLst>
        </p:cNvPr>
        <p:cNvGrpSpPr/>
        <p:nvPr/>
      </p:nvGrpSpPr>
      <p:grpSpPr>
        <a:xfrm>
          <a:off x="0" y="0"/>
          <a:ext cx="0" cy="0"/>
          <a:chOff x="0" y="0"/>
          <a:chExt cx="0" cy="0"/>
        </a:xfrm>
      </p:grpSpPr>
      <p:sp>
        <p:nvSpPr>
          <p:cNvPr id="18" name="Google Shape;591;p15">
            <a:extLst>
              <a:ext uri="{FF2B5EF4-FFF2-40B4-BE49-F238E27FC236}">
                <a16:creationId xmlns:a16="http://schemas.microsoft.com/office/drawing/2014/main" id="{D2D63D57-D80D-90CA-D3DF-9BB37A97ED29}"/>
              </a:ext>
            </a:extLst>
          </p:cNvPr>
          <p:cNvSpPr txBox="1"/>
          <p:nvPr/>
        </p:nvSpPr>
        <p:spPr>
          <a:xfrm>
            <a:off x="3104707" y="2265670"/>
            <a:ext cx="685357" cy="570490"/>
          </a:xfrm>
          <a:prstGeom prst="rect">
            <a:avLst/>
          </a:prstGeom>
          <a:solidFill>
            <a:srgbClr val="312F67"/>
          </a:solidFill>
          <a:ln>
            <a:noFill/>
          </a:ln>
        </p:spPr>
        <p:txBody>
          <a:bodyPr spcFirstLastPara="1" wrap="square" lIns="60950" tIns="60950" rIns="60950" bIns="60950" anchor="ctr" anchorCtr="0">
            <a:noAutofit/>
          </a:bodyPr>
          <a:lstStyle/>
          <a:p>
            <a:pPr algn="ctr">
              <a:buSzPts val="3500"/>
            </a:pPr>
            <a:r>
              <a:rPr lang="pt-BR" sz="2333" b="1">
                <a:solidFill>
                  <a:schemeClr val="lt1"/>
                </a:solidFill>
                <a:latin typeface="Poppins"/>
                <a:ea typeface="Poppins"/>
                <a:cs typeface="Poppins"/>
                <a:sym typeface="Poppins"/>
              </a:rPr>
              <a:t>1</a:t>
            </a:r>
            <a:endParaRPr sz="2333" b="1">
              <a:solidFill>
                <a:schemeClr val="lt1"/>
              </a:solidFill>
              <a:latin typeface="Poppins"/>
              <a:ea typeface="Poppins"/>
              <a:cs typeface="Poppins"/>
              <a:sym typeface="Poppins"/>
            </a:endParaRPr>
          </a:p>
        </p:txBody>
      </p:sp>
      <p:cxnSp>
        <p:nvCxnSpPr>
          <p:cNvPr id="19" name="Google Shape;592;p15">
            <a:extLst>
              <a:ext uri="{FF2B5EF4-FFF2-40B4-BE49-F238E27FC236}">
                <a16:creationId xmlns:a16="http://schemas.microsoft.com/office/drawing/2014/main" id="{BE791552-CBCE-2696-AB9B-649241C6F77F}"/>
              </a:ext>
            </a:extLst>
          </p:cNvPr>
          <p:cNvCxnSpPr/>
          <p:nvPr/>
        </p:nvCxnSpPr>
        <p:spPr>
          <a:xfrm flipV="1">
            <a:off x="5950752" y="2819820"/>
            <a:ext cx="0" cy="2952330"/>
          </a:xfrm>
          <a:prstGeom prst="straightConnector1">
            <a:avLst/>
          </a:prstGeom>
          <a:noFill/>
          <a:ln w="19050" cap="flat" cmpd="sng">
            <a:solidFill>
              <a:schemeClr val="dk1"/>
            </a:solidFill>
            <a:prstDash val="solid"/>
            <a:round/>
            <a:headEnd type="diamond" w="med" len="med"/>
            <a:tailEnd type="none" w="sm" len="sm"/>
          </a:ln>
        </p:spPr>
      </p:cxnSp>
      <p:sp>
        <p:nvSpPr>
          <p:cNvPr id="20" name="Google Shape;593;p15">
            <a:extLst>
              <a:ext uri="{FF2B5EF4-FFF2-40B4-BE49-F238E27FC236}">
                <a16:creationId xmlns:a16="http://schemas.microsoft.com/office/drawing/2014/main" id="{A0F57F91-D15C-6BA2-9959-D2EF86F028C8}"/>
              </a:ext>
            </a:extLst>
          </p:cNvPr>
          <p:cNvSpPr txBox="1"/>
          <p:nvPr/>
        </p:nvSpPr>
        <p:spPr>
          <a:xfrm>
            <a:off x="5584178" y="2265670"/>
            <a:ext cx="685357" cy="570490"/>
          </a:xfrm>
          <a:prstGeom prst="rect">
            <a:avLst/>
          </a:prstGeom>
          <a:solidFill>
            <a:srgbClr val="312F67"/>
          </a:solidFill>
          <a:ln>
            <a:noFill/>
          </a:ln>
        </p:spPr>
        <p:txBody>
          <a:bodyPr spcFirstLastPara="1" wrap="square" lIns="60950" tIns="60950" rIns="60950" bIns="60950" anchor="ctr" anchorCtr="0">
            <a:noAutofit/>
          </a:bodyPr>
          <a:lstStyle/>
          <a:p>
            <a:pPr algn="ctr">
              <a:buSzPts val="3500"/>
            </a:pPr>
            <a:r>
              <a:rPr lang="pt-BR" sz="2333" b="1">
                <a:solidFill>
                  <a:schemeClr val="lt1"/>
                </a:solidFill>
                <a:latin typeface="Poppins"/>
                <a:ea typeface="Poppins"/>
                <a:cs typeface="Poppins"/>
                <a:sym typeface="Poppins"/>
              </a:rPr>
              <a:t>2</a:t>
            </a:r>
            <a:endParaRPr sz="2333" b="1">
              <a:solidFill>
                <a:schemeClr val="lt1"/>
              </a:solidFill>
              <a:latin typeface="Poppins"/>
              <a:ea typeface="Poppins"/>
              <a:cs typeface="Poppins"/>
              <a:sym typeface="Poppins"/>
            </a:endParaRPr>
          </a:p>
        </p:txBody>
      </p:sp>
      <p:sp>
        <p:nvSpPr>
          <p:cNvPr id="21" name="Google Shape;594;p15">
            <a:extLst>
              <a:ext uri="{FF2B5EF4-FFF2-40B4-BE49-F238E27FC236}">
                <a16:creationId xmlns:a16="http://schemas.microsoft.com/office/drawing/2014/main" id="{BD312DDB-84D5-6F72-FD0E-3409F503905D}"/>
              </a:ext>
            </a:extLst>
          </p:cNvPr>
          <p:cNvSpPr txBox="1"/>
          <p:nvPr/>
        </p:nvSpPr>
        <p:spPr>
          <a:xfrm>
            <a:off x="8529705" y="2265670"/>
            <a:ext cx="685357" cy="570490"/>
          </a:xfrm>
          <a:prstGeom prst="rect">
            <a:avLst/>
          </a:prstGeom>
          <a:solidFill>
            <a:srgbClr val="312F67"/>
          </a:solidFill>
          <a:ln>
            <a:noFill/>
          </a:ln>
        </p:spPr>
        <p:txBody>
          <a:bodyPr spcFirstLastPara="1" wrap="square" lIns="60950" tIns="60950" rIns="60950" bIns="60950" anchor="ctr" anchorCtr="0">
            <a:noAutofit/>
          </a:bodyPr>
          <a:lstStyle/>
          <a:p>
            <a:pPr algn="ctr">
              <a:buSzPts val="3500"/>
            </a:pPr>
            <a:r>
              <a:rPr lang="pt-BR" sz="2333" b="1">
                <a:solidFill>
                  <a:schemeClr val="lt1"/>
                </a:solidFill>
                <a:latin typeface="Poppins"/>
                <a:ea typeface="Poppins"/>
                <a:cs typeface="Poppins"/>
                <a:sym typeface="Poppins"/>
              </a:rPr>
              <a:t>3</a:t>
            </a:r>
            <a:endParaRPr sz="2333" b="1">
              <a:solidFill>
                <a:schemeClr val="lt1"/>
              </a:solidFill>
              <a:latin typeface="Poppins"/>
              <a:ea typeface="Poppins"/>
              <a:cs typeface="Poppins"/>
              <a:sym typeface="Poppins"/>
            </a:endParaRPr>
          </a:p>
        </p:txBody>
      </p:sp>
      <p:cxnSp>
        <p:nvCxnSpPr>
          <p:cNvPr id="22" name="Google Shape;597;p15">
            <a:extLst>
              <a:ext uri="{FF2B5EF4-FFF2-40B4-BE49-F238E27FC236}">
                <a16:creationId xmlns:a16="http://schemas.microsoft.com/office/drawing/2014/main" id="{45C601BA-D29C-A58E-01AB-73B6619FBAF3}"/>
              </a:ext>
            </a:extLst>
          </p:cNvPr>
          <p:cNvCxnSpPr>
            <a:cxnSpLocks/>
          </p:cNvCxnSpPr>
          <p:nvPr/>
        </p:nvCxnSpPr>
        <p:spPr>
          <a:xfrm flipV="1">
            <a:off x="3440854" y="2819818"/>
            <a:ext cx="6531" cy="3301803"/>
          </a:xfrm>
          <a:prstGeom prst="straightConnector1">
            <a:avLst/>
          </a:prstGeom>
          <a:noFill/>
          <a:ln w="19050" cap="flat" cmpd="sng">
            <a:solidFill>
              <a:schemeClr val="dk1"/>
            </a:solidFill>
            <a:prstDash val="solid"/>
            <a:round/>
            <a:headEnd type="diamond" w="med" len="med"/>
            <a:tailEnd type="none" w="sm" len="sm"/>
          </a:ln>
        </p:spPr>
      </p:cxnSp>
      <p:cxnSp>
        <p:nvCxnSpPr>
          <p:cNvPr id="23" name="Google Shape;598;p15">
            <a:extLst>
              <a:ext uri="{FF2B5EF4-FFF2-40B4-BE49-F238E27FC236}">
                <a16:creationId xmlns:a16="http://schemas.microsoft.com/office/drawing/2014/main" id="{C48974E8-F5C1-3D74-8B8D-A0560E64A6F3}"/>
              </a:ext>
            </a:extLst>
          </p:cNvPr>
          <p:cNvCxnSpPr/>
          <p:nvPr/>
        </p:nvCxnSpPr>
        <p:spPr>
          <a:xfrm flipV="1">
            <a:off x="8872383" y="2836162"/>
            <a:ext cx="0" cy="2096878"/>
          </a:xfrm>
          <a:prstGeom prst="straightConnector1">
            <a:avLst/>
          </a:prstGeom>
          <a:noFill/>
          <a:ln w="19050" cap="flat" cmpd="sng">
            <a:solidFill>
              <a:schemeClr val="dk1"/>
            </a:solidFill>
            <a:prstDash val="solid"/>
            <a:round/>
            <a:headEnd type="diamond" w="med" len="med"/>
            <a:tailEnd type="none" w="sm" len="sm"/>
          </a:ln>
        </p:spPr>
      </p:cxnSp>
      <p:sp>
        <p:nvSpPr>
          <p:cNvPr id="24" name="Espaço Reservado para Texto 39">
            <a:extLst>
              <a:ext uri="{FF2B5EF4-FFF2-40B4-BE49-F238E27FC236}">
                <a16:creationId xmlns:a16="http://schemas.microsoft.com/office/drawing/2014/main" id="{F8CBBED8-3F9B-024E-F1C2-9D700286386E}"/>
              </a:ext>
            </a:extLst>
          </p:cNvPr>
          <p:cNvSpPr>
            <a:spLocks noGrp="1"/>
          </p:cNvSpPr>
          <p:nvPr>
            <p:ph type="body" sz="quarter" idx="4294967295"/>
          </p:nvPr>
        </p:nvSpPr>
        <p:spPr>
          <a:xfrm>
            <a:off x="2789174" y="814840"/>
            <a:ext cx="6425888" cy="503141"/>
          </a:xfrm>
          <a:prstGeom prst="rect">
            <a:avLst/>
          </a:prstGeom>
        </p:spPr>
        <p:txBody>
          <a:bodyPr lIns="91440" tIns="45720" rIns="91440" bIns="45720" anchor="t"/>
          <a:lstStyle>
            <a:lvl1pPr>
              <a:defRPr sz="2400">
                <a:latin typeface="Poppins" pitchFamily="2" charset="77"/>
                <a:cs typeface="Poppins" pitchFamily="2" charset="77"/>
              </a:defRPr>
            </a:lvl1pPr>
          </a:lstStyle>
          <a:p>
            <a:r>
              <a:rPr lang="pt-BR" sz="3200" b="1" dirty="0">
                <a:solidFill>
                  <a:srgbClr val="FF161F"/>
                </a:solidFill>
                <a:latin typeface="Poppins"/>
                <a:cs typeface="Poppins"/>
              </a:rPr>
              <a:t>Armazenamento seguro</a:t>
            </a:r>
            <a:endParaRPr lang="pt-BR" sz="3200" dirty="0">
              <a:latin typeface="Poppins"/>
              <a:cs typeface="Poppins"/>
            </a:endParaRPr>
          </a:p>
          <a:p>
            <a:pPr lvl="0"/>
            <a:endParaRPr lang="pt-BR" sz="3200" b="1" dirty="0">
              <a:solidFill>
                <a:srgbClr val="FF161F"/>
              </a:solidFill>
            </a:endParaRPr>
          </a:p>
        </p:txBody>
      </p:sp>
      <p:sp>
        <p:nvSpPr>
          <p:cNvPr id="25" name="Espaço Reservado para Texto 39">
            <a:extLst>
              <a:ext uri="{FF2B5EF4-FFF2-40B4-BE49-F238E27FC236}">
                <a16:creationId xmlns:a16="http://schemas.microsoft.com/office/drawing/2014/main" id="{AEBEF109-AD28-5D5E-1271-A13FF115815A}"/>
              </a:ext>
            </a:extLst>
          </p:cNvPr>
          <p:cNvSpPr>
            <a:spLocks noGrp="1"/>
          </p:cNvSpPr>
          <p:nvPr>
            <p:ph type="body" sz="quarter" idx="4294967295"/>
          </p:nvPr>
        </p:nvSpPr>
        <p:spPr>
          <a:xfrm>
            <a:off x="3548026" y="2992625"/>
            <a:ext cx="1892055" cy="311236"/>
          </a:xfrm>
          <a:prstGeom prst="rect">
            <a:avLst/>
          </a:prstGeom>
        </p:spPr>
        <p:txBody>
          <a:bodyPr lIns="91440" tIns="45720" rIns="91440" bIns="45720" anchor="t"/>
          <a:lstStyle>
            <a:lvl1pPr>
              <a:defRPr sz="2400">
                <a:latin typeface="Poppins" pitchFamily="2" charset="77"/>
                <a:cs typeface="Poppins" pitchFamily="2" charset="77"/>
              </a:defRPr>
            </a:lvl1pPr>
          </a:lstStyle>
          <a:p>
            <a:pPr algn="just">
              <a:spcAft>
                <a:spcPts val="1200"/>
              </a:spcAft>
            </a:pPr>
            <a:r>
              <a:rPr lang="pt-BR" sz="1600" b="1" dirty="0">
                <a:latin typeface="Poppins"/>
                <a:cs typeface="Poppins"/>
              </a:rPr>
              <a:t>Regra 3-2-1</a:t>
            </a:r>
            <a:endParaRPr lang="en-US" sz="1600" dirty="0">
              <a:latin typeface="Poppins"/>
              <a:cs typeface="Poppins"/>
            </a:endParaRPr>
          </a:p>
          <a:p>
            <a:pPr algn="ctr"/>
            <a:endParaRPr lang="pt-BR" sz="1700" dirty="0">
              <a:latin typeface="Poppins"/>
              <a:cs typeface="Poppins"/>
            </a:endParaRPr>
          </a:p>
        </p:txBody>
      </p:sp>
      <p:sp>
        <p:nvSpPr>
          <p:cNvPr id="26" name="Espaço Reservado para Texto 39">
            <a:extLst>
              <a:ext uri="{FF2B5EF4-FFF2-40B4-BE49-F238E27FC236}">
                <a16:creationId xmlns:a16="http://schemas.microsoft.com/office/drawing/2014/main" id="{418D7D3C-E0FD-1E29-F879-6688F6064856}"/>
              </a:ext>
            </a:extLst>
          </p:cNvPr>
          <p:cNvSpPr>
            <a:spLocks noGrp="1"/>
          </p:cNvSpPr>
          <p:nvPr>
            <p:ph type="body" sz="quarter" idx="4294967295"/>
          </p:nvPr>
        </p:nvSpPr>
        <p:spPr>
          <a:xfrm>
            <a:off x="3547862" y="3583522"/>
            <a:ext cx="2367329" cy="2286984"/>
          </a:xfrm>
          <a:prstGeom prst="rect">
            <a:avLst/>
          </a:prstGeom>
        </p:spPr>
        <p:txBody>
          <a:bodyPr lIns="91440" tIns="45720" rIns="91440" bIns="45720" anchor="t"/>
          <a:lstStyle>
            <a:lvl1pPr>
              <a:defRPr sz="2400">
                <a:latin typeface="Poppins" pitchFamily="2" charset="77"/>
                <a:cs typeface="Poppins" pitchFamily="2" charset="77"/>
              </a:defRPr>
            </a:lvl1pPr>
          </a:lstStyle>
          <a:p>
            <a:pPr marL="171450" indent="-171450">
              <a:buFont typeface="Arial" panose="020B0604020202020204" pitchFamily="34" charset="0"/>
              <a:buChar char="•"/>
            </a:pPr>
            <a:r>
              <a:rPr lang="pt-BR" sz="1400" dirty="0"/>
              <a:t>Tenha </a:t>
            </a:r>
            <a:r>
              <a:rPr lang="pt-BR" sz="1400" b="1" dirty="0"/>
              <a:t>3 cópias</a:t>
            </a:r>
            <a:r>
              <a:rPr lang="pt-BR" sz="1400" dirty="0"/>
              <a:t> dos arquivos;</a:t>
            </a:r>
          </a:p>
          <a:p>
            <a:pPr marL="171450" indent="-171450">
              <a:buFont typeface="Arial" panose="020B0604020202020204" pitchFamily="34" charset="0"/>
              <a:buChar char="•"/>
            </a:pPr>
            <a:r>
              <a:rPr lang="pt-BR" sz="1400" dirty="0"/>
              <a:t>Use </a:t>
            </a:r>
            <a:r>
              <a:rPr lang="pt-BR" sz="1400" b="1" dirty="0"/>
              <a:t>2 tipos de mídia</a:t>
            </a:r>
            <a:r>
              <a:rPr lang="pt-BR" sz="1400" dirty="0"/>
              <a:t> (nuvem e HD externo);</a:t>
            </a:r>
          </a:p>
          <a:p>
            <a:pPr marL="171450" indent="-171450">
              <a:buFont typeface="Arial" panose="020B0604020202020204" pitchFamily="34" charset="0"/>
              <a:buChar char="•"/>
            </a:pPr>
            <a:r>
              <a:rPr lang="pt-BR" sz="1400" dirty="0"/>
              <a:t>Guarde </a:t>
            </a:r>
            <a:r>
              <a:rPr lang="pt-BR" sz="1400" b="1" dirty="0"/>
              <a:t>1 cópia fora</a:t>
            </a:r>
            <a:r>
              <a:rPr lang="pt-BR" sz="1400" dirty="0"/>
              <a:t> do local principal.</a:t>
            </a:r>
          </a:p>
          <a:p>
            <a:endParaRPr lang="pt-BR" sz="1400" dirty="0"/>
          </a:p>
          <a:p>
            <a:r>
              <a:rPr lang="pt-BR" sz="1400" b="1" dirty="0"/>
              <a:t>Exemplo: </a:t>
            </a:r>
            <a:r>
              <a:rPr lang="pt-BR" sz="1400" dirty="0"/>
              <a:t>trabalho salvo no pen drive, no Google Drive e no computador da escola.</a:t>
            </a:r>
          </a:p>
        </p:txBody>
      </p:sp>
      <p:sp>
        <p:nvSpPr>
          <p:cNvPr id="27" name="Espaço Reservado para Texto 39">
            <a:extLst>
              <a:ext uri="{FF2B5EF4-FFF2-40B4-BE49-F238E27FC236}">
                <a16:creationId xmlns:a16="http://schemas.microsoft.com/office/drawing/2014/main" id="{2CA10E17-F2B1-483C-0F02-14F1BAB0FE12}"/>
              </a:ext>
            </a:extLst>
          </p:cNvPr>
          <p:cNvSpPr>
            <a:spLocks noGrp="1"/>
          </p:cNvSpPr>
          <p:nvPr>
            <p:ph type="body" sz="quarter" idx="4294967295"/>
          </p:nvPr>
        </p:nvSpPr>
        <p:spPr>
          <a:xfrm>
            <a:off x="6042196" y="2990681"/>
            <a:ext cx="2687616" cy="438320"/>
          </a:xfrm>
          <a:prstGeom prst="rect">
            <a:avLst/>
          </a:prstGeom>
        </p:spPr>
        <p:txBody>
          <a:bodyPr lIns="91440" tIns="45720" rIns="91440" bIns="45720" anchor="t"/>
          <a:lstStyle>
            <a:lvl1pPr>
              <a:defRPr sz="2400">
                <a:latin typeface="Poppins" pitchFamily="2" charset="77"/>
                <a:cs typeface="Poppins" pitchFamily="2" charset="77"/>
              </a:defRPr>
            </a:lvl1pPr>
          </a:lstStyle>
          <a:p>
            <a:r>
              <a:rPr lang="pt-BR" sz="1600" b="1" dirty="0">
                <a:latin typeface="Poppins"/>
                <a:cs typeface="Poppins"/>
              </a:rPr>
              <a:t>Nuvem (</a:t>
            </a:r>
            <a:r>
              <a:rPr lang="pt-BR" sz="1600" b="1" i="1" dirty="0">
                <a:latin typeface="Poppins"/>
                <a:cs typeface="Poppins"/>
              </a:rPr>
              <a:t>cloud </a:t>
            </a:r>
            <a:r>
              <a:rPr lang="pt-BR" sz="1600" b="1" i="1" dirty="0" err="1">
                <a:latin typeface="Poppins"/>
                <a:cs typeface="Poppins"/>
              </a:rPr>
              <a:t>storage</a:t>
            </a:r>
            <a:r>
              <a:rPr lang="pt-BR" sz="1600" b="1" dirty="0">
                <a:latin typeface="Poppins"/>
                <a:cs typeface="Poppins"/>
              </a:rPr>
              <a:t>)</a:t>
            </a:r>
            <a:endParaRPr lang="pt-BR" sz="1600" dirty="0"/>
          </a:p>
          <a:p>
            <a:pPr algn="ctr"/>
            <a:endParaRPr lang="pt-BR" sz="1700" b="1" dirty="0"/>
          </a:p>
        </p:txBody>
      </p:sp>
      <p:sp>
        <p:nvSpPr>
          <p:cNvPr id="29" name="Espaço Reservado para Texto 39">
            <a:extLst>
              <a:ext uri="{FF2B5EF4-FFF2-40B4-BE49-F238E27FC236}">
                <a16:creationId xmlns:a16="http://schemas.microsoft.com/office/drawing/2014/main" id="{53FFEF6E-1EA4-AA6C-AA29-6296FFDB3B43}"/>
              </a:ext>
            </a:extLst>
          </p:cNvPr>
          <p:cNvSpPr>
            <a:spLocks noGrp="1"/>
          </p:cNvSpPr>
          <p:nvPr>
            <p:ph type="body" sz="quarter" idx="4294967295"/>
          </p:nvPr>
        </p:nvSpPr>
        <p:spPr>
          <a:xfrm>
            <a:off x="8983148" y="2990680"/>
            <a:ext cx="2606872" cy="621201"/>
          </a:xfrm>
          <a:prstGeom prst="rect">
            <a:avLst/>
          </a:prstGeom>
        </p:spPr>
        <p:txBody>
          <a:bodyPr lIns="91440" tIns="45720" rIns="91440" bIns="45720" anchor="t"/>
          <a:lstStyle>
            <a:lvl1pPr>
              <a:defRPr sz="2400">
                <a:latin typeface="Poppins" pitchFamily="2" charset="77"/>
                <a:cs typeface="Poppins" pitchFamily="2" charset="77"/>
              </a:defRPr>
            </a:lvl1pPr>
          </a:lstStyle>
          <a:p>
            <a:pPr algn="just">
              <a:spcAft>
                <a:spcPts val="1200"/>
              </a:spcAft>
            </a:pPr>
            <a:r>
              <a:rPr lang="pt-BR" sz="1600" b="1">
                <a:latin typeface="Poppins"/>
                <a:cs typeface="Poppins"/>
              </a:rPr>
              <a:t>Mídia física</a:t>
            </a:r>
            <a:endParaRPr lang="en-US" sz="1600">
              <a:latin typeface="Poppins"/>
              <a:cs typeface="Poppins"/>
            </a:endParaRPr>
          </a:p>
          <a:p>
            <a:pPr lvl="0"/>
            <a:endParaRPr lang="pt-BR" sz="1700" b="1" dirty="0"/>
          </a:p>
        </p:txBody>
      </p:sp>
      <p:sp>
        <p:nvSpPr>
          <p:cNvPr id="15" name="Espaço Reservado para Texto 10">
            <a:extLst>
              <a:ext uri="{FF2B5EF4-FFF2-40B4-BE49-F238E27FC236}">
                <a16:creationId xmlns:a16="http://schemas.microsoft.com/office/drawing/2014/main" id="{F5AF6B26-1AD7-E455-8422-A0A221D0389C}"/>
              </a:ext>
            </a:extLst>
          </p:cNvPr>
          <p:cNvSpPr>
            <a:spLocks noGrp="1"/>
          </p:cNvSpPr>
          <p:nvPr>
            <p:ph type="body" sz="quarter" idx="4294967295"/>
          </p:nvPr>
        </p:nvSpPr>
        <p:spPr>
          <a:xfrm>
            <a:off x="2789174" y="1470487"/>
            <a:ext cx="8582735" cy="621201"/>
          </a:xfrm>
          <a:prstGeom prst="rect">
            <a:avLst/>
          </a:prstGeom>
        </p:spPr>
        <p:txBody>
          <a:bodyPr lIns="91440" tIns="45720" rIns="91440" bIns="45720" anchor="t"/>
          <a:lstStyle/>
          <a:p>
            <a:r>
              <a:rPr lang="pt-BR" sz="1600" dirty="0">
                <a:latin typeface="Poppins" panose="00000500000000000000" pitchFamily="2" charset="0"/>
                <a:cs typeface="Poppins" panose="00000500000000000000" pitchFamily="2" charset="0"/>
              </a:rPr>
              <a:t>Garante a guarda de arquivos de forma que não se percam e não sejam acessados por quem não deve. </a:t>
            </a:r>
            <a:r>
              <a:rPr lang="pt-BR" sz="1600" b="1" dirty="0">
                <a:latin typeface="Poppins" panose="00000500000000000000" pitchFamily="2" charset="0"/>
                <a:cs typeface="Poppins" panose="00000500000000000000" pitchFamily="2" charset="0"/>
              </a:rPr>
              <a:t>Três formas simples de proteger seus dados:</a:t>
            </a:r>
            <a:endParaRPr lang="pt-BR" sz="1600" dirty="0">
              <a:latin typeface="Poppins" panose="00000500000000000000" pitchFamily="2" charset="0"/>
              <a:cs typeface="Poppins" panose="00000500000000000000" pitchFamily="2" charset="0"/>
            </a:endParaRPr>
          </a:p>
          <a:p>
            <a:endParaRPr lang="pt-BR" sz="1600" b="1" dirty="0">
              <a:latin typeface="Poppins" panose="00000500000000000000" pitchFamily="2" charset="0"/>
              <a:cs typeface="Poppins" panose="00000500000000000000" pitchFamily="2" charset="0"/>
            </a:endParaRPr>
          </a:p>
          <a:p>
            <a:pPr lvl="0">
              <a:spcBef>
                <a:spcPts val="1200"/>
              </a:spcBef>
              <a:spcAft>
                <a:spcPts val="600"/>
              </a:spcAft>
            </a:pPr>
            <a:endParaRPr lang="pt-BR" sz="1600" b="1" dirty="0">
              <a:latin typeface="Poppins" panose="00000500000000000000" pitchFamily="2" charset="0"/>
              <a:cs typeface="Poppins" panose="00000500000000000000" pitchFamily="2" charset="0"/>
            </a:endParaRPr>
          </a:p>
        </p:txBody>
      </p:sp>
      <p:sp>
        <p:nvSpPr>
          <p:cNvPr id="4" name="Rectangle 2">
            <a:extLst>
              <a:ext uri="{FF2B5EF4-FFF2-40B4-BE49-F238E27FC236}">
                <a16:creationId xmlns:a16="http://schemas.microsoft.com/office/drawing/2014/main" id="{A7F2DDA8-0A76-2D2B-72BE-C0CD54C08E3E}"/>
              </a:ext>
            </a:extLst>
          </p:cNvPr>
          <p:cNvSpPr>
            <a:spLocks noGrp="1" noChangeArrowheads="1"/>
          </p:cNvSpPr>
          <p:nvPr>
            <p:ph type="body" sz="quarter" idx="4294967295"/>
          </p:nvPr>
        </p:nvSpPr>
        <p:spPr bwMode="auto">
          <a:xfrm>
            <a:off x="6044682" y="3583522"/>
            <a:ext cx="238155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Salva arquivos </a:t>
            </a:r>
            <a:r>
              <a:rPr kumimoji="0" lang="pt-BR" altLang="pt-BR"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na internet</a:t>
            </a:r>
            <a:r>
              <a:rPr kumimoji="0" lang="pt-BR" altLang="pt-BR"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(Drive, OneDrive, iCloud);</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Acessível de qualquer lugar;</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Use </a:t>
            </a:r>
            <a:r>
              <a:rPr kumimoji="0" lang="pt-BR" altLang="pt-BR" sz="1400" i="0" u="none" strike="noStrike" cap="none" normalizeH="0" baseline="0" dirty="0">
                <a:ln>
                  <a:noFill/>
                </a:ln>
                <a:solidFill>
                  <a:schemeClr val="tx1"/>
                </a:solidFill>
                <a:effectLst/>
                <a:latin typeface="Poppins" panose="00000500000000000000" pitchFamily="2" charset="0"/>
                <a:cs typeface="Poppins" panose="00000500000000000000" pitchFamily="2" charset="0"/>
              </a:rPr>
              <a:t>senhas fortes.</a:t>
            </a:r>
          </a:p>
        </p:txBody>
      </p:sp>
      <p:sp>
        <p:nvSpPr>
          <p:cNvPr id="6" name="Rectangle 4">
            <a:extLst>
              <a:ext uri="{FF2B5EF4-FFF2-40B4-BE49-F238E27FC236}">
                <a16:creationId xmlns:a16="http://schemas.microsoft.com/office/drawing/2014/main" id="{FA2EA6D8-9F65-0A41-EEA6-0AF39BE49C1C}"/>
              </a:ext>
            </a:extLst>
          </p:cNvPr>
          <p:cNvSpPr>
            <a:spLocks noGrp="1" noChangeArrowheads="1"/>
          </p:cNvSpPr>
          <p:nvPr>
            <p:ph type="body" sz="quarter" idx="4294967295"/>
          </p:nvPr>
        </p:nvSpPr>
        <p:spPr bwMode="auto">
          <a:xfrm>
            <a:off x="8963692" y="3680713"/>
            <a:ext cx="2606869"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1400" i="0" u="none" strike="noStrike" cap="none" normalizeH="0" baseline="0" dirty="0">
                <a:ln>
                  <a:noFill/>
                </a:ln>
                <a:solidFill>
                  <a:schemeClr val="tx1"/>
                </a:solidFill>
                <a:effectLst/>
                <a:latin typeface="Poppins" panose="00000500000000000000" pitchFamily="2" charset="0"/>
                <a:cs typeface="Poppins" panose="00000500000000000000" pitchFamily="2" charset="0"/>
              </a:rPr>
              <a:t>Usa HD, SSD ou </a:t>
            </a:r>
            <a:r>
              <a:rPr kumimoji="0" lang="pt-BR" altLang="pt-BR" sz="1400" u="none" strike="noStrike" cap="none" normalizeH="0" baseline="0" dirty="0">
                <a:ln>
                  <a:noFill/>
                </a:ln>
                <a:solidFill>
                  <a:schemeClr val="tx1"/>
                </a:solidFill>
                <a:effectLst/>
                <a:latin typeface="Poppins" panose="00000500000000000000" pitchFamily="2" charset="0"/>
                <a:cs typeface="Poppins" panose="00000500000000000000" pitchFamily="2" charset="0"/>
              </a:rPr>
              <a:t>pen drive;</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1400" i="0" u="none" strike="noStrike" cap="none" normalizeH="0" baseline="0" dirty="0">
                <a:ln>
                  <a:noFill/>
                </a:ln>
                <a:solidFill>
                  <a:schemeClr val="tx1"/>
                </a:solidFill>
                <a:effectLst/>
                <a:latin typeface="Poppins" panose="00000500000000000000" pitchFamily="2" charset="0"/>
                <a:cs typeface="Poppins" panose="00000500000000000000" pitchFamily="2" charset="0"/>
              </a:rPr>
              <a:t>Funciona sem internet;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pt-BR" altLang="pt-BR" sz="1400" i="0" u="none" strike="noStrike" cap="none" normalizeH="0" baseline="0" dirty="0">
                <a:ln>
                  <a:noFill/>
                </a:ln>
                <a:solidFill>
                  <a:schemeClr val="tx1"/>
                </a:solidFill>
                <a:effectLst/>
                <a:latin typeface="Poppins" panose="00000500000000000000" pitchFamily="2" charset="0"/>
                <a:cs typeface="Poppins" panose="00000500000000000000" pitchFamily="2" charset="0"/>
              </a:rPr>
              <a:t>Guarde em local seguro e protegido.</a:t>
            </a:r>
          </a:p>
        </p:txBody>
      </p:sp>
      <p:sp>
        <p:nvSpPr>
          <p:cNvPr id="5" name="Triângulo 7">
            <a:extLst>
              <a:ext uri="{FF2B5EF4-FFF2-40B4-BE49-F238E27FC236}">
                <a16:creationId xmlns:a16="http://schemas.microsoft.com/office/drawing/2014/main" id="{BB203B4F-B1E4-FD88-FF5B-D0A013403448}"/>
              </a:ext>
            </a:extLst>
          </p:cNvPr>
          <p:cNvSpPr/>
          <p:nvPr/>
        </p:nvSpPr>
        <p:spPr>
          <a:xfrm rot="5400000">
            <a:off x="3599010" y="3658662"/>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7" name="Triângulo 7">
            <a:extLst>
              <a:ext uri="{FF2B5EF4-FFF2-40B4-BE49-F238E27FC236}">
                <a16:creationId xmlns:a16="http://schemas.microsoft.com/office/drawing/2014/main" id="{0B355A5E-B1E7-4B8F-EDF7-201D86FEC85A}"/>
              </a:ext>
            </a:extLst>
          </p:cNvPr>
          <p:cNvSpPr/>
          <p:nvPr/>
        </p:nvSpPr>
        <p:spPr>
          <a:xfrm rot="5400000">
            <a:off x="3599010" y="4074108"/>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8" name="Triângulo 7">
            <a:extLst>
              <a:ext uri="{FF2B5EF4-FFF2-40B4-BE49-F238E27FC236}">
                <a16:creationId xmlns:a16="http://schemas.microsoft.com/office/drawing/2014/main" id="{E229A8F8-ABE8-6197-1DE8-30ECB58F9B80}"/>
              </a:ext>
            </a:extLst>
          </p:cNvPr>
          <p:cNvSpPr/>
          <p:nvPr/>
        </p:nvSpPr>
        <p:spPr>
          <a:xfrm rot="5400000">
            <a:off x="3599010" y="4503976"/>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9" name="Triângulo 7">
            <a:extLst>
              <a:ext uri="{FF2B5EF4-FFF2-40B4-BE49-F238E27FC236}">
                <a16:creationId xmlns:a16="http://schemas.microsoft.com/office/drawing/2014/main" id="{17BCC45A-07EE-3676-92E3-EBC9967C933E}"/>
              </a:ext>
            </a:extLst>
          </p:cNvPr>
          <p:cNvSpPr/>
          <p:nvPr/>
        </p:nvSpPr>
        <p:spPr>
          <a:xfrm rot="5400000">
            <a:off x="6122944" y="3658663"/>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0" name="Triângulo 7">
            <a:extLst>
              <a:ext uri="{FF2B5EF4-FFF2-40B4-BE49-F238E27FC236}">
                <a16:creationId xmlns:a16="http://schemas.microsoft.com/office/drawing/2014/main" id="{A603CFCE-E687-D813-63CE-700D48C8B40A}"/>
              </a:ext>
            </a:extLst>
          </p:cNvPr>
          <p:cNvSpPr/>
          <p:nvPr/>
        </p:nvSpPr>
        <p:spPr>
          <a:xfrm rot="5400000">
            <a:off x="6122944" y="4307573"/>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1" name="Triângulo 7">
            <a:extLst>
              <a:ext uri="{FF2B5EF4-FFF2-40B4-BE49-F238E27FC236}">
                <a16:creationId xmlns:a16="http://schemas.microsoft.com/office/drawing/2014/main" id="{D573B6B5-4902-022D-C905-16EBDD2C513A}"/>
              </a:ext>
            </a:extLst>
          </p:cNvPr>
          <p:cNvSpPr/>
          <p:nvPr/>
        </p:nvSpPr>
        <p:spPr>
          <a:xfrm rot="5400000">
            <a:off x="6122944" y="4717985"/>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2" name="Triângulo 7">
            <a:extLst>
              <a:ext uri="{FF2B5EF4-FFF2-40B4-BE49-F238E27FC236}">
                <a16:creationId xmlns:a16="http://schemas.microsoft.com/office/drawing/2014/main" id="{E11402FA-6C84-84D2-C342-15462AF5E8C2}"/>
              </a:ext>
            </a:extLst>
          </p:cNvPr>
          <p:cNvSpPr/>
          <p:nvPr/>
        </p:nvSpPr>
        <p:spPr>
          <a:xfrm rot="5400000">
            <a:off x="9022565" y="375661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3" name="Triângulo 7">
            <a:extLst>
              <a:ext uri="{FF2B5EF4-FFF2-40B4-BE49-F238E27FC236}">
                <a16:creationId xmlns:a16="http://schemas.microsoft.com/office/drawing/2014/main" id="{3F43B530-E56F-C3F4-34AE-7BC7B319D059}"/>
              </a:ext>
            </a:extLst>
          </p:cNvPr>
          <p:cNvSpPr/>
          <p:nvPr/>
        </p:nvSpPr>
        <p:spPr>
          <a:xfrm rot="5400000">
            <a:off x="9022565" y="420359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4" name="Triângulo 7">
            <a:extLst>
              <a:ext uri="{FF2B5EF4-FFF2-40B4-BE49-F238E27FC236}">
                <a16:creationId xmlns:a16="http://schemas.microsoft.com/office/drawing/2014/main" id="{F5F28869-2B34-E836-E3AC-907DE7B24FFC}"/>
              </a:ext>
            </a:extLst>
          </p:cNvPr>
          <p:cNvSpPr/>
          <p:nvPr/>
        </p:nvSpPr>
        <p:spPr>
          <a:xfrm rot="5400000">
            <a:off x="9022565" y="4406025"/>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Tree>
    <p:extLst>
      <p:ext uri="{BB962C8B-B14F-4D97-AF65-F5344CB8AC3E}">
        <p14:creationId xmlns:p14="http://schemas.microsoft.com/office/powerpoint/2010/main" val="3378634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FE40FC06-D3A3-1743-37AE-ABED4942E7B4}"/>
            </a:ext>
          </a:extLst>
        </p:cNvPr>
        <p:cNvGrpSpPr/>
        <p:nvPr/>
      </p:nvGrpSpPr>
      <p:grpSpPr>
        <a:xfrm>
          <a:off x="0" y="0"/>
          <a:ext cx="0" cy="0"/>
          <a:chOff x="0" y="0"/>
          <a:chExt cx="0" cy="0"/>
        </a:xfrm>
      </p:grpSpPr>
      <p:sp>
        <p:nvSpPr>
          <p:cNvPr id="4" name="Google Shape;812;p61">
            <a:extLst>
              <a:ext uri="{FF2B5EF4-FFF2-40B4-BE49-F238E27FC236}">
                <a16:creationId xmlns:a16="http://schemas.microsoft.com/office/drawing/2014/main" id="{CFD3DD94-A04A-A12B-5938-51F4671FBB3F}"/>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E99C85AC-4CFD-35D7-01F5-45536879AB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3F5AE61C-E722-1A96-9ABA-3130A58B144F}"/>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19" name="Espaço Reservado para Texto 10">
            <a:extLst>
              <a:ext uri="{FF2B5EF4-FFF2-40B4-BE49-F238E27FC236}">
                <a16:creationId xmlns:a16="http://schemas.microsoft.com/office/drawing/2014/main" id="{C3DD07AD-3BD0-5FA3-C078-0BCCB00616B8}"/>
              </a:ext>
            </a:extLst>
          </p:cNvPr>
          <p:cNvSpPr>
            <a:spLocks noGrp="1"/>
          </p:cNvSpPr>
          <p:nvPr>
            <p:ph type="body" sz="quarter" idx="10"/>
          </p:nvPr>
        </p:nvSpPr>
        <p:spPr>
          <a:xfrm>
            <a:off x="3005848" y="904851"/>
            <a:ext cx="7529208" cy="1949601"/>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tipo de backup copia somente arquivos modificados desde o último backup (é mais rápido e ocupa menos espaço)?</a:t>
            </a:r>
          </a:p>
        </p:txBody>
      </p:sp>
      <p:sp>
        <p:nvSpPr>
          <p:cNvPr id="2" name="Google Shape;849;p64">
            <a:extLst>
              <a:ext uri="{FF2B5EF4-FFF2-40B4-BE49-F238E27FC236}">
                <a16:creationId xmlns:a16="http://schemas.microsoft.com/office/drawing/2014/main" id="{279D7EE3-D7F8-1A84-F0BE-A0D079BFD33F}"/>
              </a:ext>
            </a:extLst>
          </p:cNvPr>
          <p:cNvSpPr/>
          <p:nvPr/>
        </p:nvSpPr>
        <p:spPr>
          <a:xfrm>
            <a:off x="3026388" y="322110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3" name="Google Shape;850;p64">
            <a:extLst>
              <a:ext uri="{FF2B5EF4-FFF2-40B4-BE49-F238E27FC236}">
                <a16:creationId xmlns:a16="http://schemas.microsoft.com/office/drawing/2014/main" id="{55ACB3C5-290C-1F34-F58A-67C8522943D0}"/>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5" name="Google Shape;851;p64">
            <a:extLst>
              <a:ext uri="{FF2B5EF4-FFF2-40B4-BE49-F238E27FC236}">
                <a16:creationId xmlns:a16="http://schemas.microsoft.com/office/drawing/2014/main" id="{9FFD916E-6F8E-47A3-B3E0-3B24272D7C67}"/>
              </a:ext>
            </a:extLst>
          </p:cNvPr>
          <p:cNvSpPr/>
          <p:nvPr/>
        </p:nvSpPr>
        <p:spPr>
          <a:xfrm>
            <a:off x="3026388" y="4310399"/>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8" name="Google Shape;852;p64">
            <a:extLst>
              <a:ext uri="{FF2B5EF4-FFF2-40B4-BE49-F238E27FC236}">
                <a16:creationId xmlns:a16="http://schemas.microsoft.com/office/drawing/2014/main" id="{C84CDBFE-C8CB-6B77-6BAA-4462522B7E25}"/>
              </a:ext>
            </a:extLst>
          </p:cNvPr>
          <p:cNvSpPr txBox="1"/>
          <p:nvPr/>
        </p:nvSpPr>
        <p:spPr>
          <a:xfrm>
            <a:off x="3290980" y="4600469"/>
            <a:ext cx="2887398"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Diferencial</a:t>
            </a:r>
            <a:endParaRPr lang="pt-BR" sz="2000" b="1" dirty="0">
              <a:solidFill>
                <a:schemeClr val="bg1"/>
              </a:solidFill>
              <a:latin typeface="Poppins" panose="00000500000000000000" pitchFamily="2" charset="0"/>
              <a:cs typeface="Poppins" panose="00000500000000000000" pitchFamily="2" charset="0"/>
              <a:sym typeface="Poppins"/>
            </a:endParaRPr>
          </a:p>
        </p:txBody>
      </p:sp>
      <p:sp>
        <p:nvSpPr>
          <p:cNvPr id="9" name="Google Shape;853;p64">
            <a:extLst>
              <a:ext uri="{FF2B5EF4-FFF2-40B4-BE49-F238E27FC236}">
                <a16:creationId xmlns:a16="http://schemas.microsoft.com/office/drawing/2014/main" id="{0E552DD7-0F4D-B894-99D9-0AD861E6BD0C}"/>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10" name="Google Shape;854;p64">
            <a:extLst>
              <a:ext uri="{FF2B5EF4-FFF2-40B4-BE49-F238E27FC236}">
                <a16:creationId xmlns:a16="http://schemas.microsoft.com/office/drawing/2014/main" id="{500BC70D-1EF7-1F69-C437-44F12EAB75D5}"/>
              </a:ext>
            </a:extLst>
          </p:cNvPr>
          <p:cNvSpPr txBox="1"/>
          <p:nvPr/>
        </p:nvSpPr>
        <p:spPr>
          <a:xfrm>
            <a:off x="7027723" y="4578959"/>
            <a:ext cx="2874158"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Espelhamento</a:t>
            </a:r>
            <a:endParaRPr lang="pt-BR" sz="2000" b="1" dirty="0">
              <a:solidFill>
                <a:schemeClr val="bg1"/>
              </a:solidFill>
              <a:latin typeface="Poppins" panose="00000500000000000000" pitchFamily="2" charset="0"/>
              <a:cs typeface="Poppins" panose="00000500000000000000" pitchFamily="2" charset="0"/>
              <a:sym typeface="Poppins"/>
            </a:endParaRPr>
          </a:p>
        </p:txBody>
      </p:sp>
      <p:sp>
        <p:nvSpPr>
          <p:cNvPr id="11" name="Google Shape;855;p64">
            <a:extLst>
              <a:ext uri="{FF2B5EF4-FFF2-40B4-BE49-F238E27FC236}">
                <a16:creationId xmlns:a16="http://schemas.microsoft.com/office/drawing/2014/main" id="{02E93494-EECB-1494-D4CE-8966C031FEA5}"/>
              </a:ext>
            </a:extLst>
          </p:cNvPr>
          <p:cNvSpPr txBox="1"/>
          <p:nvPr/>
        </p:nvSpPr>
        <p:spPr>
          <a:xfrm>
            <a:off x="3323932" y="3497573"/>
            <a:ext cx="2789200"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Completo</a:t>
            </a:r>
            <a:endParaRPr lang="pt-BR" sz="2000" b="1" dirty="0">
              <a:solidFill>
                <a:schemeClr val="bg1"/>
              </a:solidFill>
              <a:latin typeface="Poppins" panose="00000500000000000000" pitchFamily="2" charset="0"/>
              <a:cs typeface="Poppins" panose="00000500000000000000" pitchFamily="2" charset="0"/>
              <a:sym typeface="Poppins"/>
            </a:endParaRPr>
          </a:p>
        </p:txBody>
      </p:sp>
      <p:sp>
        <p:nvSpPr>
          <p:cNvPr id="13" name="Google Shape;856;p64">
            <a:extLst>
              <a:ext uri="{FF2B5EF4-FFF2-40B4-BE49-F238E27FC236}">
                <a16:creationId xmlns:a16="http://schemas.microsoft.com/office/drawing/2014/main" id="{7BA77F6B-0532-B083-8791-8DC7831A67BE}"/>
              </a:ext>
            </a:extLst>
          </p:cNvPr>
          <p:cNvSpPr txBox="1"/>
          <p:nvPr/>
        </p:nvSpPr>
        <p:spPr>
          <a:xfrm>
            <a:off x="7035961" y="3484301"/>
            <a:ext cx="2874158"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Incremental</a:t>
            </a:r>
            <a:endParaRPr lang="pt-BR" sz="2000" b="1" dirty="0">
              <a:solidFill>
                <a:schemeClr val="bg1"/>
              </a:solidFill>
              <a:latin typeface="Poppins" panose="00000500000000000000" pitchFamily="2" charset="0"/>
              <a:cs typeface="Poppins" panose="00000500000000000000" pitchFamily="2" charset="0"/>
              <a:sym typeface="Poppins"/>
            </a:endParaRPr>
          </a:p>
        </p:txBody>
      </p:sp>
    </p:spTree>
    <p:extLst>
      <p:ext uri="{BB962C8B-B14F-4D97-AF65-F5344CB8AC3E}">
        <p14:creationId xmlns:p14="http://schemas.microsoft.com/office/powerpoint/2010/main" val="1290704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FE40FC06-D3A3-1743-37AE-ABED4942E7B4}"/>
            </a:ext>
          </a:extLst>
        </p:cNvPr>
        <p:cNvGrpSpPr/>
        <p:nvPr/>
      </p:nvGrpSpPr>
      <p:grpSpPr>
        <a:xfrm>
          <a:off x="0" y="0"/>
          <a:ext cx="0" cy="0"/>
          <a:chOff x="0" y="0"/>
          <a:chExt cx="0" cy="0"/>
        </a:xfrm>
      </p:grpSpPr>
      <p:sp>
        <p:nvSpPr>
          <p:cNvPr id="4" name="Google Shape;812;p61">
            <a:extLst>
              <a:ext uri="{FF2B5EF4-FFF2-40B4-BE49-F238E27FC236}">
                <a16:creationId xmlns:a16="http://schemas.microsoft.com/office/drawing/2014/main" id="{CFD3DD94-A04A-A12B-5938-51F4671FBB3F}"/>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E99C85AC-4CFD-35D7-01F5-45536879AB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3F5AE61C-E722-1A96-9ABA-3130A58B144F}"/>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CE60F02E-6746-BD81-8A76-E0DB07C3D471}"/>
              </a:ext>
            </a:extLst>
          </p:cNvPr>
          <p:cNvSpPr/>
          <p:nvPr/>
        </p:nvSpPr>
        <p:spPr>
          <a:xfrm>
            <a:off x="2418302" y="3359427"/>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8" name="Google Shape;1435;p98">
            <a:extLst>
              <a:ext uri="{FF2B5EF4-FFF2-40B4-BE49-F238E27FC236}">
                <a16:creationId xmlns:a16="http://schemas.microsoft.com/office/drawing/2014/main" id="{82CB52B9-8F49-91D3-D7D5-BD5B48F79397}"/>
              </a:ext>
            </a:extLst>
          </p:cNvPr>
          <p:cNvSpPr/>
          <p:nvPr/>
        </p:nvSpPr>
        <p:spPr>
          <a:xfrm>
            <a:off x="10228061" y="4489953"/>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5" name="Google Shape;1437;p98">
            <a:extLst>
              <a:ext uri="{FF2B5EF4-FFF2-40B4-BE49-F238E27FC236}">
                <a16:creationId xmlns:a16="http://schemas.microsoft.com/office/drawing/2014/main" id="{77913399-2C5C-31EA-76B5-F07D3AAA3ED5}"/>
              </a:ext>
            </a:extLst>
          </p:cNvPr>
          <p:cNvSpPr/>
          <p:nvPr/>
        </p:nvSpPr>
        <p:spPr>
          <a:xfrm rot="-3043640">
            <a:off x="10325002" y="3480159"/>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4" name="Google Shape;1436;p98">
            <a:extLst>
              <a:ext uri="{FF2B5EF4-FFF2-40B4-BE49-F238E27FC236}">
                <a16:creationId xmlns:a16="http://schemas.microsoft.com/office/drawing/2014/main" id="{684FC197-7308-40DD-B359-18C636BD0E85}"/>
              </a:ext>
            </a:extLst>
          </p:cNvPr>
          <p:cNvSpPr/>
          <p:nvPr/>
        </p:nvSpPr>
        <p:spPr>
          <a:xfrm>
            <a:off x="2438524" y="4431169"/>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9" name="Espaço Reservado para Texto 10">
            <a:extLst>
              <a:ext uri="{FF2B5EF4-FFF2-40B4-BE49-F238E27FC236}">
                <a16:creationId xmlns:a16="http://schemas.microsoft.com/office/drawing/2014/main" id="{203882D2-D1B2-2B98-BB47-95ED65580035}"/>
              </a:ext>
            </a:extLst>
          </p:cNvPr>
          <p:cNvSpPr>
            <a:spLocks noGrp="1"/>
          </p:cNvSpPr>
          <p:nvPr>
            <p:ph type="body" sz="quarter" idx="10"/>
          </p:nvPr>
        </p:nvSpPr>
        <p:spPr>
          <a:xfrm>
            <a:off x="3005848" y="904851"/>
            <a:ext cx="7529208" cy="1949601"/>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tipo de backup copia somente arquivos modificados desde o último backup (é mais rápido e ocupa menos espaço)?</a:t>
            </a:r>
          </a:p>
        </p:txBody>
      </p:sp>
      <p:sp>
        <p:nvSpPr>
          <p:cNvPr id="10" name="Google Shape;849;p64">
            <a:extLst>
              <a:ext uri="{FF2B5EF4-FFF2-40B4-BE49-F238E27FC236}">
                <a16:creationId xmlns:a16="http://schemas.microsoft.com/office/drawing/2014/main" id="{165A5864-50D9-9301-E1EB-66C478F4421C}"/>
              </a:ext>
            </a:extLst>
          </p:cNvPr>
          <p:cNvSpPr/>
          <p:nvPr/>
        </p:nvSpPr>
        <p:spPr>
          <a:xfrm>
            <a:off x="3026388" y="322110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11" name="Google Shape;850;p64">
            <a:extLst>
              <a:ext uri="{FF2B5EF4-FFF2-40B4-BE49-F238E27FC236}">
                <a16:creationId xmlns:a16="http://schemas.microsoft.com/office/drawing/2014/main" id="{940F80AF-6FD7-0A87-6CA1-B29BA1F10F16}"/>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13" name="Google Shape;851;p64">
            <a:extLst>
              <a:ext uri="{FF2B5EF4-FFF2-40B4-BE49-F238E27FC236}">
                <a16:creationId xmlns:a16="http://schemas.microsoft.com/office/drawing/2014/main" id="{D649DF2B-B8BB-3DAA-F44A-C0B0484245F8}"/>
              </a:ext>
            </a:extLst>
          </p:cNvPr>
          <p:cNvSpPr/>
          <p:nvPr/>
        </p:nvSpPr>
        <p:spPr>
          <a:xfrm>
            <a:off x="3026388" y="4310399"/>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15" name="Google Shape;852;p64">
            <a:extLst>
              <a:ext uri="{FF2B5EF4-FFF2-40B4-BE49-F238E27FC236}">
                <a16:creationId xmlns:a16="http://schemas.microsoft.com/office/drawing/2014/main" id="{D5322E24-E01C-65A8-8D52-7E917B4678D5}"/>
              </a:ext>
            </a:extLst>
          </p:cNvPr>
          <p:cNvSpPr txBox="1"/>
          <p:nvPr/>
        </p:nvSpPr>
        <p:spPr>
          <a:xfrm>
            <a:off x="3290980" y="4600469"/>
            <a:ext cx="2887398"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Diferencial</a:t>
            </a:r>
            <a:endParaRPr lang="pt-BR" sz="2000" b="1" dirty="0">
              <a:solidFill>
                <a:schemeClr val="bg1"/>
              </a:solidFill>
              <a:latin typeface="Poppins" panose="00000500000000000000" pitchFamily="2" charset="0"/>
              <a:cs typeface="Poppins" panose="00000500000000000000" pitchFamily="2" charset="0"/>
              <a:sym typeface="Poppins"/>
            </a:endParaRPr>
          </a:p>
        </p:txBody>
      </p:sp>
      <p:sp>
        <p:nvSpPr>
          <p:cNvPr id="17" name="Google Shape;853;p64">
            <a:extLst>
              <a:ext uri="{FF2B5EF4-FFF2-40B4-BE49-F238E27FC236}">
                <a16:creationId xmlns:a16="http://schemas.microsoft.com/office/drawing/2014/main" id="{02ABF147-1320-DBF3-CC05-B58B97799DDA}"/>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a:latin typeface="Calibri"/>
              <a:ea typeface="Calibri"/>
              <a:cs typeface="Calibri"/>
              <a:sym typeface="Calibri"/>
            </a:endParaRPr>
          </a:p>
        </p:txBody>
      </p:sp>
      <p:sp>
        <p:nvSpPr>
          <p:cNvPr id="18" name="Google Shape;854;p64">
            <a:extLst>
              <a:ext uri="{FF2B5EF4-FFF2-40B4-BE49-F238E27FC236}">
                <a16:creationId xmlns:a16="http://schemas.microsoft.com/office/drawing/2014/main" id="{7E70332A-24E0-9309-4C80-BE045F13FCB3}"/>
              </a:ext>
            </a:extLst>
          </p:cNvPr>
          <p:cNvSpPr txBox="1"/>
          <p:nvPr/>
        </p:nvSpPr>
        <p:spPr>
          <a:xfrm>
            <a:off x="7027723" y="4578959"/>
            <a:ext cx="2874158"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Espelhamento</a:t>
            </a:r>
            <a:endParaRPr lang="pt-BR" sz="2000" b="1" dirty="0">
              <a:solidFill>
                <a:schemeClr val="bg1"/>
              </a:solidFill>
              <a:latin typeface="Poppins" panose="00000500000000000000" pitchFamily="2" charset="0"/>
              <a:cs typeface="Poppins" panose="00000500000000000000" pitchFamily="2" charset="0"/>
              <a:sym typeface="Poppins"/>
            </a:endParaRPr>
          </a:p>
        </p:txBody>
      </p:sp>
      <p:sp>
        <p:nvSpPr>
          <p:cNvPr id="20" name="Google Shape;855;p64">
            <a:extLst>
              <a:ext uri="{FF2B5EF4-FFF2-40B4-BE49-F238E27FC236}">
                <a16:creationId xmlns:a16="http://schemas.microsoft.com/office/drawing/2014/main" id="{D54D9832-59E0-CF9C-CADF-F553F0CC7F98}"/>
              </a:ext>
            </a:extLst>
          </p:cNvPr>
          <p:cNvSpPr txBox="1"/>
          <p:nvPr/>
        </p:nvSpPr>
        <p:spPr>
          <a:xfrm>
            <a:off x="3323932" y="3497573"/>
            <a:ext cx="2789200"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Completo</a:t>
            </a:r>
            <a:endParaRPr lang="pt-BR" sz="2000" b="1" dirty="0">
              <a:solidFill>
                <a:schemeClr val="bg1"/>
              </a:solidFill>
              <a:latin typeface="Poppins" panose="00000500000000000000" pitchFamily="2" charset="0"/>
              <a:cs typeface="Poppins" panose="00000500000000000000" pitchFamily="2" charset="0"/>
              <a:sym typeface="Poppins"/>
            </a:endParaRPr>
          </a:p>
        </p:txBody>
      </p:sp>
      <p:sp>
        <p:nvSpPr>
          <p:cNvPr id="22" name="Google Shape;856;p64">
            <a:extLst>
              <a:ext uri="{FF2B5EF4-FFF2-40B4-BE49-F238E27FC236}">
                <a16:creationId xmlns:a16="http://schemas.microsoft.com/office/drawing/2014/main" id="{D518CF12-0885-7BDE-1824-EE38B81130B7}"/>
              </a:ext>
            </a:extLst>
          </p:cNvPr>
          <p:cNvSpPr txBox="1"/>
          <p:nvPr/>
        </p:nvSpPr>
        <p:spPr>
          <a:xfrm>
            <a:off x="7035961" y="3484301"/>
            <a:ext cx="2874158" cy="307777"/>
          </a:xfrm>
          <a:prstGeom prst="rect">
            <a:avLst/>
          </a:prstGeom>
          <a:noFill/>
          <a:ln>
            <a:noFill/>
          </a:ln>
        </p:spPr>
        <p:txBody>
          <a:bodyPr spcFirstLastPara="1" wrap="square" lIns="0" tIns="0" rIns="0" bIns="0" anchor="ctr" anchorCtr="0">
            <a:spAutoFit/>
          </a:bodyPr>
          <a:lstStyle/>
          <a:p>
            <a:pPr algn="ctr"/>
            <a:r>
              <a:rPr lang="pt-BR" sz="2000" b="1" dirty="0">
                <a:solidFill>
                  <a:schemeClr val="bg1"/>
                </a:solidFill>
                <a:latin typeface="Poppins" panose="00000500000000000000" pitchFamily="2" charset="0"/>
                <a:cs typeface="Poppins" panose="00000500000000000000" pitchFamily="2" charset="0"/>
              </a:rPr>
              <a:t>Incremental</a:t>
            </a:r>
            <a:endParaRPr lang="pt-BR" sz="2000" b="1" dirty="0">
              <a:solidFill>
                <a:schemeClr val="bg1"/>
              </a:solidFill>
              <a:latin typeface="Poppins" panose="00000500000000000000" pitchFamily="2" charset="0"/>
              <a:cs typeface="Poppins" panose="00000500000000000000" pitchFamily="2" charset="0"/>
              <a:sym typeface="Poppins"/>
            </a:endParaRPr>
          </a:p>
        </p:txBody>
      </p:sp>
    </p:spTree>
    <p:extLst>
      <p:ext uri="{BB962C8B-B14F-4D97-AF65-F5344CB8AC3E}">
        <p14:creationId xmlns:p14="http://schemas.microsoft.com/office/powerpoint/2010/main" val="3685491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409B-BA6C-5C9A-D1D1-EDE5C8225489}"/>
            </a:ext>
          </a:extLst>
        </p:cNvPr>
        <p:cNvGrpSpPr/>
        <p:nvPr/>
      </p:nvGrpSpPr>
      <p:grpSpPr>
        <a:xfrm>
          <a:off x="0" y="0"/>
          <a:ext cx="0" cy="0"/>
          <a:chOff x="0" y="0"/>
          <a:chExt cx="0" cy="0"/>
        </a:xfrm>
      </p:grpSpPr>
      <p:sp>
        <p:nvSpPr>
          <p:cNvPr id="57" name="Google Shape;610;p16">
            <a:extLst>
              <a:ext uri="{FF2B5EF4-FFF2-40B4-BE49-F238E27FC236}">
                <a16:creationId xmlns:a16="http://schemas.microsoft.com/office/drawing/2014/main" id="{522A7BBE-C6AD-647F-E84E-56A75DDBC02F}"/>
              </a:ext>
            </a:extLst>
          </p:cNvPr>
          <p:cNvSpPr/>
          <p:nvPr/>
        </p:nvSpPr>
        <p:spPr>
          <a:xfrm rot="10800000" flipH="1">
            <a:off x="3054624" y="3178603"/>
            <a:ext cx="8003356" cy="2035663"/>
          </a:xfrm>
          <a:prstGeom prst="foldedCorner">
            <a:avLst>
              <a:gd name="adj" fmla="val 16667"/>
            </a:avLst>
          </a:prstGeom>
          <a:solidFill>
            <a:srgbClr val="AAA6D3"/>
          </a:solidFill>
          <a:ln>
            <a:noFill/>
          </a:ln>
        </p:spPr>
        <p:txBody>
          <a:bodyPr spcFirstLastPara="1" wrap="square" lIns="60950" tIns="30467" rIns="60950" bIns="30467" anchor="ctr" anchorCtr="0">
            <a:noAutofit/>
          </a:bodyPr>
          <a:lstStyle/>
          <a:p>
            <a:pPr algn="ctr">
              <a:buSzPts val="1400"/>
            </a:pPr>
            <a:endParaRPr>
              <a:solidFill>
                <a:schemeClr val="lt1"/>
              </a:solidFill>
            </a:endParaRPr>
          </a:p>
        </p:txBody>
      </p:sp>
      <p:sp>
        <p:nvSpPr>
          <p:cNvPr id="2" name="Espaço Reservado para Texto 1">
            <a:extLst>
              <a:ext uri="{FF2B5EF4-FFF2-40B4-BE49-F238E27FC236}">
                <a16:creationId xmlns:a16="http://schemas.microsoft.com/office/drawing/2014/main" id="{DD560EBD-6AA2-4B1C-2373-D3B23639E7A8}"/>
              </a:ext>
            </a:extLst>
          </p:cNvPr>
          <p:cNvSpPr>
            <a:spLocks noGrp="1"/>
          </p:cNvSpPr>
          <p:nvPr>
            <p:ph type="body" idx="1"/>
          </p:nvPr>
        </p:nvSpPr>
        <p:spPr>
          <a:xfrm>
            <a:off x="2846805" y="1491184"/>
            <a:ext cx="8748565" cy="1328848"/>
          </a:xfrm>
        </p:spPr>
        <p:txBody>
          <a:bodyPr>
            <a:noAutofit/>
          </a:bodyPr>
          <a:lstStyle/>
          <a:p>
            <a:pPr marL="0" indent="0">
              <a:spcBef>
                <a:spcPts val="0"/>
              </a:spcBef>
              <a:spcAft>
                <a:spcPts val="600"/>
              </a:spcAft>
            </a:pPr>
            <a:r>
              <a:rPr lang="pt-BR" sz="1800" dirty="0">
                <a:latin typeface="Poppins"/>
                <a:cs typeface="Poppins"/>
              </a:rPr>
              <a:t>Na escola, um dos computadores apresentou falha e vários arquivos de notas e atividades foram perdidos. Agora, vocês precisam ajudar a evitar que isso aconteça novamente, protegendo os arquivos da escola e garantindo que eles possam ser recuperados se houver algum problema.</a:t>
            </a:r>
            <a:endParaRPr lang="en-US" sz="1800" dirty="0"/>
          </a:p>
          <a:p>
            <a:pPr marL="0" indent="0">
              <a:spcBef>
                <a:spcPts val="0"/>
              </a:spcBef>
              <a:spcAft>
                <a:spcPts val="600"/>
              </a:spcAft>
              <a:buSzPts val="2600"/>
            </a:pPr>
            <a:endParaRPr lang="pt-BR" sz="1800" dirty="0"/>
          </a:p>
        </p:txBody>
      </p:sp>
      <p:sp>
        <p:nvSpPr>
          <p:cNvPr id="3" name="Espaço Reservado para Texto 2">
            <a:extLst>
              <a:ext uri="{FF2B5EF4-FFF2-40B4-BE49-F238E27FC236}">
                <a16:creationId xmlns:a16="http://schemas.microsoft.com/office/drawing/2014/main" id="{8B41A0BB-1821-7D3F-3106-BDC149B24761}"/>
              </a:ext>
            </a:extLst>
          </p:cNvPr>
          <p:cNvSpPr>
            <a:spLocks noGrp="1"/>
          </p:cNvSpPr>
          <p:nvPr>
            <p:ph type="body" idx="2"/>
          </p:nvPr>
        </p:nvSpPr>
        <p:spPr>
          <a:xfrm>
            <a:off x="2950715" y="744688"/>
            <a:ext cx="8003356" cy="499075"/>
          </a:xfrm>
        </p:spPr>
        <p:txBody>
          <a:bodyPr>
            <a:noAutofit/>
          </a:bodyPr>
          <a:lstStyle/>
          <a:p>
            <a:pPr marL="0" indent="0"/>
            <a:r>
              <a:rPr lang="pt-BR" sz="3200" b="1" dirty="0">
                <a:solidFill>
                  <a:srgbClr val="FF161F"/>
                </a:solidFill>
              </a:rPr>
              <a:t>Plano de backup</a:t>
            </a:r>
          </a:p>
        </p:txBody>
      </p:sp>
      <p:sp>
        <p:nvSpPr>
          <p:cNvPr id="7" name="Espaço Reservado para Texto 6">
            <a:extLst>
              <a:ext uri="{FF2B5EF4-FFF2-40B4-BE49-F238E27FC236}">
                <a16:creationId xmlns:a16="http://schemas.microsoft.com/office/drawing/2014/main" id="{ABA8EAE6-E50E-9550-9CBF-6099250553AB}"/>
              </a:ext>
            </a:extLst>
          </p:cNvPr>
          <p:cNvSpPr>
            <a:spLocks noGrp="1"/>
          </p:cNvSpPr>
          <p:nvPr>
            <p:ph type="body" idx="6"/>
          </p:nvPr>
        </p:nvSpPr>
        <p:spPr>
          <a:xfrm>
            <a:off x="854491" y="4736091"/>
            <a:ext cx="1733054" cy="274027"/>
          </a:xfrm>
        </p:spPr>
        <p:txBody>
          <a:bodyPr/>
          <a:lstStyle/>
          <a:p>
            <a:r>
              <a:rPr lang="pt-BR" sz="1100" dirty="0"/>
              <a:t>Durante a aula </a:t>
            </a:r>
          </a:p>
        </p:txBody>
      </p:sp>
      <p:sp>
        <p:nvSpPr>
          <p:cNvPr id="8" name="Espaço Reservado para Texto 7">
            <a:extLst>
              <a:ext uri="{FF2B5EF4-FFF2-40B4-BE49-F238E27FC236}">
                <a16:creationId xmlns:a16="http://schemas.microsoft.com/office/drawing/2014/main" id="{953E28E6-6235-9770-89CD-2B1CF25D37CF}"/>
              </a:ext>
            </a:extLst>
          </p:cNvPr>
          <p:cNvSpPr>
            <a:spLocks noGrp="1"/>
          </p:cNvSpPr>
          <p:nvPr>
            <p:ph type="body" idx="7"/>
          </p:nvPr>
        </p:nvSpPr>
        <p:spPr>
          <a:xfrm>
            <a:off x="854491" y="5207875"/>
            <a:ext cx="1705332" cy="274027"/>
          </a:xfrm>
        </p:spPr>
        <p:txBody>
          <a:bodyPr/>
          <a:lstStyle/>
          <a:p>
            <a:r>
              <a:rPr lang="pt-BR" sz="1100" dirty="0"/>
              <a:t>Em duplas</a:t>
            </a:r>
          </a:p>
        </p:txBody>
      </p:sp>
      <p:sp>
        <p:nvSpPr>
          <p:cNvPr id="55" name="CaixaDeTexto 54">
            <a:extLst>
              <a:ext uri="{FF2B5EF4-FFF2-40B4-BE49-F238E27FC236}">
                <a16:creationId xmlns:a16="http://schemas.microsoft.com/office/drawing/2014/main" id="{92CA6E56-D67E-A58E-4B12-896E46883627}"/>
              </a:ext>
            </a:extLst>
          </p:cNvPr>
          <p:cNvSpPr txBox="1"/>
          <p:nvPr/>
        </p:nvSpPr>
        <p:spPr>
          <a:xfrm>
            <a:off x="10353207" y="275765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37" name="Google Shape;812;p61">
            <a:extLst>
              <a:ext uri="{FF2B5EF4-FFF2-40B4-BE49-F238E27FC236}">
                <a16:creationId xmlns:a16="http://schemas.microsoft.com/office/drawing/2014/main" id="{202D1CDE-B8A0-A732-BE1D-B7D4D01C3044}"/>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38" name="Gráfico 37">
            <a:extLst>
              <a:ext uri="{FF2B5EF4-FFF2-40B4-BE49-F238E27FC236}">
                <a16:creationId xmlns:a16="http://schemas.microsoft.com/office/drawing/2014/main" id="{90B6121A-B6DE-6F8A-6AE6-A4A332C759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39" name="Google Shape;833;p62">
            <a:extLst>
              <a:ext uri="{FF2B5EF4-FFF2-40B4-BE49-F238E27FC236}">
                <a16:creationId xmlns:a16="http://schemas.microsoft.com/office/drawing/2014/main" id="{A6A4AE04-7255-5749-4DDC-53C2E9D3029D}"/>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40" name="Rectangle 1">
            <a:extLst>
              <a:ext uri="{FF2B5EF4-FFF2-40B4-BE49-F238E27FC236}">
                <a16:creationId xmlns:a16="http://schemas.microsoft.com/office/drawing/2014/main" id="{553429E6-A7B0-20D0-4383-E4010D73F651}"/>
              </a:ext>
            </a:extLst>
          </p:cNvPr>
          <p:cNvSpPr>
            <a:spLocks noGrp="1" noChangeArrowheads="1"/>
          </p:cNvSpPr>
          <p:nvPr>
            <p:ph type="body" idx="3"/>
          </p:nvPr>
        </p:nvSpPr>
        <p:spPr bwMode="auto">
          <a:xfrm>
            <a:off x="3326212" y="3325130"/>
            <a:ext cx="7460180" cy="1762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r>
              <a:rPr lang="pt-BR" sz="1600" dirty="0">
                <a:solidFill>
                  <a:schemeClr val="bg1"/>
                </a:solidFill>
                <a:latin typeface="Poppins"/>
                <a:cs typeface="Poppins"/>
              </a:rPr>
              <a:t>Elaborem um plano de backup a partir das seguintes questões:</a:t>
            </a:r>
          </a:p>
          <a:p>
            <a:pPr marL="342900" lvl="2" indent="-342900">
              <a:spcBef>
                <a:spcPts val="347"/>
              </a:spcBef>
              <a:buClr>
                <a:schemeClr val="bg1"/>
              </a:buClr>
              <a:buSzPct val="92000"/>
              <a:buFont typeface="+mj-lt"/>
              <a:buAutoNum type="arabicPeriod"/>
            </a:pPr>
            <a:r>
              <a:rPr lang="pt-BR" dirty="0">
                <a:solidFill>
                  <a:schemeClr val="bg1"/>
                </a:solidFill>
                <a:ea typeface="Poppins" pitchFamily="2" charset="77"/>
                <a:sym typeface="Poppins Light"/>
              </a:rPr>
              <a:t>Qual tipo de backup utilizar?</a:t>
            </a:r>
            <a:endParaRPr lang="pt-BR" dirty="0">
              <a:solidFill>
                <a:schemeClr val="bg1"/>
              </a:solidFill>
              <a:ea typeface="Poppins" pitchFamily="2" charset="77"/>
            </a:endParaRPr>
          </a:p>
          <a:p>
            <a:pPr marL="342900" lvl="2" indent="-342900">
              <a:spcBef>
                <a:spcPts val="347"/>
              </a:spcBef>
              <a:buClr>
                <a:schemeClr val="bg1"/>
              </a:buClr>
              <a:buSzPct val="92000"/>
              <a:buFont typeface="+mj-lt"/>
              <a:buAutoNum type="arabicPeriod"/>
            </a:pPr>
            <a:r>
              <a:rPr lang="pt-BR" dirty="0">
                <a:solidFill>
                  <a:schemeClr val="bg1"/>
                </a:solidFill>
                <a:ea typeface="Poppins" pitchFamily="2" charset="77"/>
                <a:sym typeface="Poppins Light"/>
              </a:rPr>
              <a:t>Qual ferramenta escolher?</a:t>
            </a:r>
            <a:endParaRPr lang="pt-BR" dirty="0">
              <a:solidFill>
                <a:schemeClr val="bg1"/>
              </a:solidFill>
              <a:ea typeface="Poppins" pitchFamily="2" charset="77"/>
            </a:endParaRPr>
          </a:p>
          <a:p>
            <a:pPr marL="342900" lvl="2" indent="-342900">
              <a:spcBef>
                <a:spcPts val="347"/>
              </a:spcBef>
              <a:buClr>
                <a:schemeClr val="bg1"/>
              </a:buClr>
              <a:buSzPct val="92000"/>
              <a:buFont typeface="+mj-lt"/>
              <a:buAutoNum type="arabicPeriod"/>
            </a:pPr>
            <a:r>
              <a:rPr lang="pt-BR" dirty="0">
                <a:solidFill>
                  <a:schemeClr val="bg1"/>
                </a:solidFill>
                <a:ea typeface="Poppins" pitchFamily="2" charset="77"/>
                <a:sym typeface="Poppins Light"/>
              </a:rPr>
              <a:t>Onde armazenar (nuvem, HD externo, outro)?</a:t>
            </a:r>
          </a:p>
          <a:p>
            <a:pPr marL="0" lvl="2" indent="0">
              <a:spcBef>
                <a:spcPts val="347"/>
              </a:spcBef>
              <a:buNone/>
            </a:pPr>
            <a:r>
              <a:rPr lang="pt-BR" dirty="0">
                <a:solidFill>
                  <a:schemeClr val="bg1"/>
                </a:solidFill>
                <a:sym typeface="Poppins Light"/>
              </a:rPr>
              <a:t>Escrevam as respostas e uma justificativa curta para cada item em uma folha, explicando por que fizeram essa escolha.</a:t>
            </a:r>
            <a:endParaRPr lang="pt-BR" dirty="0">
              <a:solidFill>
                <a:schemeClr val="bg1"/>
              </a:solidFill>
            </a:endParaRPr>
          </a:p>
        </p:txBody>
      </p:sp>
      <p:pic>
        <p:nvPicPr>
          <p:cNvPr id="4" name="Gráfico 3">
            <a:extLst>
              <a:ext uri="{FF2B5EF4-FFF2-40B4-BE49-F238E27FC236}">
                <a16:creationId xmlns:a16="http://schemas.microsoft.com/office/drawing/2014/main" id="{C3480875-07BC-7440-D523-FB09FA3246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2663" y="5681084"/>
            <a:ext cx="309197" cy="269907"/>
          </a:xfrm>
          <a:prstGeom prst="rect">
            <a:avLst/>
          </a:prstGeom>
        </p:spPr>
      </p:pic>
      <p:sp>
        <p:nvSpPr>
          <p:cNvPr id="41" name="Espaço Reservado para Texto 7">
            <a:extLst>
              <a:ext uri="{FF2B5EF4-FFF2-40B4-BE49-F238E27FC236}">
                <a16:creationId xmlns:a16="http://schemas.microsoft.com/office/drawing/2014/main" id="{8187FEDB-0F28-E824-4C13-F88B7268190A}"/>
              </a:ext>
            </a:extLst>
          </p:cNvPr>
          <p:cNvSpPr txBox="1">
            <a:spLocks/>
          </p:cNvSpPr>
          <p:nvPr/>
        </p:nvSpPr>
        <p:spPr>
          <a:xfrm>
            <a:off x="854491" y="5697232"/>
            <a:ext cx="1705332" cy="2740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r>
              <a:rPr lang="pt-BR" sz="1100" dirty="0"/>
              <a:t>Entregar no AVA</a:t>
            </a:r>
          </a:p>
        </p:txBody>
      </p:sp>
      <p:grpSp>
        <p:nvGrpSpPr>
          <p:cNvPr id="42" name="Google Shape;474;p35">
            <a:extLst>
              <a:ext uri="{FF2B5EF4-FFF2-40B4-BE49-F238E27FC236}">
                <a16:creationId xmlns:a16="http://schemas.microsoft.com/office/drawing/2014/main" id="{37DDEB44-3B3E-3313-5488-1D089CF006A9}"/>
              </a:ext>
            </a:extLst>
          </p:cNvPr>
          <p:cNvGrpSpPr/>
          <p:nvPr/>
        </p:nvGrpSpPr>
        <p:grpSpPr>
          <a:xfrm>
            <a:off x="464298" y="4726001"/>
            <a:ext cx="284745" cy="286039"/>
            <a:chOff x="11797069" y="2783619"/>
            <a:chExt cx="427118" cy="429059"/>
          </a:xfrm>
          <a:noFill/>
        </p:grpSpPr>
        <p:sp>
          <p:nvSpPr>
            <p:cNvPr id="43" name="Google Shape;475;p35">
              <a:extLst>
                <a:ext uri="{FF2B5EF4-FFF2-40B4-BE49-F238E27FC236}">
                  <a16:creationId xmlns:a16="http://schemas.microsoft.com/office/drawing/2014/main" id="{5DEDBFEE-B189-5A5F-2040-14279D2AC833}"/>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4" name="Google Shape;476;p35">
              <a:extLst>
                <a:ext uri="{FF2B5EF4-FFF2-40B4-BE49-F238E27FC236}">
                  <a16:creationId xmlns:a16="http://schemas.microsoft.com/office/drawing/2014/main" id="{22B0894A-8325-5021-8F42-927FD96039A4}"/>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5" name="Google Shape;477;p35">
              <a:extLst>
                <a:ext uri="{FF2B5EF4-FFF2-40B4-BE49-F238E27FC236}">
                  <a16:creationId xmlns:a16="http://schemas.microsoft.com/office/drawing/2014/main" id="{1AA0EC26-4DF5-8C12-68C8-D08CCABB4C64}"/>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6" name="Google Shape;478;p35">
              <a:extLst>
                <a:ext uri="{FF2B5EF4-FFF2-40B4-BE49-F238E27FC236}">
                  <a16:creationId xmlns:a16="http://schemas.microsoft.com/office/drawing/2014/main" id="{CDA85A68-B945-EFD0-A057-BCD4DEFB6CB9}"/>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nvGrpSpPr>
            <p:cNvPr id="47" name="Google Shape;479;p35">
              <a:extLst>
                <a:ext uri="{FF2B5EF4-FFF2-40B4-BE49-F238E27FC236}">
                  <a16:creationId xmlns:a16="http://schemas.microsoft.com/office/drawing/2014/main" id="{131C2A13-D57F-C60B-67F2-2F69F7C36BDA}"/>
                </a:ext>
              </a:extLst>
            </p:cNvPr>
            <p:cNvGrpSpPr/>
            <p:nvPr/>
          </p:nvGrpSpPr>
          <p:grpSpPr>
            <a:xfrm>
              <a:off x="11889287" y="2999120"/>
              <a:ext cx="262095" cy="145608"/>
              <a:chOff x="11889287" y="2999120"/>
              <a:chExt cx="262095" cy="145608"/>
            </a:xfrm>
            <a:grpFill/>
          </p:grpSpPr>
          <p:sp>
            <p:nvSpPr>
              <p:cNvPr id="48" name="Google Shape;480;p35">
                <a:extLst>
                  <a:ext uri="{FF2B5EF4-FFF2-40B4-BE49-F238E27FC236}">
                    <a16:creationId xmlns:a16="http://schemas.microsoft.com/office/drawing/2014/main" id="{5704B032-25AE-CC29-407A-6C086DCC4F20}"/>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9" name="Google Shape;481;p35">
                <a:extLst>
                  <a:ext uri="{FF2B5EF4-FFF2-40B4-BE49-F238E27FC236}">
                    <a16:creationId xmlns:a16="http://schemas.microsoft.com/office/drawing/2014/main" id="{F949DE97-29BB-30B8-9056-B053CA6FE787}"/>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0" name="Google Shape;482;p35">
                <a:extLst>
                  <a:ext uri="{FF2B5EF4-FFF2-40B4-BE49-F238E27FC236}">
                    <a16:creationId xmlns:a16="http://schemas.microsoft.com/office/drawing/2014/main" id="{BD7DF3CD-03B4-4795-2D47-91A010B0DDA4}"/>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1" name="Google Shape;483;p35">
                <a:extLst>
                  <a:ext uri="{FF2B5EF4-FFF2-40B4-BE49-F238E27FC236}">
                    <a16:creationId xmlns:a16="http://schemas.microsoft.com/office/drawing/2014/main" id="{AF6B3B0B-9386-9819-61CE-2576E158AE23}"/>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2" name="Google Shape;484;p35">
                <a:extLst>
                  <a:ext uri="{FF2B5EF4-FFF2-40B4-BE49-F238E27FC236}">
                    <a16:creationId xmlns:a16="http://schemas.microsoft.com/office/drawing/2014/main" id="{177E2040-98FF-80E9-3133-6F3741B1C7C8}"/>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3" name="Google Shape;485;p35">
                <a:extLst>
                  <a:ext uri="{FF2B5EF4-FFF2-40B4-BE49-F238E27FC236}">
                    <a16:creationId xmlns:a16="http://schemas.microsoft.com/office/drawing/2014/main" id="{8DBB97B3-4F2F-55B1-9A67-65256C9298E8}"/>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4" name="Google Shape;486;p35">
                <a:extLst>
                  <a:ext uri="{FF2B5EF4-FFF2-40B4-BE49-F238E27FC236}">
                    <a16:creationId xmlns:a16="http://schemas.microsoft.com/office/drawing/2014/main" id="{72A02C6D-3D80-C29B-9F43-E53301E40823}"/>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6" name="Google Shape;487;p35">
                <a:extLst>
                  <a:ext uri="{FF2B5EF4-FFF2-40B4-BE49-F238E27FC236}">
                    <a16:creationId xmlns:a16="http://schemas.microsoft.com/office/drawing/2014/main" id="{6483714E-BEB4-5191-30C2-418923E53DBC}"/>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8" name="Google Shape;488;p35">
                <a:extLst>
                  <a:ext uri="{FF2B5EF4-FFF2-40B4-BE49-F238E27FC236}">
                    <a16:creationId xmlns:a16="http://schemas.microsoft.com/office/drawing/2014/main" id="{C65D10DE-CEDC-4B30-5C0D-2E4494393D56}"/>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9" name="Google Shape;489;p35">
                <a:extLst>
                  <a:ext uri="{FF2B5EF4-FFF2-40B4-BE49-F238E27FC236}">
                    <a16:creationId xmlns:a16="http://schemas.microsoft.com/office/drawing/2014/main" id="{3C793C75-088A-692B-A515-D249B1239930}"/>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grpSp>
        <p:nvGrpSpPr>
          <p:cNvPr id="60" name="Google Shape;490;p35">
            <a:extLst>
              <a:ext uri="{FF2B5EF4-FFF2-40B4-BE49-F238E27FC236}">
                <a16:creationId xmlns:a16="http://schemas.microsoft.com/office/drawing/2014/main" id="{7885FDAA-C525-7075-DCCE-D2BE62C862CC}"/>
              </a:ext>
            </a:extLst>
          </p:cNvPr>
          <p:cNvGrpSpPr/>
          <p:nvPr/>
        </p:nvGrpSpPr>
        <p:grpSpPr>
          <a:xfrm>
            <a:off x="454351" y="5173639"/>
            <a:ext cx="304639" cy="301465"/>
            <a:chOff x="6941066" y="2777637"/>
            <a:chExt cx="456958" cy="452197"/>
          </a:xfrm>
          <a:noFill/>
        </p:grpSpPr>
        <p:grpSp>
          <p:nvGrpSpPr>
            <p:cNvPr id="61" name="Google Shape;491;p35">
              <a:extLst>
                <a:ext uri="{FF2B5EF4-FFF2-40B4-BE49-F238E27FC236}">
                  <a16:creationId xmlns:a16="http://schemas.microsoft.com/office/drawing/2014/main" id="{0831E1A3-08F6-B261-F06B-8AAEA85DE5D0}"/>
                </a:ext>
              </a:extLst>
            </p:cNvPr>
            <p:cNvGrpSpPr/>
            <p:nvPr/>
          </p:nvGrpSpPr>
          <p:grpSpPr>
            <a:xfrm>
              <a:off x="7226665" y="3067995"/>
              <a:ext cx="171359" cy="161839"/>
              <a:chOff x="7226665" y="3067995"/>
              <a:chExt cx="171359" cy="161839"/>
            </a:xfrm>
            <a:grpFill/>
          </p:grpSpPr>
          <p:sp>
            <p:nvSpPr>
              <p:cNvPr id="72" name="Google Shape;492;p35">
                <a:extLst>
                  <a:ext uri="{FF2B5EF4-FFF2-40B4-BE49-F238E27FC236}">
                    <a16:creationId xmlns:a16="http://schemas.microsoft.com/office/drawing/2014/main" id="{A7EDA01C-4A20-1D50-678F-2AFB081ABDE8}"/>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3" name="Google Shape;493;p35">
                <a:extLst>
                  <a:ext uri="{FF2B5EF4-FFF2-40B4-BE49-F238E27FC236}">
                    <a16:creationId xmlns:a16="http://schemas.microsoft.com/office/drawing/2014/main" id="{1F1C33C6-9F44-C54D-D610-A9E9F829A67D}"/>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2" name="Google Shape;494;p35">
              <a:extLst>
                <a:ext uri="{FF2B5EF4-FFF2-40B4-BE49-F238E27FC236}">
                  <a16:creationId xmlns:a16="http://schemas.microsoft.com/office/drawing/2014/main" id="{F8805AC7-D939-F707-9EAB-63BC426A1B6C}"/>
                </a:ext>
              </a:extLst>
            </p:cNvPr>
            <p:cNvGrpSpPr/>
            <p:nvPr/>
          </p:nvGrpSpPr>
          <p:grpSpPr>
            <a:xfrm>
              <a:off x="6941066" y="3067995"/>
              <a:ext cx="171359" cy="161839"/>
              <a:chOff x="6941066" y="3067995"/>
              <a:chExt cx="171359" cy="161839"/>
            </a:xfrm>
            <a:grpFill/>
          </p:grpSpPr>
          <p:sp>
            <p:nvSpPr>
              <p:cNvPr id="70" name="Google Shape;495;p35">
                <a:extLst>
                  <a:ext uri="{FF2B5EF4-FFF2-40B4-BE49-F238E27FC236}">
                    <a16:creationId xmlns:a16="http://schemas.microsoft.com/office/drawing/2014/main" id="{C22744D1-7D32-7CC7-C4BE-D63A97317490}"/>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1" name="Google Shape;496;p35">
                <a:extLst>
                  <a:ext uri="{FF2B5EF4-FFF2-40B4-BE49-F238E27FC236}">
                    <a16:creationId xmlns:a16="http://schemas.microsoft.com/office/drawing/2014/main" id="{5030DC43-AA27-D39B-2F4B-3B254627242A}"/>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3" name="Google Shape;497;p35">
              <a:extLst>
                <a:ext uri="{FF2B5EF4-FFF2-40B4-BE49-F238E27FC236}">
                  <a16:creationId xmlns:a16="http://schemas.microsoft.com/office/drawing/2014/main" id="{51E3DF62-E507-40F2-177C-FB0F5F1CC6BF}"/>
                </a:ext>
              </a:extLst>
            </p:cNvPr>
            <p:cNvGrpSpPr/>
            <p:nvPr/>
          </p:nvGrpSpPr>
          <p:grpSpPr>
            <a:xfrm>
              <a:off x="7103153" y="2977080"/>
              <a:ext cx="132861" cy="96151"/>
              <a:chOff x="7103153" y="2977080"/>
              <a:chExt cx="132861" cy="96151"/>
            </a:xfrm>
            <a:grpFill/>
          </p:grpSpPr>
          <p:sp>
            <p:nvSpPr>
              <p:cNvPr id="67" name="Google Shape;498;p35">
                <a:extLst>
                  <a:ext uri="{FF2B5EF4-FFF2-40B4-BE49-F238E27FC236}">
                    <a16:creationId xmlns:a16="http://schemas.microsoft.com/office/drawing/2014/main" id="{83DE459E-2562-DA13-3953-047F161A5F96}"/>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8" name="Google Shape;499;p35">
                <a:extLst>
                  <a:ext uri="{FF2B5EF4-FFF2-40B4-BE49-F238E27FC236}">
                    <a16:creationId xmlns:a16="http://schemas.microsoft.com/office/drawing/2014/main" id="{C638658E-5049-F39E-3BAE-735F0E29CCB2}"/>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9" name="Google Shape;500;p35">
                <a:extLst>
                  <a:ext uri="{FF2B5EF4-FFF2-40B4-BE49-F238E27FC236}">
                    <a16:creationId xmlns:a16="http://schemas.microsoft.com/office/drawing/2014/main" id="{0521923E-69BC-8F5F-59B4-B4ADA2D068EE}"/>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4" name="Google Shape;501;p35">
              <a:extLst>
                <a:ext uri="{FF2B5EF4-FFF2-40B4-BE49-F238E27FC236}">
                  <a16:creationId xmlns:a16="http://schemas.microsoft.com/office/drawing/2014/main" id="{EE78D97F-D8D1-4A54-09D4-87BB282C451A}"/>
                </a:ext>
              </a:extLst>
            </p:cNvPr>
            <p:cNvGrpSpPr/>
            <p:nvPr/>
          </p:nvGrpSpPr>
          <p:grpSpPr>
            <a:xfrm>
              <a:off x="7083865" y="2777637"/>
              <a:ext cx="171359" cy="161838"/>
              <a:chOff x="7083865" y="2777637"/>
              <a:chExt cx="171359" cy="161838"/>
            </a:xfrm>
            <a:grpFill/>
          </p:grpSpPr>
          <p:sp>
            <p:nvSpPr>
              <p:cNvPr id="65" name="Google Shape;502;p35">
                <a:extLst>
                  <a:ext uri="{FF2B5EF4-FFF2-40B4-BE49-F238E27FC236}">
                    <a16:creationId xmlns:a16="http://schemas.microsoft.com/office/drawing/2014/main" id="{BA9FA5B7-0F69-EDEE-0040-B6BC112936FD}"/>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6" name="Google Shape;503;p35">
                <a:extLst>
                  <a:ext uri="{FF2B5EF4-FFF2-40B4-BE49-F238E27FC236}">
                    <a16:creationId xmlns:a16="http://schemas.microsoft.com/office/drawing/2014/main" id="{D42BBE4E-747A-B40A-8384-632C32CFC6B0}"/>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sp>
        <p:nvSpPr>
          <p:cNvPr id="75" name="Espaço Reservado para Texto 1">
            <a:extLst>
              <a:ext uri="{FF2B5EF4-FFF2-40B4-BE49-F238E27FC236}">
                <a16:creationId xmlns:a16="http://schemas.microsoft.com/office/drawing/2014/main" id="{EBC5F204-85FC-1F20-9237-EDA516D316FC}"/>
              </a:ext>
            </a:extLst>
          </p:cNvPr>
          <p:cNvSpPr txBox="1">
            <a:spLocks/>
          </p:cNvSpPr>
          <p:nvPr/>
        </p:nvSpPr>
        <p:spPr>
          <a:xfrm>
            <a:off x="2854849" y="5413062"/>
            <a:ext cx="9022623" cy="5411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indent="0">
              <a:spcBef>
                <a:spcPts val="0"/>
              </a:spcBef>
              <a:spcAft>
                <a:spcPts val="600"/>
              </a:spcAft>
            </a:pPr>
            <a:r>
              <a:rPr lang="pt-BR" sz="1800" dirty="0">
                <a:latin typeface="Poppins"/>
                <a:cs typeface="Poppins"/>
              </a:rPr>
              <a:t>Ao finalizar, enviem individualmente uma foto das respostas pelo AVA. </a:t>
            </a:r>
            <a:endParaRPr lang="en-US" sz="1800" dirty="0"/>
          </a:p>
          <a:p>
            <a:pPr marL="0" indent="0">
              <a:spcBef>
                <a:spcPts val="0"/>
              </a:spcBef>
              <a:spcAft>
                <a:spcPts val="600"/>
              </a:spcAft>
              <a:buSzPts val="2600"/>
            </a:pPr>
            <a:endParaRPr lang="pt-BR" sz="1800" dirty="0"/>
          </a:p>
        </p:txBody>
      </p:sp>
      <p:sp>
        <p:nvSpPr>
          <p:cNvPr id="6" name="CaixaDeTexto 5">
            <a:extLst>
              <a:ext uri="{FF2B5EF4-FFF2-40B4-BE49-F238E27FC236}">
                <a16:creationId xmlns:a16="http://schemas.microsoft.com/office/drawing/2014/main" id="{512CCFDA-3944-42F7-EDB6-7ABD2E770AF6}"/>
              </a:ext>
            </a:extLst>
          </p:cNvPr>
          <p:cNvSpPr txBox="1"/>
          <p:nvPr/>
        </p:nvSpPr>
        <p:spPr>
          <a:xfrm>
            <a:off x="5373781" y="2759092"/>
            <a:ext cx="6096000" cy="261610"/>
          </a:xfrm>
          <a:prstGeom prst="rect">
            <a:avLst/>
          </a:prstGeom>
          <a:noFill/>
          <a:ln>
            <a:noFill/>
          </a:ln>
        </p:spPr>
        <p:txBody>
          <a:bodyPr wrap="square">
            <a:spAutoFit/>
          </a:bodyPr>
          <a:lstStyle/>
          <a:p>
            <a:pPr algn="r">
              <a:buNone/>
            </a:pPr>
            <a:r>
              <a:rPr lang="pt-BR" sz="1100" dirty="0">
                <a:latin typeface="Poppins" panose="00000500000000000000" pitchFamily="2" charset="0"/>
                <a:cs typeface="Poppins" panose="00000500000000000000" pitchFamily="2" charset="0"/>
              </a:rPr>
              <a:t>Situação fictícia produzida pela SEDUC-SP. </a:t>
            </a:r>
          </a:p>
        </p:txBody>
      </p:sp>
    </p:spTree>
    <p:extLst>
      <p:ext uri="{BB962C8B-B14F-4D97-AF65-F5344CB8AC3E}">
        <p14:creationId xmlns:p14="http://schemas.microsoft.com/office/powerpoint/2010/main" val="3863719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4867931" y="1824700"/>
            <a:ext cx="6824715" cy="685035"/>
          </a:xfrm>
          <a:noFill/>
          <a:ln>
            <a:noFill/>
          </a:ln>
        </p:spPr>
        <p:txBody>
          <a:bodyPr spcFirstLastPara="1" wrap="square" lIns="91425" tIns="45700" rIns="91425" bIns="45700" anchor="t" anchorCtr="0">
            <a:noAutofit/>
          </a:bodyPr>
          <a:lstStyle/>
          <a:p>
            <a:pPr marL="0" indent="0">
              <a:spcBef>
                <a:spcPts val="0"/>
              </a:spcBef>
              <a:spcAft>
                <a:spcPts val="600"/>
              </a:spcAft>
            </a:pPr>
            <a:r>
              <a:rPr lang="pt-BR" sz="1600" dirty="0"/>
              <a:t>Compreendemos que o backup é uma cópia de segurança dos arquivos, criada para evitar perdas em caso de falha, erro humano ou invasão. Ele pode ser completo, incremental ou diferencial, dependendo do tipo de atualização dos arquivos.</a:t>
            </a: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4867933" y="3037316"/>
            <a:ext cx="6824714" cy="685036"/>
          </a:xfrm>
          <a:noFill/>
          <a:ln>
            <a:noFill/>
          </a:ln>
        </p:spPr>
        <p:txBody>
          <a:bodyPr spcFirstLastPara="1" wrap="square" lIns="91425" tIns="45700" rIns="91425" bIns="45700" anchor="t" anchorCtr="0">
            <a:noAutofit/>
          </a:bodyPr>
          <a:lstStyle/>
          <a:p>
            <a:pPr marL="0" indent="0">
              <a:spcBef>
                <a:spcPts val="0"/>
              </a:spcBef>
              <a:spcAft>
                <a:spcPts val="600"/>
              </a:spcAft>
            </a:pPr>
            <a:r>
              <a:rPr lang="pt-BR" sz="1600" dirty="0"/>
              <a:t>Aprendemos que a restauração permite recuperar arquivos perdidos ou corrompidos a partir de um backup ou ferramenta de recuperação. Ela atua como uma solução emergencial quando o arquivo é apagado acidentalmente.</a:t>
            </a: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4867931" y="4237466"/>
            <a:ext cx="6824715" cy="772278"/>
          </a:xfrm>
          <a:noFill/>
          <a:ln>
            <a:noFill/>
          </a:ln>
        </p:spPr>
        <p:txBody>
          <a:bodyPr spcFirstLastPara="1" wrap="square" lIns="91425" tIns="45700" rIns="91425" bIns="45700" anchor="t" anchorCtr="0">
            <a:noAutofit/>
          </a:bodyPr>
          <a:lstStyle/>
          <a:p>
            <a:pPr marL="0" indent="0">
              <a:spcBef>
                <a:spcPts val="0"/>
              </a:spcBef>
              <a:spcAft>
                <a:spcPts val="600"/>
              </a:spcAft>
            </a:pPr>
            <a:r>
              <a:rPr lang="pt-BR" sz="1600" dirty="0"/>
              <a:t>Identificamos que o armazenamento seguro mantém os dados protegidos e acessíveis. A regra 3–2–1 recomenda ter três cópias dos arquivos, em dois tipos de mídia diferentes, combinando serviços em nuvem (como Google Drive ou OneDrive) com mídias físicas (HD externo ou pen drive).</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4676921" y="734021"/>
            <a:ext cx="5440600" cy="56137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pPr>
            <a:r>
              <a:rPr lang="pt-BR" sz="32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3788879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2" name="Google Shape;145;p12">
            <a:extLst>
              <a:ext uri="{FF2B5EF4-FFF2-40B4-BE49-F238E27FC236}">
                <a16:creationId xmlns:a16="http://schemas.microsoft.com/office/drawing/2014/main" id="{8AFD5CF4-520D-C05E-0436-E4E65A8A0785}"/>
              </a:ext>
            </a:extLst>
          </p:cNvPr>
          <p:cNvSpPr txBox="1"/>
          <p:nvPr/>
        </p:nvSpPr>
        <p:spPr>
          <a:xfrm>
            <a:off x="1024125" y="1786467"/>
            <a:ext cx="3183000" cy="615553"/>
          </a:xfrm>
          <a:prstGeom prst="rect">
            <a:avLst/>
          </a:prstGeom>
          <a:noFill/>
          <a:ln>
            <a:noFill/>
          </a:ln>
        </p:spPr>
        <p:txBody>
          <a:bodyPr spcFirstLastPara="1" wrap="square" lIns="0" tIns="0" rIns="0" bIns="0" anchor="t" anchorCtr="0">
            <a:spAutoFit/>
          </a:bodyPr>
          <a:lstStyle/>
          <a:p>
            <a:pPr>
              <a:buSzPts val="6000"/>
            </a:pPr>
            <a:r>
              <a:rPr lang="pt-BR" sz="4000" b="1">
                <a:solidFill>
                  <a:schemeClr val="bg1"/>
                </a:solidFill>
                <a:latin typeface="Poppins"/>
                <a:ea typeface="Poppins"/>
                <a:cs typeface="Poppins"/>
                <a:sym typeface="Poppins"/>
              </a:rPr>
              <a:t>Saiba mais</a:t>
            </a:r>
            <a:endParaRPr lang="pt-BR" sz="4000">
              <a:solidFill>
                <a:schemeClr val="bg1"/>
              </a:solidFill>
              <a:latin typeface="Poppins Light"/>
              <a:ea typeface="Poppins Light"/>
              <a:cs typeface="Poppins Light"/>
              <a:sym typeface="Poppins Light"/>
            </a:endParaRPr>
          </a:p>
        </p:txBody>
      </p:sp>
      <p:sp>
        <p:nvSpPr>
          <p:cNvPr id="6" name="Google Shape;721;p53">
            <a:extLst>
              <a:ext uri="{FF2B5EF4-FFF2-40B4-BE49-F238E27FC236}">
                <a16:creationId xmlns:a16="http://schemas.microsoft.com/office/drawing/2014/main" id="{2A642F6D-8D3F-B65C-A62C-E971C02A0D96}"/>
              </a:ext>
            </a:extLst>
          </p:cNvPr>
          <p:cNvSpPr txBox="1">
            <a:spLocks/>
          </p:cNvSpPr>
          <p:nvPr/>
        </p:nvSpPr>
        <p:spPr>
          <a:xfrm>
            <a:off x="5559673" y="1340697"/>
            <a:ext cx="5987059" cy="240445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indent="0">
              <a:spcBef>
                <a:spcPts val="0"/>
              </a:spcBef>
              <a:spcAft>
                <a:spcPts val="1200"/>
              </a:spcAft>
              <a:buClr>
                <a:schemeClr val="lt1"/>
              </a:buClr>
            </a:pPr>
            <a:r>
              <a:rPr lang="pt-BR" sz="1800" b="1" dirty="0"/>
              <a:t>Descubra quando usar o backup incremental e o diferencial, acessando: </a:t>
            </a:r>
            <a:endParaRPr lang="pt-BR" sz="1800" dirty="0">
              <a:cs typeface="Poppins"/>
            </a:endParaRPr>
          </a:p>
          <a:p>
            <a:pPr marL="0" indent="0">
              <a:spcBef>
                <a:spcPts val="0"/>
              </a:spcBef>
              <a:spcAft>
                <a:spcPts val="1200"/>
              </a:spcAft>
            </a:pPr>
            <a:r>
              <a:rPr lang="pt-BR" sz="1800" dirty="0">
                <a:latin typeface="Poppins"/>
                <a:cs typeface="Poppins"/>
              </a:rPr>
              <a:t>PLATON - TECNOLOGIA EM NUVEM. Qual a diferença entre backup incremental e diferencial? YouTube, 17 dez. 2019. Disponível em: </a:t>
            </a:r>
            <a:r>
              <a:rPr lang="pt-BR" sz="1800" dirty="0">
                <a:latin typeface="Poppins"/>
                <a:cs typeface="Poppins"/>
                <a:hlinkClick r:id="rId3"/>
              </a:rPr>
              <a:t>https://www.youtube.com/watch?v=9BvJY87PSgY</a:t>
            </a:r>
            <a:r>
              <a:rPr lang="pt-BR" sz="1800" dirty="0">
                <a:latin typeface="Poppins"/>
                <a:cs typeface="Poppins"/>
              </a:rPr>
              <a:t>. Acesso em: 11 out. 2025.</a:t>
            </a:r>
            <a:endParaRPr lang="pt-BR" sz="1800" dirty="0"/>
          </a:p>
        </p:txBody>
      </p:sp>
    </p:spTree>
    <p:extLst>
      <p:ext uri="{BB962C8B-B14F-4D97-AF65-F5344CB8AC3E}">
        <p14:creationId xmlns:p14="http://schemas.microsoft.com/office/powerpoint/2010/main" val="2981978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a:extLst>
              <a:ext uri="{FF2B5EF4-FFF2-40B4-BE49-F238E27FC236}">
                <a16:creationId xmlns:a16="http://schemas.microsoft.com/office/drawing/2014/main" id="{5FA7FE17-1B51-A703-C60C-82294C88914A}"/>
              </a:ext>
            </a:extLst>
          </p:cNvPr>
          <p:cNvSpPr>
            <a:spLocks noGrp="1"/>
          </p:cNvSpPr>
          <p:nvPr>
            <p:ph type="body" idx="5"/>
          </p:nvPr>
        </p:nvSpPr>
        <p:spPr>
          <a:xfrm>
            <a:off x="1372706" y="1844473"/>
            <a:ext cx="10261574" cy="2853986"/>
          </a:xfrm>
          <a:noFill/>
          <a:ln>
            <a:noFill/>
          </a:ln>
        </p:spPr>
        <p:txBody>
          <a:bodyPr spcFirstLastPara="1" wrap="square" lIns="91425" tIns="45700" rIns="91425" bIns="45700" anchor="t" anchorCtr="0">
            <a:noAutofit/>
          </a:bodyPr>
          <a:lstStyle/>
          <a:p>
            <a:pPr>
              <a:spcBef>
                <a:spcPts val="0"/>
              </a:spcBef>
              <a:spcAft>
                <a:spcPts val="1200"/>
              </a:spcAft>
            </a:pPr>
            <a:r>
              <a:rPr lang="pt-BR" sz="1800" dirty="0">
                <a:solidFill>
                  <a:srgbClr val="000000"/>
                </a:solidFill>
                <a:latin typeface="Poppins" panose="00000500000000000000" pitchFamily="2" charset="0"/>
                <a:cs typeface="Poppins" panose="00000500000000000000" pitchFamily="2" charset="0"/>
              </a:rPr>
              <a:t>BROOKSHEAR, J. G. </a:t>
            </a:r>
            <a:r>
              <a:rPr lang="pt-BR" sz="1800" b="1" dirty="0">
                <a:solidFill>
                  <a:srgbClr val="000000"/>
                </a:solidFill>
                <a:latin typeface="Poppins" panose="00000500000000000000" pitchFamily="2" charset="0"/>
                <a:cs typeface="Poppins" panose="00000500000000000000" pitchFamily="2" charset="0"/>
              </a:rPr>
              <a:t>Ciência da Computação</a:t>
            </a:r>
            <a:r>
              <a:rPr lang="pt-BR" sz="1800" dirty="0">
                <a:solidFill>
                  <a:srgbClr val="000000"/>
                </a:solidFill>
                <a:latin typeface="Poppins" panose="00000500000000000000" pitchFamily="2" charset="0"/>
                <a:cs typeface="Poppins" panose="00000500000000000000" pitchFamily="2" charset="0"/>
              </a:rPr>
              <a:t>: uma visão abrangente. Porto Alegre: Bookman, 2013. </a:t>
            </a:r>
          </a:p>
          <a:p>
            <a:pPr>
              <a:spcBef>
                <a:spcPts val="0"/>
              </a:spcBef>
              <a:spcAft>
                <a:spcPts val="1200"/>
              </a:spcAft>
            </a:pPr>
            <a:r>
              <a:rPr lang="pt-BR" sz="1800" dirty="0">
                <a:solidFill>
                  <a:srgbClr val="000000"/>
                </a:solidFill>
                <a:latin typeface="Poppins" panose="00000500000000000000" pitchFamily="2" charset="0"/>
                <a:cs typeface="Poppins" panose="00000500000000000000" pitchFamily="2" charset="0"/>
              </a:rPr>
              <a:t>MONTEIRO, M. A. </a:t>
            </a:r>
            <a:r>
              <a:rPr lang="pt-BR" sz="1800" b="1" dirty="0">
                <a:solidFill>
                  <a:srgbClr val="000000"/>
                </a:solidFill>
                <a:latin typeface="Poppins" panose="00000500000000000000" pitchFamily="2" charset="0"/>
                <a:cs typeface="Poppins" panose="00000500000000000000" pitchFamily="2" charset="0"/>
              </a:rPr>
              <a:t>Introdução à organização de computadores</a:t>
            </a:r>
            <a:r>
              <a:rPr lang="pt-BR" sz="1800" dirty="0">
                <a:solidFill>
                  <a:srgbClr val="000000"/>
                </a:solidFill>
                <a:latin typeface="Poppins" panose="00000500000000000000" pitchFamily="2" charset="0"/>
                <a:cs typeface="Poppins" panose="00000500000000000000" pitchFamily="2" charset="0"/>
              </a:rPr>
              <a:t>. Rio de Janeiro: LTC, 2007. </a:t>
            </a:r>
          </a:p>
          <a:p>
            <a:pPr>
              <a:spcBef>
                <a:spcPts val="0"/>
              </a:spcBef>
              <a:spcAft>
                <a:spcPts val="1200"/>
              </a:spcAft>
            </a:pPr>
            <a:r>
              <a:rPr lang="pt-BR" sz="1800" dirty="0">
                <a:solidFill>
                  <a:srgbClr val="000000"/>
                </a:solidFill>
                <a:latin typeface="Poppins" panose="00000500000000000000" pitchFamily="2" charset="0"/>
                <a:cs typeface="Poppins" panose="00000500000000000000" pitchFamily="2" charset="0"/>
              </a:rPr>
              <a:t>STALLINGS, W. </a:t>
            </a:r>
            <a:r>
              <a:rPr lang="pt-BR" sz="1800" b="1" dirty="0">
                <a:solidFill>
                  <a:srgbClr val="000000"/>
                </a:solidFill>
                <a:latin typeface="Poppins" panose="00000500000000000000" pitchFamily="2" charset="0"/>
                <a:cs typeface="Poppins" panose="00000500000000000000" pitchFamily="2" charset="0"/>
              </a:rPr>
              <a:t>Arquitetura e organização de computadores</a:t>
            </a:r>
            <a:r>
              <a:rPr lang="pt-BR" sz="1800" dirty="0">
                <a:solidFill>
                  <a:srgbClr val="000000"/>
                </a:solidFill>
                <a:latin typeface="Poppins" panose="00000500000000000000" pitchFamily="2" charset="0"/>
                <a:cs typeface="Poppins" panose="00000500000000000000" pitchFamily="2" charset="0"/>
              </a:rPr>
              <a:t>. São Paulo: Pearson, 2017. </a:t>
            </a:r>
          </a:p>
          <a:p>
            <a:pPr>
              <a:spcBef>
                <a:spcPts val="0"/>
              </a:spcBef>
              <a:spcAft>
                <a:spcPts val="1200"/>
              </a:spcAft>
            </a:pPr>
            <a:r>
              <a:rPr lang="pt-BR" sz="1800" dirty="0">
                <a:solidFill>
                  <a:srgbClr val="000000"/>
                </a:solidFill>
                <a:latin typeface="Poppins" panose="00000500000000000000" pitchFamily="2" charset="0"/>
                <a:cs typeface="Poppins" panose="00000500000000000000" pitchFamily="2" charset="0"/>
              </a:rPr>
              <a:t>TANENBAUM, A. S.; AUSTIN, T. </a:t>
            </a:r>
            <a:r>
              <a:rPr lang="pt-BR" sz="1800" b="1" dirty="0">
                <a:solidFill>
                  <a:srgbClr val="000000"/>
                </a:solidFill>
                <a:latin typeface="Poppins" panose="00000500000000000000" pitchFamily="2" charset="0"/>
                <a:cs typeface="Poppins" panose="00000500000000000000" pitchFamily="2" charset="0"/>
              </a:rPr>
              <a:t>Organização estruturada de computadores</a:t>
            </a:r>
            <a:r>
              <a:rPr lang="pt-BR" sz="1800" dirty="0">
                <a:solidFill>
                  <a:srgbClr val="000000"/>
                </a:solidFill>
                <a:latin typeface="Poppins" panose="00000500000000000000" pitchFamily="2" charset="0"/>
                <a:cs typeface="Poppins" panose="00000500000000000000" pitchFamily="2" charset="0"/>
              </a:rPr>
              <a:t>. São Paulo: Pearson, 2013. </a:t>
            </a:r>
          </a:p>
          <a:p>
            <a:pPr>
              <a:spcBef>
                <a:spcPts val="0"/>
              </a:spcBef>
              <a:spcAft>
                <a:spcPts val="1200"/>
              </a:spcAft>
            </a:pPr>
            <a:r>
              <a:rPr lang="pt-BR" sz="1800" dirty="0">
                <a:solidFill>
                  <a:srgbClr val="000000"/>
                </a:solidFill>
                <a:latin typeface="Poppins" panose="00000500000000000000" pitchFamily="2" charset="0"/>
                <a:cs typeface="Poppins" panose="00000500000000000000" pitchFamily="2" charset="0"/>
              </a:rPr>
              <a:t>Identidade visual: Imagens © Getty Images</a:t>
            </a:r>
          </a:p>
        </p:txBody>
      </p:sp>
    </p:spTree>
    <p:extLst>
      <p:ext uri="{BB962C8B-B14F-4D97-AF65-F5344CB8AC3E}">
        <p14:creationId xmlns:p14="http://schemas.microsoft.com/office/powerpoint/2010/main" val="7139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3030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FDD8BD-40F0-0A9F-7308-5D76EE55EE58}"/>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4A80ABA2-A895-40A8-F0D6-3EB030D928B0}"/>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E5A13814-CAF0-97B5-2F76-67D5A5FEFE1C}"/>
              </a:ext>
            </a:extLst>
          </p:cNvPr>
          <p:cNvCxnSpPr>
            <a:cxnSpLocks/>
          </p:cNvCxnSpPr>
          <p:nvPr/>
        </p:nvCxnSpPr>
        <p:spPr>
          <a:xfrm flipV="1">
            <a:off x="690880" y="1036320"/>
            <a:ext cx="0" cy="5036088"/>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87803BBB-6DE2-9C27-B52F-14D8EC54B9EC}"/>
              </a:ext>
            </a:extLst>
          </p:cNvPr>
          <p:cNvSpPr txBox="1"/>
          <p:nvPr/>
        </p:nvSpPr>
        <p:spPr>
          <a:xfrm>
            <a:off x="985519" y="1431050"/>
            <a:ext cx="11047595" cy="4486356"/>
          </a:xfrm>
          <a:prstGeom prst="rect">
            <a:avLst/>
          </a:prstGeom>
          <a:noFill/>
          <a:ln>
            <a:noFill/>
          </a:ln>
        </p:spPr>
        <p:txBody>
          <a:bodyPr wrap="square" lIns="60960" tIns="30480" rIns="60960" bIns="30480" anchor="t">
            <a:spAutoFit/>
          </a:bodyPr>
          <a:lstStyle/>
          <a:p>
            <a:pPr defTabSz="609630">
              <a:buClrTx/>
              <a:defRPr/>
            </a:pPr>
            <a:r>
              <a:rPr lang="pt-BR" sz="1000" b="1" dirty="0">
                <a:latin typeface="Poppins"/>
                <a:cs typeface="Poppins"/>
              </a:rPr>
              <a:t>Orientações: </a:t>
            </a:r>
            <a:r>
              <a:rPr lang="pt-BR" sz="1000" dirty="0">
                <a:latin typeface="Poppins" panose="00000500000000000000" pitchFamily="2" charset="0"/>
                <a:cs typeface="Poppins" panose="00000500000000000000" pitchFamily="2" charset="0"/>
              </a:rPr>
              <a:t>a seção </a:t>
            </a:r>
            <a:r>
              <a:rPr lang="pt-BR" sz="1000" b="1" dirty="0">
                <a:latin typeface="Poppins" panose="00000500000000000000" pitchFamily="2" charset="0"/>
                <a:cs typeface="Poppins" panose="00000500000000000000" pitchFamily="2" charset="0"/>
              </a:rPr>
              <a:t>Relembre</a:t>
            </a:r>
            <a:r>
              <a:rPr lang="pt-BR" sz="1000" dirty="0">
                <a:latin typeface="Poppins" panose="00000500000000000000" pitchFamily="2" charset="0"/>
                <a:cs typeface="Poppins" panose="00000500000000000000" pitchFamily="2" charset="0"/>
              </a:rPr>
              <a:t> tem o objetivo de retomar conhecimentos já adquiridos por meio de atividades simples/exercícios que abordem conceitos previamente trabalhados com os estudantes. </a:t>
            </a: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8 minutos.</a:t>
            </a:r>
          </a:p>
          <a:p>
            <a:pPr>
              <a:lnSpc>
                <a:spcPct val="107000"/>
              </a:lnSpc>
              <a:spcAft>
                <a:spcPts val="800"/>
              </a:spcAft>
            </a:pPr>
            <a:endParaRPr lang="pt-BR" sz="1000" b="1" dirty="0">
              <a:latin typeface="Poppins" panose="00000500000000000000" pitchFamily="2" charset="0"/>
              <a:cs typeface="Poppins" panose="00000500000000000000" pitchFamily="2" charset="0"/>
            </a:endParaRPr>
          </a:p>
          <a:p>
            <a:pPr>
              <a:lnSpc>
                <a:spcPct val="107000"/>
              </a:lnSpc>
              <a:spcAft>
                <a:spcPts val="800"/>
              </a:spcAft>
            </a:pPr>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p>
          <a:p>
            <a:pPr marL="171450" indent="-171450">
              <a:lnSpc>
                <a:spcPct val="107000"/>
              </a:lnSpc>
              <a:spcAft>
                <a:spcPts val="800"/>
              </a:spcAft>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assegure que todos os estudantes tenham a oportunidade de participar. Se necessário, faça rodízio ou direcione perguntas a estudantes que estejam menos ativos para garantir a participação de todos;</a:t>
            </a:r>
          </a:p>
          <a:p>
            <a:pPr marL="171450" indent="-171450">
              <a:lnSpc>
                <a:spcPct val="107000"/>
              </a:lnSpc>
              <a:spcAft>
                <a:spcPts val="800"/>
              </a:spcAft>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mantenha um ambiente de respeito, em que todas as opiniões são valorizadas, garantindo que todos se sintam confortáveis para expressar seus pontos de vista;</a:t>
            </a:r>
          </a:p>
          <a:p>
            <a:pPr marL="171450" indent="-171450">
              <a:lnSpc>
                <a:spcPct val="107000"/>
              </a:lnSpc>
              <a:spcAft>
                <a:spcPts val="800"/>
              </a:spcAft>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conclua a atividade resumindo as principais ideias discutidas e vinculando-as aos objetivos de aprendizagem da aula. </a:t>
            </a:r>
          </a:p>
          <a:p>
            <a:pPr fontAlgn="base"/>
            <a:br>
              <a:rPr lang="pt-BR" sz="1000" kern="100"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Condução da dinâmica: </a:t>
            </a:r>
            <a:r>
              <a:rPr lang="pt-BR" sz="1000" kern="100" dirty="0">
                <a:latin typeface="Poppins" panose="00000500000000000000" pitchFamily="2" charset="0"/>
                <a:ea typeface="Aptos" panose="020B0004020202020204" pitchFamily="34" charset="0"/>
                <a:cs typeface="Poppins" panose="00000500000000000000" pitchFamily="2" charset="0"/>
              </a:rPr>
              <a:t>faça as perguntas do slide para os alunos e os incentive a participar e relembrar os conceitos apresentados nas aulas anteriores. É importante reforçar bem os conceitos aprendidos, pois os alunos vão precisar estar com eles bem fixados para as demais aulas. </a:t>
            </a:r>
          </a:p>
          <a:p>
            <a:endParaRPr lang="pt-BR" sz="1000" b="1" dirty="0">
              <a:latin typeface="Poppins" panose="00000500000000000000" pitchFamily="2" charset="0"/>
              <a:cs typeface="Poppins" panose="00000500000000000000" pitchFamily="2" charset="0"/>
            </a:endParaRPr>
          </a:p>
          <a:p>
            <a:br>
              <a:rPr lang="pt-BR" sz="1000" b="1"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Expectativa de respostas:</a:t>
            </a:r>
            <a:endParaRPr lang="pt-BR" sz="1000" dirty="0">
              <a:latin typeface="Poppins" panose="00000500000000000000" pitchFamily="2" charset="0"/>
              <a:cs typeface="Poppins" panose="00000500000000000000" pitchFamily="2" charset="0"/>
            </a:endParaRPr>
          </a:p>
          <a:p>
            <a:pPr lvl="1"/>
            <a:r>
              <a:rPr lang="pt-BR" sz="1000" u="sng" kern="100" dirty="0">
                <a:latin typeface="Poppins" panose="00000500000000000000" pitchFamily="2" charset="0"/>
                <a:cs typeface="Poppins" panose="00000500000000000000" pitchFamily="2" charset="0"/>
              </a:rPr>
              <a:t>Qual é a função principal do sistema operacional em um computador multitarefa?</a:t>
            </a:r>
          </a:p>
          <a:p>
            <a:pPr lvl="1"/>
            <a:r>
              <a:rPr lang="pt-BR" sz="1000" dirty="0">
                <a:latin typeface="Poppins" panose="00000500000000000000" pitchFamily="2" charset="0"/>
                <a:cs typeface="Poppins" panose="00000500000000000000" pitchFamily="2" charset="0"/>
              </a:rPr>
              <a:t>Organizar e distribuir os recursos do computador entre várias atividades, permitindo que diferentes programas funcionem ao mesmo tempo sem travar.</a:t>
            </a:r>
          </a:p>
          <a:p>
            <a:pPr lvl="1"/>
            <a:endParaRPr lang="pt-BR" sz="1000" kern="100" dirty="0">
              <a:latin typeface="Poppins" panose="00000500000000000000" pitchFamily="2" charset="0"/>
              <a:cs typeface="Poppins" panose="00000500000000000000" pitchFamily="2" charset="0"/>
            </a:endParaRPr>
          </a:p>
          <a:p>
            <a:pPr lvl="1"/>
            <a:r>
              <a:rPr lang="pt-BR" sz="1000" u="sng" dirty="0">
                <a:latin typeface="Poppins" panose="00000500000000000000" pitchFamily="2" charset="0"/>
                <a:cs typeface="Poppins" panose="00000500000000000000" pitchFamily="2" charset="0"/>
              </a:rPr>
              <a:t>Como o gerenciamento de janelas ajuda o usuário no dia a dia</a:t>
            </a:r>
            <a:r>
              <a:rPr lang="pt-BR" sz="1000" dirty="0">
                <a:latin typeface="Poppins" panose="00000500000000000000" pitchFamily="2" charset="0"/>
                <a:cs typeface="Poppins" panose="00000500000000000000" pitchFamily="2" charset="0"/>
              </a:rPr>
              <a:t>?</a:t>
            </a:r>
          </a:p>
          <a:p>
            <a:pPr lvl="1"/>
            <a:r>
              <a:rPr lang="pt-BR" sz="1000" dirty="0">
                <a:latin typeface="Poppins" panose="00000500000000000000" pitchFamily="2" charset="0"/>
                <a:cs typeface="Poppins" panose="00000500000000000000" pitchFamily="2" charset="0"/>
              </a:rPr>
              <a:t>Permite visualizar e alternar entre programas abertos, facilitando o uso simultâneo de várias tarefas e tornando o trabalho mais rápido e organizado.</a:t>
            </a:r>
          </a:p>
          <a:p>
            <a:pPr lvl="1"/>
            <a:endParaRPr lang="pt-BR" sz="1000" kern="100" dirty="0">
              <a:latin typeface="Poppins" panose="00000500000000000000" pitchFamily="2" charset="0"/>
              <a:cs typeface="Poppins" panose="00000500000000000000" pitchFamily="2" charset="0"/>
            </a:endParaRPr>
          </a:p>
          <a:p>
            <a:pPr lvl="1"/>
            <a:r>
              <a:rPr lang="pt-BR" sz="1000" u="sng" dirty="0">
                <a:latin typeface="Poppins" panose="00000500000000000000" pitchFamily="2" charset="0"/>
                <a:cs typeface="Poppins" panose="00000500000000000000" pitchFamily="2" charset="0"/>
              </a:rPr>
              <a:t>Por que é importante usar o tempo e os recursos do computador com eficiência</a:t>
            </a:r>
            <a:r>
              <a:rPr lang="pt-BR" sz="1000" dirty="0">
                <a:latin typeface="Poppins" panose="00000500000000000000" pitchFamily="2" charset="0"/>
                <a:cs typeface="Poppins" panose="00000500000000000000" pitchFamily="2" charset="0"/>
              </a:rPr>
              <a:t>?</a:t>
            </a:r>
          </a:p>
          <a:p>
            <a:pPr lvl="1"/>
            <a:r>
              <a:rPr lang="pt-BR" sz="1000" dirty="0">
                <a:latin typeface="Poppins" panose="00000500000000000000" pitchFamily="2" charset="0"/>
                <a:cs typeface="Poppins" panose="00000500000000000000" pitchFamily="2" charset="0"/>
              </a:rPr>
              <a:t>Porque abrir muitos programas e abas pode deixar o sistema e o usuário lentos; usar os recursos de forma inteligente melhora o desempenho e ajuda a manter o foco.</a:t>
            </a:r>
          </a:p>
        </p:txBody>
      </p:sp>
      <p:sp>
        <p:nvSpPr>
          <p:cNvPr id="6" name="CaixaDeTexto 5">
            <a:extLst>
              <a:ext uri="{FF2B5EF4-FFF2-40B4-BE49-F238E27FC236}">
                <a16:creationId xmlns:a16="http://schemas.microsoft.com/office/drawing/2014/main" id="{53058510-524B-43D0-0739-A55FD0C88E4A}"/>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6</a:t>
            </a:r>
          </a:p>
        </p:txBody>
      </p:sp>
      <p:sp>
        <p:nvSpPr>
          <p:cNvPr id="9" name="Oval 8">
            <a:extLst>
              <a:ext uri="{FF2B5EF4-FFF2-40B4-BE49-F238E27FC236}">
                <a16:creationId xmlns:a16="http://schemas.microsoft.com/office/drawing/2014/main" id="{76244118-078C-6809-5C99-E4FA1D601B24}"/>
              </a:ext>
            </a:extLst>
          </p:cNvPr>
          <p:cNvSpPr/>
          <p:nvPr/>
        </p:nvSpPr>
        <p:spPr>
          <a:xfrm>
            <a:off x="507255" y="436588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AB78E327-2E2C-7702-052A-CB111A601708}"/>
              </a:ext>
            </a:extLst>
          </p:cNvPr>
          <p:cNvSpPr/>
          <p:nvPr/>
        </p:nvSpPr>
        <p:spPr>
          <a:xfrm>
            <a:off x="507255" y="378782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A44E57F8-5BDF-ED38-E18D-14B24CF80A32}"/>
              </a:ext>
            </a:extLst>
          </p:cNvPr>
          <p:cNvSpPr/>
          <p:nvPr/>
        </p:nvSpPr>
        <p:spPr>
          <a:xfrm>
            <a:off x="507255" y="2404156"/>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ABC96CA7-9755-1ED3-D176-F9FDB2FC991B}"/>
              </a:ext>
            </a:extLst>
          </p:cNvPr>
          <p:cNvSpPr/>
          <p:nvPr/>
        </p:nvSpPr>
        <p:spPr>
          <a:xfrm>
            <a:off x="507255" y="195485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89085C50-7DD2-C86A-E482-BFC6AC069819}"/>
              </a:ext>
            </a:extLst>
          </p:cNvPr>
          <p:cNvSpPr/>
          <p:nvPr/>
        </p:nvSpPr>
        <p:spPr>
          <a:xfrm>
            <a:off x="507466" y="131860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8DEF4814-5D44-14B1-4387-D975020BB81D}"/>
              </a:ext>
            </a:extLst>
          </p:cNvPr>
          <p:cNvSpPr/>
          <p:nvPr/>
        </p:nvSpPr>
        <p:spPr>
          <a:xfrm>
            <a:off x="579522" y="141716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36D8BCB1-3208-A8CA-B3FE-A8D7C5671DDC}"/>
              </a:ext>
            </a:extLst>
          </p:cNvPr>
          <p:cNvSpPr>
            <a:spLocks/>
          </p:cNvSpPr>
          <p:nvPr/>
        </p:nvSpPr>
        <p:spPr>
          <a:xfrm>
            <a:off x="576266" y="2482586"/>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E1C2E27B-F84D-6C15-1833-B5ABFCE5BF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5320" y="3858280"/>
            <a:ext cx="235296" cy="240643"/>
          </a:xfrm>
          <a:prstGeom prst="rect">
            <a:avLst/>
          </a:prstGeom>
        </p:spPr>
      </p:pic>
      <p:pic>
        <p:nvPicPr>
          <p:cNvPr id="18" name="Gráfico 17">
            <a:extLst>
              <a:ext uri="{FF2B5EF4-FFF2-40B4-BE49-F238E27FC236}">
                <a16:creationId xmlns:a16="http://schemas.microsoft.com/office/drawing/2014/main" id="{2F9F523D-4C6B-FFAA-3B15-B7CA971D52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1196" y="4420010"/>
            <a:ext cx="208026" cy="266700"/>
          </a:xfrm>
          <a:prstGeom prst="rect">
            <a:avLst/>
          </a:prstGeom>
        </p:spPr>
      </p:pic>
      <p:pic>
        <p:nvPicPr>
          <p:cNvPr id="2" name="Imagem 1">
            <a:extLst>
              <a:ext uri="{FF2B5EF4-FFF2-40B4-BE49-F238E27FC236}">
                <a16:creationId xmlns:a16="http://schemas.microsoft.com/office/drawing/2014/main" id="{A8A76428-421D-5ADB-645E-C4EB39AE8F0B}"/>
              </a:ext>
            </a:extLst>
          </p:cNvPr>
          <p:cNvPicPr>
            <a:picLocks noChangeAspect="1"/>
          </p:cNvPicPr>
          <p:nvPr/>
        </p:nvPicPr>
        <p:blipFill>
          <a:blip r:embed="rId7"/>
          <a:srcRect/>
          <a:stretch/>
        </p:blipFill>
        <p:spPr>
          <a:xfrm>
            <a:off x="625486" y="2048565"/>
            <a:ext cx="154445" cy="193056"/>
          </a:xfrm>
          <a:prstGeom prst="rect">
            <a:avLst/>
          </a:prstGeom>
        </p:spPr>
      </p:pic>
    </p:spTree>
    <p:extLst>
      <p:ext uri="{BB962C8B-B14F-4D97-AF65-F5344CB8AC3E}">
        <p14:creationId xmlns:p14="http://schemas.microsoft.com/office/powerpoint/2010/main" val="1388341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A75A46-D287-6BAC-0F9D-38DCD9F92A88}"/>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25F73C04-5E05-079A-0E02-FA0297107FA6}"/>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249E363C-1D88-4754-6019-D2B9D20DE1BA}"/>
              </a:ext>
            </a:extLst>
          </p:cNvPr>
          <p:cNvCxnSpPr>
            <a:cxnSpLocks/>
          </p:cNvCxnSpPr>
          <p:nvPr/>
        </p:nvCxnSpPr>
        <p:spPr>
          <a:xfrm flipV="1">
            <a:off x="690880" y="1036320"/>
            <a:ext cx="0" cy="4031791"/>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4E88E31B-F968-6662-D1A0-5843A3E24A36}"/>
              </a:ext>
            </a:extLst>
          </p:cNvPr>
          <p:cNvSpPr txBox="1"/>
          <p:nvPr/>
        </p:nvSpPr>
        <p:spPr>
          <a:xfrm>
            <a:off x="985519" y="1431050"/>
            <a:ext cx="10823859" cy="3293209"/>
          </a:xfrm>
          <a:prstGeom prst="rect">
            <a:avLst/>
          </a:prstGeom>
          <a:noFill/>
          <a:ln>
            <a:noFill/>
          </a:ln>
        </p:spPr>
        <p:txBody>
          <a:bodyPr wrap="square" lIns="60960" tIns="30480" rIns="60960" bIns="30480" anchor="t">
            <a:spAutoFit/>
          </a:bodyPr>
          <a:lstStyle/>
          <a:p>
            <a:pPr defTabSz="609630">
              <a:buClrTx/>
              <a:defRPr/>
            </a:pPr>
            <a:r>
              <a:rPr lang="pt-BR" sz="1000" b="1" dirty="0">
                <a:latin typeface="Poppins"/>
                <a:cs typeface="Poppins"/>
              </a:rPr>
              <a:t>Orientações: </a:t>
            </a:r>
          </a:p>
          <a:p>
            <a:pPr defTabSz="609630">
              <a:buClrTx/>
              <a:defRPr/>
            </a:pPr>
            <a:endParaRPr lang="pt-BR" sz="1000" b="1" dirty="0">
              <a:latin typeface="Poppins"/>
              <a:cs typeface="Poppins"/>
            </a:endParaRP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a seção </a:t>
            </a:r>
            <a:r>
              <a:rPr lang="pt-BR" sz="1000" b="1" dirty="0">
                <a:latin typeface="Poppins" panose="00000500000000000000" pitchFamily="2" charset="0"/>
                <a:cs typeface="Poppins" panose="00000500000000000000" pitchFamily="2" charset="0"/>
              </a:rPr>
              <a:t>Construindo o conceito </a:t>
            </a:r>
            <a:r>
              <a:rPr lang="pt-BR" sz="1000" dirty="0">
                <a:latin typeface="Poppins" panose="00000500000000000000" pitchFamily="2" charset="0"/>
                <a:cs typeface="Poppins" panose="00000500000000000000" pitchFamily="2" charset="0"/>
              </a:rPr>
              <a:t>tem o objetivo de ajudar o estudante a sistematizar novos conceitos teóricos relacionados com a vivência profissional</a:t>
            </a:r>
            <a:r>
              <a:rPr lang="pt-BR" sz="1000" kern="100" dirty="0">
                <a:latin typeface="Poppins" panose="00000500000000000000" pitchFamily="2" charset="0"/>
                <a:ea typeface="Aptos" panose="020B0004020202020204" pitchFamily="34" charset="0"/>
                <a:cs typeface="Poppins" panose="00000500000000000000" pitchFamily="2" charset="0"/>
              </a:rPr>
              <a:t>;</a:t>
            </a:r>
            <a:endParaRPr lang="pt-BR" sz="1000" dirty="0">
              <a:latin typeface="Poppins" panose="00000500000000000000" pitchFamily="2" charset="0"/>
              <a:cs typeface="Poppins" panose="00000500000000000000" pitchFamily="2" charset="0"/>
            </a:endParaRP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durante a explicação, lembre-se de que os alunos estão tendo o primeiro contato com o tema. O objetivo da aula é compreender a importância do backup, identificar os tipos existentes, conhecer ferramentas de recuperação e aplicar boas práticas de armazenamento seguro para que que os dados fiquem protegidos e acessíveis;</a:t>
            </a: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explique para os alunos que quando um arquivo é apagado (de propósito ou por acidente), ele nem sempre some de imediato do computador ou celular. Muitas vezes, fica “escondido” no disco até ser substituído por outro. Analogia para o aluno: é como uma folha rasgada do caderno que você joga na mochila. Ela não desaparece de imediato, só fica perdida até ser jogada fora de verdade ou substituída;</a:t>
            </a: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reforce a diferença entre backup incremental e diferencial;</a:t>
            </a: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mostre exemplos de *nomeação por data*; * regra 3-2-1*;</a:t>
            </a: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se possível, demonstre o botão *Restaurar versões* no Drive/OneDrive;</a:t>
            </a: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conclua destacando que o backup é uma prevenção, já a recuperação é uma solução de emergência. Por isso, devemos aplicar boas práticas de armazenamento seguro para que que os dados fiquem protegidos e acessíveis.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20 minutos.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br>
              <a:rPr lang="pt-BR" sz="1000" b="1"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Gestão de sala de aula: </a:t>
            </a:r>
            <a:r>
              <a:rPr lang="pt-BR" sz="1000" dirty="0">
                <a:latin typeface="Poppins" panose="00000500000000000000" pitchFamily="2" charset="0"/>
                <a:cs typeface="Poppins" panose="00000500000000000000" pitchFamily="2" charset="0"/>
              </a:rPr>
              <a:t>alterne exposição com perguntas rápidas para manter a turma engajada. Use exemplos próximos do dia a dia do aluno, como salvar trabalhos escolares na nuvem, fotos no celular com backup automático no Google Fotos etc.</a:t>
            </a:r>
          </a:p>
          <a:p>
            <a:pPr defTabSz="609630">
              <a:buClrTx/>
              <a:defRPr/>
            </a:pPr>
            <a:endParaRPr lang="pt-BR" sz="1000" dirty="0">
              <a:latin typeface="Poppins" panose="00000500000000000000" pitchFamily="2" charset="0"/>
              <a:cs typeface="Poppins" panose="00000500000000000000" pitchFamily="2" charset="0"/>
            </a:endParaRPr>
          </a:p>
        </p:txBody>
      </p:sp>
      <p:sp>
        <p:nvSpPr>
          <p:cNvPr id="6" name="CaixaDeTexto 5">
            <a:extLst>
              <a:ext uri="{FF2B5EF4-FFF2-40B4-BE49-F238E27FC236}">
                <a16:creationId xmlns:a16="http://schemas.microsoft.com/office/drawing/2014/main" id="{E13388AC-87D5-440E-06E7-7F7E2DF48606}"/>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Slides 7 a 12</a:t>
            </a:r>
          </a:p>
        </p:txBody>
      </p:sp>
      <p:sp>
        <p:nvSpPr>
          <p:cNvPr id="11" name="Oval 10">
            <a:extLst>
              <a:ext uri="{FF2B5EF4-FFF2-40B4-BE49-F238E27FC236}">
                <a16:creationId xmlns:a16="http://schemas.microsoft.com/office/drawing/2014/main" id="{A98A9B23-5FB5-0C21-04ED-934472F56B68}"/>
              </a:ext>
            </a:extLst>
          </p:cNvPr>
          <p:cNvSpPr/>
          <p:nvPr/>
        </p:nvSpPr>
        <p:spPr>
          <a:xfrm>
            <a:off x="497527" y="412791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EC9E0792-F8DF-D97E-7E17-1738F3CFD94B}"/>
              </a:ext>
            </a:extLst>
          </p:cNvPr>
          <p:cNvSpPr/>
          <p:nvPr/>
        </p:nvSpPr>
        <p:spPr>
          <a:xfrm>
            <a:off x="497527" y="366194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CDA9B686-432B-EC35-AC0C-55BEE625C32D}"/>
              </a:ext>
            </a:extLst>
          </p:cNvPr>
          <p:cNvSpPr/>
          <p:nvPr/>
        </p:nvSpPr>
        <p:spPr>
          <a:xfrm>
            <a:off x="507466" y="141799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95667F8A-C4AF-7755-41D8-F1ACB5E2E495}"/>
              </a:ext>
            </a:extLst>
          </p:cNvPr>
          <p:cNvSpPr/>
          <p:nvPr/>
        </p:nvSpPr>
        <p:spPr>
          <a:xfrm>
            <a:off x="579522" y="151655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D4D3EC95-E2B4-835D-39D1-59E0F7BCFBDC}"/>
              </a:ext>
            </a:extLst>
          </p:cNvPr>
          <p:cNvSpPr>
            <a:spLocks/>
          </p:cNvSpPr>
          <p:nvPr/>
        </p:nvSpPr>
        <p:spPr>
          <a:xfrm>
            <a:off x="566538" y="4206347"/>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2" name="Imagem 1">
            <a:extLst>
              <a:ext uri="{FF2B5EF4-FFF2-40B4-BE49-F238E27FC236}">
                <a16:creationId xmlns:a16="http://schemas.microsoft.com/office/drawing/2014/main" id="{C8EA60EC-C1C9-CF7B-DC76-E517A1066A4F}"/>
              </a:ext>
            </a:extLst>
          </p:cNvPr>
          <p:cNvPicPr>
            <a:picLocks noChangeAspect="1"/>
          </p:cNvPicPr>
          <p:nvPr/>
        </p:nvPicPr>
        <p:blipFill>
          <a:blip r:embed="rId3"/>
          <a:srcRect/>
          <a:stretch/>
        </p:blipFill>
        <p:spPr>
          <a:xfrm>
            <a:off x="615758" y="3755650"/>
            <a:ext cx="154445" cy="193056"/>
          </a:xfrm>
          <a:prstGeom prst="rect">
            <a:avLst/>
          </a:prstGeom>
        </p:spPr>
      </p:pic>
    </p:spTree>
    <p:extLst>
      <p:ext uri="{BB962C8B-B14F-4D97-AF65-F5344CB8AC3E}">
        <p14:creationId xmlns:p14="http://schemas.microsoft.com/office/powerpoint/2010/main" val="2015967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1301">
          <a:extLst>
            <a:ext uri="{FF2B5EF4-FFF2-40B4-BE49-F238E27FC236}">
              <a16:creationId xmlns:a16="http://schemas.microsoft.com/office/drawing/2014/main" id="{DE9D56DB-A776-B7EB-1AAF-F6976CB9AD07}"/>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A15FCA44-BF89-FAA9-25DA-A0B974F05209}"/>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1317" name="Google Shape;1317;p28">
            <a:extLst>
              <a:ext uri="{FF2B5EF4-FFF2-40B4-BE49-F238E27FC236}">
                <a16:creationId xmlns:a16="http://schemas.microsoft.com/office/drawing/2014/main" id="{750C3E76-C042-FF41-1E08-03C49F2B43F2}"/>
              </a:ext>
            </a:extLst>
          </p:cNvPr>
          <p:cNvCxnSpPr>
            <a:cxnSpLocks/>
          </p:cNvCxnSpPr>
          <p:nvPr/>
        </p:nvCxnSpPr>
        <p:spPr>
          <a:xfrm flipV="1">
            <a:off x="693573" y="1075492"/>
            <a:ext cx="0" cy="1988721"/>
          </a:xfrm>
          <a:prstGeom prst="straightConnector1">
            <a:avLst/>
          </a:prstGeom>
          <a:noFill/>
          <a:ln w="19050" cap="flat" cmpd="sng">
            <a:solidFill>
              <a:schemeClr val="dk1"/>
            </a:solidFill>
            <a:prstDash val="solid"/>
            <a:round/>
            <a:headEnd type="oval" w="med" len="med"/>
            <a:tailEnd type="oval" w="med" len="med"/>
          </a:ln>
        </p:spPr>
      </p:cxnSp>
      <p:sp>
        <p:nvSpPr>
          <p:cNvPr id="1316" name="Google Shape;1316;p28">
            <a:extLst>
              <a:ext uri="{FF2B5EF4-FFF2-40B4-BE49-F238E27FC236}">
                <a16:creationId xmlns:a16="http://schemas.microsoft.com/office/drawing/2014/main" id="{625231B6-F9BB-04C4-583D-530A5627B146}"/>
              </a:ext>
            </a:extLst>
          </p:cNvPr>
          <p:cNvSpPr txBox="1"/>
          <p:nvPr/>
        </p:nvSpPr>
        <p:spPr>
          <a:xfrm>
            <a:off x="985519" y="1460659"/>
            <a:ext cx="11001067" cy="1292651"/>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Orientações:</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professor, a seção </a:t>
            </a: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Pause e responda </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traz uma pausa na exposição com o objetivo de fixar os conceitos apresentados e construídos e mobilizar os estudantes. </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Tempo previsto: </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2 minutos.</a:t>
            </a:r>
            <a:endParaRPr sz="1000" dirty="0">
              <a:latin typeface="Poppins" panose="00000500000000000000" pitchFamily="2" charset="0"/>
              <a:cs typeface="Poppins" panose="00000500000000000000" pitchFamily="2" charset="0"/>
            </a:endParaRPr>
          </a:p>
          <a:p>
            <a:pPr marL="0" marR="0" lvl="0" indent="0" algn="l" rtl="0">
              <a:lnSpc>
                <a:spcPct val="100000"/>
              </a:lnSpc>
              <a:spcBef>
                <a:spcPts val="0"/>
              </a:spcBef>
              <a:spcAft>
                <a:spcPts val="0"/>
              </a:spcAft>
              <a:buNone/>
            </a:pPr>
            <a:b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b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lvl="0"/>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Resposta correta: </a:t>
            </a:r>
            <a:r>
              <a:rPr lang="pt-BR" sz="1000" i="0" u="none" strike="noStrike" cap="none" dirty="0">
                <a:solidFill>
                  <a:srgbClr val="000000"/>
                </a:solidFill>
                <a:latin typeface="Poppins" panose="00000500000000000000" pitchFamily="2" charset="0"/>
                <a:ea typeface="Poppins"/>
                <a:cs typeface="Poppins" panose="00000500000000000000" pitchFamily="2" charset="0"/>
                <a:sym typeface="Poppins"/>
              </a:rPr>
              <a:t>I</a:t>
            </a:r>
            <a:r>
              <a:rPr lang="pt-BR" sz="1000" dirty="0">
                <a:latin typeface="Poppins" panose="00000500000000000000" pitchFamily="2" charset="0"/>
                <a:cs typeface="Poppins" panose="00000500000000000000" pitchFamily="2" charset="0"/>
              </a:rPr>
              <a:t>ncremental</a:t>
            </a:r>
          </a:p>
          <a:p>
            <a:pPr lvl="0"/>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Feedback da atividade</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a:t>
            </a:r>
            <a:r>
              <a:rPr lang="pt-BR" sz="1000" dirty="0">
                <a:latin typeface="Poppins" panose="00000500000000000000" pitchFamily="2" charset="0"/>
                <a:ea typeface="Poppins"/>
                <a:cs typeface="Poppins" panose="00000500000000000000" pitchFamily="2" charset="0"/>
                <a:sym typeface="Poppins"/>
              </a:rPr>
              <a:t>O</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a:t>
            </a:r>
            <a:r>
              <a:rPr lang="pt-BR" sz="1000" dirty="0">
                <a:latin typeface="Poppins" panose="00000500000000000000" pitchFamily="2" charset="0"/>
                <a:cs typeface="Poppins" panose="00000500000000000000" pitchFamily="2" charset="0"/>
              </a:rPr>
              <a:t>backup incremental copia apenas os arquivos modificados desde o último backup. É mais rápido e ocupa menos espaço.</a:t>
            </a:r>
          </a:p>
        </p:txBody>
      </p:sp>
      <p:sp>
        <p:nvSpPr>
          <p:cNvPr id="1318" name="Google Shape;1318;p28">
            <a:extLst>
              <a:ext uri="{FF2B5EF4-FFF2-40B4-BE49-F238E27FC236}">
                <a16:creationId xmlns:a16="http://schemas.microsoft.com/office/drawing/2014/main" id="{0B4D0043-B28F-FEC5-0EAF-B9F9FF8F5540}"/>
              </a:ext>
            </a:extLst>
          </p:cNvPr>
          <p:cNvSpPr/>
          <p:nvPr/>
        </p:nvSpPr>
        <p:spPr>
          <a:xfrm>
            <a:off x="497841" y="1402076"/>
            <a:ext cx="386079"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000000"/>
              </a:solidFill>
              <a:latin typeface="Arial"/>
              <a:ea typeface="Arial"/>
              <a:cs typeface="Arial"/>
              <a:sym typeface="Arial"/>
            </a:endParaRPr>
          </a:p>
        </p:txBody>
      </p:sp>
      <p:sp>
        <p:nvSpPr>
          <p:cNvPr id="1319" name="Google Shape;1319;p28">
            <a:extLst>
              <a:ext uri="{FF2B5EF4-FFF2-40B4-BE49-F238E27FC236}">
                <a16:creationId xmlns:a16="http://schemas.microsoft.com/office/drawing/2014/main" id="{DF347649-EE5F-018D-7E82-DB982329BEEB}"/>
              </a:ext>
            </a:extLst>
          </p:cNvPr>
          <p:cNvSpPr/>
          <p:nvPr/>
        </p:nvSpPr>
        <p:spPr>
          <a:xfrm>
            <a:off x="569897" y="1487932"/>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Calibri"/>
              <a:ea typeface="Calibri"/>
              <a:cs typeface="Calibri"/>
              <a:sym typeface="Calibri"/>
            </a:endParaRPr>
          </a:p>
        </p:txBody>
      </p:sp>
      <p:sp>
        <p:nvSpPr>
          <p:cNvPr id="1320" name="Google Shape;1320;p28">
            <a:extLst>
              <a:ext uri="{FF2B5EF4-FFF2-40B4-BE49-F238E27FC236}">
                <a16:creationId xmlns:a16="http://schemas.microsoft.com/office/drawing/2014/main" id="{8B40732B-C3B5-59D0-1E0D-E46A8C500C46}"/>
              </a:ext>
            </a:extLst>
          </p:cNvPr>
          <p:cNvSpPr/>
          <p:nvPr/>
        </p:nvSpPr>
        <p:spPr>
          <a:xfrm>
            <a:off x="500533" y="2279596"/>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dk1"/>
              </a:solidFill>
              <a:latin typeface="Arial"/>
              <a:ea typeface="Arial"/>
              <a:cs typeface="Arial"/>
              <a:sym typeface="Arial"/>
            </a:endParaRPr>
          </a:p>
        </p:txBody>
      </p:sp>
      <p:pic>
        <p:nvPicPr>
          <p:cNvPr id="1321" name="Google Shape;1321;p28">
            <a:extLst>
              <a:ext uri="{FF2B5EF4-FFF2-40B4-BE49-F238E27FC236}">
                <a16:creationId xmlns:a16="http://schemas.microsoft.com/office/drawing/2014/main" id="{F07036A5-8027-37EE-E5A7-C65D8EC13001}"/>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584474" y="2333716"/>
            <a:ext cx="208027" cy="266700"/>
          </a:xfrm>
          <a:prstGeom prst="rect">
            <a:avLst/>
          </a:prstGeom>
          <a:noFill/>
          <a:ln>
            <a:noFill/>
          </a:ln>
        </p:spPr>
      </p:pic>
      <p:sp>
        <p:nvSpPr>
          <p:cNvPr id="1322" name="Google Shape;1322;p28">
            <a:extLst>
              <a:ext uri="{FF2B5EF4-FFF2-40B4-BE49-F238E27FC236}">
                <a16:creationId xmlns:a16="http://schemas.microsoft.com/office/drawing/2014/main" id="{47733BDC-D5C3-7937-455D-9FF026F2A75F}"/>
              </a:ext>
            </a:extLst>
          </p:cNvPr>
          <p:cNvSpPr/>
          <p:nvPr/>
        </p:nvSpPr>
        <p:spPr>
          <a:xfrm>
            <a:off x="493035" y="1796912"/>
            <a:ext cx="386079"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000000"/>
              </a:solidFill>
              <a:latin typeface="Arial"/>
              <a:ea typeface="Arial"/>
              <a:cs typeface="Arial"/>
              <a:sym typeface="Arial"/>
            </a:endParaRPr>
          </a:p>
        </p:txBody>
      </p:sp>
      <p:pic>
        <p:nvPicPr>
          <p:cNvPr id="1323" name="Google Shape;1323;p28">
            <a:extLst>
              <a:ext uri="{FF2B5EF4-FFF2-40B4-BE49-F238E27FC236}">
                <a16:creationId xmlns:a16="http://schemas.microsoft.com/office/drawing/2014/main" id="{837EB292-C509-8F2D-4F5B-659DD9567646}"/>
              </a:ext>
            </a:extLst>
          </p:cNvPr>
          <p:cNvPicPr preferRelativeResize="0"/>
          <p:nvPr/>
        </p:nvPicPr>
        <p:blipFill rotWithShape="1">
          <a:blip r:embed="rId4">
            <a:alphaModFix/>
          </a:blip>
          <a:srcRect/>
          <a:stretch/>
        </p:blipFill>
        <p:spPr>
          <a:xfrm>
            <a:off x="610059" y="1893031"/>
            <a:ext cx="156858" cy="188229"/>
          </a:xfrm>
          <a:prstGeom prst="rect">
            <a:avLst/>
          </a:prstGeom>
          <a:noFill/>
          <a:ln>
            <a:noFill/>
          </a:ln>
        </p:spPr>
      </p:pic>
      <p:sp>
        <p:nvSpPr>
          <p:cNvPr id="3" name="CaixaDeTexto 2">
            <a:extLst>
              <a:ext uri="{FF2B5EF4-FFF2-40B4-BE49-F238E27FC236}">
                <a16:creationId xmlns:a16="http://schemas.microsoft.com/office/drawing/2014/main" id="{E665CC57-9572-2ED3-F03C-0E0DCD121AEC}"/>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Slides 13 e 14</a:t>
            </a:r>
          </a:p>
        </p:txBody>
      </p:sp>
    </p:spTree>
    <p:extLst>
      <p:ext uri="{BB962C8B-B14F-4D97-AF65-F5344CB8AC3E}">
        <p14:creationId xmlns:p14="http://schemas.microsoft.com/office/powerpoint/2010/main" val="1549945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390C31-9A2F-82CB-4E1B-3D8AA68163E5}"/>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6A1506B-EABF-03B0-5BCB-798C663DA934}"/>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4877A6D1-C208-C548-A3A2-9C08846D6526}"/>
              </a:ext>
            </a:extLst>
          </p:cNvPr>
          <p:cNvCxnSpPr>
            <a:cxnSpLocks/>
          </p:cNvCxnSpPr>
          <p:nvPr/>
        </p:nvCxnSpPr>
        <p:spPr>
          <a:xfrm flipV="1">
            <a:off x="690880" y="1036320"/>
            <a:ext cx="0" cy="5200851"/>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07297D71-71E0-692B-FA62-18E76FA083F7}"/>
              </a:ext>
            </a:extLst>
          </p:cNvPr>
          <p:cNvSpPr txBox="1"/>
          <p:nvPr/>
        </p:nvSpPr>
        <p:spPr>
          <a:xfrm>
            <a:off x="985520" y="1431050"/>
            <a:ext cx="10251440" cy="4653582"/>
          </a:xfrm>
          <a:prstGeom prst="rect">
            <a:avLst/>
          </a:prstGeom>
          <a:noFill/>
          <a:ln>
            <a:noFill/>
          </a:ln>
        </p:spPr>
        <p:txBody>
          <a:bodyPr wrap="square" lIns="60960" tIns="30480" rIns="60960" bIns="30480" anchor="t">
            <a:spAutoFit/>
          </a:bodyPr>
          <a:lstStyle/>
          <a:p>
            <a:pPr>
              <a:lnSpc>
                <a:spcPct val="107000"/>
              </a:lnSpc>
              <a:spcAft>
                <a:spcPts val="800"/>
              </a:spcAft>
            </a:pPr>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o objetivo da seção </a:t>
            </a:r>
            <a:r>
              <a:rPr lang="pt-BR" sz="1000" b="1" kern="100" dirty="0">
                <a:latin typeface="Poppins" panose="00000500000000000000" pitchFamily="2" charset="0"/>
                <a:ea typeface="Aptos" panose="020B0004020202020204" pitchFamily="34" charset="0"/>
                <a:cs typeface="Poppins" panose="00000500000000000000" pitchFamily="2" charset="0"/>
              </a:rPr>
              <a:t>Colocando em prática </a:t>
            </a:r>
            <a:r>
              <a:rPr lang="pt-BR" sz="1000" kern="100" dirty="0">
                <a:latin typeface="Poppins" panose="00000500000000000000" pitchFamily="2" charset="0"/>
                <a:ea typeface="Aptos" panose="020B0004020202020204" pitchFamily="34" charset="0"/>
                <a:cs typeface="Poppins" panose="00000500000000000000" pitchFamily="2" charset="0"/>
              </a:rPr>
              <a:t>é levar os estudantes a aplicar os conhecimentos construídos durante a aula, incentivando-os a promover autonomia, senso crítico e criatividade. </a:t>
            </a:r>
          </a:p>
          <a:p>
            <a:pPr>
              <a:buClrTx/>
              <a:buFontTx/>
            </a:pPr>
            <a:endParaRPr lang="pt-BR" sz="1000" b="1" dirty="0">
              <a:latin typeface="Poppins" panose="00000500000000000000" pitchFamily="2" charset="0"/>
              <a:cs typeface="Poppins" panose="00000500000000000000" pitchFamily="2" charset="0"/>
            </a:endParaRPr>
          </a:p>
          <a:p>
            <a:pPr fontAlgn="base"/>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17 minutos.</a:t>
            </a:r>
          </a:p>
          <a:p>
            <a:pPr marL="229870">
              <a:lnSpc>
                <a:spcPct val="107000"/>
              </a:lnSpc>
              <a:spcAft>
                <a:spcPts val="800"/>
              </a:spcAft>
            </a:pPr>
            <a:endParaRPr lang="pt-BR" sz="1000" dirty="0">
              <a:latin typeface="Poppins" panose="00000500000000000000" pitchFamily="2" charset="0"/>
              <a:cs typeface="Poppins" panose="00000500000000000000" pitchFamily="2" charset="0"/>
            </a:endParaRPr>
          </a:p>
          <a:p>
            <a:pPr>
              <a:lnSpc>
                <a:spcPct val="107000"/>
              </a:lnSpc>
              <a:spcAft>
                <a:spcPts val="800"/>
              </a:spcAft>
            </a:pPr>
            <a:r>
              <a:rPr lang="pt-BR" sz="1000" b="1" dirty="0">
                <a:latin typeface="Poppins" panose="00000500000000000000" pitchFamily="2" charset="0"/>
                <a:cs typeface="Poppins" panose="00000500000000000000" pitchFamily="2" charset="0"/>
              </a:rPr>
              <a:t>Condução da dinâmica:</a:t>
            </a:r>
            <a:r>
              <a:rPr lang="pt-BR" sz="1000" dirty="0">
                <a:latin typeface="Poppins" panose="00000500000000000000" pitchFamily="2" charset="0"/>
                <a:cs typeface="Poppins" panose="00000500000000000000" pitchFamily="2" charset="0"/>
              </a:rPr>
              <a:t> </a:t>
            </a:r>
          </a:p>
          <a:p>
            <a:pPr marL="171450" indent="-171450">
              <a:lnSpc>
                <a:spcPct val="107000"/>
              </a:lnSpc>
              <a:spcAft>
                <a:spcPts val="800"/>
              </a:spcAft>
              <a:buFont typeface="Arial" panose="020B0604020202020204" pitchFamily="34" charset="0"/>
              <a:buChar char="•"/>
            </a:pPr>
            <a:r>
              <a:rPr lang="pt-BR" sz="1000" dirty="0">
                <a:latin typeface="Poppins" panose="00000500000000000000" pitchFamily="2" charset="0"/>
                <a:cs typeface="Poppins" panose="00000500000000000000" pitchFamily="2" charset="0"/>
              </a:rPr>
              <a:t>esta atividade requer que o professor circule entre as duplas e incentive os alunos a justificar cada escolha (resposta);</a:t>
            </a:r>
          </a:p>
          <a:p>
            <a:pPr marL="171450" indent="-171450">
              <a:lnSpc>
                <a:spcPct val="107000"/>
              </a:lnSpc>
              <a:spcAft>
                <a:spcPts val="800"/>
              </a:spcAft>
              <a:buFont typeface="Arial" panose="020B0604020202020204" pitchFamily="34" charset="0"/>
              <a:buChar char="•"/>
            </a:pPr>
            <a:r>
              <a:rPr lang="pt-BR" sz="1000" dirty="0">
                <a:latin typeface="Poppins" panose="00000500000000000000" pitchFamily="2" charset="0"/>
                <a:cs typeface="Poppins" panose="00000500000000000000" pitchFamily="2" charset="0"/>
              </a:rPr>
              <a:t>Explique que a atividade simula uma situação real do ambiente escolar, em que os alunos são responsáveis por garantir a preservação dos arquivos de notas, frequências, provas e atividades. Para isso, devem elaborar um plano simples de backup que contenha:</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1. Qual tipo de backup utilizar?</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2. Qual ferramenta escolher?</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3. Onde armazenar (nuvem, HD externo, outro)?</a:t>
            </a:r>
          </a:p>
          <a:p>
            <a:pPr marL="171450" indent="-171450">
              <a:lnSpc>
                <a:spcPct val="107000"/>
              </a:lnSpc>
              <a:spcAft>
                <a:spcPts val="800"/>
              </a:spcAft>
              <a:buFont typeface="Arial" panose="020B0604020202020204" pitchFamily="34" charset="0"/>
              <a:buChar char="•"/>
            </a:pPr>
            <a:r>
              <a:rPr lang="pt-BR" sz="1000" dirty="0">
                <a:latin typeface="Poppins" panose="00000500000000000000" pitchFamily="2" charset="0"/>
                <a:cs typeface="Poppins" panose="00000500000000000000" pitchFamily="2" charset="0"/>
              </a:rPr>
              <a:t>a atividade deve ser feita em uma folha. Depois, os alunos devem tirar uma foto e entregá-la no AVA, no local indicado pelo professor.</a:t>
            </a:r>
            <a:r>
              <a:rPr lang="pt-BR" sz="1000" dirty="0">
                <a:solidFill>
                  <a:schemeClr val="dk1"/>
                </a:solidFill>
                <a:latin typeface="Poppins" panose="00000500000000000000" pitchFamily="2" charset="0"/>
                <a:ea typeface="Calibri"/>
                <a:cs typeface="Poppins" panose="00000500000000000000" pitchFamily="2" charset="0"/>
              </a:rPr>
              <a:t> </a:t>
            </a:r>
            <a:br>
              <a:rPr lang="pt-BR" sz="1000" dirty="0">
                <a:solidFill>
                  <a:schemeClr val="dk1"/>
                </a:solidFill>
                <a:latin typeface="Poppins" panose="00000500000000000000" pitchFamily="2" charset="0"/>
                <a:ea typeface="Calibri"/>
                <a:cs typeface="Poppins" panose="00000500000000000000" pitchFamily="2" charset="0"/>
              </a:rPr>
            </a:br>
            <a:r>
              <a:rPr lang="pt-BR" sz="1000" dirty="0">
                <a:latin typeface="Poppins" panose="00000500000000000000" pitchFamily="2" charset="0"/>
                <a:cs typeface="Poppins" panose="00000500000000000000" pitchFamily="2" charset="0"/>
              </a:rPr>
              <a:t>Sorteie 2 ou 3 duplas para compartilharem suas respostas oralmente. </a:t>
            </a:r>
          </a:p>
          <a:p>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de respostas:</a:t>
            </a:r>
            <a:endParaRPr lang="pt-BR" sz="1000" dirty="0">
              <a:latin typeface="Poppins" panose="00000500000000000000" pitchFamily="2" charset="0"/>
              <a:cs typeface="Poppins" panose="00000500000000000000" pitchFamily="2" charset="0"/>
            </a:endParaRPr>
          </a:p>
          <a:p>
            <a:pPr lvl="2"/>
            <a:r>
              <a:rPr lang="pt-BR" sz="1000" u="sng" dirty="0">
                <a:latin typeface="Poppins" panose="00000500000000000000" pitchFamily="2" charset="0"/>
                <a:cs typeface="Poppins" panose="00000500000000000000" pitchFamily="2" charset="0"/>
              </a:rPr>
              <a:t>1. Tipo de backup</a:t>
            </a:r>
          </a:p>
          <a:p>
            <a:pPr lvl="2"/>
            <a:r>
              <a:rPr lang="pt-BR" sz="1000" dirty="0">
                <a:latin typeface="Poppins" panose="00000500000000000000" pitchFamily="2" charset="0"/>
                <a:cs typeface="Poppins" panose="00000500000000000000" pitchFamily="2" charset="0"/>
              </a:rPr>
              <a:t>Backup completo, feito toda semana.</a:t>
            </a:r>
          </a:p>
          <a:p>
            <a:pPr lvl="2"/>
            <a:r>
              <a:rPr lang="pt-BR" sz="1000" dirty="0">
                <a:latin typeface="Poppins" panose="00000500000000000000" pitchFamily="2" charset="0"/>
                <a:cs typeface="Poppins" panose="00000500000000000000" pitchFamily="2" charset="0"/>
              </a:rPr>
              <a:t>“O completo é mais seguro, porque copia todos os arquivos e dá pra recuperar tudo se der problema.”</a:t>
            </a:r>
          </a:p>
          <a:p>
            <a:pPr lvl="2"/>
            <a:r>
              <a:rPr lang="pt-BR" sz="1000" u="sng" dirty="0">
                <a:latin typeface="Poppins" panose="00000500000000000000" pitchFamily="2" charset="0"/>
                <a:cs typeface="Poppins" panose="00000500000000000000" pitchFamily="2" charset="0"/>
              </a:rPr>
              <a:t>2. Ferramenta escolhida</a:t>
            </a:r>
          </a:p>
          <a:p>
            <a:pPr lvl="2"/>
            <a:r>
              <a:rPr lang="pt-BR" sz="1000" dirty="0">
                <a:latin typeface="Poppins" panose="00000500000000000000" pitchFamily="2" charset="0"/>
                <a:cs typeface="Poppins" panose="00000500000000000000" pitchFamily="2" charset="0"/>
              </a:rPr>
              <a:t>Google Drive, OneDrive ou pen drive.</a:t>
            </a:r>
          </a:p>
          <a:p>
            <a:pPr lvl="2"/>
            <a:r>
              <a:rPr lang="pt-BR" sz="1000" dirty="0">
                <a:latin typeface="Poppins" panose="00000500000000000000" pitchFamily="2" charset="0"/>
                <a:cs typeface="Poppins" panose="00000500000000000000" pitchFamily="2" charset="0"/>
              </a:rPr>
              <a:t>“É fácil de usar e eu já conheço. Dá pra salvar os arquivos sem precisar de um programa complicado.”</a:t>
            </a:r>
          </a:p>
          <a:p>
            <a:pPr lvl="2"/>
            <a:r>
              <a:rPr lang="pt-BR" sz="1000" u="sng" dirty="0">
                <a:latin typeface="Poppins" panose="00000500000000000000" pitchFamily="2" charset="0"/>
                <a:cs typeface="Poppins" panose="00000500000000000000" pitchFamily="2" charset="0"/>
              </a:rPr>
              <a:t>3. Local de armazenamento</a:t>
            </a:r>
          </a:p>
          <a:p>
            <a:pPr lvl="2"/>
            <a:r>
              <a:rPr lang="pt-BR" sz="1000" dirty="0">
                <a:latin typeface="Poppins" panose="00000500000000000000" pitchFamily="2" charset="0"/>
                <a:cs typeface="Poppins" panose="00000500000000000000" pitchFamily="2" charset="0"/>
              </a:rPr>
              <a:t>Na nuvem e em um HD externo da escola.</a:t>
            </a:r>
          </a:p>
          <a:p>
            <a:pPr lvl="2"/>
            <a:r>
              <a:rPr lang="pt-BR" sz="1000" dirty="0">
                <a:latin typeface="Poppins" panose="00000500000000000000" pitchFamily="2" charset="0"/>
                <a:cs typeface="Poppins" panose="00000500000000000000" pitchFamily="2" charset="0"/>
              </a:rPr>
              <a:t>“Se o computador estragar, ainda tem os arquivos salvos na nuvem e também uma cópia no HD.”</a:t>
            </a:r>
          </a:p>
        </p:txBody>
      </p:sp>
      <p:sp>
        <p:nvSpPr>
          <p:cNvPr id="6" name="CaixaDeTexto 5">
            <a:extLst>
              <a:ext uri="{FF2B5EF4-FFF2-40B4-BE49-F238E27FC236}">
                <a16:creationId xmlns:a16="http://schemas.microsoft.com/office/drawing/2014/main" id="{B221132C-DE9D-1085-CD48-980DD628733D}"/>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15</a:t>
            </a:r>
          </a:p>
        </p:txBody>
      </p:sp>
      <p:sp>
        <p:nvSpPr>
          <p:cNvPr id="9" name="Oval 8">
            <a:extLst>
              <a:ext uri="{FF2B5EF4-FFF2-40B4-BE49-F238E27FC236}">
                <a16:creationId xmlns:a16="http://schemas.microsoft.com/office/drawing/2014/main" id="{D6B45458-C505-17CF-F4A3-90F256E41DE7}"/>
              </a:ext>
            </a:extLst>
          </p:cNvPr>
          <p:cNvSpPr/>
          <p:nvPr/>
        </p:nvSpPr>
        <p:spPr>
          <a:xfrm>
            <a:off x="497527" y="436593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F5115BBA-1E7B-85C9-ECF6-F6DA46BDF9C8}"/>
              </a:ext>
            </a:extLst>
          </p:cNvPr>
          <p:cNvSpPr/>
          <p:nvPr/>
        </p:nvSpPr>
        <p:spPr>
          <a:xfrm>
            <a:off x="497527" y="243248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4CB86A98-CF7C-1E45-0F4F-21F483681AC4}"/>
              </a:ext>
            </a:extLst>
          </p:cNvPr>
          <p:cNvSpPr/>
          <p:nvPr/>
        </p:nvSpPr>
        <p:spPr>
          <a:xfrm>
            <a:off x="497527" y="188042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837E6682-2CF1-B4B7-1F32-5EEC75C03234}"/>
              </a:ext>
            </a:extLst>
          </p:cNvPr>
          <p:cNvSpPr/>
          <p:nvPr/>
        </p:nvSpPr>
        <p:spPr>
          <a:xfrm>
            <a:off x="507466" y="142793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B300B9D1-AD4B-EF28-EF3E-8627319FBB83}"/>
              </a:ext>
            </a:extLst>
          </p:cNvPr>
          <p:cNvSpPr/>
          <p:nvPr/>
        </p:nvSpPr>
        <p:spPr>
          <a:xfrm>
            <a:off x="579522" y="152648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3C5EFA39-F270-3342-F245-9700549D9E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592" y="2502938"/>
            <a:ext cx="235296" cy="240643"/>
          </a:xfrm>
          <a:prstGeom prst="rect">
            <a:avLst/>
          </a:prstGeom>
        </p:spPr>
      </p:pic>
      <p:pic>
        <p:nvPicPr>
          <p:cNvPr id="18" name="Gráfico 17">
            <a:extLst>
              <a:ext uri="{FF2B5EF4-FFF2-40B4-BE49-F238E27FC236}">
                <a16:creationId xmlns:a16="http://schemas.microsoft.com/office/drawing/2014/main" id="{713E8001-A8BC-AC49-348C-4C233BF506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1468" y="4420053"/>
            <a:ext cx="208026" cy="266700"/>
          </a:xfrm>
          <a:prstGeom prst="rect">
            <a:avLst/>
          </a:prstGeom>
        </p:spPr>
      </p:pic>
      <p:pic>
        <p:nvPicPr>
          <p:cNvPr id="2" name="Imagem 1">
            <a:extLst>
              <a:ext uri="{FF2B5EF4-FFF2-40B4-BE49-F238E27FC236}">
                <a16:creationId xmlns:a16="http://schemas.microsoft.com/office/drawing/2014/main" id="{54163357-2ED0-D577-64C1-B68C6C6B504C}"/>
              </a:ext>
            </a:extLst>
          </p:cNvPr>
          <p:cNvPicPr>
            <a:picLocks noChangeAspect="1"/>
          </p:cNvPicPr>
          <p:nvPr/>
        </p:nvPicPr>
        <p:blipFill>
          <a:blip r:embed="rId7"/>
          <a:srcRect/>
          <a:stretch/>
        </p:blipFill>
        <p:spPr>
          <a:xfrm>
            <a:off x="615758" y="1974133"/>
            <a:ext cx="154445" cy="193056"/>
          </a:xfrm>
          <a:prstGeom prst="rect">
            <a:avLst/>
          </a:prstGeom>
        </p:spPr>
      </p:pic>
    </p:spTree>
    <p:extLst>
      <p:ext uri="{BB962C8B-B14F-4D97-AF65-F5344CB8AC3E}">
        <p14:creationId xmlns:p14="http://schemas.microsoft.com/office/powerpoint/2010/main" val="833788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818698-72D6-5AC6-E62E-20C27964E234}"/>
            </a:ext>
          </a:extLst>
        </p:cNvPr>
        <p:cNvGrpSpPr/>
        <p:nvPr/>
      </p:nvGrpSpPr>
      <p:grpSpPr>
        <a:xfrm>
          <a:off x="0" y="0"/>
          <a:ext cx="0" cy="0"/>
          <a:chOff x="0" y="0"/>
          <a:chExt cx="0" cy="0"/>
        </a:xfrm>
      </p:grpSpPr>
      <p:sp>
        <p:nvSpPr>
          <p:cNvPr id="4" name="Google Shape;1737;p54">
            <a:extLst>
              <a:ext uri="{FF2B5EF4-FFF2-40B4-BE49-F238E27FC236}">
                <a16:creationId xmlns:a16="http://schemas.microsoft.com/office/drawing/2014/main" id="{FDF3C920-890C-2E00-30AF-D07E745E807C}"/>
              </a:ext>
            </a:extLst>
          </p:cNvPr>
          <p:cNvSpPr/>
          <p:nvPr/>
        </p:nvSpPr>
        <p:spPr>
          <a:xfrm>
            <a:off x="0" y="4813624"/>
            <a:ext cx="12192000" cy="493059"/>
          </a:xfrm>
          <a:prstGeom prst="rect">
            <a:avLst/>
          </a:prstGeom>
          <a:solidFill>
            <a:srgbClr val="3E359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lt1"/>
              </a:solidFill>
              <a:latin typeface="Arial"/>
              <a:ea typeface="Arial"/>
              <a:cs typeface="Arial"/>
              <a:sym typeface="Arial"/>
            </a:endParaRPr>
          </a:p>
        </p:txBody>
      </p:sp>
      <p:sp>
        <p:nvSpPr>
          <p:cNvPr id="5" name="Retângulo 4">
            <a:extLst>
              <a:ext uri="{FF2B5EF4-FFF2-40B4-BE49-F238E27FC236}">
                <a16:creationId xmlns:a16="http://schemas.microsoft.com/office/drawing/2014/main" id="{1BD2950C-D222-EC03-A502-E8D713842A87}"/>
              </a:ext>
            </a:extLst>
          </p:cNvPr>
          <p:cNvSpPr/>
          <p:nvPr/>
        </p:nvSpPr>
        <p:spPr>
          <a:xfrm>
            <a:off x="0" y="618907"/>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8" name="Google Shape;1739;p54">
            <a:extLst>
              <a:ext uri="{FF2B5EF4-FFF2-40B4-BE49-F238E27FC236}">
                <a16:creationId xmlns:a16="http://schemas.microsoft.com/office/drawing/2014/main" id="{54D823A1-495A-656F-9830-75EFE5D6BE02}"/>
              </a:ext>
            </a:extLst>
          </p:cNvPr>
          <p:cNvCxnSpPr>
            <a:cxnSpLocks/>
          </p:cNvCxnSpPr>
          <p:nvPr/>
        </p:nvCxnSpPr>
        <p:spPr>
          <a:xfrm flipV="1">
            <a:off x="683554" y="5064942"/>
            <a:ext cx="0" cy="1442862"/>
          </a:xfrm>
          <a:prstGeom prst="straightConnector1">
            <a:avLst/>
          </a:prstGeom>
          <a:noFill/>
          <a:ln w="19050" cap="flat" cmpd="sng">
            <a:solidFill>
              <a:schemeClr val="dk1"/>
            </a:solidFill>
            <a:prstDash val="solid"/>
            <a:round/>
            <a:headEnd type="oval" w="med" len="med"/>
            <a:tailEnd type="oval" w="med" len="med"/>
          </a:ln>
        </p:spPr>
      </p:cxnSp>
      <p:cxnSp>
        <p:nvCxnSpPr>
          <p:cNvPr id="7" name="Conector Reto 6">
            <a:extLst>
              <a:ext uri="{FF2B5EF4-FFF2-40B4-BE49-F238E27FC236}">
                <a16:creationId xmlns:a16="http://schemas.microsoft.com/office/drawing/2014/main" id="{57A4DC3E-3899-4DB8-3263-F0E75FDA1AA3}"/>
              </a:ext>
            </a:extLst>
          </p:cNvPr>
          <p:cNvCxnSpPr>
            <a:cxnSpLocks/>
          </p:cNvCxnSpPr>
          <p:nvPr/>
        </p:nvCxnSpPr>
        <p:spPr>
          <a:xfrm flipV="1">
            <a:off x="683554" y="844993"/>
            <a:ext cx="0" cy="3863194"/>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C4604670-9727-401E-BF9D-7BDF43B7626F}"/>
              </a:ext>
            </a:extLst>
          </p:cNvPr>
          <p:cNvSpPr txBox="1"/>
          <p:nvPr/>
        </p:nvSpPr>
        <p:spPr>
          <a:xfrm>
            <a:off x="985520" y="629067"/>
            <a:ext cx="5923280" cy="482898"/>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16</a:t>
            </a:r>
          </a:p>
          <a:p>
            <a:pPr algn="l"/>
            <a:r>
              <a:rPr lang="pt-BR" sz="3200" b="1" dirty="0">
                <a:solidFill>
                  <a:schemeClr val="bg1"/>
                </a:solidFill>
                <a:latin typeface="Poppins" pitchFamily="2" charset="77"/>
                <a:cs typeface="Poppins" pitchFamily="2" charset="77"/>
              </a:rPr>
              <a:t> </a:t>
            </a:r>
          </a:p>
        </p:txBody>
      </p:sp>
      <p:sp>
        <p:nvSpPr>
          <p:cNvPr id="9" name="Oval 8">
            <a:extLst>
              <a:ext uri="{FF2B5EF4-FFF2-40B4-BE49-F238E27FC236}">
                <a16:creationId xmlns:a16="http://schemas.microsoft.com/office/drawing/2014/main" id="{D8B8FC25-BAE3-CCF8-A222-5C5F0A428B3C}"/>
              </a:ext>
            </a:extLst>
          </p:cNvPr>
          <p:cNvSpPr/>
          <p:nvPr/>
        </p:nvSpPr>
        <p:spPr>
          <a:xfrm>
            <a:off x="497841" y="411434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213FBF63-E302-006F-DFB7-A8383FD233C7}"/>
              </a:ext>
            </a:extLst>
          </p:cNvPr>
          <p:cNvSpPr/>
          <p:nvPr/>
        </p:nvSpPr>
        <p:spPr>
          <a:xfrm>
            <a:off x="497841" y="296352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A6379E80-08E1-BD7E-23D0-E79AAFA49FD7}"/>
              </a:ext>
            </a:extLst>
          </p:cNvPr>
          <p:cNvSpPr/>
          <p:nvPr/>
        </p:nvSpPr>
        <p:spPr>
          <a:xfrm>
            <a:off x="497841" y="207682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85A39D5A-5140-0D8C-6CDB-6EFE02C124C2}"/>
              </a:ext>
            </a:extLst>
          </p:cNvPr>
          <p:cNvSpPr/>
          <p:nvPr/>
        </p:nvSpPr>
        <p:spPr>
          <a:xfrm>
            <a:off x="497841" y="162809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9E5DB91B-18FA-89C1-2511-EE6C659BEA4D}"/>
              </a:ext>
            </a:extLst>
          </p:cNvPr>
          <p:cNvSpPr/>
          <p:nvPr/>
        </p:nvSpPr>
        <p:spPr>
          <a:xfrm>
            <a:off x="497841" y="123900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BB132553-19E2-0AAB-F4C7-02D3B4BC17A7}"/>
              </a:ext>
            </a:extLst>
          </p:cNvPr>
          <p:cNvSpPr/>
          <p:nvPr/>
        </p:nvSpPr>
        <p:spPr>
          <a:xfrm>
            <a:off x="569897" y="133755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0E040DFC-D4FC-D2CB-6715-D6E3DEDBF279}"/>
              </a:ext>
            </a:extLst>
          </p:cNvPr>
          <p:cNvPicPr>
            <a:picLocks noChangeAspect="1"/>
          </p:cNvPicPr>
          <p:nvPr/>
        </p:nvPicPr>
        <p:blipFill>
          <a:blip r:embed="rId3"/>
          <a:srcRect/>
          <a:stretch/>
        </p:blipFill>
        <p:spPr>
          <a:xfrm>
            <a:off x="614865" y="1724212"/>
            <a:ext cx="156858" cy="188229"/>
          </a:xfrm>
          <a:prstGeom prst="rect">
            <a:avLst/>
          </a:prstGeom>
        </p:spPr>
      </p:pic>
      <p:sp>
        <p:nvSpPr>
          <p:cNvPr id="16" name="Google Shape;2223;p100">
            <a:extLst>
              <a:ext uri="{FF2B5EF4-FFF2-40B4-BE49-F238E27FC236}">
                <a16:creationId xmlns:a16="http://schemas.microsoft.com/office/drawing/2014/main" id="{5CC29420-7A4D-5760-BB79-9270F87AEFC8}"/>
              </a:ext>
            </a:extLst>
          </p:cNvPr>
          <p:cNvSpPr>
            <a:spLocks/>
          </p:cNvSpPr>
          <p:nvPr/>
        </p:nvSpPr>
        <p:spPr>
          <a:xfrm>
            <a:off x="566852" y="2155257"/>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3487730F-D016-C83E-459C-E638945341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5906" y="3033975"/>
            <a:ext cx="235296" cy="240643"/>
          </a:xfrm>
          <a:prstGeom prst="rect">
            <a:avLst/>
          </a:prstGeom>
        </p:spPr>
      </p:pic>
      <p:pic>
        <p:nvPicPr>
          <p:cNvPr id="18" name="Gráfico 17">
            <a:extLst>
              <a:ext uri="{FF2B5EF4-FFF2-40B4-BE49-F238E27FC236}">
                <a16:creationId xmlns:a16="http://schemas.microsoft.com/office/drawing/2014/main" id="{1E77B0F3-DD45-CDF8-3795-EB38570E35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1782" y="4168463"/>
            <a:ext cx="208026" cy="266700"/>
          </a:xfrm>
          <a:prstGeom prst="rect">
            <a:avLst/>
          </a:prstGeom>
        </p:spPr>
      </p:pic>
      <p:sp>
        <p:nvSpPr>
          <p:cNvPr id="2" name="CaixaDeTexto 3">
            <a:extLst>
              <a:ext uri="{FF2B5EF4-FFF2-40B4-BE49-F238E27FC236}">
                <a16:creationId xmlns:a16="http://schemas.microsoft.com/office/drawing/2014/main" id="{41173988-BE9C-9F8E-8602-B5F1C06974DE}"/>
              </a:ext>
            </a:extLst>
          </p:cNvPr>
          <p:cNvSpPr txBox="1"/>
          <p:nvPr/>
        </p:nvSpPr>
        <p:spPr>
          <a:xfrm>
            <a:off x="959676" y="1262562"/>
            <a:ext cx="10849701" cy="3524042"/>
          </a:xfrm>
          <a:prstGeom prst="rect">
            <a:avLst/>
          </a:prstGeom>
          <a:noFill/>
          <a:ln>
            <a:noFill/>
          </a:ln>
        </p:spPr>
        <p:txBody>
          <a:bodyPr wrap="square" lIns="60960" tIns="30480" rIns="60960" bIns="3048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sz="1000" b="1" dirty="0">
                <a:latin typeface="Poppins"/>
                <a:cs typeface="Poppins"/>
              </a:rPr>
              <a:t>Orientações: </a:t>
            </a:r>
            <a:r>
              <a:rPr lang="pt-BR" sz="1000" dirty="0">
                <a:latin typeface="Poppins"/>
                <a:cs typeface="Poppins"/>
              </a:rPr>
              <a:t>professor, a seção </a:t>
            </a:r>
            <a:r>
              <a:rPr lang="pt-BR" sz="1000" b="1" dirty="0">
                <a:latin typeface="Poppins"/>
                <a:cs typeface="Poppins"/>
              </a:rPr>
              <a:t>O que nós aprendemos hoje? </a:t>
            </a:r>
            <a:r>
              <a:rPr lang="pt-BR" sz="1000" dirty="0">
                <a:latin typeface="Poppins"/>
                <a:cs typeface="Poppins"/>
              </a:rPr>
              <a:t>tem o objetivo de reforçar e esclarecer os conceitos principais discutidos na aula. Essa dinâmica pode ser uma ferramenta de avaliação informal do aprendizado dos estudantes, identificando áreas que podem precisar de mais atenção em aulas futuras. </a:t>
            </a:r>
          </a:p>
          <a:p>
            <a:pPr>
              <a:buClrTx/>
              <a:defRPr/>
            </a:pPr>
            <a:endParaRPr lang="pt-BR" sz="1000" dirty="0">
              <a:latin typeface="Poppins"/>
              <a:cs typeface="Poppins"/>
            </a:endParaRPr>
          </a:p>
          <a:p>
            <a:pPr rtl="0" fontAlgn="base"/>
            <a:r>
              <a:rPr lang="pt-BR" sz="1000" b="1" dirty="0">
                <a:latin typeface="Poppins"/>
                <a:cs typeface="Poppins"/>
              </a:rPr>
              <a:t>Tempo previsto: </a:t>
            </a:r>
            <a:r>
              <a:rPr lang="pt-BR" sz="1000" dirty="0">
                <a:latin typeface="Poppins"/>
                <a:cs typeface="Poppins"/>
              </a:rPr>
              <a:t>2 minutos.</a:t>
            </a:r>
          </a:p>
          <a:p>
            <a:pPr rtl="0" fontAlgn="base">
              <a:spcAft>
                <a:spcPts val="600"/>
              </a:spcAft>
            </a:pPr>
            <a:endParaRPr lang="pt-BR" sz="1000" dirty="0">
              <a:latin typeface="Poppins"/>
              <a:cs typeface="Poppins"/>
            </a:endParaRPr>
          </a:p>
          <a:p>
            <a:pPr rtl="0" fontAlgn="base"/>
            <a:r>
              <a:rPr lang="pt-BR" sz="1000" b="1" dirty="0">
                <a:latin typeface="Poppins" pitchFamily="2" charset="77"/>
                <a:cs typeface="Poppins" pitchFamily="2" charset="77"/>
              </a:rPr>
              <a:t>Gestão de sala de aula:</a:t>
            </a:r>
            <a:r>
              <a:rPr lang="pt-BR" sz="1000" dirty="0">
                <a:latin typeface="Poppins" pitchFamily="2" charset="77"/>
                <a:cs typeface="Poppins" pitchFamily="2" charset="77"/>
              </a:rPr>
              <a:t> </a:t>
            </a:r>
          </a:p>
          <a:p>
            <a:pPr marL="171450" indent="-171450" rtl="0" fontAlgn="base">
              <a:buFont typeface="Arial" panose="020B0604020202020204" pitchFamily="34" charset="0"/>
              <a:buChar char="•"/>
            </a:pPr>
            <a:r>
              <a:rPr lang="pt-BR" sz="1000" dirty="0">
                <a:latin typeface="Poppins" pitchFamily="2" charset="77"/>
                <a:cs typeface="Poppins" pitchFamily="2" charset="77"/>
              </a:rPr>
              <a:t>mantenha um tom positivo e construtivo, reforçando o aprendizado em vez de focar correções;</a:t>
            </a:r>
          </a:p>
          <a:p>
            <a:pPr marL="171450" indent="-171450" rtl="0" fontAlgn="base">
              <a:buFont typeface="Arial" panose="020B0604020202020204" pitchFamily="34" charset="0"/>
              <a:buChar char="•"/>
            </a:pPr>
            <a:r>
              <a:rPr lang="pt-BR" sz="1000" dirty="0">
                <a:latin typeface="Poppins" pitchFamily="2" charset="77"/>
                <a:cs typeface="Poppins" pitchFamily="2" charset="77"/>
              </a:rPr>
              <a:t>seja direto e objetivo nas explicações para manter a atividade dentro do tempo estipulado;</a:t>
            </a:r>
          </a:p>
          <a:p>
            <a:pPr marL="171450" indent="-171450" rtl="0" fontAlgn="base">
              <a:buFont typeface="Arial" panose="020B0604020202020204" pitchFamily="34" charset="0"/>
              <a:buChar char="•"/>
            </a:pPr>
            <a:r>
              <a:rPr lang="pt-BR" sz="1000" dirty="0">
                <a:latin typeface="Poppins" pitchFamily="2" charset="77"/>
                <a:cs typeface="Poppins" pitchFamily="2" charset="77"/>
              </a:rPr>
              <a:t>engaje os estudantes rapidamente, pedindo confirmações ou reações breves às definições apresentadas. </a:t>
            </a:r>
          </a:p>
          <a:p>
            <a:endParaRPr lang="pt-BR" sz="1000" dirty="0">
              <a:latin typeface="Poppins"/>
              <a:cs typeface="Poppins"/>
            </a:endParaRPr>
          </a:p>
          <a:p>
            <a:endParaRPr lang="pt-BR" sz="1000" dirty="0">
              <a:latin typeface="Poppins"/>
              <a:cs typeface="Poppins"/>
            </a:endParaRPr>
          </a:p>
          <a:p>
            <a:pPr rtl="0" fontAlgn="base"/>
            <a:r>
              <a:rPr lang="pt-BR" sz="1000" b="1" dirty="0">
                <a:latin typeface="Poppins" pitchFamily="2" charset="77"/>
                <a:cs typeface="Poppins" pitchFamily="2" charset="77"/>
              </a:rPr>
              <a:t>Condução da dinâmica: </a:t>
            </a:r>
          </a:p>
          <a:p>
            <a:pPr marL="171450" indent="-171450" rtl="0" fontAlgn="base">
              <a:buFont typeface="Arial" panose="020B0604020202020204" pitchFamily="34" charset="0"/>
              <a:buChar char="•"/>
            </a:pPr>
            <a:r>
              <a:rPr lang="pt-BR" sz="1000" dirty="0">
                <a:latin typeface="Poppins" pitchFamily="2" charset="77"/>
                <a:cs typeface="Poppins" pitchFamily="2" charset="77"/>
              </a:rPr>
              <a:t>explique que esta parte da seção, Então ficamos assim..., é um momento de reflexão e esclarecimento sobre os conceitos abordados na aula;</a:t>
            </a:r>
          </a:p>
          <a:p>
            <a:pPr marL="171450" indent="-171450" fontAlgn="base">
              <a:buFont typeface="Arial" panose="020B0604020202020204" pitchFamily="34" charset="0"/>
              <a:buChar char="•"/>
            </a:pPr>
            <a:r>
              <a:rPr lang="pt-BR" sz="1000" dirty="0">
                <a:latin typeface="Poppins" pitchFamily="2" charset="77"/>
                <a:cs typeface="Poppins" pitchFamily="2" charset="77"/>
              </a:rPr>
              <a:t>informe que será uma rápida revisão para assegurar que os entendimentos dos estudantes estão alinhados com as definições corretas dos conceitos;</a:t>
            </a:r>
          </a:p>
          <a:p>
            <a:pPr marL="171450" indent="-171450" fontAlgn="base">
              <a:buFont typeface="Arial" panose="020B0604020202020204" pitchFamily="34" charset="0"/>
              <a:buChar char="•"/>
            </a:pPr>
            <a:r>
              <a:rPr lang="pt-BR" sz="1000" dirty="0">
                <a:latin typeface="Poppins" pitchFamily="2" charset="77"/>
                <a:cs typeface="Poppins" pitchFamily="2" charset="77"/>
              </a:rPr>
              <a:t>apresente o slide com a definição sintética de cada conceito principal discutido na aula;</a:t>
            </a:r>
          </a:p>
          <a:p>
            <a:pPr marL="171450" indent="-171450" fontAlgn="base">
              <a:buFont typeface="Arial" panose="020B0604020202020204" pitchFamily="34" charset="0"/>
              <a:buChar char="•"/>
            </a:pPr>
            <a:r>
              <a:rPr lang="pt-BR" sz="1000" dirty="0">
                <a:latin typeface="Poppins" pitchFamily="2" charset="77"/>
                <a:cs typeface="Poppins" pitchFamily="2" charset="77"/>
              </a:rPr>
              <a:t>destaque se as contribuições dos estudantes estavam alinhadas com o conceito e ofereça esclarecimentos rápidos caso haja discrepâncias ou mal-entendidos;</a:t>
            </a:r>
          </a:p>
          <a:p>
            <a:pPr marL="171450" indent="-171450" fontAlgn="base">
              <a:buFont typeface="Arial" panose="020B0604020202020204" pitchFamily="34" charset="0"/>
              <a:buChar char="•"/>
            </a:pPr>
            <a:r>
              <a:rPr lang="pt-BR" sz="1000" dirty="0">
                <a:latin typeface="Poppins" pitchFamily="2" charset="77"/>
                <a:cs typeface="Poppins" pitchFamily="2" charset="77"/>
              </a:rPr>
              <a:t>finalize resumindo os pontos principais e reiterando a importância de cada conceito e como ele se encaixa no contexto maior da aula;</a:t>
            </a:r>
          </a:p>
          <a:p>
            <a:pPr marL="171450" indent="-171450" rtl="0" fontAlgn="base">
              <a:buFont typeface="Arial" panose="020B0604020202020204" pitchFamily="34" charset="0"/>
              <a:buChar char="•"/>
            </a:pPr>
            <a:r>
              <a:rPr lang="pt-BR" sz="1000" dirty="0">
                <a:latin typeface="Poppins" pitchFamily="2" charset="77"/>
                <a:cs typeface="Poppins" pitchFamily="2" charset="77"/>
              </a:rPr>
              <a:t>reforce a ideia de que essa revisão ajuda a solidificar o entendimento dos estudantes e prepará-los para aplicar esses conceitos em situações práticas.</a:t>
            </a:r>
          </a:p>
          <a:p>
            <a:pPr rtl="0" fontAlgn="base"/>
            <a:endParaRPr lang="pt-BR" sz="1000" b="1" dirty="0">
              <a:latin typeface="Poppins" pitchFamily="2" charset="77"/>
              <a:cs typeface="Poppins" pitchFamily="2" charset="77"/>
            </a:endParaRPr>
          </a:p>
          <a:p>
            <a:pPr rtl="0" fontAlgn="base"/>
            <a:r>
              <a:rPr lang="pt-BR" sz="1000" b="1" dirty="0">
                <a:latin typeface="Poppins" pitchFamily="2" charset="77"/>
                <a:cs typeface="Poppins" pitchFamily="2" charset="77"/>
              </a:rPr>
              <a:t>Expectativas de respostas: </a:t>
            </a:r>
          </a:p>
          <a:p>
            <a:pPr rtl="0" fontAlgn="base"/>
            <a:r>
              <a:rPr lang="pt-BR" sz="1000" dirty="0">
                <a:latin typeface="Poppins" pitchFamily="2" charset="77"/>
                <a:cs typeface="Poppins" pitchFamily="2" charset="77"/>
              </a:rPr>
              <a:t>Os estudantes devem sair da aula com um entendimento claro e preciso dos conceitos principais. A atividade serve como uma verificação rápida do entendimento dos estudantes e é uma oportunidade para corrigir quaisquer mal-entendidos.  </a:t>
            </a:r>
          </a:p>
        </p:txBody>
      </p:sp>
      <p:sp>
        <p:nvSpPr>
          <p:cNvPr id="19" name="Google Shape;1740;p54">
            <a:extLst>
              <a:ext uri="{FF2B5EF4-FFF2-40B4-BE49-F238E27FC236}">
                <a16:creationId xmlns:a16="http://schemas.microsoft.com/office/drawing/2014/main" id="{6889F9F6-4774-D32C-6C2D-09E95A50D7D8}"/>
              </a:ext>
            </a:extLst>
          </p:cNvPr>
          <p:cNvSpPr/>
          <p:nvPr/>
        </p:nvSpPr>
        <p:spPr>
          <a:xfrm>
            <a:off x="492761" y="5389432"/>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20" name="Google Shape;1741;p54">
            <a:extLst>
              <a:ext uri="{FF2B5EF4-FFF2-40B4-BE49-F238E27FC236}">
                <a16:creationId xmlns:a16="http://schemas.microsoft.com/office/drawing/2014/main" id="{E974E896-3D62-31A9-DDAD-96E3E6C39066}"/>
              </a:ext>
            </a:extLst>
          </p:cNvPr>
          <p:cNvSpPr txBox="1"/>
          <p:nvPr/>
        </p:nvSpPr>
        <p:spPr>
          <a:xfrm>
            <a:off x="970280" y="4832277"/>
            <a:ext cx="5923280" cy="613375"/>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None/>
            </a:pPr>
            <a:r>
              <a:rPr lang="pt-BR" sz="3000" b="1" i="0" u="none" strike="noStrike" cap="none" dirty="0">
                <a:solidFill>
                  <a:schemeClr val="lt1"/>
                </a:solidFill>
                <a:latin typeface="Poppins"/>
                <a:ea typeface="Poppins"/>
                <a:cs typeface="Poppins"/>
                <a:sym typeface="Poppins"/>
              </a:rPr>
              <a:t>Slide </a:t>
            </a:r>
            <a:r>
              <a:rPr lang="pt-BR" sz="3000" b="1" dirty="0">
                <a:solidFill>
                  <a:schemeClr val="lt1"/>
                </a:solidFill>
                <a:latin typeface="Poppins"/>
                <a:ea typeface="Poppins"/>
                <a:cs typeface="Poppins"/>
                <a:sym typeface="Poppins"/>
              </a:rPr>
              <a:t>17</a:t>
            </a:r>
            <a:endParaRPr dirty="0"/>
          </a:p>
          <a:p>
            <a:pPr marL="0" marR="0" lvl="0" indent="0" algn="l" rtl="0">
              <a:lnSpc>
                <a:spcPct val="100000"/>
              </a:lnSpc>
              <a:spcBef>
                <a:spcPts val="0"/>
              </a:spcBef>
              <a:spcAft>
                <a:spcPts val="0"/>
              </a:spcAft>
              <a:buNone/>
            </a:pPr>
            <a:r>
              <a:rPr lang="pt-BR" sz="3200" b="1" i="0" u="none" strike="noStrike" cap="none" dirty="0">
                <a:solidFill>
                  <a:schemeClr val="lt1"/>
                </a:solidFill>
                <a:latin typeface="Poppins"/>
                <a:ea typeface="Poppins"/>
                <a:cs typeface="Poppins"/>
                <a:sym typeface="Poppins"/>
              </a:rPr>
              <a:t> </a:t>
            </a:r>
            <a:endParaRPr dirty="0"/>
          </a:p>
        </p:txBody>
      </p:sp>
      <p:sp>
        <p:nvSpPr>
          <p:cNvPr id="21" name="Google Shape;1743;p54">
            <a:extLst>
              <a:ext uri="{FF2B5EF4-FFF2-40B4-BE49-F238E27FC236}">
                <a16:creationId xmlns:a16="http://schemas.microsoft.com/office/drawing/2014/main" id="{CD78966B-666F-FBDF-1049-BE7540647C8D}"/>
              </a:ext>
            </a:extLst>
          </p:cNvPr>
          <p:cNvSpPr/>
          <p:nvPr/>
        </p:nvSpPr>
        <p:spPr>
          <a:xfrm>
            <a:off x="492761" y="5908825"/>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dk1"/>
              </a:solidFill>
              <a:latin typeface="Arial"/>
              <a:ea typeface="Arial"/>
              <a:cs typeface="Arial"/>
              <a:sym typeface="Arial"/>
            </a:endParaRPr>
          </a:p>
        </p:txBody>
      </p:sp>
      <p:sp>
        <p:nvSpPr>
          <p:cNvPr id="22" name="Google Shape;1749;p54">
            <a:extLst>
              <a:ext uri="{FF2B5EF4-FFF2-40B4-BE49-F238E27FC236}">
                <a16:creationId xmlns:a16="http://schemas.microsoft.com/office/drawing/2014/main" id="{B5CC2BC5-BF25-269D-94CF-C455383CADFE}"/>
              </a:ext>
            </a:extLst>
          </p:cNvPr>
          <p:cNvSpPr/>
          <p:nvPr/>
        </p:nvSpPr>
        <p:spPr>
          <a:xfrm>
            <a:off x="569898" y="5493299"/>
            <a:ext cx="237236"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pic>
        <p:nvPicPr>
          <p:cNvPr id="23" name="Google Shape;1751;p54">
            <a:extLst>
              <a:ext uri="{FF2B5EF4-FFF2-40B4-BE49-F238E27FC236}">
                <a16:creationId xmlns:a16="http://schemas.microsoft.com/office/drawing/2014/main" id="{39B8B8C1-E8D5-4C35-8AAB-874C676049BF}"/>
              </a:ext>
            </a:extLst>
          </p:cNvPr>
          <p:cNvPicPr preferRelativeResize="0"/>
          <p:nvPr/>
        </p:nvPicPr>
        <p:blipFill rotWithShape="1">
          <a:blip r:embed="rId8">
            <a:alphaModFix/>
          </a:blip>
          <a:srcRect/>
          <a:stretch/>
        </p:blipFill>
        <p:spPr>
          <a:xfrm>
            <a:off x="608578" y="5996929"/>
            <a:ext cx="154445" cy="193056"/>
          </a:xfrm>
          <a:prstGeom prst="rect">
            <a:avLst/>
          </a:prstGeom>
          <a:noFill/>
          <a:ln>
            <a:noFill/>
          </a:ln>
        </p:spPr>
      </p:pic>
      <p:sp>
        <p:nvSpPr>
          <p:cNvPr id="24" name="Google Shape;1260;p25">
            <a:extLst>
              <a:ext uri="{FF2B5EF4-FFF2-40B4-BE49-F238E27FC236}">
                <a16:creationId xmlns:a16="http://schemas.microsoft.com/office/drawing/2014/main" id="{B4202200-0522-127F-6278-9DC7C02CCA82}"/>
              </a:ext>
            </a:extLst>
          </p:cNvPr>
          <p:cNvSpPr txBox="1"/>
          <p:nvPr/>
        </p:nvSpPr>
        <p:spPr>
          <a:xfrm>
            <a:off x="992497" y="5445652"/>
            <a:ext cx="10251300" cy="1292651"/>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Orientações: </a:t>
            </a:r>
            <a:r>
              <a:rPr lang="pt-BR" sz="1000" dirty="0">
                <a:latin typeface="Poppins" pitchFamily="2" charset="77"/>
                <a:ea typeface="Poppins"/>
                <a:cs typeface="Poppins" pitchFamily="2" charset="77"/>
                <a:sym typeface="Poppins"/>
              </a:rPr>
              <a:t>p</a:t>
            </a:r>
            <a:r>
              <a:rPr lang="pt-BR" sz="1000" b="0" i="0" u="none" strike="noStrike" cap="none" dirty="0">
                <a:solidFill>
                  <a:srgbClr val="000000"/>
                </a:solidFill>
                <a:latin typeface="Poppins" pitchFamily="2" charset="77"/>
                <a:ea typeface="Poppins"/>
                <a:cs typeface="Poppins" pitchFamily="2" charset="77"/>
                <a:sym typeface="Poppins"/>
              </a:rPr>
              <a:t>rofessor, a seção </a:t>
            </a:r>
            <a:r>
              <a:rPr lang="pt-BR" sz="1000" b="1" i="0" u="none" strike="noStrike" cap="none" dirty="0">
                <a:solidFill>
                  <a:srgbClr val="000000"/>
                </a:solidFill>
                <a:latin typeface="Poppins" pitchFamily="2" charset="77"/>
                <a:ea typeface="Poppins"/>
                <a:cs typeface="Poppins" pitchFamily="2" charset="77"/>
                <a:sym typeface="Poppins"/>
              </a:rPr>
              <a:t>Saiba mais </a:t>
            </a:r>
            <a:r>
              <a:rPr lang="pt-BR" sz="1000" b="0" i="0" u="none" strike="noStrike" cap="none" dirty="0">
                <a:solidFill>
                  <a:srgbClr val="000000"/>
                </a:solidFill>
                <a:latin typeface="Poppins" pitchFamily="2" charset="77"/>
                <a:ea typeface="Poppins"/>
                <a:cs typeface="Poppins" pitchFamily="2" charset="77"/>
                <a:sym typeface="Poppins"/>
              </a:rPr>
              <a:t>tem o objetivo de </a:t>
            </a:r>
            <a:r>
              <a:rPr lang="pt-BR" sz="1000" dirty="0">
                <a:latin typeface="Poppins" pitchFamily="2" charset="77"/>
                <a:cs typeface="Poppins" pitchFamily="2" charset="77"/>
              </a:rPr>
              <a:t>complementar os tópicos expostos, apresentando aos estudantes recursos extraclasse para complementar sua formação. Reserve o minuto final da aula para sugerir esse aprofundamento.</a:t>
            </a: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Tempo previsto: </a:t>
            </a:r>
            <a:r>
              <a:rPr lang="pt-BR" sz="1000" dirty="0">
                <a:latin typeface="Poppins" pitchFamily="2" charset="77"/>
                <a:ea typeface="Poppins"/>
                <a:cs typeface="Poppins" pitchFamily="2" charset="77"/>
                <a:sym typeface="Poppins"/>
              </a:rPr>
              <a:t>1</a:t>
            </a:r>
            <a:r>
              <a:rPr lang="pt-BR" sz="1000" b="0" i="0" u="none" strike="noStrike" cap="none" dirty="0">
                <a:solidFill>
                  <a:srgbClr val="000000"/>
                </a:solidFill>
                <a:latin typeface="Poppins" pitchFamily="2" charset="77"/>
                <a:ea typeface="Poppins"/>
                <a:cs typeface="Poppins" pitchFamily="2" charset="77"/>
                <a:sym typeface="Poppins"/>
              </a:rPr>
              <a:t> minuto.</a:t>
            </a:r>
            <a:endParaRPr sz="1000" b="0" i="0" u="none" strike="noStrike" cap="none" dirty="0">
              <a:solidFill>
                <a:srgbClr val="000000"/>
              </a:solidFill>
              <a:latin typeface="Poppins" pitchFamily="2" charset="77"/>
              <a:cs typeface="Poppins" pitchFamily="2" charset="77"/>
              <a:sym typeface="Arial"/>
            </a:endParaRP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endParaRPr sz="1000" b="1" i="0" u="none" strike="noStrike" cap="none" dirty="0">
              <a:solidFill>
                <a:srgbClr val="000000"/>
              </a:solidFill>
              <a:latin typeface="Poppins" pitchFamily="2" charset="77"/>
              <a:ea typeface="Poppins"/>
              <a:cs typeface="Poppins" pitchFamily="2" charset="77"/>
              <a:sym typeface="Poppins"/>
            </a:endParaRPr>
          </a:p>
        </p:txBody>
      </p:sp>
    </p:spTree>
    <p:extLst>
      <p:ext uri="{BB962C8B-B14F-4D97-AF65-F5344CB8AC3E}">
        <p14:creationId xmlns:p14="http://schemas.microsoft.com/office/powerpoint/2010/main" val="3474167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33157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AF221F30FA1D846BC6503DE840D959B" ma:contentTypeVersion="8" ma:contentTypeDescription="Crie um novo documento." ma:contentTypeScope="" ma:versionID="64f56a52a51cc80b8ddb3d94a2f0550b">
  <xsd:schema xmlns:xsd="http://www.w3.org/2001/XMLSchema" xmlns:xs="http://www.w3.org/2001/XMLSchema" xmlns:p="http://schemas.microsoft.com/office/2006/metadata/properties" xmlns:ns2="4facdbb2-8ef9-464d-a709-26ca1c337062" targetNamespace="http://schemas.microsoft.com/office/2006/metadata/properties" ma:root="true" ma:fieldsID="6bd439814cc2a84ec9ae5087f29ffa06" ns2:_="">
    <xsd:import namespace="4facdbb2-8ef9-464d-a709-26ca1c33706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acdbb2-8ef9-464d-a709-26ca1c3370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2.xml><?xml version="1.0" encoding="utf-8"?>
<ds:datastoreItem xmlns:ds="http://schemas.openxmlformats.org/officeDocument/2006/customXml" ds:itemID="{EC661F7A-1649-4A39-91A5-A3893F5678E5}">
  <ds:schemaRef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http://purl.org/dc/elements/1.1/"/>
    <ds:schemaRef ds:uri="http://schemas.microsoft.com/office/2006/documentManagement/types"/>
    <ds:schemaRef ds:uri="4facdbb2-8ef9-464d-a709-26ca1c337062"/>
    <ds:schemaRef ds:uri="http://purl.org/dc/dcmitype/"/>
    <ds:schemaRef ds:uri="http://purl.org/dc/terms/"/>
  </ds:schemaRefs>
</ds:datastoreItem>
</file>

<file path=customXml/itemProps3.xml><?xml version="1.0" encoding="utf-8"?>
<ds:datastoreItem xmlns:ds="http://schemas.openxmlformats.org/officeDocument/2006/customXml" ds:itemID="{8F2396A6-4422-4B27-B95E-3A964ABD2F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acdbb2-8ef9-464d-a709-26ca1c3370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7948</TotalTime>
  <Words>2445</Words>
  <Application>Microsoft Office PowerPoint</Application>
  <PresentationFormat>Widescreen</PresentationFormat>
  <Paragraphs>239</Paragraphs>
  <Slides>25</Slides>
  <Notes>17</Notes>
  <HiddenSlides>7</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25</vt:i4>
      </vt:variant>
    </vt:vector>
  </HeadingPairs>
  <TitlesOfParts>
    <vt:vector size="32" baseType="lpstr">
      <vt:lpstr>Poppins</vt:lpstr>
      <vt:lpstr>Poppins Light</vt:lpstr>
      <vt:lpstr>Arial</vt:lpstr>
      <vt:lpstr>Poppins Bold</vt:lpstr>
      <vt:lpstr>Poppins Medium</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SANTIAGO ROCHA</cp:lastModifiedBy>
  <cp:revision>1375</cp:revision>
  <dcterms:modified xsi:type="dcterms:W3CDTF">2026-01-29T13:47:02Z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0x0101000AF221F30FA1D846BC6503DE840D959B</vt:lpwstr>
  </property>
  <property fmtid="{D5CDD505-2E9C-101B-9397-08002B2CF9AE}" pid="3" name="MediaServiceImageTags">
    <vt:lpwstr/>
  </property>
  <property fmtid="{D5CDD505-2E9C-101B-9397-08002B2CF9AE}" pid="4" name="Order">
    <vt:lpwstr>378100.000000000</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