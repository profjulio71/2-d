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</p:sldMasterIdLst>
  <p:notesMasterIdLst>
    <p:notesMasterId r:id="rId31"/>
  </p:notesMasterIdLst>
  <p:handoutMasterIdLst>
    <p:handoutMasterId r:id="rId32"/>
  </p:handoutMasterIdLst>
  <p:sldIdLst>
    <p:sldId id="1240" r:id="rId5"/>
    <p:sldId id="1396" r:id="rId6"/>
    <p:sldId id="1449" r:id="rId7"/>
    <p:sldId id="1450" r:id="rId8"/>
    <p:sldId id="1451" r:id="rId9"/>
    <p:sldId id="582" r:id="rId10"/>
    <p:sldId id="1464" r:id="rId11"/>
    <p:sldId id="1463" r:id="rId12"/>
    <p:sldId id="272" r:id="rId13"/>
    <p:sldId id="1466" r:id="rId14"/>
    <p:sldId id="1453" r:id="rId15"/>
    <p:sldId id="1467" r:id="rId16"/>
    <p:sldId id="1257" r:id="rId17"/>
    <p:sldId id="1454" r:id="rId18"/>
    <p:sldId id="1433" r:id="rId19"/>
    <p:sldId id="529" r:id="rId20"/>
    <p:sldId id="1259" r:id="rId21"/>
    <p:sldId id="1260" r:id="rId22"/>
    <p:sldId id="1261" r:id="rId23"/>
    <p:sldId id="1262" r:id="rId24"/>
    <p:sldId id="1342" r:id="rId25"/>
    <p:sldId id="1475" r:id="rId26"/>
    <p:sldId id="1477" r:id="rId27"/>
    <p:sldId id="1349" r:id="rId28"/>
    <p:sldId id="1476" r:id="rId29"/>
    <p:sldId id="1268" r:id="rId30"/>
  </p:sldIdLst>
  <p:sldSz cx="12192000" cy="6858000"/>
  <p:notesSz cx="6858000" cy="9144000"/>
  <p:embeddedFontLst>
    <p:embeddedFont>
      <p:font typeface="Poppins" panose="00000500000000000000" pitchFamily="2" charset="0"/>
      <p:regular r:id="rId33"/>
      <p:bold r:id="rId34"/>
      <p:italic r:id="rId35"/>
      <p:boldItalic r:id="rId36"/>
    </p:embeddedFont>
    <p:embeddedFont>
      <p:font typeface="Poppins Bold" panose="00000800000000000000" pitchFamily="2" charset="0"/>
      <p:regular r:id="rId37"/>
      <p:bold r:id="rId38"/>
      <p:italic r:id="rId39"/>
      <p:boldItalic r:id="rId40"/>
    </p:embeddedFont>
    <p:embeddedFont>
      <p:font typeface="Poppins Light" panose="00000400000000000000" pitchFamily="2" charset="0"/>
      <p:regular r:id="rId41"/>
      <p:bold r:id="rId42"/>
      <p:italic r:id="rId43"/>
      <p:boldItalic r:id="rId44"/>
    </p:embeddedFont>
    <p:embeddedFont>
      <p:font typeface="Poppins Medium" panose="00000600000000000000" pitchFamily="2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1822" userDrawn="1">
          <p15:clr>
            <a:srgbClr val="A4A3A4"/>
          </p15:clr>
        </p15:guide>
        <p15:guide id="3" orient="horz" pos="5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E6B411-79F2-2BA9-D2E5-195CC60EC4EB}" name="Vanessa Leite Rios" initials="VL" userId="S::vrios@vanzolini-ead.org.br::0d7f6d10-7524-4913-bb54-b4a9cca6091b" providerId="AD"/>
  <p188:author id="{5D93F123-A5E2-A62B-D9E3-D9303D1BB86B}" name="Gustavo Cruz dos Reis" initials="GC" userId="S::greis@vanzolini-ead.org.br::837664e1-438f-44d7-9e01-7f6012fe004f" providerId="AD"/>
  <p188:author id="{C6975768-E079-2129-EF66-8C7D8D20589C}" name="Usuário Convidado" initials="UC" userId="S::urn:spo:anon#9c1a6640c4cf430e37b8e52984f4ed92aa1896e2c9d3b1637fd5ce4c8fd5c9d5::" providerId="AD"/>
  <p188:author id="{0F28A37D-7A78-6275-D2DB-23C237B8C9CB}" name="Sebastiana Gomes" initials="SG" userId="4eca4e9bf25f6851" providerId="Windows Live"/>
  <p188:author id="{A42D7C86-2999-ABEF-315C-7093285DA929}" name="Utilizador Convidado" initials="UC" userId="S::urn:spo:tenantanon#4a187474-b69b-445f-9d2d-b39f721fca7f::" providerId="AD"/>
  <p188:author id="{8DD8E787-7B43-E508-6891-C6122D24A71C}" name="Douglas José Mendonça" initials="DM" userId="4153c5f748151241" providerId="Windows Live"/>
  <p188:author id="{377AEB95-F34C-FEB2-A03E-D3DA85656470}" name="Izabella Saadi Cerutti" initials="IS" userId="4295702eb40843b9" providerId="Windows Live"/>
  <p188:author id="{28615DA9-B5E9-CA04-7D8D-122763E6B868}" name="Izabella Saadi Cerutti Leal Reis" initials="IS" userId="S::izabella_reis@vanzolini-ead.org.br::21085dfd-0335-48ee-9e04-b8a1dbb1bca2" providerId="AD"/>
  <p188:author id="{323E71DD-2DD6-0498-FA2F-F91E6C9039EE}" name="Manuela Buk de Araujo" initials="MB" userId="0af21dece6336a93" providerId="Windows Live"/>
  <p188:author id="{E0388DF7-5B9F-86E5-E6C5-3F344187204B}" name="Eloisa Dalbem" initials="ED" userId="S::eldalbem@vanzolini-ead.org.br::9ae0c03a-8642-493e-97df-c9fd93e6c398" providerId="AD"/>
  <p188:author id="{E06AE5F7-C4FB-8FC1-0379-16158CB16B4E}" name="Michelle Mirabile Barbosa" initials="MM" userId="S::michelle_barbosa@vanzolini-ead.org.br::514663f0-91cb-4e5c-876a-7189c1f198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2BE149"/>
    <a:srgbClr val="D8D8D8"/>
    <a:srgbClr val="BFBFBF"/>
    <a:srgbClr val="F2F2F2"/>
    <a:srgbClr val="000000"/>
    <a:srgbClr val="EE0000"/>
    <a:srgbClr val="3E3593"/>
    <a:srgbClr val="AAA6D3"/>
    <a:srgbClr val="312F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A742E-A67B-F414-6FC6-E2670DDA691E}" v="3" dt="2025-11-07T14:10:32.140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89464" autoAdjust="0"/>
  </p:normalViewPr>
  <p:slideViewPr>
    <p:cSldViewPr snapToGrid="0">
      <p:cViewPr>
        <p:scale>
          <a:sx n="75" d="100"/>
          <a:sy n="75" d="100"/>
        </p:scale>
        <p:origin x="1902" y="444"/>
      </p:cViewPr>
      <p:guideLst>
        <p:guide orient="horz" pos="754"/>
        <p:guide pos="1822"/>
        <p:guide orient="horz" pos="59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176" y="-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5387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pt-BR" i="1" dirty="0"/>
          </a:p>
        </p:txBody>
      </p:sp>
      <p:sp>
        <p:nvSpPr>
          <p:cNvPr id="641" name="Google Shape;6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029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7A617-D604-8DD0-B6B1-A7853577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50A287-4952-4D26-EDC2-B75EB68F3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BEFBBA7-5E96-1250-322A-F7ADA5102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6150DB-A172-4F2E-60FA-C5128944AD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0880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>
          <a:extLst>
            <a:ext uri="{FF2B5EF4-FFF2-40B4-BE49-F238E27FC236}">
              <a16:creationId xmlns:a16="http://schemas.microsoft.com/office/drawing/2014/main" id="{F3AB9B89-78A6-70E5-1C67-C99AF77C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>
            <a:extLst>
              <a:ext uri="{FF2B5EF4-FFF2-40B4-BE49-F238E27FC236}">
                <a16:creationId xmlns:a16="http://schemas.microsoft.com/office/drawing/2014/main" id="{E66D1B89-DCFC-59CE-06DA-108C41381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52" name="Google Shape;652;p3:notes">
            <a:extLst>
              <a:ext uri="{FF2B5EF4-FFF2-40B4-BE49-F238E27FC236}">
                <a16:creationId xmlns:a16="http://schemas.microsoft.com/office/drawing/2014/main" id="{17D084D9-0252-EAF4-66D1-8B994483C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9666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>
          <a:extLst>
            <a:ext uri="{FF2B5EF4-FFF2-40B4-BE49-F238E27FC236}">
              <a16:creationId xmlns:a16="http://schemas.microsoft.com/office/drawing/2014/main" id="{14172B91-8FBA-D46F-848D-1057B127D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:notes">
            <a:extLst>
              <a:ext uri="{FF2B5EF4-FFF2-40B4-BE49-F238E27FC236}">
                <a16:creationId xmlns:a16="http://schemas.microsoft.com/office/drawing/2014/main" id="{2FCEB0D6-2F3C-CCB1-CED2-4DF42EDEA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9" name="Google Shape;689;p7:notes">
            <a:extLst>
              <a:ext uri="{FF2B5EF4-FFF2-40B4-BE49-F238E27FC236}">
                <a16:creationId xmlns:a16="http://schemas.microsoft.com/office/drawing/2014/main" id="{900B6CE9-58A6-7830-B438-56CD1A577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898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F4B4FA1A-3CCF-C51F-0353-C46DFF609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5ABE5921-9E11-63AC-90C1-1811179DA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BCD59D41-1F63-EEDD-B67E-E21B0708A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682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7BB89AFC-B6AE-7A11-3532-A4C5DF55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9696BC4F-4537-72A1-01A8-5E4244D9E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01936A7C-C8E3-E94C-3DAB-A761B07EF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813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2" name="Google Shape;7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446FAF0F-F1FF-CA3E-5C3A-63A68287D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F8A586F5-B1A8-0D28-A8E3-ECDE911A0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370CF76C-3AB9-5E86-4CBB-9068FDC205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6262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>
          <a:extLst>
            <a:ext uri="{FF2B5EF4-FFF2-40B4-BE49-F238E27FC236}">
              <a16:creationId xmlns:a16="http://schemas.microsoft.com/office/drawing/2014/main" id="{8F7FF68A-2CCC-E775-243C-BEB18899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:notes">
            <a:extLst>
              <a:ext uri="{FF2B5EF4-FFF2-40B4-BE49-F238E27FC236}">
                <a16:creationId xmlns:a16="http://schemas.microsoft.com/office/drawing/2014/main" id="{92D6E183-B467-BEB5-76BB-68A666748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3:notes">
            <a:extLst>
              <a:ext uri="{FF2B5EF4-FFF2-40B4-BE49-F238E27FC236}">
                <a16:creationId xmlns:a16="http://schemas.microsoft.com/office/drawing/2014/main" id="{DFD16236-F5A4-8488-2495-5E828C931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696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B76F30A-5EFE-3CCD-F11E-167422AD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2E6B615F-FD7A-6DF5-7BA7-7B18B061F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FC96FF24-BA94-5CD9-FF44-DCBA09F82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200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6007743D-FE43-53EE-B20B-50B06310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3B087CC8-AB93-56E5-7DF8-F07469E4F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0FCA5AAD-E0BF-EB87-651D-7E477239F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468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9870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Poppins"/>
                <a:ea typeface="Aptos" panose="020B0004020202020204" pitchFamily="34" charset="0"/>
                <a:cs typeface="Poppins"/>
              </a:rPr>
              <a:t>	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3381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6987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715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0914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0183-53A1-7EDD-1F64-80AC78FD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CD6A2E-4668-303B-024F-81BF3DEBD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AF9371-E856-60FD-D317-36C64CDB5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899024-D6E8-1C9B-CF3C-F6B2FCB6C5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7128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D80E-07E3-6871-4D65-08E4796A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190DC2F-21DD-E3FE-A5AC-3E06E319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E9B92D-4505-F0EF-A481-FAF0364FB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3351F3-62F9-716C-7BCE-7863C1C52A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3230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D80E-07E3-6871-4D65-08E4796A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190DC2F-21DD-E3FE-A5AC-3E06E319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E9B92D-4505-F0EF-A481-FAF0364FB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3351F3-62F9-716C-7BCE-7863C1C52A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051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B028-C831-A7B1-E3B6-25C04AE0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F2FB19-8B0D-E07B-375F-88A75953E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0C47E3-B675-2705-36D7-66763D2E0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B5A734-6B1E-C35C-4A7A-A34C6DD0EC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34561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F3E0-D977-4A50-338C-DF47DC41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038E49-555D-7171-3F7D-99D73DC69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DC4C0D-2F7D-6CFD-31C3-427848FEA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0DC089-1EAE-3B31-B5C7-022CC09F05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449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Tempo: 0 min.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65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036D4BB-1C4B-21F8-3522-5C7DBDA613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2C9CC7B-F23D-B8A8-77D2-74702288BD28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EEEB8D9-A61D-7F08-529F-3C55D312347C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ACFD6323-56DE-C9FA-F7A9-D89B70611E6D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87D9B62-B935-49A8-2CF4-93C9ACAE12DA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  <p:pic>
        <p:nvPicPr>
          <p:cNvPr id="14" name="Imagem 13" descr="Logotipo&#10;&#10;O conteúdo gerado por IA pode estar incorreto.">
            <a:extLst>
              <a:ext uri="{FF2B5EF4-FFF2-40B4-BE49-F238E27FC236}">
                <a16:creationId xmlns:a16="http://schemas.microsoft.com/office/drawing/2014/main" id="{2C7791C5-5259-2084-6F58-9FC9A125E5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81457B52-0884-91B7-3C82-FA2C7F21D43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F054123-80D3-63FA-CA78-C4076C6A4227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A64F12D8-290A-AF52-3CCE-2FF62EB02F2C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2" name="Retângulo: Cantos Superiores Arredondados 11">
              <a:extLst>
                <a:ext uri="{FF2B5EF4-FFF2-40B4-BE49-F238E27FC236}">
                  <a16:creationId xmlns:a16="http://schemas.microsoft.com/office/drawing/2014/main" id="{7D06DB2A-B6A2-C687-0D22-44B7A4922690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31B39D1C-7EDE-54F3-6136-17C4264435C7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FD7039D3-D689-F3A6-49B7-5A72AB1013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927E2BA-6D1B-09F5-F608-A5CDB69B72F6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E958C1C-FE6B-D5FB-F15B-7BA94DD3ACB6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EFA581EA-945C-B188-0C37-13D03746D5D1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FB10E32-8F5F-F957-FD0A-698F9A0F9EE4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EE144A3F-779F-0518-29D5-4B466DF658F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F4A6A574-41EB-86AB-2BA2-3E8E493C9ED7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9182A59F-4C9F-11A9-535E-4C7588CA7B07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48FB9265-CDAA-3C61-7A60-1D8E0B737B64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26BDDD0-6D1A-9A86-55A1-9D9599E9B6C7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" name="Google Shape;643;p43">
            <a:extLst>
              <a:ext uri="{FF2B5EF4-FFF2-40B4-BE49-F238E27FC236}">
                <a16:creationId xmlns:a16="http://schemas.microsoft.com/office/drawing/2014/main" id="{A41F9250-3A3E-9E0B-ECBA-7DC34E649E9E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2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3;p10">
            <a:extLst>
              <a:ext uri="{FF2B5EF4-FFF2-40B4-BE49-F238E27FC236}">
                <a16:creationId xmlns:a16="http://schemas.microsoft.com/office/drawing/2014/main" id="{8F0A9DF3-9B92-A216-6B27-450F8BFB2E7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2786"/>
          <a:stretch/>
        </p:blipFill>
        <p:spPr>
          <a:xfrm>
            <a:off x="2" y="0"/>
            <a:ext cx="30956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314794-8596-FE32-82EB-2F568421EAEA}"/>
              </a:ext>
            </a:extLst>
          </p:cNvPr>
          <p:cNvSpPr txBox="1"/>
          <p:nvPr userDrawn="1"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4A6E52-4093-C5F1-BF0B-4A76F9BCA87A}"/>
              </a:ext>
            </a:extLst>
          </p:cNvPr>
          <p:cNvSpPr txBox="1"/>
          <p:nvPr userDrawn="1"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3CA1D1C2-A504-78F2-B5D1-B96B35BDDB0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69EF6828-47A5-8129-5988-5EC45D078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388D1399-8328-B730-C092-B8697982AD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0E6FBA7-54D9-E497-CED0-F1F770C72CE1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Google Shape;69;p32">
            <a:extLst>
              <a:ext uri="{FF2B5EF4-FFF2-40B4-BE49-F238E27FC236}">
                <a16:creationId xmlns:a16="http://schemas.microsoft.com/office/drawing/2014/main" id="{9A684BEB-13B4-680D-7A97-78DA06A083A9}"/>
              </a:ext>
            </a:extLst>
          </p:cNvPr>
          <p:cNvSpPr txBox="1"/>
          <p:nvPr userDrawn="1"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lang="pt-BR"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7352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95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78E23C4-F9DC-0981-FAB8-608C1794C1FC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31;p21">
            <a:extLst>
              <a:ext uri="{FF2B5EF4-FFF2-40B4-BE49-F238E27FC236}">
                <a16:creationId xmlns:a16="http://schemas.microsoft.com/office/drawing/2014/main" id="{BF9D396F-BB07-0862-1616-DAF899AE61EA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084696B-5B1C-7915-7993-9C1D281CDACA}"/>
              </a:ext>
            </a:extLst>
          </p:cNvPr>
          <p:cNvSpPr>
            <a:spLocks/>
          </p:cNvSpPr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" name="Google Shape;689;p48">
            <a:extLst>
              <a:ext uri="{FF2B5EF4-FFF2-40B4-BE49-F238E27FC236}">
                <a16:creationId xmlns:a16="http://schemas.microsoft.com/office/drawing/2014/main" id="{3A19ED95-0334-F47C-AF86-3309C91852AB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D608B1D-E2DB-9739-3504-355D7D984532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353;p32">
            <a:extLst>
              <a:ext uri="{FF2B5EF4-FFF2-40B4-BE49-F238E27FC236}">
                <a16:creationId xmlns:a16="http://schemas.microsoft.com/office/drawing/2014/main" id="{D9A3FAB4-33E1-33C3-CA4C-735B17F67721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 preserve="1">
  <p:cSld name="1_Quadro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3;p21">
            <a:extLst>
              <a:ext uri="{FF2B5EF4-FFF2-40B4-BE49-F238E27FC236}">
                <a16:creationId xmlns:a16="http://schemas.microsoft.com/office/drawing/2014/main" id="{8D5E974E-0E21-1DAA-9259-DA7B8319247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537" t="14556" r="41611" b="16115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609630" marR="0" lvl="1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1524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933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28ABA2C-540F-E79B-E7C1-574C3FBDCC74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101;p34">
            <a:extLst>
              <a:ext uri="{FF2B5EF4-FFF2-40B4-BE49-F238E27FC236}">
                <a16:creationId xmlns:a16="http://schemas.microsoft.com/office/drawing/2014/main" id="{32D8421B-99F0-A71F-10FA-17F9B6BBF169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67388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preserve="1" userDrawn="1">
  <p:cSld name="1_Título e Conteú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;p4">
            <a:extLst>
              <a:ext uri="{FF2B5EF4-FFF2-40B4-BE49-F238E27FC236}">
                <a16:creationId xmlns:a16="http://schemas.microsoft.com/office/drawing/2014/main" id="{5E705E55-01E4-945B-7072-330DFCE9FF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3;p4">
            <a:extLst>
              <a:ext uri="{FF2B5EF4-FFF2-40B4-BE49-F238E27FC236}">
                <a16:creationId xmlns:a16="http://schemas.microsoft.com/office/drawing/2014/main" id="{F49E36B5-2934-9CA4-7B2E-4F438B27C5E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77D9E9D2-505F-0E7C-E845-C5678130B47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7" name="Espaço Reservado para Texto 8">
            <a:extLst>
              <a:ext uri="{FF2B5EF4-FFF2-40B4-BE49-F238E27FC236}">
                <a16:creationId xmlns:a16="http://schemas.microsoft.com/office/drawing/2014/main" id="{B79890C7-E0F3-5660-10F8-DFF87BDAC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8" name="Espaço Reservado para Texto 8">
            <a:extLst>
              <a:ext uri="{FF2B5EF4-FFF2-40B4-BE49-F238E27FC236}">
                <a16:creationId xmlns:a16="http://schemas.microsoft.com/office/drawing/2014/main" id="{54D85AE8-3082-9CC0-AA41-526BEEC89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F0599DB-96F6-0546-18A1-931826972D54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Google Shape;101;p34">
            <a:extLst>
              <a:ext uri="{FF2B5EF4-FFF2-40B4-BE49-F238E27FC236}">
                <a16:creationId xmlns:a16="http://schemas.microsoft.com/office/drawing/2014/main" id="{256DAE33-0E29-D407-7ED0-5B50DBAA2E65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21042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 userDrawn="1">
  <p:cSld name="3_EstudoCaso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3;p10">
            <a:extLst>
              <a:ext uri="{FF2B5EF4-FFF2-40B4-BE49-F238E27FC236}">
                <a16:creationId xmlns:a16="http://schemas.microsoft.com/office/drawing/2014/main" id="{6DB00E26-BCDE-0E55-ED92-7563396D697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1781"/>
          <a:stretch/>
        </p:blipFill>
        <p:spPr>
          <a:xfrm>
            <a:off x="0" y="0"/>
            <a:ext cx="32181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7D9BE86-9078-4427-9656-B39826D967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085" y="1210734"/>
            <a:ext cx="7610475" cy="2825557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/>
              <a:t>Inserir &gt; Mídia &gt; Vídeo &gt; Vídeos online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5469AD-51F8-FC13-26BB-CEAB108EE398}"/>
              </a:ext>
            </a:extLst>
          </p:cNvPr>
          <p:cNvSpPr txBox="1"/>
          <p:nvPr userDrawn="1"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9AC9671-5ACF-4A29-F3EF-BA07F4D85784}"/>
              </a:ext>
            </a:extLst>
          </p:cNvPr>
          <p:cNvSpPr/>
          <p:nvPr userDrawn="1"/>
        </p:nvSpPr>
        <p:spPr>
          <a:xfrm>
            <a:off x="214209" y="372431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373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10" r:id="rId4"/>
    <p:sldLayoutId id="2147483738" r:id="rId5"/>
    <p:sldLayoutId id="2147483713" r:id="rId6"/>
    <p:sldLayoutId id="2147483701" r:id="rId7"/>
    <p:sldLayoutId id="2147483658" r:id="rId8"/>
    <p:sldLayoutId id="2147483705" r:id="rId9"/>
    <p:sldLayoutId id="2147483707" r:id="rId10"/>
    <p:sldLayoutId id="2147483754" r:id="rId11"/>
    <p:sldLayoutId id="2147483757" r:id="rId12"/>
    <p:sldLayoutId id="2147483730" r:id="rId13"/>
    <p:sldLayoutId id="214748383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mW4AcyzZFY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microsoft.com/pt-br/windows/atalhos-do-teclado-no-windows-dcc61a57-8ff0-cffe-9796-cb9706c75eec#windowsversion=windows_10" TargetMode="Externa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6.sv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7.sv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88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43;p43">
            <a:extLst>
              <a:ext uri="{FF2B5EF4-FFF2-40B4-BE49-F238E27FC236}">
                <a16:creationId xmlns:a16="http://schemas.microsoft.com/office/drawing/2014/main" id="{21B44D14-C032-9E7B-6137-9125CF4AE115}"/>
              </a:ext>
            </a:extLst>
          </p:cNvPr>
          <p:cNvSpPr txBox="1">
            <a:spLocks/>
          </p:cNvSpPr>
          <p:nvPr/>
        </p:nvSpPr>
        <p:spPr>
          <a:xfrm>
            <a:off x="967389" y="917774"/>
            <a:ext cx="6003459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200" noProof="0" dirty="0">
                <a:solidFill>
                  <a:srgbClr val="FF161F"/>
                </a:solidFill>
                <a:latin typeface="Poppins" panose="00000500000000000000" pitchFamily="2" charset="0"/>
              </a:rPr>
              <a:t>Introdução à informática</a:t>
            </a:r>
          </a:p>
        </p:txBody>
      </p:sp>
      <p:sp>
        <p:nvSpPr>
          <p:cNvPr id="8" name="Google Shape;643;p43">
            <a:extLst>
              <a:ext uri="{FF2B5EF4-FFF2-40B4-BE49-F238E27FC236}">
                <a16:creationId xmlns:a16="http://schemas.microsoft.com/office/drawing/2014/main" id="{79C53378-5638-4394-B211-79094EBC8787}"/>
              </a:ext>
            </a:extLst>
          </p:cNvPr>
          <p:cNvSpPr txBox="1">
            <a:spLocks/>
          </p:cNvSpPr>
          <p:nvPr/>
        </p:nvSpPr>
        <p:spPr>
          <a:xfrm>
            <a:off x="561745" y="2221967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09630">
              <a:buSzPts val="4500"/>
              <a:defRPr/>
            </a:pPr>
            <a:r>
              <a:rPr lang="pt-BR" sz="26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itchFamily="2" charset="77"/>
              </a:rPr>
              <a:t>Organização digital e produtividade I</a:t>
            </a:r>
          </a:p>
        </p:txBody>
      </p:sp>
      <p:sp>
        <p:nvSpPr>
          <p:cNvPr id="9" name="Google Shape;644;p43">
            <a:extLst>
              <a:ext uri="{FF2B5EF4-FFF2-40B4-BE49-F238E27FC236}">
                <a16:creationId xmlns:a16="http://schemas.microsoft.com/office/drawing/2014/main" id="{B612F43F-1A04-48AE-A3B3-9823407766F9}"/>
              </a:ext>
            </a:extLst>
          </p:cNvPr>
          <p:cNvSpPr txBox="1">
            <a:spLocks/>
          </p:cNvSpPr>
          <p:nvPr/>
        </p:nvSpPr>
        <p:spPr>
          <a:xfrm>
            <a:off x="561745" y="3234396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defTabSz="609630">
              <a:spcBef>
                <a:spcPts val="0"/>
              </a:spcBef>
              <a:buClr>
                <a:srgbClr val="000000"/>
              </a:buClr>
              <a:defRPr/>
            </a:pPr>
            <a:r>
              <a:rPr lang="pt-BR" sz="1800" b="0" noProof="0" dirty="0">
                <a:solidFill>
                  <a:schemeClr val="bg1">
                    <a:lumMod val="7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Aula 2: Uso de atalhos e navegação eficiente</a:t>
            </a: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29D62C2D-8EF0-4993-A4E9-775F2B38E16E}"/>
              </a:ext>
            </a:extLst>
          </p:cNvPr>
          <p:cNvSpPr txBox="1">
            <a:spLocks/>
          </p:cNvSpPr>
          <p:nvPr/>
        </p:nvSpPr>
        <p:spPr>
          <a:xfrm>
            <a:off x="561745" y="4087879"/>
            <a:ext cx="6814747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609630">
              <a:buSzPts val="2500"/>
              <a:defRPr/>
            </a:pPr>
            <a:r>
              <a:rPr lang="pt-BR" sz="1800" noProof="0" dirty="0">
                <a:latin typeface="Poppins" panose="00000500000000000000" pitchFamily="2" charset="0"/>
                <a:cs typeface="Poppins"/>
              </a:rPr>
              <a:t>Código da aula: DADOSANO1C1B2S9A2</a:t>
            </a:r>
          </a:p>
        </p:txBody>
      </p:sp>
    </p:spTree>
    <p:extLst>
      <p:ext uri="{BB962C8B-B14F-4D97-AF65-F5344CB8AC3E}">
        <p14:creationId xmlns:p14="http://schemas.microsoft.com/office/powerpoint/2010/main" val="228216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597C-3665-5B59-2FA8-3A240EE3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74B573CB-4074-C14A-0541-1BD55EC022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6" name="Google Shape;293;p3">
            <a:extLst>
              <a:ext uri="{FF2B5EF4-FFF2-40B4-BE49-F238E27FC236}">
                <a16:creationId xmlns:a16="http://schemas.microsoft.com/office/drawing/2014/main" id="{79DA6758-9C44-1A30-55B9-D0A5910542BF}"/>
              </a:ext>
            </a:extLst>
          </p:cNvPr>
          <p:cNvSpPr/>
          <p:nvPr/>
        </p:nvSpPr>
        <p:spPr>
          <a:xfrm rot="-3438299">
            <a:off x="3101898" y="46871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r">
              <a:buSzPts val="2700"/>
            </a:pPr>
            <a:endParaRPr lang="pt-BR" sz="1800" noProof="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68EC66BC-EF61-AEF1-9D1E-65147E171726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BC983414-84B4-55A9-203E-FAB272334FC6}"/>
              </a:ext>
            </a:extLst>
          </p:cNvPr>
          <p:cNvSpPr/>
          <p:nvPr/>
        </p:nvSpPr>
        <p:spPr>
          <a:xfrm rot="-4951757">
            <a:off x="7445899" y="2445517"/>
            <a:ext cx="210524" cy="21052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E20B25AC-5CC5-EC1E-F82E-05BEC13A5CD6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BECEB7F9-6C09-A4EA-1114-989B3E314555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3AC6BB91-AF77-4826-47FD-D8720840EA74}"/>
              </a:ext>
            </a:extLst>
          </p:cNvPr>
          <p:cNvGrpSpPr/>
          <p:nvPr/>
        </p:nvGrpSpPr>
        <p:grpSpPr>
          <a:xfrm>
            <a:off x="587293" y="1657363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AB545CC5-A835-E161-BA94-6D1155D11DFD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BAEA355B-52F1-D957-5836-0F11D64D732F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BFEB012D-1395-60AF-D5C2-CD0B000CD58D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AA1A6550-824E-C372-DB1D-691125EEF786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D9DDFD51-063C-8AF9-B15E-F24A633AEEB7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7682BA6C-8EEF-03F1-AB4F-91BCFD544902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DC011B51-1C4C-6BE5-E876-84A6273A3F85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2CB83300-4D2E-4269-19FC-505E9F127F7B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80AA4DF5-EC5C-2DDF-6BD6-C552F40969F7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10705E88-1FDB-4738-207D-992F638039B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B9FF8638-3699-1B35-6BFD-17204B32C618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61E4DD94-A6FA-395F-BCF8-342776DBDE1F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56837715-31F1-98F3-6B4F-1D68E8FC11C9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73A1B6D1-0DB0-9678-5893-0F06F073B001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7CBD73D1-7D8E-7957-A1BD-EF37372333EB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D50A3569-CDFC-A8A7-C598-EE9FB78BFEDA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lang="pt-BR" sz="1800" noProof="0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0D085663-E5E2-DA22-31F3-4F9C42AB67F7}"/>
              </a:ext>
            </a:extLst>
          </p:cNvPr>
          <p:cNvSpPr/>
          <p:nvPr/>
        </p:nvSpPr>
        <p:spPr>
          <a:xfrm>
            <a:off x="2933526" y="2830191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7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2A02447B-0583-9F49-3693-ECF7E5B5B2DA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3201572" y="3366284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595CDED8-552A-39B4-2C03-011DD7CA2E76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C5ACD5BD-6BC2-62B8-9681-FE9637389B1F}"/>
              </a:ext>
            </a:extLst>
          </p:cNvPr>
          <p:cNvSpPr/>
          <p:nvPr/>
        </p:nvSpPr>
        <p:spPr>
          <a:xfrm>
            <a:off x="5860040" y="62685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8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472C0791-CB62-E300-6521-085DD10656A4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5" y="1162945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C01377C8-9B1D-07BB-F0B3-A058A819ADEA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B02BFA25-F3BB-1660-1753-672633BFA355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34639" y="2145716"/>
            <a:ext cx="469019" cy="340942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308FEB54-78E5-E96A-8554-6AAEA5FFE7C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723761">
            <a:off x="6529979" y="5582655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26;p3">
            <a:extLst>
              <a:ext uri="{FF2B5EF4-FFF2-40B4-BE49-F238E27FC236}">
                <a16:creationId xmlns:a16="http://schemas.microsoft.com/office/drawing/2014/main" id="{D63FAF39-9E9B-A01A-2772-94F6521961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10072805" y="371605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D4A182C8-A6C9-2963-01DB-1CF9B008C3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30774" y="48326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49E50CBB-3CE4-DF55-A52C-076E38BE5C84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11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5A70FA77-9B6E-A36D-4686-139033601435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099CB6FC-D5B6-E602-0AEF-DC1957052853}"/>
              </a:ext>
            </a:extLst>
          </p:cNvPr>
          <p:cNvSpPr txBox="1"/>
          <p:nvPr/>
        </p:nvSpPr>
        <p:spPr>
          <a:xfrm>
            <a:off x="287503" y="3965364"/>
            <a:ext cx="283256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Redes e dispositivos </a:t>
            </a:r>
          </a:p>
          <a:p>
            <a:pPr>
              <a:buSzPts val="2250"/>
            </a:pPr>
            <a:r>
              <a:rPr lang="pt-BR" sz="1700" noProof="0" dirty="0"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de conectividade</a:t>
            </a: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16719715-ADD5-D095-35B2-541349E467AD}"/>
              </a:ext>
            </a:extLst>
          </p:cNvPr>
          <p:cNvSpPr txBox="1"/>
          <p:nvPr/>
        </p:nvSpPr>
        <p:spPr>
          <a:xfrm>
            <a:off x="4235608" y="5628928"/>
            <a:ext cx="245496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</a:t>
            </a:r>
          </a:p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 produtividade II</a:t>
            </a: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2028C7A1-D4F3-E117-E719-C7FB3786272F}"/>
              </a:ext>
            </a:extLst>
          </p:cNvPr>
          <p:cNvSpPr txBox="1"/>
          <p:nvPr/>
        </p:nvSpPr>
        <p:spPr>
          <a:xfrm>
            <a:off x="6510730" y="645973"/>
            <a:ext cx="467434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Endereçamento e protocolos de rede</a:t>
            </a: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396F5C4B-73D8-88F9-4BB9-E355D4F62997}"/>
              </a:ext>
            </a:extLst>
          </p:cNvPr>
          <p:cNvSpPr txBox="1"/>
          <p:nvPr/>
        </p:nvSpPr>
        <p:spPr>
          <a:xfrm>
            <a:off x="8673545" y="1652519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e produtividade I</a:t>
            </a: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A7BD05C2-53DB-22A5-07DF-BC0623493CA4}"/>
              </a:ext>
            </a:extLst>
          </p:cNvPr>
          <p:cNvSpPr txBox="1"/>
          <p:nvPr/>
        </p:nvSpPr>
        <p:spPr>
          <a:xfrm>
            <a:off x="9949272" y="4530800"/>
            <a:ext cx="209334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Ferramentas </a:t>
            </a:r>
          </a:p>
          <a:p>
            <a:pPr>
              <a:buSzPts val="2250"/>
            </a:pPr>
            <a:r>
              <a:rPr lang="pt-BR" sz="17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de escritório I</a:t>
            </a:r>
            <a:endParaRPr lang="pt-BR" sz="1700" noProof="0" dirty="0"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83F70B31-E691-14BF-BDC2-EB00180DF98B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20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323;p3">
            <a:extLst>
              <a:ext uri="{FF2B5EF4-FFF2-40B4-BE49-F238E27FC236}">
                <a16:creationId xmlns:a16="http://schemas.microsoft.com/office/drawing/2014/main" id="{0A41A836-65AC-184D-F7A9-3C6620684FCA}"/>
              </a:ext>
            </a:extLst>
          </p:cNvPr>
          <p:cNvSpPr txBox="1"/>
          <p:nvPr/>
        </p:nvSpPr>
        <p:spPr>
          <a:xfrm>
            <a:off x="8640878" y="1394623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noProof="0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lang="pt-BR" sz="1400" noProof="0" dirty="0">
              <a:latin typeface="Poppins" panose="00000500000000000000" pitchFamily="2" charset="0"/>
            </a:endParaRPr>
          </a:p>
        </p:txBody>
      </p:sp>
      <p:pic>
        <p:nvPicPr>
          <p:cNvPr id="56" name="Google Shape;324;p3">
            <a:extLst>
              <a:ext uri="{FF2B5EF4-FFF2-40B4-BE49-F238E27FC236}">
                <a16:creationId xmlns:a16="http://schemas.microsoft.com/office/drawing/2014/main" id="{1C841CE0-CBA9-59C5-05B6-D9B3AFFF76E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947512" y="151014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326;p3">
            <a:extLst>
              <a:ext uri="{FF2B5EF4-FFF2-40B4-BE49-F238E27FC236}">
                <a16:creationId xmlns:a16="http://schemas.microsoft.com/office/drawing/2014/main" id="{B0205168-628E-ADF6-814E-C23C455180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837257" y="2684184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95CA244-68F9-CFDA-C0FD-E1F25F1912C0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Google Shape;329;p3">
            <a:extLst>
              <a:ext uri="{FF2B5EF4-FFF2-40B4-BE49-F238E27FC236}">
                <a16:creationId xmlns:a16="http://schemas.microsoft.com/office/drawing/2014/main" id="{59A0332E-FE0B-C155-ECD7-2A31C3FFB5B0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Introdução à informática 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3975C30-B7D9-C90C-5ED4-E1720D6A0918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Google Shape;331;p3">
            <a:extLst>
              <a:ext uri="{FF2B5EF4-FFF2-40B4-BE49-F238E27FC236}">
                <a16:creationId xmlns:a16="http://schemas.microsoft.com/office/drawing/2014/main" id="{9CFDF5B8-C0CD-1494-4CFB-755563702993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1   Componente 1</a:t>
            </a:r>
          </a:p>
        </p:txBody>
      </p:sp>
    </p:spTree>
    <p:extLst>
      <p:ext uri="{BB962C8B-B14F-4D97-AF65-F5344CB8AC3E}">
        <p14:creationId xmlns:p14="http://schemas.microsoft.com/office/powerpoint/2010/main" val="3361878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AB02-F0F6-3F99-5564-2006AECA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0167596E-08EE-6F5B-D2A6-3B898E3FC8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708588" y="2655329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2F637F1E-EB40-0751-5DF4-27D1359DB7D4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>
              <a:buSzPts val="2700"/>
            </a:pPr>
            <a:endParaRPr lang="pt-BR" sz="1800" noProof="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AFD57531-6FB3-2226-E5CD-BFE082E74162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buSzPts val="6000"/>
            </a:pPr>
            <a:r>
              <a:rPr lang="pt-BR" sz="4200" b="1" noProof="0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4200" noProof="0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C87726BB-EC33-F4C2-7000-6740F3C5CDD8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50CC2D87-7AEE-BD29-F64E-C7262FAAE97A}"/>
              </a:ext>
            </a:extLst>
          </p:cNvPr>
          <p:cNvSpPr txBox="1"/>
          <p:nvPr/>
        </p:nvSpPr>
        <p:spPr>
          <a:xfrm>
            <a:off x="3234690" y="3203817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250"/>
            </a:pPr>
            <a:r>
              <a:rPr lang="pt-BR" sz="1800" noProof="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 pitchFamily="2" charset="77"/>
                <a:sym typeface="Poppins Light"/>
              </a:rPr>
              <a:t>Organização digital e produtividade I</a:t>
            </a: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A96613B5-3EEA-E814-FB74-3416D7361F93}"/>
              </a:ext>
            </a:extLst>
          </p:cNvPr>
          <p:cNvSpPr txBox="1"/>
          <p:nvPr/>
        </p:nvSpPr>
        <p:spPr>
          <a:xfrm>
            <a:off x="3234690" y="2834485"/>
            <a:ext cx="2582980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000"/>
            </a:pPr>
            <a:r>
              <a:rPr lang="pt-BR" sz="2200" b="1" noProof="0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lang="pt-BR" sz="2200" noProof="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7E665B17-36C7-472E-E751-0056D02343D3}"/>
              </a:ext>
            </a:extLst>
          </p:cNvPr>
          <p:cNvSpPr txBox="1"/>
          <p:nvPr/>
        </p:nvSpPr>
        <p:spPr>
          <a:xfrm>
            <a:off x="3234690" y="5324225"/>
            <a:ext cx="4785301" cy="699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500"/>
            </a:pPr>
            <a:r>
              <a:rPr lang="pt-BR" sz="1800" noProof="0" dirty="0"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DADOSANO1C1B2S9A2</a:t>
            </a:r>
            <a:endParaRPr lang="pt-BR" sz="1800" noProof="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A81B55AC-4381-C486-6714-33674BE5CEBA}"/>
              </a:ext>
            </a:extLst>
          </p:cNvPr>
          <p:cNvSpPr txBox="1"/>
          <p:nvPr/>
        </p:nvSpPr>
        <p:spPr>
          <a:xfrm>
            <a:off x="3234690" y="4576477"/>
            <a:ext cx="5849811" cy="5354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defTabSz="609630">
              <a:defRPr/>
            </a:pPr>
            <a:r>
              <a:rPr lang="pt-BR" sz="1800" b="1" noProof="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2: Uso de atalhos e navegação eficiente</a:t>
            </a:r>
            <a:endParaRPr lang="pt-BR" sz="1800" b="1" noProof="0" dirty="0">
              <a:latin typeface="Poppins" panose="000005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B761611-4CC5-41FA-4ABD-A9BA5B5C6241}"/>
              </a:ext>
            </a:extLst>
          </p:cNvPr>
          <p:cNvSpPr txBox="1"/>
          <p:nvPr/>
        </p:nvSpPr>
        <p:spPr>
          <a:xfrm>
            <a:off x="365760" y="2743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E6D4648-539E-548C-C10B-30B0E8D0518A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BAEE069D-6CA5-8A6C-0F89-114A8745C714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>
              <a:buSzPts val="2000"/>
            </a:pPr>
            <a:r>
              <a:rPr lang="pt-BR" sz="1300" b="1" dirty="0">
                <a:solidFill>
                  <a:srgbClr val="FFFFFF"/>
                </a:solidFill>
                <a:latin typeface="Poppins" pitchFamily="2" charset="77"/>
                <a:ea typeface="Poppins SemiBold"/>
                <a:cs typeface="Poppins" pitchFamily="2" charset="77"/>
                <a:sym typeface="Poppins SemiBold"/>
              </a:rPr>
              <a:t>Introdução à informática 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99C0D55-836E-1B9B-8F73-422727C5212F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Google Shape;331;p3">
            <a:extLst>
              <a:ext uri="{FF2B5EF4-FFF2-40B4-BE49-F238E27FC236}">
                <a16:creationId xmlns:a16="http://schemas.microsoft.com/office/drawing/2014/main" id="{AB4CE353-0DB2-6C21-91C4-06A84EDA3704}"/>
              </a:ext>
            </a:extLst>
          </p:cNvPr>
          <p:cNvSpPr txBox="1"/>
          <p:nvPr/>
        </p:nvSpPr>
        <p:spPr>
          <a:xfrm>
            <a:off x="2160045" y="891153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1   Componente 1</a:t>
            </a:r>
          </a:p>
        </p:txBody>
      </p:sp>
    </p:spTree>
    <p:extLst>
      <p:ext uri="{BB962C8B-B14F-4D97-AF65-F5344CB8AC3E}">
        <p14:creationId xmlns:p14="http://schemas.microsoft.com/office/powerpoint/2010/main" val="2132058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>
          <a:extLst>
            <a:ext uri="{FF2B5EF4-FFF2-40B4-BE49-F238E27FC236}">
              <a16:creationId xmlns:a16="http://schemas.microsoft.com/office/drawing/2014/main" id="{AB59D833-9F9B-02A9-4C9A-95272285F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374598-C833-F765-A6D9-A1D49F854CE3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622" noProof="0" dirty="0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84AC569E-2E5F-3822-8F2A-90E2CBE9D1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3741" y="1342524"/>
            <a:ext cx="3968360" cy="97776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Compreender e aplicar o conceito de uso de atalhos e navegação eficiente.</a:t>
            </a:r>
          </a:p>
        </p:txBody>
      </p:sp>
      <p:sp>
        <p:nvSpPr>
          <p:cNvPr id="13" name="Espaço Reservado para Texto 7">
            <a:extLst>
              <a:ext uri="{FF2B5EF4-FFF2-40B4-BE49-F238E27FC236}">
                <a16:creationId xmlns:a16="http://schemas.microsoft.com/office/drawing/2014/main" id="{A4EBC5AD-7910-7689-480C-712AE8D706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7165" y="1355465"/>
            <a:ext cx="3968360" cy="115913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Organizar arquivos e recursos digitais de forma produtiva.</a:t>
            </a:r>
          </a:p>
        </p:txBody>
      </p:sp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A3479140-D86F-0970-4636-76C15A4744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7165" y="3649331"/>
            <a:ext cx="4317155" cy="118556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Organizar ações em grupo com responsabilidade e cooperação.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6D8004-2A86-4431-8B4F-9ADA9D0C4358}"/>
              </a:ext>
            </a:extLst>
          </p:cNvPr>
          <p:cNvSpPr/>
          <p:nvPr/>
        </p:nvSpPr>
        <p:spPr>
          <a:xfrm>
            <a:off x="198783" y="2584174"/>
            <a:ext cx="4154556" cy="1351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oogle Shape;27;p31">
            <a:extLst>
              <a:ext uri="{FF2B5EF4-FFF2-40B4-BE49-F238E27FC236}">
                <a16:creationId xmlns:a16="http://schemas.microsoft.com/office/drawing/2014/main" id="{EAF4A66A-1F92-4A5A-BF70-D27089792FD0}"/>
              </a:ext>
            </a:extLst>
          </p:cNvPr>
          <p:cNvSpPr txBox="1"/>
          <p:nvPr/>
        </p:nvSpPr>
        <p:spPr>
          <a:xfrm>
            <a:off x="1433188" y="2413801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42;p31">
            <a:extLst>
              <a:ext uri="{FF2B5EF4-FFF2-40B4-BE49-F238E27FC236}">
                <a16:creationId xmlns:a16="http://schemas.microsoft.com/office/drawing/2014/main" id="{A39D4D17-40A9-4D09-B863-A2231323620A}"/>
              </a:ext>
            </a:extLst>
          </p:cNvPr>
          <p:cNvSpPr/>
          <p:nvPr/>
        </p:nvSpPr>
        <p:spPr>
          <a:xfrm>
            <a:off x="514540" y="246887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44;p31">
            <a:extLst>
              <a:ext uri="{FF2B5EF4-FFF2-40B4-BE49-F238E27FC236}">
                <a16:creationId xmlns:a16="http://schemas.microsoft.com/office/drawing/2014/main" id="{D2A33562-7D66-40F9-B99C-6AE85BEEF6B6}"/>
              </a:ext>
            </a:extLst>
          </p:cNvPr>
          <p:cNvGrpSpPr/>
          <p:nvPr/>
        </p:nvGrpSpPr>
        <p:grpSpPr>
          <a:xfrm>
            <a:off x="632680" y="2599548"/>
            <a:ext cx="486839" cy="481169"/>
            <a:chOff x="8278989" y="8660410"/>
            <a:chExt cx="569755" cy="563121"/>
          </a:xfrm>
        </p:grpSpPr>
        <p:grpSp>
          <p:nvGrpSpPr>
            <p:cNvPr id="11" name="Google Shape;45;p31">
              <a:extLst>
                <a:ext uri="{FF2B5EF4-FFF2-40B4-BE49-F238E27FC236}">
                  <a16:creationId xmlns:a16="http://schemas.microsoft.com/office/drawing/2014/main" id="{649A8CD4-80B7-45A5-8B5E-6EE48689646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8" name="Google Shape;46;p31">
                <a:extLst>
                  <a:ext uri="{FF2B5EF4-FFF2-40B4-BE49-F238E27FC236}">
                    <a16:creationId xmlns:a16="http://schemas.microsoft.com/office/drawing/2014/main" id="{395EFDF3-3294-413E-9944-C621D0BBBD06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7;p31">
                <a:extLst>
                  <a:ext uri="{FF2B5EF4-FFF2-40B4-BE49-F238E27FC236}">
                    <a16:creationId xmlns:a16="http://schemas.microsoft.com/office/drawing/2014/main" id="{01B9375C-610F-4607-A6FF-F903412B29F3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48;p31">
              <a:extLst>
                <a:ext uri="{FF2B5EF4-FFF2-40B4-BE49-F238E27FC236}">
                  <a16:creationId xmlns:a16="http://schemas.microsoft.com/office/drawing/2014/main" id="{122F8C84-36EF-44CF-84B0-86DAC5B29EDC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49;p31">
              <a:extLst>
                <a:ext uri="{FF2B5EF4-FFF2-40B4-BE49-F238E27FC236}">
                  <a16:creationId xmlns:a16="http://schemas.microsoft.com/office/drawing/2014/main" id="{8ED8B7C2-1EEE-4F29-BEC4-1321F4C9DD10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50;p31">
              <a:extLst>
                <a:ext uri="{FF2B5EF4-FFF2-40B4-BE49-F238E27FC236}">
                  <a16:creationId xmlns:a16="http://schemas.microsoft.com/office/drawing/2014/main" id="{80D24F0A-3C4C-4EB0-B719-610EF114D7AC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Espaço Reservado para Texto 7">
            <a:extLst>
              <a:ext uri="{FF2B5EF4-FFF2-40B4-BE49-F238E27FC236}">
                <a16:creationId xmlns:a16="http://schemas.microsoft.com/office/drawing/2014/main" id="{A35C4153-7C73-654F-4025-F2F1C64E3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95390" y="2911298"/>
            <a:ext cx="3976711" cy="1526027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Recurso audiovisual para exibição de vídeos e imagens;</a:t>
            </a:r>
          </a:p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Acesso ao laboratório de informática e/ou à internet;</a:t>
            </a:r>
          </a:p>
          <a:p>
            <a:pPr>
              <a:spcAft>
                <a:spcPts val="400"/>
              </a:spcAft>
            </a:pPr>
            <a:r>
              <a:rPr lang="pt-BR" sz="15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</a:rPr>
              <a:t>Papel e caneta.</a:t>
            </a:r>
          </a:p>
          <a:p>
            <a:pPr marL="0" indent="0">
              <a:spcAft>
                <a:spcPts val="400"/>
              </a:spcAft>
              <a:buNone/>
            </a:pPr>
            <a:endParaRPr lang="pt-BR" sz="1500" noProof="0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</a:endParaRPr>
          </a:p>
          <a:p>
            <a:pPr marL="0" indent="0">
              <a:spcAft>
                <a:spcPts val="400"/>
              </a:spcAft>
              <a:buNone/>
            </a:pPr>
            <a:endParaRPr lang="pt-BR" sz="1500" noProof="0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0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>
          <a:extLst>
            <a:ext uri="{FF2B5EF4-FFF2-40B4-BE49-F238E27FC236}">
              <a16:creationId xmlns:a16="http://schemas.microsoft.com/office/drawing/2014/main" id="{E3A8C879-DA07-1F9B-EB0F-E486FC22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ixaDeTexto 20">
            <a:extLst>
              <a:ext uri="{FF2B5EF4-FFF2-40B4-BE49-F238E27FC236}">
                <a16:creationId xmlns:a16="http://schemas.microsoft.com/office/drawing/2014/main" id="{991D93A0-8BE4-2D17-1A30-B97A2FD3D1E5}"/>
              </a:ext>
            </a:extLst>
          </p:cNvPr>
          <p:cNvSpPr txBox="1"/>
          <p:nvPr/>
        </p:nvSpPr>
        <p:spPr>
          <a:xfrm>
            <a:off x="11742295" y="64257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DD88161-9A87-5A7B-D26D-6855C5D2261F}"/>
              </a:ext>
            </a:extLst>
          </p:cNvPr>
          <p:cNvSpPr txBox="1"/>
          <p:nvPr/>
        </p:nvSpPr>
        <p:spPr>
          <a:xfrm>
            <a:off x="12758057" y="55734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2A2F4414-FC9D-9226-F529-01DA984E00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98407" y="1076653"/>
            <a:ext cx="7831593" cy="847780"/>
          </a:xfrm>
          <a:prstGeom prst="rect">
            <a:avLst/>
          </a:prstGeom>
        </p:spPr>
        <p:txBody>
          <a:bodyPr/>
          <a:lstStyle>
            <a:lvl1pPr>
              <a:defRPr sz="24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800" dirty="0">
                <a:latin typeface="Poppins" panose="00000500000000000000" pitchFamily="2" charset="0"/>
              </a:rPr>
              <a:t>Na aula passada, aprendemos como </a:t>
            </a:r>
            <a:r>
              <a:rPr lang="pt-BR" sz="1800" b="1" dirty="0">
                <a:latin typeface="Poppins" panose="00000500000000000000" pitchFamily="2" charset="0"/>
              </a:rPr>
              <a:t>organizar arquivos e pastas</a:t>
            </a:r>
            <a:r>
              <a:rPr lang="pt-BR" sz="1800" dirty="0">
                <a:latin typeface="Poppins" panose="00000500000000000000" pitchFamily="2" charset="0"/>
              </a:rPr>
              <a:t> para manter o computador em ordem e encontrar rapidamente o que precisamos. </a:t>
            </a:r>
          </a:p>
          <a:p>
            <a:pPr lvl="0"/>
            <a:endParaRPr lang="pt-BR" sz="1800" dirty="0"/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846C7C35-D82D-6B27-3B5D-A97CC9EA63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06745" y="5094662"/>
            <a:ext cx="7459456" cy="1162050"/>
          </a:xfrm>
          <a:prstGeom prst="rect">
            <a:avLst/>
          </a:prstGeom>
        </p:spPr>
        <p:txBody>
          <a:bodyPr/>
          <a:lstStyle>
            <a:lvl1pPr>
              <a:defRPr sz="18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dirty="0">
                <a:latin typeface="Poppins" panose="00000500000000000000" pitchFamily="2" charset="0"/>
              </a:rPr>
              <a:t>Mas por que, em algumas situações em que o computador está organizado, algumas pessoas ainda demoram para fazer certas tarefas – como abrir um programa, copiar um texto ou mudar de janela?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D36B61B-8F04-B32B-AAB9-F0AEA53C9FB0}"/>
              </a:ext>
            </a:extLst>
          </p:cNvPr>
          <p:cNvSpPr txBox="1"/>
          <p:nvPr/>
        </p:nvSpPr>
        <p:spPr>
          <a:xfrm>
            <a:off x="3598407" y="512379"/>
            <a:ext cx="7981365" cy="39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t" anchorCtr="0">
            <a:noAutofit/>
          </a:bodyPr>
          <a:lstStyle/>
          <a:p>
            <a:r>
              <a:rPr lang="pt-BR" sz="26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Gerenciamento de arquivos e pastas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2050F3-B6BA-D154-ED6B-035FF1641E63}"/>
              </a:ext>
            </a:extLst>
          </p:cNvPr>
          <p:cNvSpPr txBox="1"/>
          <p:nvPr/>
        </p:nvSpPr>
        <p:spPr>
          <a:xfrm>
            <a:off x="3598407" y="2493885"/>
            <a:ext cx="3174534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Vimos que criar uma boa hierarquia de pastas no computador permite encontrar rapidamente o que se precisa, evitando confusões e melhorando o trabalho em equipe.</a:t>
            </a:r>
            <a:endParaRPr lang="pt-BR" sz="1600" dirty="0">
              <a:latin typeface="Poppins" panose="00000500000000000000" pitchFamily="2" charset="0"/>
            </a:endParaRPr>
          </a:p>
        </p:txBody>
      </p:sp>
      <p:sp>
        <p:nvSpPr>
          <p:cNvPr id="5" name="Triângulo 8">
            <a:extLst>
              <a:ext uri="{FF2B5EF4-FFF2-40B4-BE49-F238E27FC236}">
                <a16:creationId xmlns:a16="http://schemas.microsoft.com/office/drawing/2014/main" id="{075E424B-9452-B527-61EE-05D8D88C7AD9}"/>
              </a:ext>
            </a:extLst>
          </p:cNvPr>
          <p:cNvSpPr/>
          <p:nvPr/>
        </p:nvSpPr>
        <p:spPr>
          <a:xfrm rot="5400000">
            <a:off x="3730358" y="5205474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B1F4DE-5015-2797-278B-5CD057857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19988" y="1959801"/>
            <a:ext cx="4346213" cy="2898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C46EC38-8121-362F-DBA9-8F8D7C03AE13}"/>
              </a:ext>
            </a:extLst>
          </p:cNvPr>
          <p:cNvSpPr txBox="1"/>
          <p:nvPr/>
        </p:nvSpPr>
        <p:spPr>
          <a:xfrm>
            <a:off x="6918882" y="4858922"/>
            <a:ext cx="1887187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 panose="00000500000000000000" pitchFamily="2" charset="0"/>
              </a:rPr>
              <a:t>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232569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F8ED89D0-4503-9DB7-E980-1B563D6F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BC1AD93E-7903-F7A1-2A2E-BE6C1F3E23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1764" y="789875"/>
            <a:ext cx="8906312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Atalhos: agilidade no uso do computador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DD67258B-51DB-2792-E136-AC0ADA0E3D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33497" y="3206802"/>
            <a:ext cx="4954248" cy="57057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700" b="1" dirty="0">
                <a:latin typeface="Poppins" panose="00000500000000000000" pitchFamily="2" charset="0"/>
              </a:rPr>
              <a:t>Exemplo: </a:t>
            </a:r>
          </a:p>
          <a:p>
            <a:r>
              <a:rPr lang="pt-BR" sz="1700" dirty="0">
                <a:latin typeface="Poppins" panose="00000500000000000000" pitchFamily="2" charset="0"/>
              </a:rPr>
              <a:t>Para copiar dados do </a:t>
            </a:r>
            <a:r>
              <a:rPr lang="pt-BR" sz="1700" b="1" dirty="0">
                <a:latin typeface="Poppins" panose="00000500000000000000" pitchFamily="2" charset="0"/>
              </a:rPr>
              <a:t>Excel</a:t>
            </a:r>
            <a:r>
              <a:rPr lang="pt-BR" sz="1700" dirty="0">
                <a:latin typeface="Poppins" panose="00000500000000000000" pitchFamily="2" charset="0"/>
              </a:rPr>
              <a:t> para o </a:t>
            </a:r>
            <a:r>
              <a:rPr lang="pt-BR" sz="1700" b="1" dirty="0">
                <a:latin typeface="Poppins" panose="00000500000000000000" pitchFamily="2" charset="0"/>
              </a:rPr>
              <a:t>Word</a:t>
            </a:r>
            <a:r>
              <a:rPr lang="pt-BR" sz="1700" dirty="0">
                <a:latin typeface="Poppins" panose="00000500000000000000" pitchFamily="2" charset="0"/>
              </a:rPr>
              <a:t>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3B66F6F-7144-DC35-B050-05028E94B291}"/>
              </a:ext>
            </a:extLst>
          </p:cNvPr>
          <p:cNvSpPr txBox="1"/>
          <p:nvPr/>
        </p:nvSpPr>
        <p:spPr>
          <a:xfrm>
            <a:off x="12460625" y="557733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879C9C8-CFDC-64DE-729A-0DBF765468E9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2BC462-BC9B-EAAD-6FFE-758727CA7C49}"/>
              </a:ext>
            </a:extLst>
          </p:cNvPr>
          <p:cNvSpPr txBox="1"/>
          <p:nvPr/>
        </p:nvSpPr>
        <p:spPr>
          <a:xfrm>
            <a:off x="9036752" y="454307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Google Shape;136;p4">
            <a:extLst>
              <a:ext uri="{FF2B5EF4-FFF2-40B4-BE49-F238E27FC236}">
                <a16:creationId xmlns:a16="http://schemas.microsoft.com/office/drawing/2014/main" id="{9E0D2A24-5399-C35C-964E-D5B3573DAAE9}"/>
              </a:ext>
            </a:extLst>
          </p:cNvPr>
          <p:cNvSpPr txBox="1"/>
          <p:nvPr/>
        </p:nvSpPr>
        <p:spPr>
          <a:xfrm>
            <a:off x="8675069" y="3429000"/>
            <a:ext cx="3221963" cy="1893553"/>
          </a:xfrm>
          <a:prstGeom prst="rect">
            <a:avLst/>
          </a:prstGeom>
          <a:solidFill>
            <a:srgbClr val="AAA6D3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>
              <a:buSzPts val="1800"/>
            </a:pPr>
            <a:endParaRPr lang="pt-BR" sz="1100" dirty="0"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>
              <a:buSzPts val="1800"/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Quanto mais atalhos você dominar, mais </a:t>
            </a:r>
            <a:r>
              <a:rPr kumimoji="0" lang="pt-B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ágil, organizado e eficiente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se tornará seu trabalho com dados.</a:t>
            </a:r>
            <a:endParaRPr lang="pt-BR" sz="1800" dirty="0"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1EBF844-7AA4-FAF5-E6C5-3FA2366C4632}"/>
              </a:ext>
            </a:extLst>
          </p:cNvPr>
          <p:cNvGrpSpPr/>
          <p:nvPr/>
        </p:nvGrpSpPr>
        <p:grpSpPr>
          <a:xfrm>
            <a:off x="8153086" y="3049238"/>
            <a:ext cx="3499948" cy="728133"/>
            <a:chOff x="12496121" y="1426319"/>
            <a:chExt cx="5249922" cy="109220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37BD58D2-9F88-7DE1-0897-F89A33E92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96121" y="1426319"/>
              <a:ext cx="5207000" cy="1092200"/>
            </a:xfrm>
            <a:prstGeom prst="rect">
              <a:avLst/>
            </a:prstGeom>
          </p:spPr>
        </p:pic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EF0C8604-470C-5E92-6BF2-6B93342A6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05CDAE8-17FB-D09A-CD70-C716090E07F8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500" b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9979B60-EC8A-4773-05F4-240FDFB7588E}"/>
              </a:ext>
            </a:extLst>
          </p:cNvPr>
          <p:cNvSpPr txBox="1"/>
          <p:nvPr/>
        </p:nvSpPr>
        <p:spPr>
          <a:xfrm>
            <a:off x="2784729" y="1629030"/>
            <a:ext cx="8605857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Ao utilizar o computador, é possível realizar diversas ações: abrir, copiar, salvar e alternar entre programas.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5354170-4DF0-BE05-3517-9FBDB6012B84}"/>
              </a:ext>
            </a:extLst>
          </p:cNvPr>
          <p:cNvSpPr txBox="1"/>
          <p:nvPr/>
        </p:nvSpPr>
        <p:spPr>
          <a:xfrm>
            <a:off x="2784729" y="2317360"/>
            <a:ext cx="835522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Os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atalhos de teclado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permitem executar essas tarefas 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de forma rápida e precisa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, sem depender apenas do mouse.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258A0FF-101D-706D-5305-77A8ACB9B827}"/>
              </a:ext>
            </a:extLst>
          </p:cNvPr>
          <p:cNvSpPr txBox="1"/>
          <p:nvPr/>
        </p:nvSpPr>
        <p:spPr>
          <a:xfrm>
            <a:off x="3265109" y="3995201"/>
            <a:ext cx="5378246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Use as teclas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Alt + Tab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para alternar entre os programas.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Use as teclas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Ctrl + C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para copiar e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Ctrl + V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para colar.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Terminou, pressione as teclas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Ctrl + S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para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salvar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.</a:t>
            </a:r>
          </a:p>
        </p:txBody>
      </p:sp>
      <p:sp>
        <p:nvSpPr>
          <p:cNvPr id="20" name="Google Shape;591;p15">
            <a:extLst>
              <a:ext uri="{FF2B5EF4-FFF2-40B4-BE49-F238E27FC236}">
                <a16:creationId xmlns:a16="http://schemas.microsoft.com/office/drawing/2014/main" id="{2039692C-325A-A7F3-07A4-8DC7EC1DB5AB}"/>
              </a:ext>
            </a:extLst>
          </p:cNvPr>
          <p:cNvSpPr txBox="1"/>
          <p:nvPr/>
        </p:nvSpPr>
        <p:spPr>
          <a:xfrm>
            <a:off x="2948091" y="3973934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1</a:t>
            </a:r>
            <a:endParaRPr sz="18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591;p15">
            <a:extLst>
              <a:ext uri="{FF2B5EF4-FFF2-40B4-BE49-F238E27FC236}">
                <a16:creationId xmlns:a16="http://schemas.microsoft.com/office/drawing/2014/main" id="{241B5AED-5B52-321B-034A-9566A76B61FC}"/>
              </a:ext>
            </a:extLst>
          </p:cNvPr>
          <p:cNvSpPr txBox="1"/>
          <p:nvPr/>
        </p:nvSpPr>
        <p:spPr>
          <a:xfrm>
            <a:off x="2948091" y="4399534"/>
            <a:ext cx="361474" cy="387395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2</a:t>
            </a:r>
            <a:endParaRPr sz="18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591;p15">
            <a:extLst>
              <a:ext uri="{FF2B5EF4-FFF2-40B4-BE49-F238E27FC236}">
                <a16:creationId xmlns:a16="http://schemas.microsoft.com/office/drawing/2014/main" id="{64741F6E-55C3-D597-1A06-CC3CC867BA91}"/>
              </a:ext>
            </a:extLst>
          </p:cNvPr>
          <p:cNvSpPr txBox="1"/>
          <p:nvPr/>
        </p:nvSpPr>
        <p:spPr>
          <a:xfrm>
            <a:off x="2948091" y="4892585"/>
            <a:ext cx="361474" cy="387396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3</a:t>
            </a:r>
            <a:endParaRPr sz="18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26" name="Google Shape;597;p15">
            <a:extLst>
              <a:ext uri="{FF2B5EF4-FFF2-40B4-BE49-F238E27FC236}">
                <a16:creationId xmlns:a16="http://schemas.microsoft.com/office/drawing/2014/main" id="{9E904E26-FFD5-1AE1-8850-4562E5DD63AE}"/>
              </a:ext>
            </a:extLst>
          </p:cNvPr>
          <p:cNvCxnSpPr>
            <a:cxnSpLocks/>
          </p:cNvCxnSpPr>
          <p:nvPr/>
        </p:nvCxnSpPr>
        <p:spPr>
          <a:xfrm flipH="1">
            <a:off x="3309565" y="4264413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7" name="Google Shape;597;p15">
            <a:extLst>
              <a:ext uri="{FF2B5EF4-FFF2-40B4-BE49-F238E27FC236}">
                <a16:creationId xmlns:a16="http://schemas.microsoft.com/office/drawing/2014/main" id="{7438515E-A36C-63B3-DC1D-FA908CAD9AF0}"/>
              </a:ext>
            </a:extLst>
          </p:cNvPr>
          <p:cNvCxnSpPr>
            <a:cxnSpLocks/>
          </p:cNvCxnSpPr>
          <p:nvPr/>
        </p:nvCxnSpPr>
        <p:spPr>
          <a:xfrm flipH="1">
            <a:off x="3307641" y="4703892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8" name="Google Shape;597;p15">
            <a:extLst>
              <a:ext uri="{FF2B5EF4-FFF2-40B4-BE49-F238E27FC236}">
                <a16:creationId xmlns:a16="http://schemas.microsoft.com/office/drawing/2014/main" id="{63DAAA85-2DE4-ECE3-E29E-BE029657E844}"/>
              </a:ext>
            </a:extLst>
          </p:cNvPr>
          <p:cNvCxnSpPr>
            <a:cxnSpLocks/>
          </p:cNvCxnSpPr>
          <p:nvPr/>
        </p:nvCxnSpPr>
        <p:spPr>
          <a:xfrm flipH="1">
            <a:off x="3307641" y="5142365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0961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3B154B05-1F8D-773B-EE72-FCB0D33D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465A58F1-2F67-1775-6458-DBB23291B1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80201" y="786155"/>
            <a:ext cx="9113325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Por que usar atalhos? </a:t>
            </a:r>
            <a:endParaRPr lang="pt-BR" sz="3200" b="1" noProof="0" dirty="0">
              <a:solidFill>
                <a:srgbClr val="FF161F"/>
              </a:solidFill>
              <a:latin typeface="Poppins" panose="00000500000000000000" pitchFamily="2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820E50-0948-F06C-1E79-33DD13270D6E}"/>
              </a:ext>
            </a:extLst>
          </p:cNvPr>
          <p:cNvSpPr txBox="1"/>
          <p:nvPr/>
        </p:nvSpPr>
        <p:spPr>
          <a:xfrm>
            <a:off x="12755593" y="5336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9ED2A7-3028-B4F7-822B-B9F11EB99A42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 noProof="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56F66BB-23B0-C76A-2CB5-BA083E9BA136}"/>
              </a:ext>
            </a:extLst>
          </p:cNvPr>
          <p:cNvSpPr/>
          <p:nvPr/>
        </p:nvSpPr>
        <p:spPr>
          <a:xfrm>
            <a:off x="7408005" y="5012140"/>
            <a:ext cx="4513658" cy="2154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pt-BR" sz="800" noProof="0" dirty="0">
              <a:solidFill>
                <a:srgbClr val="27303F"/>
              </a:solidFill>
              <a:latin typeface="Roboto"/>
            </a:endParaRP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4233D3CD-F057-BAC0-AAE8-B5A2F5A55F76}"/>
              </a:ext>
            </a:extLst>
          </p:cNvPr>
          <p:cNvSpPr txBox="1">
            <a:spLocks/>
          </p:cNvSpPr>
          <p:nvPr/>
        </p:nvSpPr>
        <p:spPr>
          <a:xfrm>
            <a:off x="2808336" y="1935126"/>
            <a:ext cx="4836473" cy="413242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dirty="0">
                <a:latin typeface="Poppins" panose="00000500000000000000" pitchFamily="2" charset="0"/>
              </a:rPr>
              <a:t>Usar atalhos é uma forma de </a:t>
            </a:r>
            <a:r>
              <a:rPr lang="pt-BR" b="1" dirty="0">
                <a:latin typeface="Poppins" panose="00000500000000000000" pitchFamily="2" charset="0"/>
              </a:rPr>
              <a:t>trabalhar com inteligência digital </a:t>
            </a:r>
            <a:r>
              <a:rPr lang="pt-BR" dirty="0">
                <a:latin typeface="Poppins" panose="00000500000000000000" pitchFamily="2" charset="0"/>
              </a:rPr>
              <a:t>e navegar com eficiência. Essas habilidades:</a:t>
            </a:r>
          </a:p>
          <a:p>
            <a:pPr marL="285750" indent="-285750">
              <a:spcBef>
                <a:spcPts val="12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</a:rPr>
              <a:t>aumentam a produtividade; 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</a:rPr>
              <a:t>reduzem o tempo em tarefas simples;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pt-BR" sz="1600" dirty="0">
                <a:latin typeface="Poppins" panose="00000500000000000000" pitchFamily="2" charset="0"/>
              </a:rPr>
              <a:t>facilitam o uso de diferentes programas.</a:t>
            </a: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Na </a:t>
            </a:r>
            <a:r>
              <a:rPr lang="pt-BR" b="1" dirty="0">
                <a:latin typeface="Poppins" panose="00000500000000000000" pitchFamily="2" charset="0"/>
              </a:rPr>
              <a:t>Ciência de Dados</a:t>
            </a:r>
            <a:r>
              <a:rPr lang="pt-BR" dirty="0">
                <a:latin typeface="Poppins" panose="00000500000000000000" pitchFamily="2" charset="0"/>
              </a:rPr>
              <a:t>, isso significa </a:t>
            </a:r>
            <a:r>
              <a:rPr lang="pt-BR" b="1" dirty="0">
                <a:latin typeface="Poppins" panose="00000500000000000000" pitchFamily="2" charset="0"/>
              </a:rPr>
              <a:t>mais agilidade</a:t>
            </a:r>
            <a:r>
              <a:rPr lang="pt-BR" dirty="0">
                <a:latin typeface="Poppins" panose="00000500000000000000" pitchFamily="2" charset="0"/>
              </a:rPr>
              <a:t> para manipular planilhas, organizar relatórios e executar análises.</a:t>
            </a:r>
          </a:p>
          <a:p>
            <a:endParaRPr lang="pt-BR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Navegar bem é </a:t>
            </a:r>
            <a:r>
              <a:rPr lang="pt-BR" b="1" dirty="0">
                <a:latin typeface="Poppins" panose="00000500000000000000" pitchFamily="2" charset="0"/>
              </a:rPr>
              <a:t>usar o computador de forma estratégica</a:t>
            </a:r>
            <a:r>
              <a:rPr lang="pt-BR" dirty="0">
                <a:latin typeface="Poppins" panose="00000500000000000000" pitchFamily="2" charset="0"/>
              </a:rPr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0E94BE4-E187-2091-A740-B6C56C5FE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8113025" y="2326527"/>
            <a:ext cx="3489827" cy="279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6E15EAA-A2F4-C2DC-3963-E5582A8B621E}"/>
              </a:ext>
            </a:extLst>
          </p:cNvPr>
          <p:cNvSpPr txBox="1"/>
          <p:nvPr/>
        </p:nvSpPr>
        <p:spPr>
          <a:xfrm>
            <a:off x="8014310" y="5155040"/>
            <a:ext cx="1865185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100" dirty="0">
                <a:latin typeface="Poppins" panose="00000500000000000000" pitchFamily="2" charset="0"/>
                <a:cs typeface="Poppins" panose="00000500000000000000" pitchFamily="2" charset="0"/>
              </a:rPr>
              <a:t>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80280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9"/>
          <p:cNvSpPr txBox="1">
            <a:spLocks noGrp="1"/>
          </p:cNvSpPr>
          <p:nvPr>
            <p:ph type="body" idx="1"/>
          </p:nvPr>
        </p:nvSpPr>
        <p:spPr>
          <a:xfrm>
            <a:off x="500293" y="3098664"/>
            <a:ext cx="2354668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/>
          </a:bodyPr>
          <a:lstStyle/>
          <a:p>
            <a:pPr marL="0" indent="0"/>
            <a:r>
              <a:rPr lang="pt-BR" sz="3200" dirty="0">
                <a:solidFill>
                  <a:schemeClr val="bg1"/>
                </a:solidFill>
                <a:latin typeface="Poppins" panose="00000500000000000000" pitchFamily="2" charset="0"/>
              </a:rPr>
              <a:t>Principais atalhos</a:t>
            </a:r>
            <a:endParaRPr lang="pt-BR" sz="3200" dirty="0">
              <a:solidFill>
                <a:schemeClr val="bg1"/>
              </a:solidFill>
              <a:latin typeface="Poppins" panose="00000500000000000000" pitchFamily="2" charset="0"/>
              <a:sym typeface="Arial"/>
            </a:endParaRPr>
          </a:p>
          <a:p>
            <a:pPr marL="0" indent="0"/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992BBFA-388F-A272-E4B0-E81DF28C3A52}"/>
              </a:ext>
            </a:extLst>
          </p:cNvPr>
          <p:cNvSpPr txBox="1"/>
          <p:nvPr/>
        </p:nvSpPr>
        <p:spPr>
          <a:xfrm>
            <a:off x="7968343" y="-34834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aphicFrame>
        <p:nvGraphicFramePr>
          <p:cNvPr id="3" name="Google Shape;794;p59">
            <a:extLst>
              <a:ext uri="{FF2B5EF4-FFF2-40B4-BE49-F238E27FC236}">
                <a16:creationId xmlns:a16="http://schemas.microsoft.com/office/drawing/2014/main" id="{C810A342-EBF0-55D2-6F3B-32112A0409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091831"/>
              </p:ext>
            </p:extLst>
          </p:nvPr>
        </p:nvGraphicFramePr>
        <p:xfrm>
          <a:off x="3965943" y="773421"/>
          <a:ext cx="7634176" cy="5311158"/>
        </p:xfrm>
        <a:graphic>
          <a:graphicData uri="http://schemas.openxmlformats.org/drawingml/2006/table">
            <a:tbl>
              <a:tblPr>
                <a:noFill/>
                <a:tableStyleId>{58B62AC2-CBFF-4FEF-A790-FB120B6FE34D}</a:tableStyleId>
              </a:tblPr>
              <a:tblGrid>
                <a:gridCol w="196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7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27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400" b="1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  <a:sym typeface="Arial"/>
                        </a:rPr>
                        <a:t>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400" b="1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  <a:sym typeface="Arial"/>
                        </a:rPr>
                        <a:t>Atalho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pt-BR" sz="1400" b="1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cs typeface="Poppins" pitchFamily="2" charset="77"/>
                          <a:sym typeface="Arial"/>
                        </a:rPr>
                        <a:t>Quando usar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noProof="0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Abrir </a:t>
                      </a: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Ctrl + O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abrir um arquivo sem precisar clicar nele duas vezes.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noProof="0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Copiar</a:t>
                      </a: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Ctrl + C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copiar um texto, imagem ou arquivo sem apagá-lo.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793245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Colar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Ctrl + V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colar o item que foi copiado em outro local (documento, pasta, e-mail etc.).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0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noProof="0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Recortar</a:t>
                      </a: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Ctrl + X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mover o item de um lugar para outro.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noProof="0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Desfazer</a:t>
                      </a: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Ctrl + Z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corrigir o último erro rapidamente, sem precisar refazer tudo.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0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Salvar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Ctrl + S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salvar o arquivo durante o trabalho, evitando perdê-lo e ter que refazer tudo.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noProof="0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Selecionar tudo</a:t>
                      </a: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Ctrl + A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selecionar todo o conteúdo de um arquivo ou pasta.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31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Alternar janelas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Alt+ Tab</a:t>
                      </a:r>
                      <a:endParaRPr lang="pt-BR" sz="1400" b="0" i="0" u="none" strike="noStrike" cap="none" dirty="0">
                        <a:solidFill>
                          <a:schemeClr val="dk1"/>
                        </a:solidFill>
                        <a:latin typeface="Poppins" pitchFamily="2" charset="77"/>
                        <a:ea typeface="MS Mincho" panose="02020609040205080304" pitchFamily="49" charset="-128"/>
                        <a:cs typeface="Poppins" pitchFamily="2" charset="77"/>
                        <a:sym typeface="Arial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400" b="0" i="0" u="none" strike="noStrike" cap="none" dirty="0">
                          <a:solidFill>
                            <a:schemeClr val="dk1"/>
                          </a:solidFill>
                          <a:latin typeface="Poppins" pitchFamily="2" charset="77"/>
                          <a:ea typeface="MS Mincho" panose="02020609040205080304" pitchFamily="49" charset="-128"/>
                          <a:cs typeface="Poppins" pitchFamily="2" charset="77"/>
                          <a:sym typeface="Arial"/>
                        </a:rPr>
                        <a:t>Para trocar de janela rapidamente entre os programas que estão abertos.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007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7CBBC9B6-AF5B-1BA2-FB64-DBD5F489C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944AF4BF-28A7-6E01-78CD-75FF1790E8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2275" y="825885"/>
            <a:ext cx="9152202" cy="52069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Atalhos para edição de relatório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39378AAE-2F53-7ECF-26AE-529ADB62EF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85241" y="1713122"/>
            <a:ext cx="8099850" cy="1466013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Os atalhos de teclado permitem </a:t>
            </a:r>
            <a:r>
              <a:rPr lang="pt-BR" b="1" dirty="0">
                <a:latin typeface="Poppins" panose="00000500000000000000" pitchFamily="2" charset="0"/>
              </a:rPr>
              <a:t>executar várias ações seguidas</a:t>
            </a:r>
            <a:r>
              <a:rPr lang="pt-BR" dirty="0">
                <a:latin typeface="Poppins" panose="00000500000000000000" pitchFamily="2" charset="0"/>
              </a:rPr>
              <a:t> sem tirar as mãos do teclado. Com eles, é possível </a:t>
            </a:r>
            <a:r>
              <a:rPr lang="pt-BR" b="1" dirty="0">
                <a:latin typeface="Poppins" panose="00000500000000000000" pitchFamily="2" charset="0"/>
              </a:rPr>
              <a:t>trabalhar com mais agilidade e foco</a:t>
            </a:r>
            <a:r>
              <a:rPr lang="pt-BR" dirty="0">
                <a:latin typeface="Poppins" panose="00000500000000000000" pitchFamily="2" charset="0"/>
              </a:rPr>
              <a:t>, evitando repetições desnecessárias.</a:t>
            </a:r>
          </a:p>
          <a:p>
            <a:endParaRPr lang="pt-BR" b="1" dirty="0">
              <a:latin typeface="Poppins" panose="00000500000000000000" pitchFamily="2" charset="0"/>
            </a:endParaRPr>
          </a:p>
          <a:p>
            <a:r>
              <a:rPr lang="pt-BR" dirty="0">
                <a:latin typeface="Poppins" panose="00000500000000000000" pitchFamily="2" charset="0"/>
              </a:rPr>
              <a:t>Durante a edição de um relatório, é possível:</a:t>
            </a:r>
          </a:p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E74FE0B-4702-A1DC-E630-502FC1C92D49}"/>
              </a:ext>
            </a:extLst>
          </p:cNvPr>
          <p:cNvSpPr txBox="1"/>
          <p:nvPr/>
        </p:nvSpPr>
        <p:spPr>
          <a:xfrm>
            <a:off x="12755593" y="560682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2442470-E8AE-0A59-3A94-3031566A8404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1C4FB9-8850-8B56-FECA-3403A3CC4EB2}"/>
              </a:ext>
            </a:extLst>
          </p:cNvPr>
          <p:cNvSpPr txBox="1"/>
          <p:nvPr/>
        </p:nvSpPr>
        <p:spPr>
          <a:xfrm>
            <a:off x="3083409" y="3432661"/>
            <a:ext cx="173314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Abrir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o arquivo.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Ctrl + O</a:t>
            </a:r>
          </a:p>
        </p:txBody>
      </p:sp>
      <p:sp>
        <p:nvSpPr>
          <p:cNvPr id="5" name="Google Shape;591;p15">
            <a:extLst>
              <a:ext uri="{FF2B5EF4-FFF2-40B4-BE49-F238E27FC236}">
                <a16:creationId xmlns:a16="http://schemas.microsoft.com/office/drawing/2014/main" id="{058CFE3F-1CFE-31EE-BAE3-F310F97B152F}"/>
              </a:ext>
            </a:extLst>
          </p:cNvPr>
          <p:cNvSpPr txBox="1"/>
          <p:nvPr/>
        </p:nvSpPr>
        <p:spPr>
          <a:xfrm>
            <a:off x="2721935" y="3432662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1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8" name="Google Shape;597;p15">
            <a:extLst>
              <a:ext uri="{FF2B5EF4-FFF2-40B4-BE49-F238E27FC236}">
                <a16:creationId xmlns:a16="http://schemas.microsoft.com/office/drawing/2014/main" id="{0B57BA06-0F87-2600-5FFE-688C312BC730}"/>
              </a:ext>
            </a:extLst>
          </p:cNvPr>
          <p:cNvCxnSpPr>
            <a:cxnSpLocks/>
          </p:cNvCxnSpPr>
          <p:nvPr/>
        </p:nvCxnSpPr>
        <p:spPr>
          <a:xfrm flipH="1">
            <a:off x="3083409" y="3700729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5" name="Google Shape;591;p15">
            <a:extLst>
              <a:ext uri="{FF2B5EF4-FFF2-40B4-BE49-F238E27FC236}">
                <a16:creationId xmlns:a16="http://schemas.microsoft.com/office/drawing/2014/main" id="{4B2EB8F5-AE9F-3632-94A7-C888C54823B1}"/>
              </a:ext>
            </a:extLst>
          </p:cNvPr>
          <p:cNvSpPr txBox="1"/>
          <p:nvPr/>
        </p:nvSpPr>
        <p:spPr>
          <a:xfrm>
            <a:off x="2721935" y="4143307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2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16" name="Google Shape;597;p15">
            <a:extLst>
              <a:ext uri="{FF2B5EF4-FFF2-40B4-BE49-F238E27FC236}">
                <a16:creationId xmlns:a16="http://schemas.microsoft.com/office/drawing/2014/main" id="{4B58F447-3814-EC3C-BD1F-12C4902C3CC0}"/>
              </a:ext>
            </a:extLst>
          </p:cNvPr>
          <p:cNvCxnSpPr>
            <a:cxnSpLocks/>
          </p:cNvCxnSpPr>
          <p:nvPr/>
        </p:nvCxnSpPr>
        <p:spPr>
          <a:xfrm flipH="1">
            <a:off x="3083409" y="4411374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7" name="Google Shape;591;p15">
            <a:extLst>
              <a:ext uri="{FF2B5EF4-FFF2-40B4-BE49-F238E27FC236}">
                <a16:creationId xmlns:a16="http://schemas.microsoft.com/office/drawing/2014/main" id="{AE01417C-A268-B786-E536-599134DB2DD8}"/>
              </a:ext>
            </a:extLst>
          </p:cNvPr>
          <p:cNvSpPr txBox="1"/>
          <p:nvPr/>
        </p:nvSpPr>
        <p:spPr>
          <a:xfrm>
            <a:off x="2721935" y="4869798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3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18" name="Google Shape;597;p15">
            <a:extLst>
              <a:ext uri="{FF2B5EF4-FFF2-40B4-BE49-F238E27FC236}">
                <a16:creationId xmlns:a16="http://schemas.microsoft.com/office/drawing/2014/main" id="{38C1E358-6FB2-78E5-CA24-614941DA87D9}"/>
              </a:ext>
            </a:extLst>
          </p:cNvPr>
          <p:cNvCxnSpPr>
            <a:cxnSpLocks/>
          </p:cNvCxnSpPr>
          <p:nvPr/>
        </p:nvCxnSpPr>
        <p:spPr>
          <a:xfrm flipH="1">
            <a:off x="3083409" y="5137865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32A8FB7-4C25-0839-0F8A-940DE551D2EC}"/>
              </a:ext>
            </a:extLst>
          </p:cNvPr>
          <p:cNvSpPr txBox="1"/>
          <p:nvPr/>
        </p:nvSpPr>
        <p:spPr>
          <a:xfrm>
            <a:off x="8291494" y="3439632"/>
            <a:ext cx="1851966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Desfazer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ações.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Ctrl + Z</a:t>
            </a:r>
          </a:p>
        </p:txBody>
      </p:sp>
      <p:sp>
        <p:nvSpPr>
          <p:cNvPr id="27" name="Google Shape;591;p15">
            <a:extLst>
              <a:ext uri="{FF2B5EF4-FFF2-40B4-BE49-F238E27FC236}">
                <a16:creationId xmlns:a16="http://schemas.microsoft.com/office/drawing/2014/main" id="{645CF4E0-ACC8-697B-1DDD-0A58446E7FCF}"/>
              </a:ext>
            </a:extLst>
          </p:cNvPr>
          <p:cNvSpPr txBox="1"/>
          <p:nvPr/>
        </p:nvSpPr>
        <p:spPr>
          <a:xfrm>
            <a:off x="7930020" y="3459970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4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28" name="Google Shape;597;p15">
            <a:extLst>
              <a:ext uri="{FF2B5EF4-FFF2-40B4-BE49-F238E27FC236}">
                <a16:creationId xmlns:a16="http://schemas.microsoft.com/office/drawing/2014/main" id="{15D51F98-B257-57A0-6E43-4CD9E8A310F9}"/>
              </a:ext>
            </a:extLst>
          </p:cNvPr>
          <p:cNvCxnSpPr>
            <a:cxnSpLocks/>
          </p:cNvCxnSpPr>
          <p:nvPr/>
        </p:nvCxnSpPr>
        <p:spPr>
          <a:xfrm flipH="1">
            <a:off x="8291494" y="3728037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9" name="Google Shape;591;p15">
            <a:extLst>
              <a:ext uri="{FF2B5EF4-FFF2-40B4-BE49-F238E27FC236}">
                <a16:creationId xmlns:a16="http://schemas.microsoft.com/office/drawing/2014/main" id="{26FD1E18-0A4F-1D3F-6815-0E6616B44FA3}"/>
              </a:ext>
            </a:extLst>
          </p:cNvPr>
          <p:cNvSpPr txBox="1"/>
          <p:nvPr/>
        </p:nvSpPr>
        <p:spPr>
          <a:xfrm>
            <a:off x="7930020" y="4141335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5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30" name="Google Shape;597;p15">
            <a:extLst>
              <a:ext uri="{FF2B5EF4-FFF2-40B4-BE49-F238E27FC236}">
                <a16:creationId xmlns:a16="http://schemas.microsoft.com/office/drawing/2014/main" id="{3F942D95-C5D3-0FF6-C1FA-76FE4AAC2D12}"/>
              </a:ext>
            </a:extLst>
          </p:cNvPr>
          <p:cNvCxnSpPr>
            <a:cxnSpLocks/>
          </p:cNvCxnSpPr>
          <p:nvPr/>
        </p:nvCxnSpPr>
        <p:spPr>
          <a:xfrm flipH="1">
            <a:off x="8291494" y="4409402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1" name="Google Shape;591;p15">
            <a:extLst>
              <a:ext uri="{FF2B5EF4-FFF2-40B4-BE49-F238E27FC236}">
                <a16:creationId xmlns:a16="http://schemas.microsoft.com/office/drawing/2014/main" id="{799EF547-07C6-13B6-57BE-3D9C499C4E04}"/>
              </a:ext>
            </a:extLst>
          </p:cNvPr>
          <p:cNvSpPr txBox="1"/>
          <p:nvPr/>
        </p:nvSpPr>
        <p:spPr>
          <a:xfrm>
            <a:off x="7930020" y="4869798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6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32" name="Google Shape;597;p15">
            <a:extLst>
              <a:ext uri="{FF2B5EF4-FFF2-40B4-BE49-F238E27FC236}">
                <a16:creationId xmlns:a16="http://schemas.microsoft.com/office/drawing/2014/main" id="{AA0A65FF-C4ED-643E-4DC7-D0C7097EFAD3}"/>
              </a:ext>
            </a:extLst>
          </p:cNvPr>
          <p:cNvCxnSpPr>
            <a:cxnSpLocks/>
          </p:cNvCxnSpPr>
          <p:nvPr/>
        </p:nvCxnSpPr>
        <p:spPr>
          <a:xfrm flipH="1">
            <a:off x="8291494" y="5137865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4FFFC21-DE7D-5BB7-CF4B-4A348501F4A4}"/>
              </a:ext>
            </a:extLst>
          </p:cNvPr>
          <p:cNvSpPr txBox="1"/>
          <p:nvPr/>
        </p:nvSpPr>
        <p:spPr>
          <a:xfrm>
            <a:off x="3083409" y="4129896"/>
            <a:ext cx="260501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Selecionar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todo o texto.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Ctrl + 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16DEA8A-EC56-390A-BD26-59E7EAB74FDB}"/>
              </a:ext>
            </a:extLst>
          </p:cNvPr>
          <p:cNvSpPr txBox="1"/>
          <p:nvPr/>
        </p:nvSpPr>
        <p:spPr>
          <a:xfrm>
            <a:off x="3083409" y="4852761"/>
            <a:ext cx="2466786" cy="5524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Copiar e colar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trechos.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Ctrl + C / Ctrl + V</a:t>
            </a:r>
            <a:endParaRPr kumimoji="0" lang="pt-B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ABDE849-4D7F-72EB-0680-3137CB50F786}"/>
              </a:ext>
            </a:extLst>
          </p:cNvPr>
          <p:cNvSpPr txBox="1"/>
          <p:nvPr/>
        </p:nvSpPr>
        <p:spPr>
          <a:xfrm>
            <a:off x="8291494" y="4842127"/>
            <a:ext cx="2466786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Alternar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entre janelas.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Alt + Tab</a:t>
            </a:r>
            <a:endParaRPr kumimoji="0" lang="pt-BR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Arial"/>
              <a:sym typeface="Arial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0490C39-FB75-5D8E-16F0-95815D4BB684}"/>
              </a:ext>
            </a:extLst>
          </p:cNvPr>
          <p:cNvSpPr txBox="1"/>
          <p:nvPr/>
        </p:nvSpPr>
        <p:spPr>
          <a:xfrm>
            <a:off x="8291495" y="4129896"/>
            <a:ext cx="211778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Salvar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o progresso.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Ctrl + S</a:t>
            </a:r>
          </a:p>
        </p:txBody>
      </p:sp>
    </p:spTree>
    <p:extLst>
      <p:ext uri="{BB962C8B-B14F-4D97-AF65-F5344CB8AC3E}">
        <p14:creationId xmlns:p14="http://schemas.microsoft.com/office/powerpoint/2010/main" val="1835442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C985-A0C0-C82A-BD51-D5353FE6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ço Reservado para Texto 39">
            <a:extLst>
              <a:ext uri="{FF2B5EF4-FFF2-40B4-BE49-F238E27FC236}">
                <a16:creationId xmlns:a16="http://schemas.microsoft.com/office/drawing/2014/main" id="{4CA2C480-0581-BB6C-48F9-DCABC7FC50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5360" y="826543"/>
            <a:ext cx="8968130" cy="520699"/>
          </a:xfrm>
        </p:spPr>
        <p:txBody>
          <a:bodyPr>
            <a:noAutofit/>
          </a:bodyPr>
          <a:lstStyle>
            <a:lvl1pPr>
              <a:defRPr sz="2400">
                <a:latin typeface="Poppins" pitchFamily="2" charset="77"/>
                <a:cs typeface="Poppins" pitchFamily="2" charset="77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Atalhos para exibição 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manipulação de arquivos</a:t>
            </a:r>
            <a:endParaRPr lang="pt-BR" sz="3200" b="1" i="0" u="none" strike="noStrike" cap="none" noProof="0" dirty="0">
              <a:solidFill>
                <a:srgbClr val="FF161F"/>
              </a:solidFill>
              <a:latin typeface="Poppins" panose="00000500000000000000" pitchFamily="2" charset="0"/>
              <a:sym typeface="Arial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954BB2D-4790-D705-0066-F1B25FB90FF0}"/>
              </a:ext>
            </a:extLst>
          </p:cNvPr>
          <p:cNvSpPr txBox="1"/>
          <p:nvPr/>
        </p:nvSpPr>
        <p:spPr>
          <a:xfrm>
            <a:off x="12290854" y="351972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 noProof="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EA03A6C-E552-8210-E95F-1EFAC8C026A3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2834012" y="1931475"/>
            <a:ext cx="850677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Durante a navegação, é comum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mover, excluir ou verificar informações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 de arquivos e pastas. Conhecer os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atalhos corretos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 torna essas ações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mais rápidas e seguras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, evitando erros e mantendo o computador organizado.</a:t>
            </a:r>
          </a:p>
          <a:p>
            <a:endParaRPr lang="pt-BR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Esses são os principais atalhos de exibição e manipulação:</a:t>
            </a:r>
            <a:endParaRPr lang="pt-BR" sz="16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4" name="Google Shape;783;p58">
            <a:extLst>
              <a:ext uri="{FF2B5EF4-FFF2-40B4-BE49-F238E27FC236}">
                <a16:creationId xmlns:a16="http://schemas.microsoft.com/office/drawing/2014/main" id="{739CEA28-D089-2F41-EE69-84536F02E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71538"/>
              </p:ext>
            </p:extLst>
          </p:nvPr>
        </p:nvGraphicFramePr>
        <p:xfrm>
          <a:off x="2834010" y="3259447"/>
          <a:ext cx="8506779" cy="29148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85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37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7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400" b="1" u="none" strike="noStrike" cap="none" noProof="0" dirty="0">
                          <a:solidFill>
                            <a:schemeClr val="lt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Ação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AA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400" b="1" u="none" strike="noStrike" cap="none" noProof="0" dirty="0">
                          <a:solidFill>
                            <a:schemeClr val="lt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Atalho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AA6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400" b="1" u="none" strike="noStrike" cap="none" noProof="0" dirty="0">
                          <a:solidFill>
                            <a:schemeClr val="lt1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Quando usar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AA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Excluir arquivo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Del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Remove o arquivo e o envia para a lixeira.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Excluir permanentemente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Shift + Del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Apaga o arquivo sem enviá-lo à lixeira (usar com cuidado).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Voltar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Alt + ←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Retorna para a pasta anterior.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Avançar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Alt + →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Retorna para a pasta seguinte.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Exibir propriedades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Alt + Enter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Mostra informações do arquivo (tamanho, tipo, data).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625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230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>
          <a:extLst>
            <a:ext uri="{FF2B5EF4-FFF2-40B4-BE49-F238E27FC236}">
              <a16:creationId xmlns:a16="http://schemas.microsoft.com/office/drawing/2014/main" id="{8DA33A48-D198-BA1A-D443-C99A34C6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15D5B327-5FBB-1DFC-094E-333D140869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4982" y="832747"/>
            <a:ext cx="9210315" cy="84285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</a:rPr>
              <a:t>Atalhos para organizar o computador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016F691B-11DC-3190-55A8-42F47D6837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04475" y="1867676"/>
            <a:ext cx="8099850" cy="114895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700" dirty="0">
                <a:latin typeface="Poppins" panose="00000500000000000000" pitchFamily="2" charset="0"/>
              </a:rPr>
              <a:t>Durante a organização dos arquivos, é possível identificar várias versões antigas de um mesmo documento. Com os atalhos certos, pode ser feita uma limpeza </a:t>
            </a:r>
            <a:r>
              <a:rPr lang="pt-BR" sz="1700" b="1" dirty="0">
                <a:latin typeface="Poppins" panose="00000500000000000000" pitchFamily="2" charset="0"/>
              </a:rPr>
              <a:t>de forma rápida e segura.</a:t>
            </a:r>
            <a:r>
              <a:rPr lang="pt-BR" sz="1700" dirty="0">
                <a:latin typeface="Poppins" panose="00000500000000000000" pitchFamily="2" charset="0"/>
              </a:rPr>
              <a:t> A pasta fica </a:t>
            </a:r>
            <a:r>
              <a:rPr lang="pt-BR" sz="1700" b="1" dirty="0">
                <a:latin typeface="Poppins" panose="00000500000000000000" pitchFamily="2" charset="0"/>
              </a:rPr>
              <a:t>organizada</a:t>
            </a:r>
            <a:r>
              <a:rPr lang="pt-BR" sz="1700" dirty="0">
                <a:latin typeface="Poppins" panose="00000500000000000000" pitchFamily="2" charset="0"/>
              </a:rPr>
              <a:t>, o computador </a:t>
            </a:r>
            <a:r>
              <a:rPr lang="pt-BR" sz="1700" b="1" dirty="0">
                <a:latin typeface="Poppins" panose="00000500000000000000" pitchFamily="2" charset="0"/>
              </a:rPr>
              <a:t>com mais espaço livre</a:t>
            </a:r>
            <a:r>
              <a:rPr lang="pt-BR" sz="1700" dirty="0">
                <a:latin typeface="Poppins" panose="00000500000000000000" pitchFamily="2" charset="0"/>
              </a:rPr>
              <a:t> e o trabalho </a:t>
            </a:r>
            <a:r>
              <a:rPr lang="pt-BR" sz="1700" b="1" dirty="0">
                <a:latin typeface="Poppins" panose="00000500000000000000" pitchFamily="2" charset="0"/>
              </a:rPr>
              <a:t>mais eficiente</a:t>
            </a:r>
            <a:r>
              <a:rPr lang="pt-BR" sz="1700" dirty="0">
                <a:latin typeface="Poppins" panose="00000500000000000000" pitchFamily="2" charset="0"/>
              </a:rPr>
              <a:t>.</a:t>
            </a:r>
          </a:p>
          <a:p>
            <a:endParaRPr lang="pt-BR" sz="1700" b="1" dirty="0">
              <a:latin typeface="Poppins" panose="00000500000000000000" pitchFamily="2" charset="0"/>
            </a:endParaRPr>
          </a:p>
          <a:p>
            <a:endParaRPr lang="pt-BR" sz="1700" dirty="0">
              <a:latin typeface="Poppins" panose="00000500000000000000" pitchFamily="2" charset="0"/>
            </a:endParaRPr>
          </a:p>
          <a:p>
            <a:endParaRPr lang="pt-BR" sz="17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275484-91CC-960F-75D9-74F35F5224D6}"/>
              </a:ext>
            </a:extLst>
          </p:cNvPr>
          <p:cNvSpPr txBox="1"/>
          <p:nvPr/>
        </p:nvSpPr>
        <p:spPr>
          <a:xfrm>
            <a:off x="12755593" y="5336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BF7E57-7445-498A-422A-620AD2839F67}"/>
              </a:ext>
            </a:extLst>
          </p:cNvPr>
          <p:cNvSpPr txBox="1"/>
          <p:nvPr/>
        </p:nvSpPr>
        <p:spPr>
          <a:xfrm>
            <a:off x="13238672" y="45662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122BB1-A5BA-967A-E83C-5C2AF1EA904A}"/>
              </a:ext>
            </a:extLst>
          </p:cNvPr>
          <p:cNvSpPr txBox="1"/>
          <p:nvPr/>
        </p:nvSpPr>
        <p:spPr>
          <a:xfrm>
            <a:off x="3261538" y="3255742"/>
            <a:ext cx="3426240" cy="78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tabLst/>
              <a:defRPr/>
            </a:pPr>
            <a:r>
              <a:rPr kumimoji="0" lang="pt-B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Alt + Enter</a:t>
            </a: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Verifica as propriedades do arquivo e identifica a versão mais recente.</a:t>
            </a:r>
            <a:endParaRPr kumimoji="0" lang="pt-BR" sz="1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</p:txBody>
      </p:sp>
      <p:sp>
        <p:nvSpPr>
          <p:cNvPr id="7" name="Google Shape;591;p15">
            <a:extLst>
              <a:ext uri="{FF2B5EF4-FFF2-40B4-BE49-F238E27FC236}">
                <a16:creationId xmlns:a16="http://schemas.microsoft.com/office/drawing/2014/main" id="{D02720CD-65EF-B781-6965-12E5EEAF703F}"/>
              </a:ext>
            </a:extLst>
          </p:cNvPr>
          <p:cNvSpPr txBox="1"/>
          <p:nvPr/>
        </p:nvSpPr>
        <p:spPr>
          <a:xfrm>
            <a:off x="2900064" y="3287641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1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8" name="Google Shape;597;p15">
            <a:extLst>
              <a:ext uri="{FF2B5EF4-FFF2-40B4-BE49-F238E27FC236}">
                <a16:creationId xmlns:a16="http://schemas.microsoft.com/office/drawing/2014/main" id="{037141F9-2A9E-D6AF-CA4F-0BBE7A7BA1C1}"/>
              </a:ext>
            </a:extLst>
          </p:cNvPr>
          <p:cNvCxnSpPr>
            <a:cxnSpLocks/>
          </p:cNvCxnSpPr>
          <p:nvPr/>
        </p:nvCxnSpPr>
        <p:spPr>
          <a:xfrm flipH="1">
            <a:off x="3261538" y="3555708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1" name="Google Shape;591;p15">
            <a:extLst>
              <a:ext uri="{FF2B5EF4-FFF2-40B4-BE49-F238E27FC236}">
                <a16:creationId xmlns:a16="http://schemas.microsoft.com/office/drawing/2014/main" id="{332368B5-E58E-33BA-CBB6-A87E79DD4782}"/>
              </a:ext>
            </a:extLst>
          </p:cNvPr>
          <p:cNvSpPr txBox="1"/>
          <p:nvPr/>
        </p:nvSpPr>
        <p:spPr>
          <a:xfrm>
            <a:off x="2900064" y="4217875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2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14" name="Google Shape;597;p15">
            <a:extLst>
              <a:ext uri="{FF2B5EF4-FFF2-40B4-BE49-F238E27FC236}">
                <a16:creationId xmlns:a16="http://schemas.microsoft.com/office/drawing/2014/main" id="{366CE1E0-463E-A5E6-021A-72F0050514A0}"/>
              </a:ext>
            </a:extLst>
          </p:cNvPr>
          <p:cNvCxnSpPr>
            <a:cxnSpLocks/>
          </p:cNvCxnSpPr>
          <p:nvPr/>
        </p:nvCxnSpPr>
        <p:spPr>
          <a:xfrm flipH="1">
            <a:off x="3261538" y="4485942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5" name="Google Shape;591;p15">
            <a:extLst>
              <a:ext uri="{FF2B5EF4-FFF2-40B4-BE49-F238E27FC236}">
                <a16:creationId xmlns:a16="http://schemas.microsoft.com/office/drawing/2014/main" id="{4ED85957-E0D3-E73D-0CE7-2689BA2C7F55}"/>
              </a:ext>
            </a:extLst>
          </p:cNvPr>
          <p:cNvSpPr txBox="1"/>
          <p:nvPr/>
        </p:nvSpPr>
        <p:spPr>
          <a:xfrm>
            <a:off x="7567757" y="3287641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3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16" name="Google Shape;597;p15">
            <a:extLst>
              <a:ext uri="{FF2B5EF4-FFF2-40B4-BE49-F238E27FC236}">
                <a16:creationId xmlns:a16="http://schemas.microsoft.com/office/drawing/2014/main" id="{E54319E3-69BC-C07E-A90C-4E2CCA572493}"/>
              </a:ext>
            </a:extLst>
          </p:cNvPr>
          <p:cNvCxnSpPr>
            <a:cxnSpLocks/>
          </p:cNvCxnSpPr>
          <p:nvPr/>
        </p:nvCxnSpPr>
        <p:spPr>
          <a:xfrm flipH="1">
            <a:off x="7929231" y="3555708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7" name="Google Shape;591;p15">
            <a:extLst>
              <a:ext uri="{FF2B5EF4-FFF2-40B4-BE49-F238E27FC236}">
                <a16:creationId xmlns:a16="http://schemas.microsoft.com/office/drawing/2014/main" id="{1047B9AF-096F-7C05-6907-18B3B0B22A7F}"/>
              </a:ext>
            </a:extLst>
          </p:cNvPr>
          <p:cNvSpPr txBox="1"/>
          <p:nvPr/>
        </p:nvSpPr>
        <p:spPr>
          <a:xfrm>
            <a:off x="7567757" y="4187548"/>
            <a:ext cx="361474" cy="332509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16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4</a:t>
            </a:r>
            <a:endParaRPr sz="1600" b="1" dirty="0">
              <a:solidFill>
                <a:schemeClr val="lt1"/>
              </a:solidFill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</p:txBody>
      </p:sp>
      <p:cxnSp>
        <p:nvCxnSpPr>
          <p:cNvPr id="18" name="Google Shape;597;p15">
            <a:extLst>
              <a:ext uri="{FF2B5EF4-FFF2-40B4-BE49-F238E27FC236}">
                <a16:creationId xmlns:a16="http://schemas.microsoft.com/office/drawing/2014/main" id="{E5D3D8A9-CB73-E866-2E30-E3B38B5251DD}"/>
              </a:ext>
            </a:extLst>
          </p:cNvPr>
          <p:cNvCxnSpPr>
            <a:cxnSpLocks/>
          </p:cNvCxnSpPr>
          <p:nvPr/>
        </p:nvCxnSpPr>
        <p:spPr>
          <a:xfrm flipH="1">
            <a:off x="7929231" y="4455615"/>
            <a:ext cx="34262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D382B61-A4EB-82BD-698C-66B989A3B3CA}"/>
              </a:ext>
            </a:extLst>
          </p:cNvPr>
          <p:cNvSpPr txBox="1"/>
          <p:nvPr/>
        </p:nvSpPr>
        <p:spPr>
          <a:xfrm>
            <a:off x="3261538" y="4187548"/>
            <a:ext cx="3543299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Del</a:t>
            </a: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Envia versões antigas para a lixeira</a:t>
            </a: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FEF53CA-4DEF-4649-B686-28D2974B5106}"/>
              </a:ext>
            </a:extLst>
          </p:cNvPr>
          <p:cNvSpPr txBox="1"/>
          <p:nvPr/>
        </p:nvSpPr>
        <p:spPr>
          <a:xfrm>
            <a:off x="7929231" y="4157786"/>
            <a:ext cx="3543298" cy="78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Alt + ←</a:t>
            </a: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Retorna para a pasta anterior no histórico de navegação.</a:t>
            </a:r>
            <a:endParaRPr kumimoji="0" lang="pt-BR" sz="93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Arial"/>
              <a:sym typeface="Arial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B75FE2E-C8EE-FD9A-36A9-3F7EA89B4EF9}"/>
              </a:ext>
            </a:extLst>
          </p:cNvPr>
          <p:cNvSpPr txBox="1"/>
          <p:nvPr/>
        </p:nvSpPr>
        <p:spPr>
          <a:xfrm>
            <a:off x="7929231" y="3263046"/>
            <a:ext cx="3426240" cy="78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Shift + Del</a:t>
            </a:r>
            <a:r>
              <a:rPr kumimoji="0" lang="pt-BR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Exclui definitivamente arquivos que não serão mais usados.</a:t>
            </a:r>
          </a:p>
        </p:txBody>
      </p:sp>
    </p:spTree>
    <p:extLst>
      <p:ext uri="{BB962C8B-B14F-4D97-AF65-F5344CB8AC3E}">
        <p14:creationId xmlns:p14="http://schemas.microsoft.com/office/powerpoint/2010/main" val="280360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FE40FC06-D3A3-1743-37AE-ABED4942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6C9FAD16-3A64-3E40-13F2-69BAA92DCB07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57616612-E380-0163-1CA3-0EE0F9BF3BF8}"/>
              </a:ext>
            </a:extLst>
          </p:cNvPr>
          <p:cNvSpPr/>
          <p:nvPr/>
        </p:nvSpPr>
        <p:spPr>
          <a:xfrm>
            <a:off x="6813610" y="321327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buSzPts val="1800"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0C8AA0E-211B-8297-B889-33100B2DB6EA}"/>
              </a:ext>
            </a:extLst>
          </p:cNvPr>
          <p:cNvSpPr/>
          <p:nvPr/>
        </p:nvSpPr>
        <p:spPr>
          <a:xfrm>
            <a:off x="6813610" y="431041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buSzPts val="1800"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00BAC2E-99C7-4DAB-9827-CCA906027F74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CFD3DD94-A04A-A12B-5938-51F4671FBB3F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lang="pt-BR" noProof="0" dirty="0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E99C85AC-4CFD-35D7-01F5-45536879A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3F5AE61C-E722-1A96-9ABA-3130A58B144F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lang="pt-BR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lang="pt-BR" sz="1333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23" name="Google Shape;850;p64">
            <a:extLst>
              <a:ext uri="{FF2B5EF4-FFF2-40B4-BE49-F238E27FC236}">
                <a16:creationId xmlns:a16="http://schemas.microsoft.com/office/drawing/2014/main" id="{00E43541-F5DE-474F-B6E9-D6C92DC28395}"/>
              </a:ext>
            </a:extLst>
          </p:cNvPr>
          <p:cNvSpPr/>
          <p:nvPr/>
        </p:nvSpPr>
        <p:spPr>
          <a:xfrm>
            <a:off x="3026388" y="431041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55;p64">
            <a:extLst>
              <a:ext uri="{FF2B5EF4-FFF2-40B4-BE49-F238E27FC236}">
                <a16:creationId xmlns:a16="http://schemas.microsoft.com/office/drawing/2014/main" id="{5AED3F4F-52D6-4FAE-928D-DA3AF1FD50A8}"/>
              </a:ext>
            </a:extLst>
          </p:cNvPr>
          <p:cNvSpPr txBox="1"/>
          <p:nvPr/>
        </p:nvSpPr>
        <p:spPr>
          <a:xfrm>
            <a:off x="3261446" y="3409721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Alt + Enter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6" name="Google Shape;856;p64">
            <a:extLst>
              <a:ext uri="{FF2B5EF4-FFF2-40B4-BE49-F238E27FC236}">
                <a16:creationId xmlns:a16="http://schemas.microsoft.com/office/drawing/2014/main" id="{154B490C-EAAF-4F91-9C15-23DF780B0A9A}"/>
              </a:ext>
            </a:extLst>
          </p:cNvPr>
          <p:cNvSpPr txBox="1"/>
          <p:nvPr/>
        </p:nvSpPr>
        <p:spPr>
          <a:xfrm>
            <a:off x="6925729" y="3370983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Alt + Tab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7" name="Google Shape;852;p64">
            <a:extLst>
              <a:ext uri="{FF2B5EF4-FFF2-40B4-BE49-F238E27FC236}">
                <a16:creationId xmlns:a16="http://schemas.microsoft.com/office/drawing/2014/main" id="{2D305F07-20CB-4CF6-915D-2246051EAA02}"/>
              </a:ext>
            </a:extLst>
          </p:cNvPr>
          <p:cNvSpPr txBox="1"/>
          <p:nvPr/>
        </p:nvSpPr>
        <p:spPr>
          <a:xfrm>
            <a:off x="3189030" y="4522289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 Shift + Del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8" name="Google Shape;854;p64">
            <a:extLst>
              <a:ext uri="{FF2B5EF4-FFF2-40B4-BE49-F238E27FC236}">
                <a16:creationId xmlns:a16="http://schemas.microsoft.com/office/drawing/2014/main" id="{6644AA9C-8187-4D18-BB42-2D66324E80DB}"/>
              </a:ext>
            </a:extLst>
          </p:cNvPr>
          <p:cNvSpPr txBox="1"/>
          <p:nvPr/>
        </p:nvSpPr>
        <p:spPr>
          <a:xfrm>
            <a:off x="7002812" y="4522289"/>
            <a:ext cx="30204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Shift + Enter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C3DD07AD-3BD0-5FA3-C078-0BCCB0061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51251"/>
            <a:ext cx="8139870" cy="1379483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noProof="0" dirty="0">
                <a:latin typeface="Poppins" panose="00000500000000000000" pitchFamily="2" charset="0"/>
              </a:rPr>
              <a:t>Qual dos atalhos exclui permanentemente um arquivo?</a:t>
            </a:r>
          </a:p>
        </p:txBody>
      </p:sp>
    </p:spTree>
    <p:extLst>
      <p:ext uri="{BB962C8B-B14F-4D97-AF65-F5344CB8AC3E}">
        <p14:creationId xmlns:p14="http://schemas.microsoft.com/office/powerpoint/2010/main" val="1290704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97B32E3D-5324-B916-3AF5-FFB11224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EC2EC29-7C9D-4B7C-BDF0-22E0C55B15B6}"/>
              </a:ext>
            </a:extLst>
          </p:cNvPr>
          <p:cNvGrpSpPr/>
          <p:nvPr/>
        </p:nvGrpSpPr>
        <p:grpSpPr>
          <a:xfrm>
            <a:off x="11469781" y="-944"/>
            <a:ext cx="722219" cy="719228"/>
            <a:chOff x="11469781" y="-944"/>
            <a:chExt cx="722219" cy="719228"/>
          </a:xfrm>
        </p:grpSpPr>
        <p:sp>
          <p:nvSpPr>
            <p:cNvPr id="4" name="Google Shape;812;p61">
              <a:extLst>
                <a:ext uri="{FF2B5EF4-FFF2-40B4-BE49-F238E27FC236}">
                  <a16:creationId xmlns:a16="http://schemas.microsoft.com/office/drawing/2014/main" id="{184C9B44-CAD2-7897-D1D2-EBB3E1B3B9A1}"/>
                </a:ext>
              </a:extLst>
            </p:cNvPr>
            <p:cNvSpPr/>
            <p:nvPr/>
          </p:nvSpPr>
          <p:spPr>
            <a:xfrm flipH="1">
              <a:off x="11472465" y="1"/>
              <a:ext cx="719535" cy="718283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6D3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defTabSz="609630">
                <a:defRPr/>
              </a:pPr>
              <a:endParaRPr lang="pt-BR" noProof="0" dirty="0"/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D813BB61-9B28-A6A3-C7A9-3BD446670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685107" y="245921"/>
              <a:ext cx="435935" cy="390047"/>
            </a:xfrm>
            <a:prstGeom prst="rect">
              <a:avLst/>
            </a:prstGeom>
          </p:spPr>
        </p:pic>
        <p:sp>
          <p:nvSpPr>
            <p:cNvPr id="7" name="Google Shape;833;p62">
              <a:extLst>
                <a:ext uri="{FF2B5EF4-FFF2-40B4-BE49-F238E27FC236}">
                  <a16:creationId xmlns:a16="http://schemas.microsoft.com/office/drawing/2014/main" id="{CF75E366-36EA-A360-3B92-63230E5BEEC0}"/>
                </a:ext>
              </a:extLst>
            </p:cNvPr>
            <p:cNvSpPr txBox="1"/>
            <p:nvPr/>
          </p:nvSpPr>
          <p:spPr>
            <a:xfrm>
              <a:off x="11469781" y="-944"/>
              <a:ext cx="721717" cy="1987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algn="ctr" defTabSz="609630">
                <a:lnSpc>
                  <a:spcPct val="107000"/>
                </a:lnSpc>
                <a:buSzPts val="2700"/>
                <a:defRPr/>
              </a:pPr>
              <a:r>
                <a:rPr lang="pt-BR" b="1" noProof="0" dirty="0">
                  <a:solidFill>
                    <a:srgbClr val="FFFFFF"/>
                  </a:solidFill>
                  <a:latin typeface="Poppins" panose="00000500000000000000" pitchFamily="2" charset="0"/>
                  <a:ea typeface="Poppins"/>
                  <a:cs typeface="Poppins" panose="00000500000000000000" pitchFamily="2" charset="0"/>
                  <a:sym typeface="Poppins"/>
                </a:rPr>
                <a:t>Registro</a:t>
              </a:r>
              <a:endParaRPr lang="pt-BR" sz="800" noProof="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r" defTabSz="609630">
                <a:lnSpc>
                  <a:spcPct val="107000"/>
                </a:lnSpc>
                <a:spcBef>
                  <a:spcPts val="715"/>
                </a:spcBef>
                <a:buSzPts val="2700"/>
                <a:defRPr/>
              </a:pPr>
              <a:endParaRPr lang="pt-BR" sz="1333" noProof="0" dirty="0">
                <a:solidFill>
                  <a:srgbClr val="FFFFFF"/>
                </a:solidFill>
                <a:latin typeface="Poppins" panose="00000500000000000000" pitchFamily="2" charset="0"/>
                <a:ea typeface="Poppins Light"/>
                <a:cs typeface="Poppins" panose="00000500000000000000" pitchFamily="2" charset="0"/>
                <a:sym typeface="Poppins Light"/>
              </a:endParaRPr>
            </a:p>
          </p:txBody>
        </p:sp>
      </p:grpSp>
      <p:sp>
        <p:nvSpPr>
          <p:cNvPr id="2" name="Google Shape;1434;p98">
            <a:extLst>
              <a:ext uri="{FF2B5EF4-FFF2-40B4-BE49-F238E27FC236}">
                <a16:creationId xmlns:a16="http://schemas.microsoft.com/office/drawing/2014/main" id="{2380266C-C2CB-16CD-B7E5-078967CA35FF}"/>
              </a:ext>
            </a:extLst>
          </p:cNvPr>
          <p:cNvSpPr/>
          <p:nvPr/>
        </p:nvSpPr>
        <p:spPr>
          <a:xfrm>
            <a:off x="2467997" y="3429000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5;p98">
            <a:extLst>
              <a:ext uri="{FF2B5EF4-FFF2-40B4-BE49-F238E27FC236}">
                <a16:creationId xmlns:a16="http://schemas.microsoft.com/office/drawing/2014/main" id="{C53DCAC1-3D29-4128-DDDB-F8AA0C460CFC}"/>
              </a:ext>
            </a:extLst>
          </p:cNvPr>
          <p:cNvSpPr/>
          <p:nvPr/>
        </p:nvSpPr>
        <p:spPr>
          <a:xfrm>
            <a:off x="10394605" y="4356345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37;p98">
            <a:extLst>
              <a:ext uri="{FF2B5EF4-FFF2-40B4-BE49-F238E27FC236}">
                <a16:creationId xmlns:a16="http://schemas.microsoft.com/office/drawing/2014/main" id="{FC4196FF-ED37-AB78-03A6-FB7FADD7B609}"/>
              </a:ext>
            </a:extLst>
          </p:cNvPr>
          <p:cNvSpPr/>
          <p:nvPr/>
        </p:nvSpPr>
        <p:spPr>
          <a:xfrm rot="-3043640">
            <a:off x="2500196" y="4528692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6;p98">
            <a:extLst>
              <a:ext uri="{FF2B5EF4-FFF2-40B4-BE49-F238E27FC236}">
                <a16:creationId xmlns:a16="http://schemas.microsoft.com/office/drawing/2014/main" id="{E639EB0A-7F63-2A16-D5EA-A83361E49632}"/>
              </a:ext>
            </a:extLst>
          </p:cNvPr>
          <p:cNvSpPr/>
          <p:nvPr/>
        </p:nvSpPr>
        <p:spPr>
          <a:xfrm>
            <a:off x="10406709" y="3307786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lang="pt-BR" sz="8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49;p64">
            <a:extLst>
              <a:ext uri="{FF2B5EF4-FFF2-40B4-BE49-F238E27FC236}">
                <a16:creationId xmlns:a16="http://schemas.microsoft.com/office/drawing/2014/main" id="{593857B3-CC26-F14F-84D5-FE9B54ADF8BD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1;p64">
            <a:extLst>
              <a:ext uri="{FF2B5EF4-FFF2-40B4-BE49-F238E27FC236}">
                <a16:creationId xmlns:a16="http://schemas.microsoft.com/office/drawing/2014/main" id="{59015F72-5BF0-1414-C5C1-77241176E434}"/>
              </a:ext>
            </a:extLst>
          </p:cNvPr>
          <p:cNvSpPr/>
          <p:nvPr/>
        </p:nvSpPr>
        <p:spPr>
          <a:xfrm>
            <a:off x="6813610" y="321327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53;p64">
            <a:extLst>
              <a:ext uri="{FF2B5EF4-FFF2-40B4-BE49-F238E27FC236}">
                <a16:creationId xmlns:a16="http://schemas.microsoft.com/office/drawing/2014/main" id="{AA7F8B5A-F7B8-8782-8833-6F705D9D42CB}"/>
              </a:ext>
            </a:extLst>
          </p:cNvPr>
          <p:cNvSpPr/>
          <p:nvPr/>
        </p:nvSpPr>
        <p:spPr>
          <a:xfrm>
            <a:off x="6813610" y="431041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05EA67B7-6111-15D9-C1F4-9E2AA06AC477}"/>
              </a:ext>
            </a:extLst>
          </p:cNvPr>
          <p:cNvSpPr/>
          <p:nvPr/>
        </p:nvSpPr>
        <p:spPr>
          <a:xfrm>
            <a:off x="3026388" y="431041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lang="pt-BR" sz="1200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5;p64">
            <a:extLst>
              <a:ext uri="{FF2B5EF4-FFF2-40B4-BE49-F238E27FC236}">
                <a16:creationId xmlns:a16="http://schemas.microsoft.com/office/drawing/2014/main" id="{514F46FB-EC4D-9702-D7AA-003F2699203B}"/>
              </a:ext>
            </a:extLst>
          </p:cNvPr>
          <p:cNvSpPr txBox="1"/>
          <p:nvPr/>
        </p:nvSpPr>
        <p:spPr>
          <a:xfrm>
            <a:off x="3261446" y="3409721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Alt + Enter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7" name="Google Shape;856;p64">
            <a:extLst>
              <a:ext uri="{FF2B5EF4-FFF2-40B4-BE49-F238E27FC236}">
                <a16:creationId xmlns:a16="http://schemas.microsoft.com/office/drawing/2014/main" id="{16DD584B-17B3-8CB9-02E7-252D78DB6B71}"/>
              </a:ext>
            </a:extLst>
          </p:cNvPr>
          <p:cNvSpPr txBox="1"/>
          <p:nvPr/>
        </p:nvSpPr>
        <p:spPr>
          <a:xfrm>
            <a:off x="6925729" y="3370983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Alt + Tab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8" name="Google Shape;852;p64">
            <a:extLst>
              <a:ext uri="{FF2B5EF4-FFF2-40B4-BE49-F238E27FC236}">
                <a16:creationId xmlns:a16="http://schemas.microsoft.com/office/drawing/2014/main" id="{95C11238-79EF-F2FF-3DC5-B740DDC65EE6}"/>
              </a:ext>
            </a:extLst>
          </p:cNvPr>
          <p:cNvSpPr txBox="1"/>
          <p:nvPr/>
        </p:nvSpPr>
        <p:spPr>
          <a:xfrm>
            <a:off x="3189030" y="4522289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 Shift + Del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20" name="Google Shape;854;p64">
            <a:extLst>
              <a:ext uri="{FF2B5EF4-FFF2-40B4-BE49-F238E27FC236}">
                <a16:creationId xmlns:a16="http://schemas.microsoft.com/office/drawing/2014/main" id="{E674FDB0-CB8B-BA5B-485D-F51CC6B84DDC}"/>
              </a:ext>
            </a:extLst>
          </p:cNvPr>
          <p:cNvSpPr txBox="1"/>
          <p:nvPr/>
        </p:nvSpPr>
        <p:spPr>
          <a:xfrm>
            <a:off x="7002812" y="4522289"/>
            <a:ext cx="30204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latin typeface="Poppins" panose="00000500000000000000" pitchFamily="2" charset="0"/>
              </a:rPr>
              <a:t>Shift + Enter</a:t>
            </a:r>
            <a:endParaRPr lang="pt-BR" noProof="0" dirty="0"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B3561976-7306-A4CC-CA6B-9E1008DD06BA}"/>
              </a:ext>
            </a:extLst>
          </p:cNvPr>
          <p:cNvSpPr txBox="1">
            <a:spLocks/>
          </p:cNvSpPr>
          <p:nvPr/>
        </p:nvSpPr>
        <p:spPr>
          <a:xfrm>
            <a:off x="3026388" y="1351251"/>
            <a:ext cx="8139870" cy="13794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800" b="1" i="0" u="none" strike="noStrike" cap="none">
                <a:solidFill>
                  <a:schemeClr val="bg1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4"/>
            <a:r>
              <a:rPr lang="pt-BR" sz="3200" dirty="0">
                <a:latin typeface="Poppins" panose="00000500000000000000" pitchFamily="2" charset="0"/>
              </a:rPr>
              <a:t>Qual dos atalhos exclui permanentemente um arquivo?</a:t>
            </a:r>
          </a:p>
        </p:txBody>
      </p:sp>
    </p:spTree>
    <p:extLst>
      <p:ext uri="{BB962C8B-B14F-4D97-AF65-F5344CB8AC3E}">
        <p14:creationId xmlns:p14="http://schemas.microsoft.com/office/powerpoint/2010/main" val="354323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8EA3-028A-3523-A387-FADC8AC7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B3131E2-7F8D-4544-9420-C8BECE38C4D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630391" y="402528"/>
            <a:ext cx="2465609" cy="52203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Situação</a:t>
            </a:r>
          </a:p>
        </p:txBody>
      </p:sp>
      <p:sp>
        <p:nvSpPr>
          <p:cNvPr id="12" name="Google Shape;675;p19">
            <a:extLst>
              <a:ext uri="{FF2B5EF4-FFF2-40B4-BE49-F238E27FC236}">
                <a16:creationId xmlns:a16="http://schemas.microsoft.com/office/drawing/2014/main" id="{477F85F4-BA96-B87A-9B32-15DC6DC1425C}"/>
              </a:ext>
            </a:extLst>
          </p:cNvPr>
          <p:cNvSpPr txBox="1"/>
          <p:nvPr/>
        </p:nvSpPr>
        <p:spPr>
          <a:xfrm>
            <a:off x="620994" y="663544"/>
            <a:ext cx="1742531" cy="92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4400"/>
            </a:pPr>
            <a:r>
              <a:rPr lang="pt-BR" sz="2333" noProof="0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 Light" pitchFamily="2" charset="77"/>
                <a:sym typeface="Poppins"/>
              </a:rPr>
              <a:t>Ser </a:t>
            </a:r>
            <a:endParaRPr lang="pt-BR" sz="2333" noProof="0" dirty="0">
              <a:latin typeface="Poppins" panose="00000500000000000000" pitchFamily="2" charset="0"/>
              <a:cs typeface="Poppins Light" pitchFamily="2" charset="77"/>
            </a:endParaRPr>
          </a:p>
          <a:p>
            <a:pPr>
              <a:buSzPts val="4400"/>
            </a:pPr>
            <a:r>
              <a:rPr lang="pt-BR" sz="2333" b="1" noProof="0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sempre +</a:t>
            </a:r>
            <a:endParaRPr lang="pt-BR" sz="2333" noProof="0" dirty="0">
              <a:latin typeface="Poppins" panose="00000500000000000000" pitchFamily="2" charset="0"/>
            </a:endParaRPr>
          </a:p>
          <a:p>
            <a:pPr>
              <a:buSzPts val="1400"/>
            </a:pPr>
            <a:endParaRPr lang="pt-BR" noProof="0" dirty="0">
              <a:solidFill>
                <a:schemeClr val="lt1"/>
              </a:solidFill>
            </a:endParaRPr>
          </a:p>
        </p:txBody>
      </p:sp>
      <p:sp>
        <p:nvSpPr>
          <p:cNvPr id="4" name="Espaço Reservado para Texto 18">
            <a:extLst>
              <a:ext uri="{FF2B5EF4-FFF2-40B4-BE49-F238E27FC236}">
                <a16:creationId xmlns:a16="http://schemas.microsoft.com/office/drawing/2014/main" id="{ED460CE9-DBB3-7029-BD10-667BE42531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0391" y="1586656"/>
            <a:ext cx="7777838" cy="4082293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sz="24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800" dirty="0">
                <a:latin typeface="Poppins" panose="00000500000000000000" pitchFamily="2" charset="0"/>
              </a:rPr>
              <a:t>Imagine que, durante um projeto em grupo na sua escola, você e seus colegas precisam preparar uma apresentação digital no computador do laboratório.</a:t>
            </a:r>
          </a:p>
          <a:p>
            <a:pPr lvl="0"/>
            <a:endParaRPr lang="pt-BR" sz="1800" dirty="0">
              <a:latin typeface="Poppins" panose="00000500000000000000" pitchFamily="2" charset="0"/>
            </a:endParaRPr>
          </a:p>
          <a:p>
            <a:pPr lvl="0"/>
            <a:r>
              <a:rPr lang="pt-BR" sz="1800" dirty="0">
                <a:latin typeface="Poppins" panose="00000500000000000000" pitchFamily="2" charset="0"/>
              </a:rPr>
              <a:t>Cada integrante tem ideias diferentes sobre o formato, as tarefas e até a forma de salvar os arquivos.</a:t>
            </a:r>
          </a:p>
          <a:p>
            <a:pPr lvl="0"/>
            <a:endParaRPr lang="pt-BR" sz="1800" dirty="0">
              <a:latin typeface="Poppins" panose="00000500000000000000" pitchFamily="2" charset="0"/>
            </a:endParaRPr>
          </a:p>
          <a:p>
            <a:pPr lvl="0"/>
            <a:r>
              <a:rPr lang="pt-BR" sz="1800" dirty="0">
                <a:latin typeface="Poppins" panose="00000500000000000000" pitchFamily="2" charset="0"/>
              </a:rPr>
              <a:t>O tempo é limitado e o grupo precisa se </a:t>
            </a:r>
            <a:r>
              <a:rPr lang="pt-BR" sz="1800" b="1" dirty="0">
                <a:latin typeface="Poppins" panose="00000500000000000000" pitchFamily="2" charset="0"/>
              </a:rPr>
              <a:t>organizar para dividir responsabilidades</a:t>
            </a:r>
            <a:r>
              <a:rPr lang="pt-BR" sz="1800" dirty="0">
                <a:latin typeface="Poppins" panose="00000500000000000000" pitchFamily="2" charset="0"/>
              </a:rPr>
              <a:t>, evitar confusões e garantir que todos colaborem de forma equilibrada.</a:t>
            </a:r>
            <a:endParaRPr lang="pt-BR" sz="1800" noProof="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88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35784D91-7807-B12E-D278-EF1B1345D3F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3734" y="430488"/>
            <a:ext cx="2097617" cy="486833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rgbClr val="FF161F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>
                <a:latin typeface="Poppins" panose="00000500000000000000" pitchFamily="2" charset="0"/>
              </a:rPr>
              <a:t>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FBC48D-8334-39FB-347C-6BDB53E3F754}"/>
              </a:ext>
            </a:extLst>
          </p:cNvPr>
          <p:cNvSpPr txBox="1"/>
          <p:nvPr/>
        </p:nvSpPr>
        <p:spPr>
          <a:xfrm>
            <a:off x="12921129" y="389665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7" name="Google Shape;675;p19">
            <a:extLst>
              <a:ext uri="{FF2B5EF4-FFF2-40B4-BE49-F238E27FC236}">
                <a16:creationId xmlns:a16="http://schemas.microsoft.com/office/drawing/2014/main" id="{88B8F3B9-1846-6948-10F8-CA41A43EFABD}"/>
              </a:ext>
            </a:extLst>
          </p:cNvPr>
          <p:cNvSpPr txBox="1"/>
          <p:nvPr/>
        </p:nvSpPr>
        <p:spPr>
          <a:xfrm>
            <a:off x="620994" y="663544"/>
            <a:ext cx="1742531" cy="92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4400"/>
            </a:pPr>
            <a:r>
              <a:rPr lang="pt-BR" sz="2333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 Light" pitchFamily="2" charset="77"/>
                <a:sym typeface="Poppins"/>
              </a:rPr>
              <a:t>Ser </a:t>
            </a:r>
            <a:endParaRPr sz="2333">
              <a:latin typeface="Poppins" panose="00000500000000000000" pitchFamily="2" charset="0"/>
              <a:cs typeface="Poppins Light" pitchFamily="2" charset="77"/>
            </a:endParaRPr>
          </a:p>
          <a:p>
            <a:pPr>
              <a:buSzPts val="4400"/>
            </a:pPr>
            <a:r>
              <a:rPr lang="pt-BR" sz="2333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sempre +</a:t>
            </a:r>
            <a:endParaRPr sz="2333">
              <a:latin typeface="Poppins" panose="00000500000000000000" pitchFamily="2" charset="0"/>
            </a:endParaRPr>
          </a:p>
          <a:p>
            <a:pPr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" name="Triângulo 7">
            <a:extLst>
              <a:ext uri="{FF2B5EF4-FFF2-40B4-BE49-F238E27FC236}">
                <a16:creationId xmlns:a16="http://schemas.microsoft.com/office/drawing/2014/main" id="{6C12A622-2BCB-A1B5-F5C7-ECD8691798F4}"/>
              </a:ext>
            </a:extLst>
          </p:cNvPr>
          <p:cNvSpPr/>
          <p:nvPr/>
        </p:nvSpPr>
        <p:spPr>
          <a:xfrm rot="5400000">
            <a:off x="3738445" y="3083940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1" name="Espaço Reservado para Texto 4">
            <a:extLst>
              <a:ext uri="{FF2B5EF4-FFF2-40B4-BE49-F238E27FC236}">
                <a16:creationId xmlns:a16="http://schemas.microsoft.com/office/drawing/2014/main" id="{E736F7F1-627D-3DC3-FFBB-EC3B89CAE8D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57809" y="2938529"/>
            <a:ext cx="6357791" cy="197784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800" dirty="0">
                <a:latin typeface="Poppins" panose="00000500000000000000" pitchFamily="2" charset="0"/>
              </a:rPr>
              <a:t>Como o grupo pode se organizar para trabalhar com </a:t>
            </a:r>
            <a:r>
              <a:rPr lang="pt-BR" sz="1800" b="1" dirty="0">
                <a:latin typeface="Poppins" panose="00000500000000000000" pitchFamily="2" charset="0"/>
              </a:rPr>
              <a:t>responsabilidade e cooperação</a:t>
            </a:r>
            <a:r>
              <a:rPr lang="pt-BR" sz="1800" dirty="0">
                <a:latin typeface="Poppins" panose="00000500000000000000" pitchFamily="2" charset="0"/>
              </a:rPr>
              <a:t>, garantindo que todas as tarefas sejam cumpridas e que ninguém fique sobrecarregado?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2E84AC4-C04D-DDAC-9487-A972DA875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278" y="1723562"/>
            <a:ext cx="3496733" cy="7281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624AEA5-C146-2FA6-5BE7-9ED021099DD8}"/>
              </a:ext>
            </a:extLst>
          </p:cNvPr>
          <p:cNvSpPr txBox="1"/>
          <p:nvPr/>
        </p:nvSpPr>
        <p:spPr>
          <a:xfrm>
            <a:off x="8553268" y="1966942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VIREM E CONVERSEM</a:t>
            </a:r>
          </a:p>
        </p:txBody>
      </p:sp>
      <p:sp>
        <p:nvSpPr>
          <p:cNvPr id="10" name="Forma Livre 43">
            <a:extLst>
              <a:ext uri="{FF2B5EF4-FFF2-40B4-BE49-F238E27FC236}">
                <a16:creationId xmlns:a16="http://schemas.microsoft.com/office/drawing/2014/main" id="{84D11146-C8A4-5A95-AA37-C38C537490AF}"/>
              </a:ext>
            </a:extLst>
          </p:cNvPr>
          <p:cNvSpPr/>
          <p:nvPr/>
        </p:nvSpPr>
        <p:spPr>
          <a:xfrm>
            <a:off x="7945777" y="2197561"/>
            <a:ext cx="1385" cy="11651"/>
          </a:xfrm>
          <a:custGeom>
            <a:avLst/>
            <a:gdLst>
              <a:gd name="connsiteX0" fmla="*/ 1044 w 2078"/>
              <a:gd name="connsiteY0" fmla="*/ 0 h 17477"/>
              <a:gd name="connsiteX1" fmla="*/ 1044 w 2078"/>
              <a:gd name="connsiteY1" fmla="*/ 17477 h 17477"/>
              <a:gd name="connsiteX2" fmla="*/ 1044 w 2078"/>
              <a:gd name="connsiteY2" fmla="*/ 0 h 1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8" h="17477">
                <a:moveTo>
                  <a:pt x="1044" y="0"/>
                </a:moveTo>
                <a:cubicBezTo>
                  <a:pt x="16" y="5826"/>
                  <a:pt x="-670" y="11651"/>
                  <a:pt x="1044" y="17477"/>
                </a:cubicBezTo>
                <a:cubicBezTo>
                  <a:pt x="2186" y="11651"/>
                  <a:pt x="2643" y="5826"/>
                  <a:pt x="1044" y="0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sp>
        <p:nvSpPr>
          <p:cNvPr id="12" name="Forma Livre 44">
            <a:extLst>
              <a:ext uri="{FF2B5EF4-FFF2-40B4-BE49-F238E27FC236}">
                <a16:creationId xmlns:a16="http://schemas.microsoft.com/office/drawing/2014/main" id="{26B2677D-3463-8203-D027-F182345F5D9D}"/>
              </a:ext>
            </a:extLst>
          </p:cNvPr>
          <p:cNvSpPr/>
          <p:nvPr/>
        </p:nvSpPr>
        <p:spPr>
          <a:xfrm>
            <a:off x="7761534" y="2205785"/>
            <a:ext cx="1489" cy="2284"/>
          </a:xfrm>
          <a:custGeom>
            <a:avLst/>
            <a:gdLst>
              <a:gd name="connsiteX0" fmla="*/ 1085 w 2233"/>
              <a:gd name="connsiteY0" fmla="*/ 3427 h 3426"/>
              <a:gd name="connsiteX1" fmla="*/ 971 w 2233"/>
              <a:gd name="connsiteY1" fmla="*/ 0 h 3426"/>
              <a:gd name="connsiteX2" fmla="*/ 1085 w 2233"/>
              <a:gd name="connsiteY2" fmla="*/ 3427 h 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3" h="3426">
                <a:moveTo>
                  <a:pt x="1085" y="3427"/>
                </a:moveTo>
                <a:cubicBezTo>
                  <a:pt x="2799" y="2170"/>
                  <a:pt x="2456" y="1028"/>
                  <a:pt x="971" y="0"/>
                </a:cubicBezTo>
                <a:cubicBezTo>
                  <a:pt x="-286" y="1257"/>
                  <a:pt x="-400" y="2285"/>
                  <a:pt x="1085" y="3427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sp>
        <p:nvSpPr>
          <p:cNvPr id="13" name="Forma Livre 45">
            <a:extLst>
              <a:ext uri="{FF2B5EF4-FFF2-40B4-BE49-F238E27FC236}">
                <a16:creationId xmlns:a16="http://schemas.microsoft.com/office/drawing/2014/main" id="{E508095D-8D2F-DD1A-D7E1-1D608C343A8C}"/>
              </a:ext>
            </a:extLst>
          </p:cNvPr>
          <p:cNvSpPr/>
          <p:nvPr/>
        </p:nvSpPr>
        <p:spPr>
          <a:xfrm>
            <a:off x="7944569" y="2216485"/>
            <a:ext cx="1327" cy="1247"/>
          </a:xfrm>
          <a:custGeom>
            <a:avLst/>
            <a:gdLst>
              <a:gd name="connsiteX0" fmla="*/ 1942 w 1990"/>
              <a:gd name="connsiteY0" fmla="*/ 56 h 1871"/>
              <a:gd name="connsiteX1" fmla="*/ 0 w 1990"/>
              <a:gd name="connsiteY1" fmla="*/ 1655 h 1871"/>
              <a:gd name="connsiteX2" fmla="*/ 1942 w 1990"/>
              <a:gd name="connsiteY2" fmla="*/ 56 h 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0" h="1871">
                <a:moveTo>
                  <a:pt x="1942" y="56"/>
                </a:moveTo>
                <a:cubicBezTo>
                  <a:pt x="685" y="-172"/>
                  <a:pt x="0" y="285"/>
                  <a:pt x="0" y="1655"/>
                </a:cubicBezTo>
                <a:cubicBezTo>
                  <a:pt x="1599" y="2226"/>
                  <a:pt x="2170" y="1655"/>
                  <a:pt x="1942" y="56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91C7648-9CEE-8CB2-9CED-E78D40C3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158" y="1795272"/>
            <a:ext cx="635000" cy="601133"/>
          </a:xfrm>
          <a:prstGeom prst="rect">
            <a:avLst/>
          </a:prstGeom>
        </p:spPr>
      </p:pic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04B4E758-7B65-1297-EB4D-4F46A3FE21EF}"/>
              </a:ext>
            </a:extLst>
          </p:cNvPr>
          <p:cNvSpPr txBox="1">
            <a:spLocks/>
          </p:cNvSpPr>
          <p:nvPr/>
        </p:nvSpPr>
        <p:spPr>
          <a:xfrm>
            <a:off x="3640521" y="1236728"/>
            <a:ext cx="6850938" cy="486834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dirty="0">
                <a:solidFill>
                  <a:srgbClr val="1F1F1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 duplas, conversem sobre:</a:t>
            </a:r>
          </a:p>
          <a:p>
            <a:endParaRPr lang="pt-BR" sz="1800" dirty="0">
              <a:solidFill>
                <a:srgbClr val="1F1F1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80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3608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67931" y="1798307"/>
            <a:ext cx="7050266" cy="56138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Aprendemos que os atalhos de teclado são combinações de teclas que agilizam o uso do computador.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67931" y="3022334"/>
            <a:ext cx="6354575" cy="561381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Compreendemos que usar o teclado de forma produtiva reduz o tempo de execução e melhora a concentração nas tarefas.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867931" y="4221855"/>
            <a:ext cx="6760852" cy="56138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Reconhecemos que navegar e organizar arquivos com atalhos é essencial para a eficiência digital, garantindo organização, agilidade e economia de tempo.</a:t>
            </a:r>
          </a:p>
        </p:txBody>
      </p:sp>
      <p:sp>
        <p:nvSpPr>
          <p:cNvPr id="3" name="Google Shape;741;p22">
            <a:extLst>
              <a:ext uri="{FF2B5EF4-FFF2-40B4-BE49-F238E27FC236}">
                <a16:creationId xmlns:a16="http://schemas.microsoft.com/office/drawing/2014/main" id="{99EAAB3A-500F-3303-113F-2DE38B40643E}"/>
              </a:ext>
            </a:extLst>
          </p:cNvPr>
          <p:cNvSpPr txBox="1">
            <a:spLocks/>
          </p:cNvSpPr>
          <p:nvPr/>
        </p:nvSpPr>
        <p:spPr>
          <a:xfrm>
            <a:off x="4676921" y="734021"/>
            <a:ext cx="5440600" cy="56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815" indent="-152408"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 noProof="0" dirty="0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3788879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 noProof="0" dirty="0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 noProof="0" dirty="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" name="Google Shape;721;p53">
            <a:extLst>
              <a:ext uri="{FF2B5EF4-FFF2-40B4-BE49-F238E27FC236}">
                <a16:creationId xmlns:a16="http://schemas.microsoft.com/office/drawing/2014/main" id="{2A642F6D-8D3F-B65C-A62C-E971C02A0D96}"/>
              </a:ext>
            </a:extLst>
          </p:cNvPr>
          <p:cNvSpPr txBox="1">
            <a:spLocks/>
          </p:cNvSpPr>
          <p:nvPr/>
        </p:nvSpPr>
        <p:spPr>
          <a:xfrm>
            <a:off x="5575149" y="781721"/>
            <a:ext cx="5592726" cy="43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lt1"/>
              </a:buClr>
            </a:pPr>
            <a:r>
              <a:rPr lang="pt-BR" sz="1600" noProof="0" dirty="0">
                <a:latin typeface="Poppins" panose="00000500000000000000" pitchFamily="2" charset="0"/>
              </a:rPr>
              <a:t>Quer turbinar sua produtividade no computador? Descubra atalhos do Windows que farão você esquecer o mouse e agilizar suas tarefas. 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endParaRPr lang="pt-BR" sz="1600" noProof="0" dirty="0">
              <a:latin typeface="Poppins" panose="00000500000000000000" pitchFamily="2" charset="0"/>
            </a:endParaRP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r>
              <a:rPr lang="pt-BR" sz="1600" dirty="0">
                <a:latin typeface="Poppins" panose="00000500000000000000" pitchFamily="2" charset="0"/>
              </a:rPr>
              <a:t>MW INFORMÁTICA. Atalhos do Windows que farão você esquecer do mouse. YouTube, 19 nov. 2021. Disponível em: </a:t>
            </a:r>
            <a:r>
              <a:rPr lang="pt-BR" sz="1600" dirty="0">
                <a:latin typeface="Poppins" panose="00000500000000000000" pitchFamily="2" charset="0"/>
                <a:hlinkClick r:id="rId3"/>
              </a:rPr>
              <a:t>https://youtu.be/mW4AcyzZFYk</a:t>
            </a:r>
            <a:r>
              <a:rPr lang="pt-BR" sz="1600" dirty="0">
                <a:latin typeface="Poppins" panose="00000500000000000000" pitchFamily="2" charset="0"/>
              </a:rPr>
              <a:t>. Acesso em: 03 nov. 2025.</a:t>
            </a:r>
            <a:endParaRPr lang="pt-BR" sz="1600" b="1" noProof="0" dirty="0">
              <a:latin typeface="Poppins" panose="00000500000000000000" pitchFamily="2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81978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62BEEF-0307-48FF-6E67-C6CA173D0375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 noProof="0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25D959-3DC7-3EA9-A697-20FFFC5ED2CE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1420384" y="1854200"/>
            <a:ext cx="9781579" cy="3822911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BROOKSHEAR, J. G. </a:t>
            </a:r>
            <a:r>
              <a:rPr lang="pt-BR" b="1" dirty="0">
                <a:solidFill>
                  <a:schemeClr val="tx1"/>
                </a:solidFill>
                <a:latin typeface="Poppins" panose="00000500000000000000" pitchFamily="2" charset="0"/>
              </a:rPr>
              <a:t>Ciência da computação</a:t>
            </a:r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: uma visão abrangente. Porto Alegre: Bookman, 2013. </a:t>
            </a:r>
          </a:p>
          <a:p>
            <a:endParaRPr lang="pt-BR" dirty="0">
              <a:solidFill>
                <a:schemeClr val="tx1"/>
              </a:solidFill>
              <a:latin typeface="Poppins" panose="00000500000000000000" pitchFamily="2" charset="0"/>
            </a:endParaRPr>
          </a:p>
          <a:p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MICROSOFT. Atalhos de teclado do Windows: lista completa. Microsoft </a:t>
            </a:r>
            <a:r>
              <a:rPr lang="pt-BR" dirty="0" err="1">
                <a:solidFill>
                  <a:schemeClr val="tx1"/>
                </a:solidFill>
                <a:latin typeface="Poppins" panose="00000500000000000000" pitchFamily="2" charset="0"/>
              </a:rPr>
              <a:t>Support</a:t>
            </a:r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. Redmond, 2024. Disponível em: </a:t>
            </a:r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  <a:hlinkClick r:id="rId2"/>
              </a:rPr>
              <a:t>https://support.microsoft.com/pt-br/windows/atalhos-do-teclado-no-windows-dcc61a57-8ff0-cffe-9796-cb9706c75eec#windowsversion=windows_10</a:t>
            </a:r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. Acesso em: 30 out. 2025.</a:t>
            </a:r>
          </a:p>
          <a:p>
            <a:endParaRPr lang="pt-BR" dirty="0">
              <a:solidFill>
                <a:schemeClr val="tx1"/>
              </a:solidFill>
              <a:latin typeface="Poppins" panose="00000500000000000000" pitchFamily="2" charset="0"/>
            </a:endParaRPr>
          </a:p>
          <a:p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MONTEIRO, M. A. </a:t>
            </a:r>
            <a:r>
              <a:rPr lang="pt-BR" b="1" dirty="0">
                <a:solidFill>
                  <a:schemeClr val="tx1"/>
                </a:solidFill>
                <a:latin typeface="Poppins" panose="00000500000000000000" pitchFamily="2" charset="0"/>
              </a:rPr>
              <a:t>Introdução à organização de computadores</a:t>
            </a:r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. Rio de Janeiro: LTC, 2007.</a:t>
            </a:r>
          </a:p>
          <a:p>
            <a:endParaRPr lang="pt-BR" dirty="0">
              <a:solidFill>
                <a:schemeClr val="tx1"/>
              </a:solidFill>
              <a:latin typeface="Poppins" panose="00000500000000000000" pitchFamily="2" charset="0"/>
            </a:endParaRPr>
          </a:p>
          <a:p>
            <a:r>
              <a:rPr lang="pt-BR" dirty="0">
                <a:solidFill>
                  <a:schemeClr val="tx1"/>
                </a:solidFill>
                <a:latin typeface="Poppins" panose="00000500000000000000" pitchFamily="2" charset="0"/>
              </a:rPr>
              <a:t>Identidade visual: imagens © Getty Images</a:t>
            </a:r>
          </a:p>
          <a:p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9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030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409F0F-934C-97AF-6B63-E33C2B0A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BE85A352-E0B8-47B7-89DF-CBE002157771}"/>
              </a:ext>
            </a:extLst>
          </p:cNvPr>
          <p:cNvSpPr/>
          <p:nvPr/>
        </p:nvSpPr>
        <p:spPr>
          <a:xfrm>
            <a:off x="0" y="562839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B15050-13E9-F579-1A4C-B5268FB7A1BB}"/>
              </a:ext>
            </a:extLst>
          </p:cNvPr>
          <p:cNvSpPr txBox="1"/>
          <p:nvPr/>
        </p:nvSpPr>
        <p:spPr>
          <a:xfrm>
            <a:off x="988040" y="3283830"/>
            <a:ext cx="10495718" cy="3090590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retomar conhecimentos já adquiridos por meio de atividades simples/exercícios que abordem conceitos previamente trabalhados com os estudantes. </a:t>
            </a: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ssegure que todos os estudantes tenham a oportunidade de participar. Se necessário, faça rodízio ou direcione perguntas a estudantes que estejam menos ativos para garantir a participação de todos. Mantenha um ambiente de respeito, onde todas as opiniões são valorizadas, garantindo que todos se sintam confortáveis para expressar seus pontos de vista. Conclua a atividade resumindo as principais ideias discutidas e vinculando-as aos objetivos de aprendizagem da aula. 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 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aça as perguntas da seção </a:t>
            </a:r>
            <a:r>
              <a:rPr lang="pt-BR" sz="1000" b="1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Relembre 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para os alunos e os incentive a participar e relembrar os conceitos apresentados nas aulas anteriores. É importante reforçar bem os conceitos aprendidos, pois os alunos vão precisar estar com eles bem fixados para as demais aulas.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 de respostas: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s estudantes podem mencionar: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dificuldade para encontrar programas ou arquivos;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fazer tudo manualmente, com muitos cliques;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falta de prática ou conhecimento das ferramentas;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esquecer onde algo está salvo;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depender sempre do mouse.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6297FC1-A1AC-5703-7C0D-3CC3FA83C493}"/>
              </a:ext>
            </a:extLst>
          </p:cNvPr>
          <p:cNvSpPr/>
          <p:nvPr/>
        </p:nvSpPr>
        <p:spPr>
          <a:xfrm>
            <a:off x="0" y="2609271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A6AD431-C862-806D-9421-BE7E440640FF}"/>
              </a:ext>
            </a:extLst>
          </p:cNvPr>
          <p:cNvSpPr txBox="1"/>
          <p:nvPr/>
        </p:nvSpPr>
        <p:spPr>
          <a:xfrm>
            <a:off x="985520" y="2619431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Slide 06</a:t>
            </a:r>
          </a:p>
        </p:txBody>
      </p:sp>
      <p:cxnSp>
        <p:nvCxnSpPr>
          <p:cNvPr id="21" name="Conector Reto 6">
            <a:extLst>
              <a:ext uri="{FF2B5EF4-FFF2-40B4-BE49-F238E27FC236}">
                <a16:creationId xmlns:a16="http://schemas.microsoft.com/office/drawing/2014/main" id="{DCA54DD0-AE66-1107-3BAE-5A2097D627D1}"/>
              </a:ext>
            </a:extLst>
          </p:cNvPr>
          <p:cNvCxnSpPr>
            <a:cxnSpLocks/>
          </p:cNvCxnSpPr>
          <p:nvPr/>
        </p:nvCxnSpPr>
        <p:spPr>
          <a:xfrm flipV="1">
            <a:off x="678081" y="2875985"/>
            <a:ext cx="0" cy="3447323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8">
            <a:extLst>
              <a:ext uri="{FF2B5EF4-FFF2-40B4-BE49-F238E27FC236}">
                <a16:creationId xmlns:a16="http://schemas.microsoft.com/office/drawing/2014/main" id="{CFCAD517-F527-E783-D838-B74F2B091417}"/>
              </a:ext>
            </a:extLst>
          </p:cNvPr>
          <p:cNvSpPr/>
          <p:nvPr/>
        </p:nvSpPr>
        <p:spPr>
          <a:xfrm>
            <a:off x="481663" y="549904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8BA6D2F3-EE9F-E241-24B6-669E9E2EF52D}"/>
              </a:ext>
            </a:extLst>
          </p:cNvPr>
          <p:cNvSpPr/>
          <p:nvPr/>
        </p:nvSpPr>
        <p:spPr>
          <a:xfrm>
            <a:off x="481663" y="407741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72474962-4D43-9923-917F-E332DBC439B7}"/>
              </a:ext>
            </a:extLst>
          </p:cNvPr>
          <p:cNvSpPr/>
          <p:nvPr/>
        </p:nvSpPr>
        <p:spPr>
          <a:xfrm>
            <a:off x="481663" y="362692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C0D3BA4F-0127-9317-8BEE-088014F846CC}"/>
              </a:ext>
            </a:extLst>
          </p:cNvPr>
          <p:cNvSpPr/>
          <p:nvPr/>
        </p:nvSpPr>
        <p:spPr>
          <a:xfrm>
            <a:off x="481663" y="315731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2216;p100">
            <a:extLst>
              <a:ext uri="{FF2B5EF4-FFF2-40B4-BE49-F238E27FC236}">
                <a16:creationId xmlns:a16="http://schemas.microsoft.com/office/drawing/2014/main" id="{0A1C45AA-CB68-75A1-FA7F-23877A8F14B9}"/>
              </a:ext>
            </a:extLst>
          </p:cNvPr>
          <p:cNvSpPr/>
          <p:nvPr/>
        </p:nvSpPr>
        <p:spPr>
          <a:xfrm>
            <a:off x="556085" y="3255875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CE22BF5B-4C64-95B9-FE26-D5E9478062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7480" y="3720632"/>
            <a:ext cx="154445" cy="193056"/>
          </a:xfrm>
          <a:prstGeom prst="rect">
            <a:avLst/>
          </a:prstGeom>
        </p:spPr>
      </p:pic>
      <p:sp>
        <p:nvSpPr>
          <p:cNvPr id="28" name="Google Shape;2223;p100">
            <a:extLst>
              <a:ext uri="{FF2B5EF4-FFF2-40B4-BE49-F238E27FC236}">
                <a16:creationId xmlns:a16="http://schemas.microsoft.com/office/drawing/2014/main" id="{C79B806D-6511-19CA-D559-84681F250C0F}"/>
              </a:ext>
            </a:extLst>
          </p:cNvPr>
          <p:cNvSpPr>
            <a:spLocks/>
          </p:cNvSpPr>
          <p:nvPr/>
        </p:nvSpPr>
        <p:spPr>
          <a:xfrm>
            <a:off x="551830" y="4155844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3F6ECE46-08D6-8864-4530-0C8044289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689" y="5553168"/>
            <a:ext cx="208026" cy="266700"/>
          </a:xfrm>
          <a:prstGeom prst="rect">
            <a:avLst/>
          </a:prstGeom>
        </p:spPr>
      </p:pic>
      <p:sp>
        <p:nvSpPr>
          <p:cNvPr id="30" name="Oval 9">
            <a:extLst>
              <a:ext uri="{FF2B5EF4-FFF2-40B4-BE49-F238E27FC236}">
                <a16:creationId xmlns:a16="http://schemas.microsoft.com/office/drawing/2014/main" id="{10872E64-0BFA-7070-7210-DA2C8A923EF7}"/>
              </a:ext>
            </a:extLst>
          </p:cNvPr>
          <p:cNvSpPr/>
          <p:nvPr/>
        </p:nvSpPr>
        <p:spPr>
          <a:xfrm>
            <a:off x="481663" y="482971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5CAF2C04-5E32-E862-B722-C1048DE88B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054" y="4900174"/>
            <a:ext cx="235296" cy="24064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C305C4A1-DDA8-66A8-9FDD-EAA4B52E44F2}"/>
              </a:ext>
            </a:extLst>
          </p:cNvPr>
          <p:cNvSpPr txBox="1"/>
          <p:nvPr/>
        </p:nvSpPr>
        <p:spPr>
          <a:xfrm>
            <a:off x="985520" y="563170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05</a:t>
            </a:r>
          </a:p>
        </p:txBody>
      </p:sp>
      <p:cxnSp>
        <p:nvCxnSpPr>
          <p:cNvPr id="34" name="Conector Reto 7">
            <a:extLst>
              <a:ext uri="{FF2B5EF4-FFF2-40B4-BE49-F238E27FC236}">
                <a16:creationId xmlns:a16="http://schemas.microsoft.com/office/drawing/2014/main" id="{A688930B-C4D3-01F9-0FB4-E222771B33AB}"/>
              </a:ext>
            </a:extLst>
          </p:cNvPr>
          <p:cNvCxnSpPr>
            <a:cxnSpLocks/>
          </p:cNvCxnSpPr>
          <p:nvPr/>
        </p:nvCxnSpPr>
        <p:spPr>
          <a:xfrm flipV="1">
            <a:off x="674702" y="854208"/>
            <a:ext cx="0" cy="1229773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5510E82-42EB-FB40-E688-CF4187586E9F}"/>
              </a:ext>
            </a:extLst>
          </p:cNvPr>
          <p:cNvSpPr txBox="1"/>
          <p:nvPr/>
        </p:nvSpPr>
        <p:spPr>
          <a:xfrm>
            <a:off x="1003845" y="1148195"/>
            <a:ext cx="10958576" cy="1138773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professor, indicamos a seguir o tempo previsto para o desenvolvimento das seções desta aula: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Relembre: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Construindo o conceito: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20 minutos​.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Ser sempre +: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17 minutos​.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hoje:  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minutos.​</a:t>
            </a: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</p:txBody>
      </p:sp>
      <p:sp>
        <p:nvSpPr>
          <p:cNvPr id="41" name="Oval 20">
            <a:extLst>
              <a:ext uri="{FF2B5EF4-FFF2-40B4-BE49-F238E27FC236}">
                <a16:creationId xmlns:a16="http://schemas.microsoft.com/office/drawing/2014/main" id="{866C12C6-A1AF-B6CA-7EC4-5774EB7E1CCD}"/>
              </a:ext>
            </a:extLst>
          </p:cNvPr>
          <p:cNvSpPr/>
          <p:nvPr/>
        </p:nvSpPr>
        <p:spPr>
          <a:xfrm>
            <a:off x="481663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2216;p100">
            <a:extLst>
              <a:ext uri="{FF2B5EF4-FFF2-40B4-BE49-F238E27FC236}">
                <a16:creationId xmlns:a16="http://schemas.microsoft.com/office/drawing/2014/main" id="{526B6C2E-A76C-31C4-5492-7EBA4A599F4E}"/>
              </a:ext>
            </a:extLst>
          </p:cNvPr>
          <p:cNvSpPr/>
          <p:nvPr/>
        </p:nvSpPr>
        <p:spPr>
          <a:xfrm>
            <a:off x="556085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8709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030572-D64C-49C7-2056-18EA17B4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17679A-15A6-3A5B-C0AA-03EFCE7CF273}"/>
              </a:ext>
            </a:extLst>
          </p:cNvPr>
          <p:cNvSpPr/>
          <p:nvPr/>
        </p:nvSpPr>
        <p:spPr>
          <a:xfrm>
            <a:off x="-1907" y="564928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" name="Conector Reto 7">
            <a:extLst>
              <a:ext uri="{FF2B5EF4-FFF2-40B4-BE49-F238E27FC236}">
                <a16:creationId xmlns:a16="http://schemas.microsoft.com/office/drawing/2014/main" id="{25FCBD2E-4C31-412D-8496-B1315DD71764}"/>
              </a:ext>
            </a:extLst>
          </p:cNvPr>
          <p:cNvCxnSpPr>
            <a:cxnSpLocks/>
          </p:cNvCxnSpPr>
          <p:nvPr/>
        </p:nvCxnSpPr>
        <p:spPr>
          <a:xfrm flipV="1">
            <a:off x="674702" y="854209"/>
            <a:ext cx="0" cy="3848420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FC07AC-F1D4-DF5F-0EE6-31CC6E51FF8C}"/>
              </a:ext>
            </a:extLst>
          </p:cNvPr>
          <p:cNvSpPr txBox="1"/>
          <p:nvPr/>
        </p:nvSpPr>
        <p:spPr>
          <a:xfrm>
            <a:off x="982441" y="561048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07 a 12</a:t>
            </a:r>
          </a:p>
          <a:p>
            <a:r>
              <a:rPr lang="pt-BR" sz="32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 </a:t>
            </a: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E1A51094-D54A-CAE3-0600-667FED3FA2DC}"/>
              </a:ext>
            </a:extLst>
          </p:cNvPr>
          <p:cNvSpPr/>
          <p:nvPr/>
        </p:nvSpPr>
        <p:spPr>
          <a:xfrm>
            <a:off x="477781" y="1539959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47A72E52-41A1-667D-1F60-D76C004ED93B}"/>
              </a:ext>
            </a:extLst>
          </p:cNvPr>
          <p:cNvSpPr/>
          <p:nvPr/>
        </p:nvSpPr>
        <p:spPr>
          <a:xfrm>
            <a:off x="477781" y="243461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218F5E89-FBE6-7CCC-0286-F5F3EB6FE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598" y="1618179"/>
            <a:ext cx="154445" cy="193056"/>
          </a:xfrm>
          <a:prstGeom prst="rect">
            <a:avLst/>
          </a:prstGeom>
        </p:spPr>
      </p:pic>
      <p:sp>
        <p:nvSpPr>
          <p:cNvPr id="26" name="Google Shape;2237;p100">
            <a:extLst>
              <a:ext uri="{FF2B5EF4-FFF2-40B4-BE49-F238E27FC236}">
                <a16:creationId xmlns:a16="http://schemas.microsoft.com/office/drawing/2014/main" id="{561AA9C5-52CA-E2EC-5B3C-45B49DAE55B4}"/>
              </a:ext>
            </a:extLst>
          </p:cNvPr>
          <p:cNvSpPr/>
          <p:nvPr/>
        </p:nvSpPr>
        <p:spPr>
          <a:xfrm>
            <a:off x="530038" y="2460866"/>
            <a:ext cx="281565" cy="305087"/>
          </a:xfrm>
          <a:custGeom>
            <a:avLst/>
            <a:gdLst/>
            <a:ahLst/>
            <a:cxnLst/>
            <a:rect l="l" t="t" r="r" b="b"/>
            <a:pathLst>
              <a:path w="457200" h="495395" extrusionOk="0">
                <a:moveTo>
                  <a:pt x="266700" y="95"/>
                </a:moveTo>
                <a:cubicBezTo>
                  <a:pt x="162973" y="95"/>
                  <a:pt x="78391" y="83439"/>
                  <a:pt x="76200" y="186690"/>
                </a:cubicBezTo>
                <a:cubicBezTo>
                  <a:pt x="65532" y="197453"/>
                  <a:pt x="25241" y="238220"/>
                  <a:pt x="8573" y="254984"/>
                </a:cubicBezTo>
                <a:cubicBezTo>
                  <a:pt x="95" y="263557"/>
                  <a:pt x="-2286" y="275749"/>
                  <a:pt x="2286" y="286893"/>
                </a:cubicBezTo>
                <a:cubicBezTo>
                  <a:pt x="6858" y="297942"/>
                  <a:pt x="17145" y="304895"/>
                  <a:pt x="29147" y="304895"/>
                </a:cubicBezTo>
                <a:lnTo>
                  <a:pt x="57055" y="304895"/>
                </a:lnTo>
                <a:lnTo>
                  <a:pt x="57055" y="390620"/>
                </a:lnTo>
                <a:cubicBezTo>
                  <a:pt x="57055" y="416909"/>
                  <a:pt x="78391" y="438245"/>
                  <a:pt x="104680" y="438245"/>
                </a:cubicBezTo>
                <a:lnTo>
                  <a:pt x="171355" y="438245"/>
                </a:lnTo>
                <a:lnTo>
                  <a:pt x="171355" y="485870"/>
                </a:lnTo>
                <a:cubicBezTo>
                  <a:pt x="171355" y="491109"/>
                  <a:pt x="175641" y="495395"/>
                  <a:pt x="180880" y="495395"/>
                </a:cubicBezTo>
                <a:cubicBezTo>
                  <a:pt x="186119" y="495395"/>
                  <a:pt x="190405" y="491109"/>
                  <a:pt x="190405" y="485870"/>
                </a:cubicBezTo>
                <a:lnTo>
                  <a:pt x="190405" y="428720"/>
                </a:lnTo>
                <a:cubicBezTo>
                  <a:pt x="190405" y="423481"/>
                  <a:pt x="186119" y="419195"/>
                  <a:pt x="180880" y="419195"/>
                </a:cubicBezTo>
                <a:lnTo>
                  <a:pt x="104680" y="419195"/>
                </a:lnTo>
                <a:cubicBezTo>
                  <a:pt x="88964" y="419195"/>
                  <a:pt x="76105" y="406336"/>
                  <a:pt x="76105" y="390620"/>
                </a:cubicBezTo>
                <a:lnTo>
                  <a:pt x="76105" y="295370"/>
                </a:lnTo>
                <a:cubicBezTo>
                  <a:pt x="76105" y="290131"/>
                  <a:pt x="71819" y="285845"/>
                  <a:pt x="66580" y="285845"/>
                </a:cubicBezTo>
                <a:lnTo>
                  <a:pt x="29147" y="285845"/>
                </a:lnTo>
                <a:cubicBezTo>
                  <a:pt x="22955" y="285845"/>
                  <a:pt x="20479" y="281083"/>
                  <a:pt x="19907" y="279559"/>
                </a:cubicBezTo>
                <a:cubicBezTo>
                  <a:pt x="19336" y="278035"/>
                  <a:pt x="17621" y="272891"/>
                  <a:pt x="22098" y="268319"/>
                </a:cubicBezTo>
                <a:cubicBezTo>
                  <a:pt x="70866" y="219103"/>
                  <a:pt x="95250" y="193167"/>
                  <a:pt x="95250" y="190500"/>
                </a:cubicBezTo>
                <a:cubicBezTo>
                  <a:pt x="95250" y="96012"/>
                  <a:pt x="172117" y="19050"/>
                  <a:pt x="266700" y="19050"/>
                </a:cubicBezTo>
                <a:cubicBezTo>
                  <a:pt x="361283" y="19050"/>
                  <a:pt x="438150" y="96012"/>
                  <a:pt x="438150" y="190500"/>
                </a:cubicBezTo>
                <a:cubicBezTo>
                  <a:pt x="438150" y="233267"/>
                  <a:pt x="422243" y="274225"/>
                  <a:pt x="393287" y="305848"/>
                </a:cubicBezTo>
                <a:cubicBezTo>
                  <a:pt x="385382" y="314515"/>
                  <a:pt x="381000" y="325850"/>
                  <a:pt x="381000" y="337661"/>
                </a:cubicBezTo>
                <a:lnTo>
                  <a:pt x="381000" y="485680"/>
                </a:lnTo>
                <a:cubicBezTo>
                  <a:pt x="381000" y="490918"/>
                  <a:pt x="385286" y="495205"/>
                  <a:pt x="390525" y="495205"/>
                </a:cubicBezTo>
                <a:cubicBezTo>
                  <a:pt x="395764" y="495205"/>
                  <a:pt x="400050" y="490918"/>
                  <a:pt x="400050" y="485680"/>
                </a:cubicBezTo>
                <a:lnTo>
                  <a:pt x="400050" y="337661"/>
                </a:lnTo>
                <a:cubicBezTo>
                  <a:pt x="400050" y="330613"/>
                  <a:pt x="402622" y="323850"/>
                  <a:pt x="407384" y="318706"/>
                </a:cubicBezTo>
                <a:cubicBezTo>
                  <a:pt x="439484" y="283464"/>
                  <a:pt x="457200" y="237934"/>
                  <a:pt x="457200" y="190500"/>
                </a:cubicBezTo>
                <a:cubicBezTo>
                  <a:pt x="457200" y="85439"/>
                  <a:pt x="371761" y="0"/>
                  <a:pt x="266700" y="0"/>
                </a:cubicBezTo>
                <a:close/>
                <a:moveTo>
                  <a:pt x="266700" y="95345"/>
                </a:moveTo>
                <a:cubicBezTo>
                  <a:pt x="214217" y="95345"/>
                  <a:pt x="171450" y="138113"/>
                  <a:pt x="171450" y="190595"/>
                </a:cubicBezTo>
                <a:cubicBezTo>
                  <a:pt x="171450" y="217360"/>
                  <a:pt x="182880" y="243078"/>
                  <a:pt x="202692" y="261080"/>
                </a:cubicBezTo>
                <a:cubicBezTo>
                  <a:pt x="207074" y="265081"/>
                  <a:pt x="209550" y="270224"/>
                  <a:pt x="209550" y="275653"/>
                </a:cubicBezTo>
                <a:lnTo>
                  <a:pt x="209550" y="323850"/>
                </a:lnTo>
                <a:cubicBezTo>
                  <a:pt x="209550" y="344900"/>
                  <a:pt x="226600" y="361950"/>
                  <a:pt x="247650" y="361950"/>
                </a:cubicBezTo>
                <a:lnTo>
                  <a:pt x="285750" y="361950"/>
                </a:lnTo>
                <a:cubicBezTo>
                  <a:pt x="306800" y="361950"/>
                  <a:pt x="323850" y="344900"/>
                  <a:pt x="323850" y="323850"/>
                </a:cubicBezTo>
                <a:lnTo>
                  <a:pt x="323850" y="275653"/>
                </a:lnTo>
                <a:cubicBezTo>
                  <a:pt x="323850" y="270224"/>
                  <a:pt x="326327" y="265081"/>
                  <a:pt x="330708" y="261080"/>
                </a:cubicBezTo>
                <a:cubicBezTo>
                  <a:pt x="350520" y="243078"/>
                  <a:pt x="361950" y="217360"/>
                  <a:pt x="361950" y="190595"/>
                </a:cubicBezTo>
                <a:cubicBezTo>
                  <a:pt x="361950" y="138113"/>
                  <a:pt x="319183" y="95345"/>
                  <a:pt x="266700" y="95345"/>
                </a:cubicBezTo>
                <a:close/>
                <a:moveTo>
                  <a:pt x="304800" y="323945"/>
                </a:moveTo>
                <a:cubicBezTo>
                  <a:pt x="304800" y="334423"/>
                  <a:pt x="296228" y="342995"/>
                  <a:pt x="285750" y="342995"/>
                </a:cubicBezTo>
                <a:lnTo>
                  <a:pt x="247650" y="342995"/>
                </a:lnTo>
                <a:cubicBezTo>
                  <a:pt x="237173" y="342995"/>
                  <a:pt x="228600" y="334423"/>
                  <a:pt x="228600" y="323945"/>
                </a:cubicBezTo>
                <a:lnTo>
                  <a:pt x="228600" y="304895"/>
                </a:lnTo>
                <a:lnTo>
                  <a:pt x="304800" y="304895"/>
                </a:lnTo>
                <a:lnTo>
                  <a:pt x="304800" y="323945"/>
                </a:lnTo>
                <a:close/>
                <a:moveTo>
                  <a:pt x="317849" y="246983"/>
                </a:moveTo>
                <a:cubicBezTo>
                  <a:pt x="309563" y="254508"/>
                  <a:pt x="304800" y="264985"/>
                  <a:pt x="304800" y="275653"/>
                </a:cubicBezTo>
                <a:lnTo>
                  <a:pt x="304800" y="285750"/>
                </a:lnTo>
                <a:lnTo>
                  <a:pt x="276225" y="285750"/>
                </a:lnTo>
                <a:lnTo>
                  <a:pt x="276225" y="203930"/>
                </a:lnTo>
                <a:lnTo>
                  <a:pt x="285750" y="194405"/>
                </a:lnTo>
                <a:lnTo>
                  <a:pt x="298037" y="206692"/>
                </a:lnTo>
                <a:cubicBezTo>
                  <a:pt x="299942" y="208597"/>
                  <a:pt x="302324" y="209455"/>
                  <a:pt x="304800" y="209455"/>
                </a:cubicBezTo>
                <a:cubicBezTo>
                  <a:pt x="307277" y="209455"/>
                  <a:pt x="309658" y="208502"/>
                  <a:pt x="311563" y="206692"/>
                </a:cubicBezTo>
                <a:cubicBezTo>
                  <a:pt x="315278" y="202978"/>
                  <a:pt x="315278" y="196977"/>
                  <a:pt x="311563" y="193262"/>
                </a:cubicBezTo>
                <a:lnTo>
                  <a:pt x="292513" y="174212"/>
                </a:lnTo>
                <a:cubicBezTo>
                  <a:pt x="288798" y="170497"/>
                  <a:pt x="282797" y="170497"/>
                  <a:pt x="279083" y="174212"/>
                </a:cubicBezTo>
                <a:lnTo>
                  <a:pt x="266795" y="186500"/>
                </a:lnTo>
                <a:lnTo>
                  <a:pt x="254508" y="174212"/>
                </a:lnTo>
                <a:cubicBezTo>
                  <a:pt x="250793" y="170497"/>
                  <a:pt x="244793" y="170497"/>
                  <a:pt x="241078" y="174212"/>
                </a:cubicBezTo>
                <a:lnTo>
                  <a:pt x="222028" y="193262"/>
                </a:lnTo>
                <a:cubicBezTo>
                  <a:pt x="218313" y="196977"/>
                  <a:pt x="218313" y="202978"/>
                  <a:pt x="222028" y="206692"/>
                </a:cubicBezTo>
                <a:cubicBezTo>
                  <a:pt x="225743" y="210407"/>
                  <a:pt x="231743" y="210407"/>
                  <a:pt x="235458" y="206692"/>
                </a:cubicBezTo>
                <a:lnTo>
                  <a:pt x="247745" y="194405"/>
                </a:lnTo>
                <a:lnTo>
                  <a:pt x="257270" y="203930"/>
                </a:lnTo>
                <a:lnTo>
                  <a:pt x="257270" y="285750"/>
                </a:lnTo>
                <a:lnTo>
                  <a:pt x="228695" y="285750"/>
                </a:lnTo>
                <a:lnTo>
                  <a:pt x="228695" y="275653"/>
                </a:lnTo>
                <a:cubicBezTo>
                  <a:pt x="228695" y="264985"/>
                  <a:pt x="223933" y="254508"/>
                  <a:pt x="215551" y="246983"/>
                </a:cubicBezTo>
                <a:cubicBezTo>
                  <a:pt x="199644" y="232600"/>
                  <a:pt x="190595" y="212026"/>
                  <a:pt x="190595" y="190595"/>
                </a:cubicBezTo>
                <a:cubicBezTo>
                  <a:pt x="190595" y="148590"/>
                  <a:pt x="224790" y="114395"/>
                  <a:pt x="266795" y="114395"/>
                </a:cubicBezTo>
                <a:cubicBezTo>
                  <a:pt x="308801" y="114395"/>
                  <a:pt x="342995" y="148590"/>
                  <a:pt x="342995" y="190595"/>
                </a:cubicBezTo>
                <a:cubicBezTo>
                  <a:pt x="342995" y="212026"/>
                  <a:pt x="333851" y="232600"/>
                  <a:pt x="317945" y="2469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7274BDAB-42EE-1EB8-90E1-831946823D88}"/>
              </a:ext>
            </a:extLst>
          </p:cNvPr>
          <p:cNvSpPr/>
          <p:nvPr/>
        </p:nvSpPr>
        <p:spPr>
          <a:xfrm>
            <a:off x="477781" y="194763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799D3350-2D35-9D38-7C41-0CA087D60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172" y="2015653"/>
            <a:ext cx="235296" cy="240643"/>
          </a:xfrm>
          <a:prstGeom prst="rect">
            <a:avLst/>
          </a:prstGeom>
        </p:spPr>
      </p:pic>
      <p:sp>
        <p:nvSpPr>
          <p:cNvPr id="25" name="Oval 20">
            <a:extLst>
              <a:ext uri="{FF2B5EF4-FFF2-40B4-BE49-F238E27FC236}">
                <a16:creationId xmlns:a16="http://schemas.microsoft.com/office/drawing/2014/main" id="{0B192603-8E84-41DE-904A-F25E02127C1B}"/>
              </a:ext>
            </a:extLst>
          </p:cNvPr>
          <p:cNvSpPr/>
          <p:nvPr/>
        </p:nvSpPr>
        <p:spPr>
          <a:xfrm>
            <a:off x="481663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Google Shape;2216;p100">
            <a:extLst>
              <a:ext uri="{FF2B5EF4-FFF2-40B4-BE49-F238E27FC236}">
                <a16:creationId xmlns:a16="http://schemas.microsoft.com/office/drawing/2014/main" id="{BDFDCDBD-5C3C-4E66-9237-DB9BBBCEDD73}"/>
              </a:ext>
            </a:extLst>
          </p:cNvPr>
          <p:cNvSpPr/>
          <p:nvPr/>
        </p:nvSpPr>
        <p:spPr>
          <a:xfrm>
            <a:off x="556085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EEB903E-2711-473E-877C-3AE733B9A629}"/>
              </a:ext>
            </a:extLst>
          </p:cNvPr>
          <p:cNvSpPr txBox="1"/>
          <p:nvPr/>
        </p:nvSpPr>
        <p:spPr>
          <a:xfrm>
            <a:off x="1003845" y="1148195"/>
            <a:ext cx="10958576" cy="3447098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Construindo o conceito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ajudar o estudante a sistematizar novos conceitos teóricos relacionados com a vivência profissional. </a:t>
            </a: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: 20 minutos.</a:t>
            </a: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os slides aos estudantes com as definições de conceitos e como eles são aplicados em situações práticas.​</a:t>
            </a: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Aprofundamento: 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f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aça com que percebam que o teclado é uma ferramenta de produtividade, não apenas de digitação.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2.1 Comandos e atalhos: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operações básicas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. Competência desenvolvida: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autonomia operacional e precisão digital.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Critério de escolha: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atalhos universais, de uso frequente em qualquer programa do Windows (explorador de arquivos, navegador web, e-mail, Word etc.). Esses atalhos compõem o “núcleo funcional” do Windows e da maioria dos aplicativos — são essenciais para trabalho ágil e universal em qualquer ambiente digital. Os alunos devem reconhecer esses atalhos como os mais úteis no cotidiano e conseguir aplicá-los em situações simples (copiar textos, trocar janelas, salvar documentos etc.).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2.2 Produtividade com teclado: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trabalhar com várias janelas e tarefas ao mesmo tempo.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 Competência desenvolvida: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agilidade e autonomia digital.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Critério de escolha: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atalhos para gerenciar tarefas e janelas — foco em navegação multitarefa e gestão de tempo digital.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2.3 Exibição de arquivos: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estimular o cuidado com a limpeza e manutenção do computador.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Competência desenvolvida: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organização e economia de tempo.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Navegar e organizar arquivos com rapidez no Windows Explorer. Demonstre cada atalho em tempo real e oriente sobre o cuidado com o Shift + Del.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Critério de escolha: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atalhos para controle de pastas, visualização e organização de conteúdo digital.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Aft>
                <a:spcPts val="300"/>
              </a:spcAft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Conclua: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alunos devem compreender como e quando usar cada atalho, reconhecendo sua importância para organização, agilidade e economia de tempo.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71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030572-D64C-49C7-2056-18EA17B4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D15B127D-34A2-47FB-A969-D78023EAC75C}"/>
              </a:ext>
            </a:extLst>
          </p:cNvPr>
          <p:cNvSpPr/>
          <p:nvPr/>
        </p:nvSpPr>
        <p:spPr>
          <a:xfrm>
            <a:off x="0" y="562839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" name="Conector Reto 7">
            <a:extLst>
              <a:ext uri="{FF2B5EF4-FFF2-40B4-BE49-F238E27FC236}">
                <a16:creationId xmlns:a16="http://schemas.microsoft.com/office/drawing/2014/main" id="{2A8F1B2A-9F4E-410C-9366-C6334B13C8B4}"/>
              </a:ext>
            </a:extLst>
          </p:cNvPr>
          <p:cNvCxnSpPr>
            <a:cxnSpLocks/>
          </p:cNvCxnSpPr>
          <p:nvPr/>
        </p:nvCxnSpPr>
        <p:spPr>
          <a:xfrm flipV="1">
            <a:off x="674702" y="854209"/>
            <a:ext cx="0" cy="2012977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7BCEE93-5661-5B1E-F012-1425F474A6D5}"/>
              </a:ext>
            </a:extLst>
          </p:cNvPr>
          <p:cNvSpPr txBox="1"/>
          <p:nvPr/>
        </p:nvSpPr>
        <p:spPr>
          <a:xfrm>
            <a:off x="981341" y="559532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13 e 14</a:t>
            </a:r>
          </a:p>
        </p:txBody>
      </p:sp>
      <p:sp>
        <p:nvSpPr>
          <p:cNvPr id="18" name="Oval 20">
            <a:extLst>
              <a:ext uri="{FF2B5EF4-FFF2-40B4-BE49-F238E27FC236}">
                <a16:creationId xmlns:a16="http://schemas.microsoft.com/office/drawing/2014/main" id="{C663579F-ACB7-60BD-398A-55C3B4EEBC43}"/>
              </a:ext>
            </a:extLst>
          </p:cNvPr>
          <p:cNvSpPr/>
          <p:nvPr/>
        </p:nvSpPr>
        <p:spPr>
          <a:xfrm>
            <a:off x="477781" y="151408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926C469D-83E9-309F-6FD0-9BC35DD453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598" y="1603711"/>
            <a:ext cx="154445" cy="193056"/>
          </a:xfrm>
          <a:prstGeom prst="rect">
            <a:avLst/>
          </a:prstGeom>
        </p:spPr>
      </p:pic>
      <p:sp>
        <p:nvSpPr>
          <p:cNvPr id="47" name="Oval 17">
            <a:extLst>
              <a:ext uri="{FF2B5EF4-FFF2-40B4-BE49-F238E27FC236}">
                <a16:creationId xmlns:a16="http://schemas.microsoft.com/office/drawing/2014/main" id="{D602980C-5574-FB43-6D3F-624782365532}"/>
              </a:ext>
            </a:extLst>
          </p:cNvPr>
          <p:cNvSpPr/>
          <p:nvPr/>
        </p:nvSpPr>
        <p:spPr>
          <a:xfrm>
            <a:off x="477781" y="200435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F13FE893-E74F-BC05-A178-AF095D42C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807" y="2062232"/>
            <a:ext cx="208026" cy="266700"/>
          </a:xfrm>
          <a:prstGeom prst="rect">
            <a:avLst/>
          </a:prstGeom>
        </p:spPr>
      </p:pic>
      <p:sp>
        <p:nvSpPr>
          <p:cNvPr id="25" name="Oval 20">
            <a:extLst>
              <a:ext uri="{FF2B5EF4-FFF2-40B4-BE49-F238E27FC236}">
                <a16:creationId xmlns:a16="http://schemas.microsoft.com/office/drawing/2014/main" id="{E35F6CDD-4AA5-47C6-8251-F6CC0C9CD6E7}"/>
              </a:ext>
            </a:extLst>
          </p:cNvPr>
          <p:cNvSpPr/>
          <p:nvPr/>
        </p:nvSpPr>
        <p:spPr>
          <a:xfrm>
            <a:off x="481663" y="111432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Google Shape;2216;p100">
            <a:extLst>
              <a:ext uri="{FF2B5EF4-FFF2-40B4-BE49-F238E27FC236}">
                <a16:creationId xmlns:a16="http://schemas.microsoft.com/office/drawing/2014/main" id="{6A89852B-E7B8-484F-B81A-281FFCDF0C28}"/>
              </a:ext>
            </a:extLst>
          </p:cNvPr>
          <p:cNvSpPr/>
          <p:nvPr/>
        </p:nvSpPr>
        <p:spPr>
          <a:xfrm>
            <a:off x="556085" y="1219936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861C76A-FB12-45FB-85D0-E225DA4F5BED}"/>
              </a:ext>
            </a:extLst>
          </p:cNvPr>
          <p:cNvSpPr txBox="1"/>
          <p:nvPr/>
        </p:nvSpPr>
        <p:spPr>
          <a:xfrm>
            <a:off x="1003845" y="1178339"/>
            <a:ext cx="10958576" cy="129266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noProof="0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noProof="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Expectativas de respostas: alternativa correta: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Shift + Del. </a:t>
            </a:r>
            <a:r>
              <a:rPr lang="pt-BR" sz="1000" b="1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“</a:t>
            </a:r>
            <a:r>
              <a:rPr lang="pt-BR" sz="1000" noProof="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atalho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Shift + Del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exclui o arquivo de forma permanente, sem enviá-lo para a lixeira. Use com cuidado, pois essa ação não pode ser desfeita.”</a:t>
            </a:r>
            <a:endParaRPr lang="pt-BR" sz="1000" noProof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976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8B3D0C-9856-6236-900B-7583D7D3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E41B2F-0826-C696-7FDD-D5D3EF5F6FB6}"/>
              </a:ext>
            </a:extLst>
          </p:cNvPr>
          <p:cNvSpPr/>
          <p:nvPr/>
        </p:nvSpPr>
        <p:spPr>
          <a:xfrm>
            <a:off x="0" y="562839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" name="Conector Reto 7">
            <a:extLst>
              <a:ext uri="{FF2B5EF4-FFF2-40B4-BE49-F238E27FC236}">
                <a16:creationId xmlns:a16="http://schemas.microsoft.com/office/drawing/2014/main" id="{02E2B1C5-5CE9-473E-B7E4-7D2B08337AD2}"/>
              </a:ext>
            </a:extLst>
          </p:cNvPr>
          <p:cNvCxnSpPr>
            <a:cxnSpLocks/>
          </p:cNvCxnSpPr>
          <p:nvPr/>
        </p:nvCxnSpPr>
        <p:spPr>
          <a:xfrm flipV="1">
            <a:off x="674702" y="854209"/>
            <a:ext cx="0" cy="4126005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19D1F5-6215-F3F8-46DB-852BF20FD9F4}"/>
              </a:ext>
            </a:extLst>
          </p:cNvPr>
          <p:cNvSpPr txBox="1"/>
          <p:nvPr/>
        </p:nvSpPr>
        <p:spPr>
          <a:xfrm>
            <a:off x="985520" y="557501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15 e 16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5ADFB6-60BE-3FCE-985D-3EB70F48435D}"/>
              </a:ext>
            </a:extLst>
          </p:cNvPr>
          <p:cNvSpPr/>
          <p:nvPr/>
        </p:nvSpPr>
        <p:spPr>
          <a:xfrm>
            <a:off x="487606" y="330710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84998A-3383-ABC5-CB82-8356C3F3AFBF}"/>
              </a:ext>
            </a:extLst>
          </p:cNvPr>
          <p:cNvSpPr/>
          <p:nvPr/>
        </p:nvSpPr>
        <p:spPr>
          <a:xfrm>
            <a:off x="487606" y="202414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CA36A1-C4A5-14D4-409F-17054E746622}"/>
              </a:ext>
            </a:extLst>
          </p:cNvPr>
          <p:cNvSpPr/>
          <p:nvPr/>
        </p:nvSpPr>
        <p:spPr>
          <a:xfrm>
            <a:off x="487606" y="153356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5F7FA9A-C2B8-E821-7878-E25095670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423" y="1627270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7B010367-85C4-5808-E9AC-0DF7418F9FBA}"/>
              </a:ext>
            </a:extLst>
          </p:cNvPr>
          <p:cNvSpPr>
            <a:spLocks/>
          </p:cNvSpPr>
          <p:nvPr/>
        </p:nvSpPr>
        <p:spPr>
          <a:xfrm>
            <a:off x="557773" y="2102570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85BA86B7-D6D6-C597-67D0-EC02369C0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6632" y="3361225"/>
            <a:ext cx="208026" cy="266700"/>
          </a:xfrm>
          <a:prstGeom prst="rect">
            <a:avLst/>
          </a:prstGeom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C3368D1A-9A70-04C7-3390-BF3659CF6A5A}"/>
              </a:ext>
            </a:extLst>
          </p:cNvPr>
          <p:cNvSpPr/>
          <p:nvPr/>
        </p:nvSpPr>
        <p:spPr>
          <a:xfrm>
            <a:off x="487606" y="242609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2F1718A-A1FE-23BD-BEFC-0C8453962D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997" y="2496547"/>
            <a:ext cx="235296" cy="240643"/>
          </a:xfrm>
          <a:prstGeom prst="rect">
            <a:avLst/>
          </a:prstGeom>
        </p:spPr>
      </p:pic>
      <p:sp>
        <p:nvSpPr>
          <p:cNvPr id="19" name="Oval 20">
            <a:extLst>
              <a:ext uri="{FF2B5EF4-FFF2-40B4-BE49-F238E27FC236}">
                <a16:creationId xmlns:a16="http://schemas.microsoft.com/office/drawing/2014/main" id="{D7A83568-0459-4E88-9EE0-0D39EEFEE4E9}"/>
              </a:ext>
            </a:extLst>
          </p:cNvPr>
          <p:cNvSpPr/>
          <p:nvPr/>
        </p:nvSpPr>
        <p:spPr>
          <a:xfrm>
            <a:off x="487606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2216;p100">
            <a:extLst>
              <a:ext uri="{FF2B5EF4-FFF2-40B4-BE49-F238E27FC236}">
                <a16:creationId xmlns:a16="http://schemas.microsoft.com/office/drawing/2014/main" id="{91DEC76D-8609-4905-BEB4-AE46EE66ECA2}"/>
              </a:ext>
            </a:extLst>
          </p:cNvPr>
          <p:cNvSpPr/>
          <p:nvPr/>
        </p:nvSpPr>
        <p:spPr>
          <a:xfrm>
            <a:off x="562028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88E57F9-D73A-447F-9F3A-972AF672793B}"/>
              </a:ext>
            </a:extLst>
          </p:cNvPr>
          <p:cNvSpPr txBox="1"/>
          <p:nvPr/>
        </p:nvSpPr>
        <p:spPr>
          <a:xfrm>
            <a:off x="1003845" y="1148195"/>
            <a:ext cx="10958576" cy="3293209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Ser sempre +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ajudar os estudantes a desenvolver e aprimorar competências socioemocionais, focando especificamente nas situações desafiadoras que podem surgir no ambiente profissional.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17 minutos.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 introdução (4 minutos):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a situação de maneira simples e direta. Após apresentar, organize os estudantes em duplas.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instrua os estudantes para que formem duplas e discutam como podem lidar com essa situação. (10 minutos)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Em seguida, sorteie algumas duplas para apresentar suas principais ideias e soluções para a turma. Cada dupla tem dois minutos para compartilhar suas sugestões de como lidar com a situação.</a:t>
            </a:r>
          </a:p>
          <a:p>
            <a:pPr lvl="2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 de respostas: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alunos devem propor estratégias como: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definir papéis e prazos claros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para cada integrante;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centralizar os arquivos em uma pasta compartilhada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para facilitar o acesso;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decidir juntos o formato da apresentação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e manter uma comunicação constante;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ajudar colegas com dificuldades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, mantendo o equilíbrio entre as tarefas;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cumprir a parte individual com compromisso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, respeitando o tempo dos outros.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Essas respostas demonstram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responsabilidade coletiva, planejamento conjunto e cooperação ativa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, conforme a habilidade socioemocional da semana.</a:t>
            </a:r>
          </a:p>
        </p:txBody>
      </p:sp>
    </p:spTree>
    <p:extLst>
      <p:ext uri="{BB962C8B-B14F-4D97-AF65-F5344CB8AC3E}">
        <p14:creationId xmlns:p14="http://schemas.microsoft.com/office/powerpoint/2010/main" val="2546991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FBA3FC-E4FA-FAAC-51FA-BD52DBD2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8643EE6-1EDD-D30A-8021-A95E03F6074A}"/>
              </a:ext>
            </a:extLst>
          </p:cNvPr>
          <p:cNvSpPr/>
          <p:nvPr/>
        </p:nvSpPr>
        <p:spPr>
          <a:xfrm>
            <a:off x="0" y="561429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7">
            <a:extLst>
              <a:ext uri="{FF2B5EF4-FFF2-40B4-BE49-F238E27FC236}">
                <a16:creationId xmlns:a16="http://schemas.microsoft.com/office/drawing/2014/main" id="{64FAC8DD-9BCE-4824-BDB2-1A87A39AF4B5}"/>
              </a:ext>
            </a:extLst>
          </p:cNvPr>
          <p:cNvCxnSpPr>
            <a:cxnSpLocks/>
          </p:cNvCxnSpPr>
          <p:nvPr/>
        </p:nvCxnSpPr>
        <p:spPr>
          <a:xfrm flipV="1">
            <a:off x="674702" y="854209"/>
            <a:ext cx="0" cy="3485316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CF2B7ED-472C-97EF-21F9-1B6F7D981646}"/>
              </a:ext>
            </a:extLst>
          </p:cNvPr>
          <p:cNvSpPr txBox="1"/>
          <p:nvPr/>
        </p:nvSpPr>
        <p:spPr>
          <a:xfrm>
            <a:off x="985520" y="557521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17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1F0D77-BA9C-3298-63EE-23F68C82B0EC}"/>
              </a:ext>
            </a:extLst>
          </p:cNvPr>
          <p:cNvSpPr/>
          <p:nvPr/>
        </p:nvSpPr>
        <p:spPr>
          <a:xfrm>
            <a:off x="497841" y="355461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53FA43-293B-7565-1576-12EBDD95B741}"/>
              </a:ext>
            </a:extLst>
          </p:cNvPr>
          <p:cNvSpPr/>
          <p:nvPr/>
        </p:nvSpPr>
        <p:spPr>
          <a:xfrm>
            <a:off x="497841" y="268008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3CF8249-83AC-0F5E-2DAF-AB03441BE238}"/>
              </a:ext>
            </a:extLst>
          </p:cNvPr>
          <p:cNvSpPr/>
          <p:nvPr/>
        </p:nvSpPr>
        <p:spPr>
          <a:xfrm>
            <a:off x="477745" y="204374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A73C5F-E3E4-480A-1E25-01878D970DE5}"/>
              </a:ext>
            </a:extLst>
          </p:cNvPr>
          <p:cNvSpPr/>
          <p:nvPr/>
        </p:nvSpPr>
        <p:spPr>
          <a:xfrm>
            <a:off x="497841" y="159027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CB0A73E-4FAB-E6AD-66D5-6D57BADDF7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658" y="1683982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8C4FA888-FE51-7916-DE51-13A86B5B8FBF}"/>
              </a:ext>
            </a:extLst>
          </p:cNvPr>
          <p:cNvSpPr>
            <a:spLocks/>
          </p:cNvSpPr>
          <p:nvPr/>
        </p:nvSpPr>
        <p:spPr>
          <a:xfrm>
            <a:off x="547912" y="212217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78DE7CC0-EA79-2EDA-CD45-05AE0A995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232" y="2750537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A9EB1B2C-D187-B83E-DACF-155180935A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867" y="3608731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A145669-6E4E-2910-1A17-751C725F2B94}"/>
              </a:ext>
            </a:extLst>
          </p:cNvPr>
          <p:cNvSpPr/>
          <p:nvPr/>
        </p:nvSpPr>
        <p:spPr>
          <a:xfrm>
            <a:off x="0" y="4516935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141F84-4E13-553F-B076-E29F47110565}"/>
              </a:ext>
            </a:extLst>
          </p:cNvPr>
          <p:cNvSpPr txBox="1"/>
          <p:nvPr/>
        </p:nvSpPr>
        <p:spPr>
          <a:xfrm>
            <a:off x="985520" y="4527095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18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B1BCD6B8-D567-87D0-6D38-F6DBED098E19}"/>
              </a:ext>
            </a:extLst>
          </p:cNvPr>
          <p:cNvCxnSpPr>
            <a:cxnSpLocks/>
          </p:cNvCxnSpPr>
          <p:nvPr/>
        </p:nvCxnSpPr>
        <p:spPr>
          <a:xfrm flipH="1" flipV="1">
            <a:off x="690880" y="4767664"/>
            <a:ext cx="1" cy="162710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5DFB8A62-F4FF-0A7B-7F48-93A7B810F9E4}"/>
              </a:ext>
            </a:extLst>
          </p:cNvPr>
          <p:cNvSpPr/>
          <p:nvPr/>
        </p:nvSpPr>
        <p:spPr>
          <a:xfrm>
            <a:off x="497841" y="5538748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94B43350-5183-0628-593B-3166146AB9B9}"/>
              </a:ext>
            </a:extLst>
          </p:cNvPr>
          <p:cNvSpPr/>
          <p:nvPr/>
        </p:nvSpPr>
        <p:spPr>
          <a:xfrm>
            <a:off x="497841" y="507026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67FB3702-3563-31BF-27AE-CCDE3B2452EC}"/>
              </a:ext>
            </a:extLst>
          </p:cNvPr>
          <p:cNvSpPr/>
          <p:nvPr/>
        </p:nvSpPr>
        <p:spPr>
          <a:xfrm>
            <a:off x="572263" y="5168823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7718B0D5-7A01-76F7-9F1A-73824E35AD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3658" y="5632454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F4E1EA82-AAE3-08A3-9D4F-F14B55636FA2}"/>
              </a:ext>
            </a:extLst>
          </p:cNvPr>
          <p:cNvSpPr txBox="1"/>
          <p:nvPr/>
        </p:nvSpPr>
        <p:spPr>
          <a:xfrm>
            <a:off x="1000171" y="5189982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continuarem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val 20">
            <a:extLst>
              <a:ext uri="{FF2B5EF4-FFF2-40B4-BE49-F238E27FC236}">
                <a16:creationId xmlns:a16="http://schemas.microsoft.com/office/drawing/2014/main" id="{FF6F35D9-8EB9-4BA3-8781-5706101B4007}"/>
              </a:ext>
            </a:extLst>
          </p:cNvPr>
          <p:cNvSpPr/>
          <p:nvPr/>
        </p:nvSpPr>
        <p:spPr>
          <a:xfrm>
            <a:off x="481663" y="113441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2216;p100">
            <a:extLst>
              <a:ext uri="{FF2B5EF4-FFF2-40B4-BE49-F238E27FC236}">
                <a16:creationId xmlns:a16="http://schemas.microsoft.com/office/drawing/2014/main" id="{B357627A-5EDB-44A7-AF55-2B4C34E16EDB}"/>
              </a:ext>
            </a:extLst>
          </p:cNvPr>
          <p:cNvSpPr/>
          <p:nvPr/>
        </p:nvSpPr>
        <p:spPr>
          <a:xfrm>
            <a:off x="556085" y="1240032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lang="pt-BR" sz="12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64F7A6FB-5368-4B75-9A7C-E400D5EF6A84}"/>
              </a:ext>
            </a:extLst>
          </p:cNvPr>
          <p:cNvSpPr txBox="1"/>
          <p:nvPr/>
        </p:nvSpPr>
        <p:spPr>
          <a:xfrm>
            <a:off x="1003845" y="1188387"/>
            <a:ext cx="10958576" cy="2677656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respeitoso;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dentro do tempo estipulado;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aula;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necessárias;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um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279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31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8" ma:contentTypeDescription="Crie um novo documento." ma:contentTypeScope="" ma:versionID="64f56a52a51cc80b8ddb3d94a2f0550b">
  <xsd:schema xmlns:xsd="http://www.w3.org/2001/XMLSchema" xmlns:xs="http://www.w3.org/2001/XMLSchema" xmlns:p="http://schemas.microsoft.com/office/2006/metadata/properties" xmlns:ns2="4facdbb2-8ef9-464d-a709-26ca1c337062" targetNamespace="http://schemas.microsoft.com/office/2006/metadata/properties" ma:root="true" ma:fieldsID="6bd439814cc2a84ec9ae5087f29ffa06" ns2:_="">
    <xsd:import namespace="4facdbb2-8ef9-464d-a709-26ca1c3370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661F7A-1649-4A39-91A5-A3893F5678E5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4facdbb2-8ef9-464d-a709-26ca1c337062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F2396A6-4422-4B27-B95E-3A964ABD2F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16131</TotalTime>
  <Words>2442</Words>
  <Application>Microsoft Office PowerPoint</Application>
  <PresentationFormat>Widescreen</PresentationFormat>
  <Paragraphs>296</Paragraphs>
  <Slides>26</Slides>
  <Notes>22</Notes>
  <HiddenSlides>7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4" baseType="lpstr">
      <vt:lpstr>Poppins</vt:lpstr>
      <vt:lpstr>Poppins Bold</vt:lpstr>
      <vt:lpstr>Arial</vt:lpstr>
      <vt:lpstr>Poppins Medium</vt:lpstr>
      <vt:lpstr>Calibri</vt:lpstr>
      <vt:lpstr>Roboto</vt:lpstr>
      <vt:lpstr>Poppins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Luca Santiago Rocha</cp:lastModifiedBy>
  <cp:revision>1218</cp:revision>
  <dcterms:modified xsi:type="dcterms:W3CDTF">2026-02-05T20:04:07Z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