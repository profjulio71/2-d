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4"/>
    <p:sldMasterId id="2147483838" r:id="rId5"/>
  </p:sldMasterIdLst>
  <p:notesMasterIdLst>
    <p:notesMasterId r:id="rId24"/>
  </p:notesMasterIdLst>
  <p:handoutMasterIdLst>
    <p:handoutMasterId r:id="rId25"/>
  </p:handoutMasterIdLst>
  <p:sldIdLst>
    <p:sldId id="1273" r:id="rId6"/>
    <p:sldId id="1407" r:id="rId7"/>
    <p:sldId id="1455" r:id="rId8"/>
    <p:sldId id="1456" r:id="rId9"/>
    <p:sldId id="1457" r:id="rId10"/>
    <p:sldId id="584" r:id="rId11"/>
    <p:sldId id="1436" r:id="rId12"/>
    <p:sldId id="1426" r:id="rId13"/>
    <p:sldId id="1459" r:id="rId14"/>
    <p:sldId id="1293" r:id="rId15"/>
    <p:sldId id="1294" r:id="rId16"/>
    <p:sldId id="1295" r:id="rId17"/>
    <p:sldId id="1473" r:id="rId18"/>
    <p:sldId id="1477" r:id="rId19"/>
    <p:sldId id="1411" r:id="rId20"/>
    <p:sldId id="1478" r:id="rId21"/>
    <p:sldId id="1346" r:id="rId22"/>
    <p:sldId id="1302" r:id="rId23"/>
  </p:sldIdLst>
  <p:sldSz cx="12192000" cy="6858000"/>
  <p:notesSz cx="6858000" cy="9144000"/>
  <p:embeddedFontLs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Poppins Bold" panose="00000800000000000000" pitchFamily="2" charset="0"/>
      <p:regular r:id="rId30"/>
      <p:bold r:id="rId31"/>
      <p:italic r:id="rId32"/>
      <p:boldItalic r:id="rId33"/>
    </p:embeddedFont>
    <p:embeddedFont>
      <p:font typeface="Poppins Light" panose="00000400000000000000" pitchFamily="2" charset="0"/>
      <p:regular r:id="rId34"/>
      <p:bold r:id="rId35"/>
      <p:italic r:id="rId36"/>
      <p:boldItalic r:id="rId37"/>
    </p:embeddedFont>
    <p:embeddedFont>
      <p:font typeface="Poppins Medium" panose="000006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orient="horz" pos="1865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E6B411-79F2-2BA9-D2E5-195CC60EC4EB}" name="Vanessa Leite Rios" initials="VL" userId="S::vrios@vanzolini-ead.org.br::0d7f6d10-7524-4913-bb54-b4a9cca6091b" providerId="AD"/>
  <p188:author id="{5D93F123-A5E2-A62B-D9E3-D9303D1BB86B}" name="Gustavo Cruz dos Reis" initials="GC" userId="S::greis@vanzolini-ead.org.br::837664e1-438f-44d7-9e01-7f6012fe004f" providerId="AD"/>
  <p188:author id="{C6975768-E079-2129-EF66-8C7D8D20589C}" name="Usuário Convidado" initials="UC" userId="S::urn:spo:anon#9c1a6640c4cf430e37b8e52984f4ed92aa1896e2c9d3b1637fd5ce4c8fd5c9d5::" providerId="AD"/>
  <p188:author id="{0F28A37D-7A78-6275-D2DB-23C237B8C9CB}" name="Sebastiana Gomes" initials="SG" userId="4eca4e9bf25f6851" providerId="Windows Live"/>
  <p188:author id="{A42D7C86-2999-ABEF-315C-7093285DA929}" name="Utilizador Convidado" initials="UC" userId="S::urn:spo:tenantanon#4a187474-b69b-445f-9d2d-b39f721fca7f::" providerId="AD"/>
  <p188:author id="{8DD8E787-7B43-E508-6891-C6122D24A71C}" name="Douglas José Mendonça" initials="DM" userId="4153c5f748151241" providerId="Windows Live"/>
  <p188:author id="{377AEB95-F34C-FEB2-A03E-D3DA85656470}" name="Izabella Saadi Cerutti" initials="IS" userId="4295702eb40843b9" providerId="Windows Live"/>
  <p188:author id="{28615DA9-B5E9-CA04-7D8D-122763E6B868}" name="Izabella Saadi Cerutti Leal Reis" initials="IS" userId="S::izabella_reis@vanzolini-ead.org.br::21085dfd-0335-48ee-9e04-b8a1dbb1bca2" providerId="AD"/>
  <p188:author id="{323E71DD-2DD6-0498-FA2F-F91E6C9039EE}" name="Manuela Buk de Araujo" initials="MB" userId="0af21dece6336a93" providerId="Windows Live"/>
  <p188:author id="{E0388DF7-5B9F-86E5-E6C5-3F344187204B}" name="Eloisa Dalbem" initials="ED" userId="S::eldalbem@vanzolini-ead.org.br::9ae0c03a-8642-493e-97df-c9fd93e6c398" providerId="AD"/>
  <p188:author id="{E06AE5F7-C4FB-8FC1-0379-16158CB16B4E}" name="Michelle Mirabile Barbosa" initials="MM" userId="S::michelle_barbosa@vanzolini-ead.org.br::514663f0-91cb-4e5c-876a-7189c1f198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BE149"/>
    <a:srgbClr val="D8D8D8"/>
    <a:srgbClr val="BFBFBF"/>
    <a:srgbClr val="F2F2F2"/>
    <a:srgbClr val="000000"/>
    <a:srgbClr val="EE0000"/>
    <a:srgbClr val="3E3593"/>
    <a:srgbClr val="AAA6D3"/>
    <a:srgbClr val="312F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5360D8-1561-A538-A6BC-761BC601FFAF}" v="2" dt="2025-11-07T14:11:54.102"/>
  </p1510:revLst>
</p1510:revInfo>
</file>

<file path=ppt/tableStyles.xml><?xml version="1.0" encoding="utf-8"?>
<a:tblStyleLst xmlns:a="http://schemas.openxmlformats.org/drawingml/2006/main" def="{58B62AC2-CBFF-4FEF-A790-FB120B6FE34D}">
  <a:tblStyle styleId="{58B62AC2-CBFF-4FEF-A790-FB120B6FE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89464" autoAdjust="0"/>
  </p:normalViewPr>
  <p:slideViewPr>
    <p:cSldViewPr snapToGrid="0">
      <p:cViewPr>
        <p:scale>
          <a:sx n="75" d="100"/>
          <a:sy n="75" d="100"/>
        </p:scale>
        <p:origin x="1818" y="444"/>
      </p:cViewPr>
      <p:guideLst>
        <p:guide orient="horz" pos="663"/>
        <p:guide pos="665"/>
        <p:guide orient="horz" pos="1865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176" y="-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6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font" Target="fonts/font1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0016A-23B3-8332-53D6-57FE04C28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ABBCA-ED84-8C3A-7D17-F6393BAD02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6816-8789-481E-B2F2-61889E0E858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40203C-C3C0-C509-C3D9-F91275DBAE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A17361-C8A0-CABB-2146-B5B19E39C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4F6E5-A54A-42CC-B250-9D06C7C52C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438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	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7090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Tempo de exposição: 29 min. + 10 min. de vídeo + 6 min. de </a:t>
            </a:r>
            <a:r>
              <a:rPr lang="pt-BR" i="0" dirty="0"/>
              <a:t>quiz</a:t>
            </a:r>
            <a:r>
              <a:rPr lang="pt-BR" i="1" dirty="0"/>
              <a:t>.</a:t>
            </a:r>
          </a:p>
        </p:txBody>
      </p:sp>
      <p:sp>
        <p:nvSpPr>
          <p:cNvPr id="641" name="Google Shape;6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738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3B7B-8145-C545-60DC-A5C24031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7134868-4741-CA68-B048-7D8D84C85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2EAA60C-56C6-28FE-DA75-5687B5624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FAF0CA-01ED-A445-9CFD-9F1F51AC0D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6758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1BE1A0E5-F52A-3D9B-2D50-09B77614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:notes">
            <a:extLst>
              <a:ext uri="{FF2B5EF4-FFF2-40B4-BE49-F238E27FC236}">
                <a16:creationId xmlns:a16="http://schemas.microsoft.com/office/drawing/2014/main" id="{5323BD34-A9FC-E512-C3D9-1BFEB5025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52" name="Google Shape;652;p3:notes">
            <a:extLst>
              <a:ext uri="{FF2B5EF4-FFF2-40B4-BE49-F238E27FC236}">
                <a16:creationId xmlns:a16="http://schemas.microsoft.com/office/drawing/2014/main" id="{620F07B2-5EC8-8CDC-7C50-065BAFE8B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008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C17B253A-D33A-66AC-02D6-390A7960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:notes">
            <a:extLst>
              <a:ext uri="{FF2B5EF4-FFF2-40B4-BE49-F238E27FC236}">
                <a16:creationId xmlns:a16="http://schemas.microsoft.com/office/drawing/2014/main" id="{FF279A7A-E778-9EA2-D416-378DA625D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9" name="Google Shape;689;p7:notes">
            <a:extLst>
              <a:ext uri="{FF2B5EF4-FFF2-40B4-BE49-F238E27FC236}">
                <a16:creationId xmlns:a16="http://schemas.microsoft.com/office/drawing/2014/main" id="{49D3FE13-802A-F1DB-88CE-4301E69C3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487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B7453D5-FE37-90F7-0117-6A1069A4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E55E856E-71F6-FFFC-27FF-C20FE327B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790690E-A198-1BF4-E669-670C98910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763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24BDC539-4915-CFCB-2A07-24C4C8B2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D8E74168-837D-DB8E-1F96-32BB60031C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4A26F939-B3DF-C20E-A826-CABFE9873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797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65F4DAEE-9901-3731-8F08-D283C2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5198b4dfb_0_1:notes">
            <a:extLst>
              <a:ext uri="{FF2B5EF4-FFF2-40B4-BE49-F238E27FC236}">
                <a16:creationId xmlns:a16="http://schemas.microsoft.com/office/drawing/2014/main" id="{74B7CBA6-3C74-A542-6503-85E3ED027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</p:txBody>
      </p:sp>
      <p:sp>
        <p:nvSpPr>
          <p:cNvPr id="724" name="Google Shape;724;g1e5198b4dfb_0_1:notes">
            <a:extLst>
              <a:ext uri="{FF2B5EF4-FFF2-40B4-BE49-F238E27FC236}">
                <a16:creationId xmlns:a16="http://schemas.microsoft.com/office/drawing/2014/main" id="{D3DB5D40-7473-12E9-B92C-1A646EAD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610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9" name="Google Shape;7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395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3578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58FCD-241C-3779-A9DA-DBD7D2D8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625BEA-4532-C195-2282-2137C3F2C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78447C-6463-7271-7238-D8612D784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2D7E58-BBE3-31BF-CC4A-E40CA006F7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7716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05BA-9673-3CE5-E471-BD8D9D1C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AEDF9B-3B64-F9FA-87FF-E5415ABAB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7F12B5-DFA6-ED46-B10B-A04243AB1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2BC3A8-1828-CEC7-3F21-F9E0EEA8D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7085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C7DC-534C-A743-564A-36BFE5B5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DA9700-483F-8BAD-11FB-ED38CEEF2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993076-5792-8D26-09F6-2EEB492B5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13543E-A356-DE1C-B0EE-5D53FEA1B5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86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C7DC-534C-A743-564A-36BFE5B5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DA9700-483F-8BAD-11FB-ED38CEEF2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993076-5792-8D26-09F6-2EEB492B5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13543E-A356-DE1C-B0EE-5D53FEA1B5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733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C99D-7419-30A7-6CA3-94577F9F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D20E2B-936B-3DCF-7751-A559B0426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613880-6B96-23B9-F2AD-2959FC88D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E6155A-EDE7-6002-17EE-157ED2E13A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78316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Tempo: 0 min.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2385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emf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D97204-58D3-422D-7563-54B47893513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68AB1DF-F46C-74BB-F406-E20EE6A9AF17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4AE5DF59-F868-DE57-6565-E4A73974D6F7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F917743-9B50-AB37-15A0-D7CC3AA196BE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FFAEE00-EBD5-1235-2077-6956296AAA25}"/>
              </a:ext>
            </a:extLst>
          </p:cNvPr>
          <p:cNvSpPr txBox="1"/>
          <p:nvPr userDrawn="1"/>
        </p:nvSpPr>
        <p:spPr>
          <a:xfrm>
            <a:off x="6116401" y="2879829"/>
            <a:ext cx="3578455" cy="10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Ciência de</a:t>
            </a:r>
          </a:p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Dados</a:t>
            </a:r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F9CAA660-E518-0695-9613-5AFBD64FB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66" t="26436" r="13369" b="26176"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67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1;p2">
            <a:extLst>
              <a:ext uri="{FF2B5EF4-FFF2-40B4-BE49-F238E27FC236}">
                <a16:creationId xmlns:a16="http://schemas.microsoft.com/office/drawing/2014/main" id="{AE6FC966-7236-0400-D045-C061829E60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12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0EAC720C-7AD0-C6BD-9726-0FE46C41A3A9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DF008FF-9BD4-5297-9912-3ADA3705D730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3" name="Retângulo: Cantos Superiores Arredondados 22">
              <a:extLst>
                <a:ext uri="{FF2B5EF4-FFF2-40B4-BE49-F238E27FC236}">
                  <a16:creationId xmlns:a16="http://schemas.microsoft.com/office/drawing/2014/main" id="{0E03B7B1-11C5-B1E5-7FDA-D97E1FE773E2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74868FA7-31A7-2EFE-B8C6-27F6DF1EC978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5" name="Imagem 24" descr="Logotipo&#10;&#10;O conteúdo gerado por IA pode estar incorreto.">
            <a:extLst>
              <a:ext uri="{FF2B5EF4-FFF2-40B4-BE49-F238E27FC236}">
                <a16:creationId xmlns:a16="http://schemas.microsoft.com/office/drawing/2014/main" id="{A78BEB7A-5B85-C5CA-081E-1D3108C651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566" t="26436" r="13369" b="26176"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5CB565E-F05D-7924-4C90-FDDCFDA686A8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5470DF53-D9ED-16B9-B7CC-217250F87B79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D7F9473C-0676-B36C-7672-7F20CAB4BC4F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9814259B-64C6-4FAF-042F-A6C7D3C96D32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2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;p2">
            <a:extLst>
              <a:ext uri="{FF2B5EF4-FFF2-40B4-BE49-F238E27FC236}">
                <a16:creationId xmlns:a16="http://schemas.microsoft.com/office/drawing/2014/main" id="{A46D1367-0961-E96E-0772-36EB2645DC9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6934F71A-8CAA-194C-D52A-C2F5400DA2B0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B3BC76D-2404-FD25-8823-14ECEF74F6D6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781F9FBA-CCB6-7CCF-B0D4-E9C08EF0C3D9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90DD8A3-FD04-2F01-92A0-5D637163CBCB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" name="Google Shape;643;p43">
            <a:extLst>
              <a:ext uri="{FF2B5EF4-FFF2-40B4-BE49-F238E27FC236}">
                <a16:creationId xmlns:a16="http://schemas.microsoft.com/office/drawing/2014/main" id="{ACACC37E-9FAB-B533-DCD7-1EFC854999F9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>
                <a:solidFill>
                  <a:srgbClr val="FF161F"/>
                </a:solidFill>
              </a:rPr>
              <a:t>Orientações ao Professor</a:t>
            </a:r>
          </a:p>
        </p:txBody>
      </p:sp>
    </p:spTree>
    <p:extLst>
      <p:ext uri="{BB962C8B-B14F-4D97-AF65-F5344CB8AC3E}">
        <p14:creationId xmlns:p14="http://schemas.microsoft.com/office/powerpoint/2010/main" val="4191410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2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2;p4">
            <a:extLst>
              <a:ext uri="{FF2B5EF4-FFF2-40B4-BE49-F238E27FC236}">
                <a16:creationId xmlns:a16="http://schemas.microsoft.com/office/drawing/2014/main" id="{0441BF1F-C7EE-076D-0E64-5ADFC9612C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4">
            <a:extLst>
              <a:ext uri="{FF2B5EF4-FFF2-40B4-BE49-F238E27FC236}">
                <a16:creationId xmlns:a16="http://schemas.microsoft.com/office/drawing/2014/main" id="{9951514B-0229-7045-2962-7AE28BD672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1" name="Google Shape;26;p31">
            <a:extLst>
              <a:ext uri="{FF2B5EF4-FFF2-40B4-BE49-F238E27FC236}">
                <a16:creationId xmlns:a16="http://schemas.microsoft.com/office/drawing/2014/main" id="{94671E74-5053-0B75-2554-2EC14FBC543F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42;p31">
            <a:extLst>
              <a:ext uri="{FF2B5EF4-FFF2-40B4-BE49-F238E27FC236}">
                <a16:creationId xmlns:a16="http://schemas.microsoft.com/office/drawing/2014/main" id="{9872EE60-7A4F-1BA5-6C65-F74323570E69}"/>
              </a:ext>
            </a:extLst>
          </p:cNvPr>
          <p:cNvSpPr/>
          <p:nvPr userDrawn="1"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44;p31">
            <a:extLst>
              <a:ext uri="{FF2B5EF4-FFF2-40B4-BE49-F238E27FC236}">
                <a16:creationId xmlns:a16="http://schemas.microsoft.com/office/drawing/2014/main" id="{E7AF0D48-4EAB-4341-56B9-E5180E18D687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71" name="Google Shape;45;p31">
              <a:extLst>
                <a:ext uri="{FF2B5EF4-FFF2-40B4-BE49-F238E27FC236}">
                  <a16:creationId xmlns:a16="http://schemas.microsoft.com/office/drawing/2014/main" id="{25EE43B4-55D5-638C-B8E0-7683EE07DEF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5" name="Google Shape;46;p31">
                <a:extLst>
                  <a:ext uri="{FF2B5EF4-FFF2-40B4-BE49-F238E27FC236}">
                    <a16:creationId xmlns:a16="http://schemas.microsoft.com/office/drawing/2014/main" id="{D06AC268-D753-3703-84A7-70B8CEE1953D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47;p31">
                <a:extLst>
                  <a:ext uri="{FF2B5EF4-FFF2-40B4-BE49-F238E27FC236}">
                    <a16:creationId xmlns:a16="http://schemas.microsoft.com/office/drawing/2014/main" id="{3CA9B3D1-6574-F459-2D19-20757E9DA548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48;p31">
              <a:extLst>
                <a:ext uri="{FF2B5EF4-FFF2-40B4-BE49-F238E27FC236}">
                  <a16:creationId xmlns:a16="http://schemas.microsoft.com/office/drawing/2014/main" id="{9C48133A-5E44-59D4-D07A-9F4DA1DB4FB6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;p31">
              <a:extLst>
                <a:ext uri="{FF2B5EF4-FFF2-40B4-BE49-F238E27FC236}">
                  <a16:creationId xmlns:a16="http://schemas.microsoft.com/office/drawing/2014/main" id="{52692079-AC69-2A35-9041-6474957E1B76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0;p31">
              <a:extLst>
                <a:ext uri="{FF2B5EF4-FFF2-40B4-BE49-F238E27FC236}">
                  <a16:creationId xmlns:a16="http://schemas.microsoft.com/office/drawing/2014/main" id="{DF1F27D0-EFFF-7207-95F6-31380C6AD75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43;p31">
            <a:extLst>
              <a:ext uri="{FF2B5EF4-FFF2-40B4-BE49-F238E27FC236}">
                <a16:creationId xmlns:a16="http://schemas.microsoft.com/office/drawing/2014/main" id="{6105EC4C-2897-6550-3658-7F87FDA2E46D}"/>
              </a:ext>
            </a:extLst>
          </p:cNvPr>
          <p:cNvSpPr/>
          <p:nvPr userDrawn="1"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51;p31">
            <a:extLst>
              <a:ext uri="{FF2B5EF4-FFF2-40B4-BE49-F238E27FC236}">
                <a16:creationId xmlns:a16="http://schemas.microsoft.com/office/drawing/2014/main" id="{73A799AF-B157-40EC-DCBE-B8FCFBE7F3C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41;p31">
            <a:extLst>
              <a:ext uri="{FF2B5EF4-FFF2-40B4-BE49-F238E27FC236}">
                <a16:creationId xmlns:a16="http://schemas.microsoft.com/office/drawing/2014/main" id="{B3B56EED-70D4-931C-A420-FE71A037A5B3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52;p31">
            <a:extLst>
              <a:ext uri="{FF2B5EF4-FFF2-40B4-BE49-F238E27FC236}">
                <a16:creationId xmlns:a16="http://schemas.microsoft.com/office/drawing/2014/main" id="{150405F6-AD92-3E93-A0F2-62123F63C231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81" name="Google Shape;53;p31">
              <a:extLst>
                <a:ext uri="{FF2B5EF4-FFF2-40B4-BE49-F238E27FC236}">
                  <a16:creationId xmlns:a16="http://schemas.microsoft.com/office/drawing/2014/main" id="{E89D22AA-CDF5-F8EF-533A-455BBF7ED376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54;p31">
              <a:extLst>
                <a:ext uri="{FF2B5EF4-FFF2-40B4-BE49-F238E27FC236}">
                  <a16:creationId xmlns:a16="http://schemas.microsoft.com/office/drawing/2014/main" id="{34CAB52C-B8E8-A6A1-22C9-58CFDA6BF939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83" name="Google Shape;55;p31">
                <a:extLst>
                  <a:ext uri="{FF2B5EF4-FFF2-40B4-BE49-F238E27FC236}">
                    <a16:creationId xmlns:a16="http://schemas.microsoft.com/office/drawing/2014/main" id="{0380A354-0C36-FBBD-5A99-BEB6A92922F2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;p31">
                <a:extLst>
                  <a:ext uri="{FF2B5EF4-FFF2-40B4-BE49-F238E27FC236}">
                    <a16:creationId xmlns:a16="http://schemas.microsoft.com/office/drawing/2014/main" id="{B3EF03DC-1D7C-1510-0CD0-0F69395B797F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7;p31">
                <a:extLst>
                  <a:ext uri="{FF2B5EF4-FFF2-40B4-BE49-F238E27FC236}">
                    <a16:creationId xmlns:a16="http://schemas.microsoft.com/office/drawing/2014/main" id="{42F9CEE5-E68B-076C-BB6F-7A025F686840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8;p31">
                <a:extLst>
                  <a:ext uri="{FF2B5EF4-FFF2-40B4-BE49-F238E27FC236}">
                    <a16:creationId xmlns:a16="http://schemas.microsoft.com/office/drawing/2014/main" id="{99B7DFE5-0CDE-9C9C-3FD3-49285C4CFB39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9;p31">
                <a:extLst>
                  <a:ext uri="{FF2B5EF4-FFF2-40B4-BE49-F238E27FC236}">
                    <a16:creationId xmlns:a16="http://schemas.microsoft.com/office/drawing/2014/main" id="{0F963431-0407-0C32-190B-BA13628B3689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0;p31">
                <a:extLst>
                  <a:ext uri="{FF2B5EF4-FFF2-40B4-BE49-F238E27FC236}">
                    <a16:creationId xmlns:a16="http://schemas.microsoft.com/office/drawing/2014/main" id="{F439FC39-5565-97D2-9A14-46058DB5EF62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" name="Google Shape;41;p31">
            <a:extLst>
              <a:ext uri="{FF2B5EF4-FFF2-40B4-BE49-F238E27FC236}">
                <a16:creationId xmlns:a16="http://schemas.microsoft.com/office/drawing/2014/main" id="{4FB79224-C783-AB92-7785-7C018D12A249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2215;p100">
            <a:extLst>
              <a:ext uri="{FF2B5EF4-FFF2-40B4-BE49-F238E27FC236}">
                <a16:creationId xmlns:a16="http://schemas.microsoft.com/office/drawing/2014/main" id="{0E0D728E-3A33-4EF4-5212-177932EB7D37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7" name="Google Shape;34;p31">
            <a:extLst>
              <a:ext uri="{FF2B5EF4-FFF2-40B4-BE49-F238E27FC236}">
                <a16:creationId xmlns:a16="http://schemas.microsoft.com/office/drawing/2014/main" id="{C430FFE2-579C-F0FF-C290-CF4D2EB9FE9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9" name="Google Shape;35;p31">
              <a:extLst>
                <a:ext uri="{FF2B5EF4-FFF2-40B4-BE49-F238E27FC236}">
                  <a16:creationId xmlns:a16="http://schemas.microsoft.com/office/drawing/2014/main" id="{75DCD9A7-81F9-4D17-9997-5B22594BE3C9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4" name="Google Shape;36;p31">
                <a:extLst>
                  <a:ext uri="{FF2B5EF4-FFF2-40B4-BE49-F238E27FC236}">
                    <a16:creationId xmlns:a16="http://schemas.microsoft.com/office/drawing/2014/main" id="{90EABD33-493E-E54A-1A23-1BA99D60F8B0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7;p31">
                <a:extLst>
                  <a:ext uri="{FF2B5EF4-FFF2-40B4-BE49-F238E27FC236}">
                    <a16:creationId xmlns:a16="http://schemas.microsoft.com/office/drawing/2014/main" id="{A8D933AC-72DA-D72F-77D3-A7207C548944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8;p31">
                <a:extLst>
                  <a:ext uri="{FF2B5EF4-FFF2-40B4-BE49-F238E27FC236}">
                    <a16:creationId xmlns:a16="http://schemas.microsoft.com/office/drawing/2014/main" id="{4A4515EE-AAD5-6566-FB77-56CD51465C34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39;p31">
              <a:extLst>
                <a:ext uri="{FF2B5EF4-FFF2-40B4-BE49-F238E27FC236}">
                  <a16:creationId xmlns:a16="http://schemas.microsoft.com/office/drawing/2014/main" id="{C178D74F-1BD9-301F-4848-BDD92A8BD252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;p31">
              <a:extLst>
                <a:ext uri="{FF2B5EF4-FFF2-40B4-BE49-F238E27FC236}">
                  <a16:creationId xmlns:a16="http://schemas.microsoft.com/office/drawing/2014/main" id="{2FB8305B-313B-9DA6-397B-FD10C2E02AD9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278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2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3;p10">
            <a:extLst>
              <a:ext uri="{FF2B5EF4-FFF2-40B4-BE49-F238E27FC236}">
                <a16:creationId xmlns:a16="http://schemas.microsoft.com/office/drawing/2014/main" id="{9DE2629F-5484-41EF-9EBE-5CA73EC13BF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822" r="42786"/>
          <a:stretch/>
        </p:blipFill>
        <p:spPr>
          <a:xfrm>
            <a:off x="2" y="0"/>
            <a:ext cx="30956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4B02D53-E743-F37B-BC9A-24214A83B7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498470DA-9F77-2314-5148-BE7D0A21C8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4" name="Espaço Reservado para Texto 11">
            <a:extLst>
              <a:ext uri="{FF2B5EF4-FFF2-40B4-BE49-F238E27FC236}">
                <a16:creationId xmlns:a16="http://schemas.microsoft.com/office/drawing/2014/main" id="{7DB9C7F3-F00D-DC50-70C9-8A41518862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</p:spPr>
        <p:txBody>
          <a:bodyPr/>
          <a:lstStyle>
            <a:lvl1pPr>
              <a:defRPr sz="8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788A7CCB-CA65-CA3D-8095-5D379F504D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</p:spPr>
        <p:txBody>
          <a:bodyPr/>
          <a:lstStyle>
            <a:lvl1pPr>
              <a:defRPr sz="12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BB307A8-DF13-B8AA-F7C2-35F05BF5C607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69;p32">
            <a:extLst>
              <a:ext uri="{FF2B5EF4-FFF2-40B4-BE49-F238E27FC236}">
                <a16:creationId xmlns:a16="http://schemas.microsoft.com/office/drawing/2014/main" id="{0E8D4498-A746-0BD4-1859-4CF009FB610E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010264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95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preserve="1" userDrawn="1">
  <p:cSld name="3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3;p21">
            <a:extLst>
              <a:ext uri="{FF2B5EF4-FFF2-40B4-BE49-F238E27FC236}">
                <a16:creationId xmlns:a16="http://schemas.microsoft.com/office/drawing/2014/main" id="{04070031-126A-1C18-A638-9AC483966A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E3EABF6E-626A-0802-C919-B97335045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24C57C54-2E58-E7B5-ECF5-2C905E340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358067F-AF58-89E6-9320-252A84DDC3EB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231;p21">
            <a:extLst>
              <a:ext uri="{FF2B5EF4-FFF2-40B4-BE49-F238E27FC236}">
                <a16:creationId xmlns:a16="http://schemas.microsoft.com/office/drawing/2014/main" id="{19DA6542-7E02-A9D3-1460-FDF30014D194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413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 preserve="1" userDrawn="1">
  <p:cSld name="2_Atividade_embranco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0416F6-09BD-9981-848C-F13A11B9AE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4" name="Espaço Reservado para Mídia 3">
            <a:extLst>
              <a:ext uri="{FF2B5EF4-FFF2-40B4-BE49-F238E27FC236}">
                <a16:creationId xmlns:a16="http://schemas.microsoft.com/office/drawing/2014/main" id="{93F045AC-FA97-1D94-5C54-6BC8931024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226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21">
            <a:extLst>
              <a:ext uri="{FF2B5EF4-FFF2-40B4-BE49-F238E27FC236}">
                <a16:creationId xmlns:a16="http://schemas.microsoft.com/office/drawing/2014/main" id="{C2D53C5C-653B-C871-5FD5-4980C285D2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0" y="12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F6F09EC-E8BF-D620-1C56-34277C037398}"/>
              </a:ext>
            </a:extLst>
          </p:cNvPr>
          <p:cNvSpPr/>
          <p:nvPr userDrawn="1"/>
        </p:nvSpPr>
        <p:spPr>
          <a:xfrm>
            <a:off x="5260792" y="304269"/>
            <a:ext cx="6553729" cy="556821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A24CA4-AA45-E069-3331-6863E624A858}"/>
              </a:ext>
            </a:extLst>
          </p:cNvPr>
          <p:cNvSpPr txBox="1"/>
          <p:nvPr userDrawn="1"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 userDrawn="1">
  <p:cSld name="5_OqueAprendemo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6;p32">
            <a:extLst>
              <a:ext uri="{FF2B5EF4-FFF2-40B4-BE49-F238E27FC236}">
                <a16:creationId xmlns:a16="http://schemas.microsoft.com/office/drawing/2014/main" id="{7C738FF4-2E01-8DDD-6839-4D26CF39941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961" t="437" r="51208"/>
          <a:stretch/>
        </p:blipFill>
        <p:spPr>
          <a:xfrm>
            <a:off x="0" y="0"/>
            <a:ext cx="37752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4" name="Google Shape;689;p48">
            <a:extLst>
              <a:ext uri="{FF2B5EF4-FFF2-40B4-BE49-F238E27FC236}">
                <a16:creationId xmlns:a16="http://schemas.microsoft.com/office/drawing/2014/main" id="{3A19ED95-0334-F47C-AF86-3309C91852AB}"/>
              </a:ext>
            </a:extLst>
          </p:cNvPr>
          <p:cNvSpPr txBox="1">
            <a:spLocks/>
          </p:cNvSpPr>
          <p:nvPr userDrawn="1"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"/>
              </a:spcBef>
              <a:buSzPts val="1200"/>
              <a:buFont typeface="Arial" pitchFamily="34" charset="0"/>
              <a:buNone/>
            </a:pPr>
            <a:r>
              <a:rPr lang="pt-BR" sz="8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Getty </a:t>
            </a:r>
            <a:r>
              <a:rPr lang="pt-BR" sz="80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</a:t>
            </a:r>
            <a:endParaRPr lang="pt-BR" sz="8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Google Shape;345;p32">
            <a:extLst>
              <a:ext uri="{FF2B5EF4-FFF2-40B4-BE49-F238E27FC236}">
                <a16:creationId xmlns:a16="http://schemas.microsoft.com/office/drawing/2014/main" id="{D958A6C2-8B71-D5A0-1C68-95723A4C4F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347;p32">
            <a:extLst>
              <a:ext uri="{FF2B5EF4-FFF2-40B4-BE49-F238E27FC236}">
                <a16:creationId xmlns:a16="http://schemas.microsoft.com/office/drawing/2014/main" id="{D60E57C9-84D4-8D99-0D6C-C59B32F7C6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349;p32">
            <a:extLst>
              <a:ext uri="{FF2B5EF4-FFF2-40B4-BE49-F238E27FC236}">
                <a16:creationId xmlns:a16="http://schemas.microsoft.com/office/drawing/2014/main" id="{142C7AEA-387E-A052-1D08-8A416B8497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233;p39">
            <a:extLst>
              <a:ext uri="{FF2B5EF4-FFF2-40B4-BE49-F238E27FC236}">
                <a16:creationId xmlns:a16="http://schemas.microsoft.com/office/drawing/2014/main" id="{23D223AE-6B47-5244-85DA-E25526DF3862}"/>
              </a:ext>
            </a:extLst>
          </p:cNvPr>
          <p:cNvSpPr txBox="1"/>
          <p:nvPr userDrawn="1"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607A1E13-022D-D9F1-086C-636AF8EAE3BA}"/>
              </a:ext>
            </a:extLst>
          </p:cNvPr>
          <p:cNvSpPr txBox="1"/>
          <p:nvPr userDrawn="1"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7;p39">
            <a:extLst>
              <a:ext uri="{FF2B5EF4-FFF2-40B4-BE49-F238E27FC236}">
                <a16:creationId xmlns:a16="http://schemas.microsoft.com/office/drawing/2014/main" id="{2E8F90B6-2731-530A-A552-FC88DAE9F7F9}"/>
              </a:ext>
            </a:extLst>
          </p:cNvPr>
          <p:cNvSpPr txBox="1"/>
          <p:nvPr userDrawn="1"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BE2669-C701-CF93-6C9B-1A151924C387}"/>
              </a:ext>
            </a:extLst>
          </p:cNvPr>
          <p:cNvSpPr txBox="1"/>
          <p:nvPr userDrawn="1"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0C16D04-5F94-1204-F45D-D945E588A54A}"/>
              </a:ext>
            </a:extLst>
          </p:cNvPr>
          <p:cNvSpPr/>
          <p:nvPr userDrawn="1"/>
        </p:nvSpPr>
        <p:spPr>
          <a:xfrm>
            <a:off x="1827147" y="369589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Google Shape;353;p32">
            <a:extLst>
              <a:ext uri="{FF2B5EF4-FFF2-40B4-BE49-F238E27FC236}">
                <a16:creationId xmlns:a16="http://schemas.microsoft.com/office/drawing/2014/main" id="{3E1F6B0F-0FAB-B530-59EB-16D2A9BD9FDA}"/>
              </a:ext>
            </a:extLst>
          </p:cNvPr>
          <p:cNvSpPr txBox="1"/>
          <p:nvPr userDrawn="1"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lang="pt-BR" sz="2333" b="0" i="0" u="none" strike="noStrike" cap="none" noProof="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55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 userDrawn="1">
  <p:cSld name="4_Atividade_Seminario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;p4">
            <a:extLst>
              <a:ext uri="{FF2B5EF4-FFF2-40B4-BE49-F238E27FC236}">
                <a16:creationId xmlns:a16="http://schemas.microsoft.com/office/drawing/2014/main" id="{96D0DE7F-92AF-A646-0FF2-A77FC5D2471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79131217-7207-B376-583C-711407C374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>
            <a:spLocks noGrp="1"/>
          </p:cNvSpPr>
          <p:nvPr>
            <p:ph type="body" idx="5"/>
          </p:nvPr>
        </p:nvSpPr>
        <p:spPr>
          <a:xfrm>
            <a:off x="1450528" y="1854200"/>
            <a:ext cx="8305873" cy="382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" name="Google Shape;624;p42">
            <a:extLst>
              <a:ext uri="{FF2B5EF4-FFF2-40B4-BE49-F238E27FC236}">
                <a16:creationId xmlns:a16="http://schemas.microsoft.com/office/drawing/2014/main" id="{690D8EE8-5EA4-845E-6984-D0C986969508}"/>
              </a:ext>
            </a:extLst>
          </p:cNvPr>
          <p:cNvSpPr txBox="1"/>
          <p:nvPr userDrawn="1"/>
        </p:nvSpPr>
        <p:spPr>
          <a:xfrm>
            <a:off x="1450528" y="1180890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noProof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r>
              <a:rPr lang="en-US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9309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 preserve="1" userDrawn="1">
  <p:cSld name="2_4. Exposiçã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E4D5C0-2DFD-930A-8F66-D0EE5037040E}"/>
              </a:ext>
            </a:extLst>
          </p:cNvPr>
          <p:cNvSpPr txBox="1"/>
          <p:nvPr userDrawn="1"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35894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 userDrawn="1">
  <p:cSld name="2_Atividade_Resposta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50;p38">
            <a:extLst>
              <a:ext uri="{FF2B5EF4-FFF2-40B4-BE49-F238E27FC236}">
                <a16:creationId xmlns:a16="http://schemas.microsoft.com/office/drawing/2014/main" id="{B63D1618-4DC9-81A2-1395-7A581D0E2524}"/>
              </a:ext>
            </a:extLst>
          </p:cNvPr>
          <p:cNvSpPr/>
          <p:nvPr userDrawn="1"/>
        </p:nvSpPr>
        <p:spPr>
          <a:xfrm>
            <a:off x="2883290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552;p38">
            <a:extLst>
              <a:ext uri="{FF2B5EF4-FFF2-40B4-BE49-F238E27FC236}">
                <a16:creationId xmlns:a16="http://schemas.microsoft.com/office/drawing/2014/main" id="{642E7FBD-2EAE-B480-D2C0-0E05D335427E}"/>
              </a:ext>
            </a:extLst>
          </p:cNvPr>
          <p:cNvSpPr/>
          <p:nvPr userDrawn="1"/>
        </p:nvSpPr>
        <p:spPr>
          <a:xfrm>
            <a:off x="7220006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555;p38">
            <a:extLst>
              <a:ext uri="{FF2B5EF4-FFF2-40B4-BE49-F238E27FC236}">
                <a16:creationId xmlns:a16="http://schemas.microsoft.com/office/drawing/2014/main" id="{690CC235-292D-45C9-F973-86247E174E3A}"/>
              </a:ext>
            </a:extLst>
          </p:cNvPr>
          <p:cNvSpPr txBox="1"/>
          <p:nvPr userDrawn="1"/>
        </p:nvSpPr>
        <p:spPr>
          <a:xfrm>
            <a:off x="2883290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Materiais necessários</a:t>
            </a:r>
          </a:p>
        </p:txBody>
      </p:sp>
      <p:sp>
        <p:nvSpPr>
          <p:cNvPr id="15" name="Google Shape;556;p38">
            <a:extLst>
              <a:ext uri="{FF2B5EF4-FFF2-40B4-BE49-F238E27FC236}">
                <a16:creationId xmlns:a16="http://schemas.microsoft.com/office/drawing/2014/main" id="{03565EBF-03F3-84DC-8861-14074402225D}"/>
              </a:ext>
            </a:extLst>
          </p:cNvPr>
          <p:cNvSpPr txBox="1"/>
          <p:nvPr userDrawn="1"/>
        </p:nvSpPr>
        <p:spPr>
          <a:xfrm>
            <a:off x="7220007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Passo a passo</a:t>
            </a:r>
          </a:p>
        </p:txBody>
      </p:sp>
      <p:sp>
        <p:nvSpPr>
          <p:cNvPr id="25" name="Google Shape;551;p38">
            <a:extLst>
              <a:ext uri="{FF2B5EF4-FFF2-40B4-BE49-F238E27FC236}">
                <a16:creationId xmlns:a16="http://schemas.microsoft.com/office/drawing/2014/main" id="{CD83FF8F-63B7-0CEA-B429-A2BCF2BB7487}"/>
              </a:ext>
            </a:extLst>
          </p:cNvPr>
          <p:cNvSpPr/>
          <p:nvPr userDrawn="1"/>
        </p:nvSpPr>
        <p:spPr>
          <a:xfrm rot="10800000">
            <a:off x="4522940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0A2D55E2-F6DC-1B1A-6206-C9A21DB957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5052" y="1652486"/>
            <a:ext cx="613321" cy="417058"/>
          </a:xfrm>
          <a:prstGeom prst="rect">
            <a:avLst/>
          </a:prstGeom>
        </p:spPr>
      </p:pic>
      <p:sp>
        <p:nvSpPr>
          <p:cNvPr id="26" name="Google Shape;553;p38">
            <a:extLst>
              <a:ext uri="{FF2B5EF4-FFF2-40B4-BE49-F238E27FC236}">
                <a16:creationId xmlns:a16="http://schemas.microsoft.com/office/drawing/2014/main" id="{5669D558-D8B7-9B54-34D3-9E8D442164C5}"/>
              </a:ext>
            </a:extLst>
          </p:cNvPr>
          <p:cNvSpPr/>
          <p:nvPr userDrawn="1"/>
        </p:nvSpPr>
        <p:spPr>
          <a:xfrm rot="10800000">
            <a:off x="8859658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ráfico 27">
            <a:extLst>
              <a:ext uri="{FF2B5EF4-FFF2-40B4-BE49-F238E27FC236}">
                <a16:creationId xmlns:a16="http://schemas.microsoft.com/office/drawing/2014/main" id="{2A2DE510-28AA-A9FA-EF96-ADC1ED86D1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5782" y="1632977"/>
            <a:ext cx="450550" cy="440964"/>
          </a:xfrm>
          <a:prstGeom prst="rect">
            <a:avLst/>
          </a:prstGeom>
        </p:spPr>
      </p:pic>
      <p:sp>
        <p:nvSpPr>
          <p:cNvPr id="43" name="Espaço Reservado para Texto 42">
            <a:extLst>
              <a:ext uri="{FF2B5EF4-FFF2-40B4-BE49-F238E27FC236}">
                <a16:creationId xmlns:a16="http://schemas.microsoft.com/office/drawing/2014/main" id="{72E00D2B-696A-7CA4-B294-8A4F6F5EAB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71283" y="619126"/>
            <a:ext cx="6680639" cy="483157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44" name="Espaço Reservado para Texto 42">
            <a:extLst>
              <a:ext uri="{FF2B5EF4-FFF2-40B4-BE49-F238E27FC236}">
                <a16:creationId xmlns:a16="http://schemas.microsoft.com/office/drawing/2014/main" id="{118B8204-3952-1CCE-5DDA-09799D963B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7780" y="3025735"/>
            <a:ext cx="1865341" cy="428625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47" name="Espaço Reservado para Texto 42">
            <a:extLst>
              <a:ext uri="{FF2B5EF4-FFF2-40B4-BE49-F238E27FC236}">
                <a16:creationId xmlns:a16="http://schemas.microsoft.com/office/drawing/2014/main" id="{E46ABB28-D7A5-0F46-EF31-F1C12A67E7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5094" y="4056434"/>
            <a:ext cx="1839171" cy="428625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48" name="Espaço Reservado para Texto 42">
            <a:extLst>
              <a:ext uri="{FF2B5EF4-FFF2-40B4-BE49-F238E27FC236}">
                <a16:creationId xmlns:a16="http://schemas.microsoft.com/office/drawing/2014/main" id="{BF847B60-BEEF-1E56-730D-C01E43BCC2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6044" y="4847009"/>
            <a:ext cx="1839171" cy="428625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2" name="Google Shape;562;p38">
            <a:extLst>
              <a:ext uri="{FF2B5EF4-FFF2-40B4-BE49-F238E27FC236}">
                <a16:creationId xmlns:a16="http://schemas.microsoft.com/office/drawing/2014/main" id="{DC2E51EA-7A9E-03EB-F489-7558738ECDF2}"/>
              </a:ext>
            </a:extLst>
          </p:cNvPr>
          <p:cNvSpPr txBox="1"/>
          <p:nvPr userDrawn="1"/>
        </p:nvSpPr>
        <p:spPr>
          <a:xfrm>
            <a:off x="3305837" y="5948777"/>
            <a:ext cx="6190494" cy="24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34FE3E-47A8-E9EA-DBAE-A2C1931AD7E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902047" y="5795955"/>
            <a:ext cx="363559" cy="436271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6B2315B-6D35-9EB9-C2B3-F2DAC5766DAE}"/>
              </a:ext>
            </a:extLst>
          </p:cNvPr>
          <p:cNvSpPr/>
          <p:nvPr userDrawn="1"/>
        </p:nvSpPr>
        <p:spPr>
          <a:xfrm>
            <a:off x="200184" y="22452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207;p37">
            <a:extLst>
              <a:ext uri="{FF2B5EF4-FFF2-40B4-BE49-F238E27FC236}">
                <a16:creationId xmlns:a16="http://schemas.microsoft.com/office/drawing/2014/main" id="{8066CCF3-EA91-5101-62FA-2E002F90032D}"/>
              </a:ext>
            </a:extLst>
          </p:cNvPr>
          <p:cNvSpPr txBox="1"/>
          <p:nvPr userDrawn="1"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7387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48" r:id="rId2"/>
    <p:sldLayoutId id="2147483731" r:id="rId3"/>
    <p:sldLayoutId id="2147483710" r:id="rId4"/>
    <p:sldLayoutId id="2147483740" r:id="rId5"/>
    <p:sldLayoutId id="2147483713" r:id="rId6"/>
    <p:sldLayoutId id="2147483701" r:id="rId7"/>
    <p:sldLayoutId id="2147483658" r:id="rId8"/>
    <p:sldLayoutId id="2147483705" r:id="rId9"/>
    <p:sldLayoutId id="2147483707" r:id="rId10"/>
    <p:sldLayoutId id="214748373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7656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8.svg"/><Relationship Id="rId7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O9nnkpkK9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O9nnkpkK9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5.sv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6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49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43;p43">
            <a:extLst>
              <a:ext uri="{FF2B5EF4-FFF2-40B4-BE49-F238E27FC236}">
                <a16:creationId xmlns:a16="http://schemas.microsoft.com/office/drawing/2014/main" id="{21B44D14-C032-9E7B-6137-9125CF4AE115}"/>
              </a:ext>
            </a:extLst>
          </p:cNvPr>
          <p:cNvSpPr txBox="1">
            <a:spLocks/>
          </p:cNvSpPr>
          <p:nvPr/>
        </p:nvSpPr>
        <p:spPr>
          <a:xfrm>
            <a:off x="1018824" y="917774"/>
            <a:ext cx="6003459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200" noProof="0" dirty="0">
                <a:solidFill>
                  <a:srgbClr val="FF161F"/>
                </a:solidFill>
                <a:latin typeface="Poppins" panose="00000500000000000000" pitchFamily="2" charset="0"/>
              </a:rPr>
              <a:t>Introdução à informática</a:t>
            </a:r>
          </a:p>
        </p:txBody>
      </p:sp>
      <p:sp>
        <p:nvSpPr>
          <p:cNvPr id="8" name="Google Shape;643;p43">
            <a:extLst>
              <a:ext uri="{FF2B5EF4-FFF2-40B4-BE49-F238E27FC236}">
                <a16:creationId xmlns:a16="http://schemas.microsoft.com/office/drawing/2014/main" id="{79C53378-5638-4394-B211-79094EBC8787}"/>
              </a:ext>
            </a:extLst>
          </p:cNvPr>
          <p:cNvSpPr txBox="1">
            <a:spLocks/>
          </p:cNvSpPr>
          <p:nvPr/>
        </p:nvSpPr>
        <p:spPr>
          <a:xfrm>
            <a:off x="613180" y="2221967"/>
            <a:ext cx="6814747" cy="4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09630">
              <a:buSzPts val="4500"/>
              <a:defRPr/>
            </a:pPr>
            <a:r>
              <a:rPr lang="pt-BR" sz="26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itchFamily="2" charset="77"/>
              </a:rPr>
              <a:t>Organização digital e produtividade I</a:t>
            </a:r>
          </a:p>
        </p:txBody>
      </p:sp>
      <p:sp>
        <p:nvSpPr>
          <p:cNvPr id="9" name="Google Shape;644;p43">
            <a:extLst>
              <a:ext uri="{FF2B5EF4-FFF2-40B4-BE49-F238E27FC236}">
                <a16:creationId xmlns:a16="http://schemas.microsoft.com/office/drawing/2014/main" id="{B612F43F-1A04-48AE-A3B3-9823407766F9}"/>
              </a:ext>
            </a:extLst>
          </p:cNvPr>
          <p:cNvSpPr txBox="1">
            <a:spLocks/>
          </p:cNvSpPr>
          <p:nvPr/>
        </p:nvSpPr>
        <p:spPr>
          <a:xfrm>
            <a:off x="613180" y="3115128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defTabSz="609630">
              <a:spcBef>
                <a:spcPts val="0"/>
              </a:spcBef>
              <a:buClr>
                <a:srgbClr val="000000"/>
              </a:buClr>
              <a:defRPr/>
            </a:pPr>
            <a:r>
              <a:rPr lang="pt-BR" sz="1800" b="0" noProof="0" dirty="0">
                <a:solidFill>
                  <a:schemeClr val="bg1">
                    <a:lumMod val="7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Aula 3: Boas práticas para o ambiente de trabalho digital</a:t>
            </a:r>
          </a:p>
        </p:txBody>
      </p:sp>
      <p:sp>
        <p:nvSpPr>
          <p:cNvPr id="10" name="Google Shape;644;p43">
            <a:extLst>
              <a:ext uri="{FF2B5EF4-FFF2-40B4-BE49-F238E27FC236}">
                <a16:creationId xmlns:a16="http://schemas.microsoft.com/office/drawing/2014/main" id="{29D62C2D-8EF0-4993-A4E9-775F2B38E16E}"/>
              </a:ext>
            </a:extLst>
          </p:cNvPr>
          <p:cNvSpPr txBox="1">
            <a:spLocks/>
          </p:cNvSpPr>
          <p:nvPr/>
        </p:nvSpPr>
        <p:spPr>
          <a:xfrm>
            <a:off x="613180" y="4091429"/>
            <a:ext cx="6814747" cy="69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09630">
              <a:buSzPts val="2500"/>
              <a:defRPr/>
            </a:pPr>
            <a:r>
              <a:rPr lang="pt-BR" sz="1800" noProof="0" dirty="0">
                <a:latin typeface="Poppins" panose="00000500000000000000" pitchFamily="2" charset="0"/>
                <a:cs typeface="Poppins"/>
              </a:rPr>
              <a:t>Código da aula: DADOSANO1C1B2S9A3</a:t>
            </a:r>
          </a:p>
        </p:txBody>
      </p:sp>
    </p:spTree>
    <p:extLst>
      <p:ext uri="{BB962C8B-B14F-4D97-AF65-F5344CB8AC3E}">
        <p14:creationId xmlns:p14="http://schemas.microsoft.com/office/powerpoint/2010/main" val="261714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A5CD-81AB-4540-94AF-1FDEC1E5A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67413850-5A9E-EE7B-DB20-A52E8DE154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6" name="Google Shape;293;p3">
            <a:extLst>
              <a:ext uri="{FF2B5EF4-FFF2-40B4-BE49-F238E27FC236}">
                <a16:creationId xmlns:a16="http://schemas.microsoft.com/office/drawing/2014/main" id="{9C4C49E5-399F-7A03-0093-5676C5EBF12C}"/>
              </a:ext>
            </a:extLst>
          </p:cNvPr>
          <p:cNvSpPr/>
          <p:nvPr/>
        </p:nvSpPr>
        <p:spPr>
          <a:xfrm rot="-3438299">
            <a:off x="3101898" y="46871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r">
              <a:buSzPts val="2700"/>
            </a:pPr>
            <a:endParaRPr lang="pt-BR" sz="1800" noProof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8;p3">
            <a:extLst>
              <a:ext uri="{FF2B5EF4-FFF2-40B4-BE49-F238E27FC236}">
                <a16:creationId xmlns:a16="http://schemas.microsoft.com/office/drawing/2014/main" id="{FA939B72-B024-BF1F-0C0F-F9A1F76150C5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2;p3">
            <a:extLst>
              <a:ext uri="{FF2B5EF4-FFF2-40B4-BE49-F238E27FC236}">
                <a16:creationId xmlns:a16="http://schemas.microsoft.com/office/drawing/2014/main" id="{5B2F52AF-736B-721D-D40D-73BFB07A6FBC}"/>
              </a:ext>
            </a:extLst>
          </p:cNvPr>
          <p:cNvSpPr/>
          <p:nvPr/>
        </p:nvSpPr>
        <p:spPr>
          <a:xfrm rot="-4951757">
            <a:off x="7445899" y="2445517"/>
            <a:ext cx="210524" cy="21052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03;p3">
            <a:extLst>
              <a:ext uri="{FF2B5EF4-FFF2-40B4-BE49-F238E27FC236}">
                <a16:creationId xmlns:a16="http://schemas.microsoft.com/office/drawing/2014/main" id="{487B1525-C0D5-AD79-0655-F88BBEC20F41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08;p3">
            <a:extLst>
              <a:ext uri="{FF2B5EF4-FFF2-40B4-BE49-F238E27FC236}">
                <a16:creationId xmlns:a16="http://schemas.microsoft.com/office/drawing/2014/main" id="{1E643598-D813-CA8F-25E9-C5B50D1212DC}"/>
              </a:ext>
            </a:extLst>
          </p:cNvPr>
          <p:cNvSpPr/>
          <p:nvPr/>
        </p:nvSpPr>
        <p:spPr>
          <a:xfrm rot="4160691">
            <a:off x="9504311" y="4023267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BBC055BC-68D1-08E4-CF77-7B60FCF120A6}"/>
              </a:ext>
            </a:extLst>
          </p:cNvPr>
          <p:cNvGrpSpPr/>
          <p:nvPr/>
        </p:nvGrpSpPr>
        <p:grpSpPr>
          <a:xfrm>
            <a:off x="587293" y="1657363"/>
            <a:ext cx="11429063" cy="4353397"/>
            <a:chOff x="880938" y="2486044"/>
            <a:chExt cx="17143595" cy="6530095"/>
          </a:xfrm>
          <a:solidFill>
            <a:srgbClr val="3E3593"/>
          </a:solidFill>
        </p:grpSpPr>
        <p:sp>
          <p:nvSpPr>
            <p:cNvPr id="3" name="Google Shape;290;p3">
              <a:extLst>
                <a:ext uri="{FF2B5EF4-FFF2-40B4-BE49-F238E27FC236}">
                  <a16:creationId xmlns:a16="http://schemas.microsoft.com/office/drawing/2014/main" id="{6CFD98B3-AEC6-B6A9-CA57-5C5BB1D05609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91;p3">
              <a:extLst>
                <a:ext uri="{FF2B5EF4-FFF2-40B4-BE49-F238E27FC236}">
                  <a16:creationId xmlns:a16="http://schemas.microsoft.com/office/drawing/2014/main" id="{61101743-264E-8053-C6D9-622EEFD3BC1A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">
              <a:extLst>
                <a:ext uri="{FF2B5EF4-FFF2-40B4-BE49-F238E27FC236}">
                  <a16:creationId xmlns:a16="http://schemas.microsoft.com/office/drawing/2014/main" id="{A0AE1720-EC10-CB9A-E073-BB3AB19A96D1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4;p3">
              <a:extLst>
                <a:ext uri="{FF2B5EF4-FFF2-40B4-BE49-F238E27FC236}">
                  <a16:creationId xmlns:a16="http://schemas.microsoft.com/office/drawing/2014/main" id="{ABDC4B91-2562-5A20-818F-099058B5072B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95;p3">
              <a:extLst>
                <a:ext uri="{FF2B5EF4-FFF2-40B4-BE49-F238E27FC236}">
                  <a16:creationId xmlns:a16="http://schemas.microsoft.com/office/drawing/2014/main" id="{259512CC-69F4-6D02-FD0A-2007193D9B12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6;p3">
              <a:extLst>
                <a:ext uri="{FF2B5EF4-FFF2-40B4-BE49-F238E27FC236}">
                  <a16:creationId xmlns:a16="http://schemas.microsoft.com/office/drawing/2014/main" id="{4560CFF9-EDC4-784E-FFBA-CBAFD1FC1697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7;p3">
              <a:extLst>
                <a:ext uri="{FF2B5EF4-FFF2-40B4-BE49-F238E27FC236}">
                  <a16:creationId xmlns:a16="http://schemas.microsoft.com/office/drawing/2014/main" id="{D04F7375-9AFF-228F-A595-8E91C74E7C5B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9;p3">
              <a:extLst>
                <a:ext uri="{FF2B5EF4-FFF2-40B4-BE49-F238E27FC236}">
                  <a16:creationId xmlns:a16="http://schemas.microsoft.com/office/drawing/2014/main" id="{6D2FC129-3A65-92AB-9332-F6FD17462955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0;p3">
              <a:extLst>
                <a:ext uri="{FF2B5EF4-FFF2-40B4-BE49-F238E27FC236}">
                  <a16:creationId xmlns:a16="http://schemas.microsoft.com/office/drawing/2014/main" id="{5B407AF0-7614-DCE3-CF26-834D4D5B0CB3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1;p3">
              <a:extLst>
                <a:ext uri="{FF2B5EF4-FFF2-40B4-BE49-F238E27FC236}">
                  <a16:creationId xmlns:a16="http://schemas.microsoft.com/office/drawing/2014/main" id="{269853F8-7D68-6F7C-C250-A67EB733D2C2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4;p3">
              <a:extLst>
                <a:ext uri="{FF2B5EF4-FFF2-40B4-BE49-F238E27FC236}">
                  <a16:creationId xmlns:a16="http://schemas.microsoft.com/office/drawing/2014/main" id="{F29926C1-2C55-0F53-C511-7386AA603EDB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5;p3">
              <a:extLst>
                <a:ext uri="{FF2B5EF4-FFF2-40B4-BE49-F238E27FC236}">
                  <a16:creationId xmlns:a16="http://schemas.microsoft.com/office/drawing/2014/main" id="{31EB3A12-02FA-CA8D-AD5F-6F9F06B1D017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6;p3">
              <a:extLst>
                <a:ext uri="{FF2B5EF4-FFF2-40B4-BE49-F238E27FC236}">
                  <a16:creationId xmlns:a16="http://schemas.microsoft.com/office/drawing/2014/main" id="{479DEB0A-42F6-3FF0-2D01-DC50B545BF43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7;p3">
              <a:extLst>
                <a:ext uri="{FF2B5EF4-FFF2-40B4-BE49-F238E27FC236}">
                  <a16:creationId xmlns:a16="http://schemas.microsoft.com/office/drawing/2014/main" id="{2B385504-A225-D5F6-79BD-498904D32668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09;p3">
              <a:extLst>
                <a:ext uri="{FF2B5EF4-FFF2-40B4-BE49-F238E27FC236}">
                  <a16:creationId xmlns:a16="http://schemas.microsoft.com/office/drawing/2014/main" id="{E70E2D9B-B9B9-83FE-8570-BD7B4E6D219D}"/>
                </a:ext>
              </a:extLst>
            </p:cNvPr>
            <p:cNvSpPr/>
            <p:nvPr/>
          </p:nvSpPr>
          <p:spPr>
            <a:xfrm rot="-9744855">
              <a:off x="17708747" y="475701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0;p3">
              <a:extLst>
                <a:ext uri="{FF2B5EF4-FFF2-40B4-BE49-F238E27FC236}">
                  <a16:creationId xmlns:a16="http://schemas.microsoft.com/office/drawing/2014/main" id="{41C0375B-BA98-8766-1864-27189C7BA175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311;p3">
            <a:extLst>
              <a:ext uri="{FF2B5EF4-FFF2-40B4-BE49-F238E27FC236}">
                <a16:creationId xmlns:a16="http://schemas.microsoft.com/office/drawing/2014/main" id="{F221CDD5-B31E-8673-111E-868C95A09BA8}"/>
              </a:ext>
            </a:extLst>
          </p:cNvPr>
          <p:cNvSpPr/>
          <p:nvPr/>
        </p:nvSpPr>
        <p:spPr>
          <a:xfrm>
            <a:off x="2933526" y="2830191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7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312;p3">
            <a:extLst>
              <a:ext uri="{FF2B5EF4-FFF2-40B4-BE49-F238E27FC236}">
                <a16:creationId xmlns:a16="http://schemas.microsoft.com/office/drawing/2014/main" id="{0C3AB0E6-60E3-B186-31F8-011290AC845F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3201572" y="3366284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15;p3">
            <a:extLst>
              <a:ext uri="{FF2B5EF4-FFF2-40B4-BE49-F238E27FC236}">
                <a16:creationId xmlns:a16="http://schemas.microsoft.com/office/drawing/2014/main" id="{A7F3B2E6-343B-0812-F8E0-38D7464DAC79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17;p3">
            <a:extLst>
              <a:ext uri="{FF2B5EF4-FFF2-40B4-BE49-F238E27FC236}">
                <a16:creationId xmlns:a16="http://schemas.microsoft.com/office/drawing/2014/main" id="{9F3C0A8E-2E7C-83CC-4FAB-7909DC817245}"/>
              </a:ext>
            </a:extLst>
          </p:cNvPr>
          <p:cNvSpPr/>
          <p:nvPr/>
        </p:nvSpPr>
        <p:spPr>
          <a:xfrm>
            <a:off x="5860040" y="62685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8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8;p3">
            <a:extLst>
              <a:ext uri="{FF2B5EF4-FFF2-40B4-BE49-F238E27FC236}">
                <a16:creationId xmlns:a16="http://schemas.microsoft.com/office/drawing/2014/main" id="{63C23D93-FFBE-6CBF-840C-0900DF20D862}"/>
              </a:ext>
            </a:extLst>
          </p:cNvPr>
          <p:cNvCxnSpPr>
            <a:cxnSpLocks/>
            <a:stCxn id="30" idx="4"/>
            <a:endCxn id="11" idx="7"/>
          </p:cNvCxnSpPr>
          <p:nvPr/>
        </p:nvCxnSpPr>
        <p:spPr>
          <a:xfrm flipH="1">
            <a:off x="6117555" y="1162945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20;p3">
            <a:extLst>
              <a:ext uri="{FF2B5EF4-FFF2-40B4-BE49-F238E27FC236}">
                <a16:creationId xmlns:a16="http://schemas.microsoft.com/office/drawing/2014/main" id="{4D9CE8FE-4DDE-9ED0-07F1-08ECE7C1A79F}"/>
              </a:ext>
            </a:extLst>
          </p:cNvPr>
          <p:cNvSpPr/>
          <p:nvPr/>
        </p:nvSpPr>
        <p:spPr>
          <a:xfrm>
            <a:off x="8025148" y="1688132"/>
            <a:ext cx="536093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21;p3">
            <a:extLst>
              <a:ext uri="{FF2B5EF4-FFF2-40B4-BE49-F238E27FC236}">
                <a16:creationId xmlns:a16="http://schemas.microsoft.com/office/drawing/2014/main" id="{F6E16DAF-E26D-3D54-9401-6F4FAD2FD31D}"/>
              </a:ext>
            </a:extLst>
          </p:cNvPr>
          <p:cNvCxnSpPr>
            <a:cxnSpLocks/>
            <a:stCxn id="33" idx="3"/>
            <a:endCxn id="15" idx="5"/>
          </p:cNvCxnSpPr>
          <p:nvPr/>
        </p:nvCxnSpPr>
        <p:spPr>
          <a:xfrm flipH="1">
            <a:off x="7634639" y="2145716"/>
            <a:ext cx="469019" cy="340942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8" name="Google Shape;325;p3">
            <a:extLst>
              <a:ext uri="{FF2B5EF4-FFF2-40B4-BE49-F238E27FC236}">
                <a16:creationId xmlns:a16="http://schemas.microsoft.com/office/drawing/2014/main" id="{3A4A312F-111D-A8E8-2BE5-DCFB0D18380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8723761">
            <a:off x="6529979" y="5582655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26;p3">
            <a:extLst>
              <a:ext uri="{FF2B5EF4-FFF2-40B4-BE49-F238E27FC236}">
                <a16:creationId xmlns:a16="http://schemas.microsoft.com/office/drawing/2014/main" id="{43E2C419-3F14-00C4-8A45-9F772B6580B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10072805" y="371605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327;p3">
            <a:extLst>
              <a:ext uri="{FF2B5EF4-FFF2-40B4-BE49-F238E27FC236}">
                <a16:creationId xmlns:a16="http://schemas.microsoft.com/office/drawing/2014/main" id="{19BD88AE-17ED-B6DE-CC5D-774850082D5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5730774" y="48326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354DB304-9B54-B60A-2904-270807DD039A}"/>
              </a:ext>
            </a:extLst>
          </p:cNvPr>
          <p:cNvSpPr/>
          <p:nvPr/>
        </p:nvSpPr>
        <p:spPr>
          <a:xfrm>
            <a:off x="10174052" y="3851166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11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9F2F6083-1F17-A788-06AC-C154D7E2B345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579615" y="4119213"/>
            <a:ext cx="594436" cy="1227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313;p3">
            <a:extLst>
              <a:ext uri="{FF2B5EF4-FFF2-40B4-BE49-F238E27FC236}">
                <a16:creationId xmlns:a16="http://schemas.microsoft.com/office/drawing/2014/main" id="{789CA222-706F-55A6-435D-452AA3E232DD}"/>
              </a:ext>
            </a:extLst>
          </p:cNvPr>
          <p:cNvSpPr txBox="1"/>
          <p:nvPr/>
        </p:nvSpPr>
        <p:spPr>
          <a:xfrm>
            <a:off x="287503" y="3965364"/>
            <a:ext cx="283256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Redes e dispositivos de conectividade</a:t>
            </a:r>
          </a:p>
        </p:txBody>
      </p:sp>
      <p:sp>
        <p:nvSpPr>
          <p:cNvPr id="51" name="Google Shape;316;p3">
            <a:extLst>
              <a:ext uri="{FF2B5EF4-FFF2-40B4-BE49-F238E27FC236}">
                <a16:creationId xmlns:a16="http://schemas.microsoft.com/office/drawing/2014/main" id="{8D0772A2-56D3-B9D0-B1A0-9C181C4ECD76}"/>
              </a:ext>
            </a:extLst>
          </p:cNvPr>
          <p:cNvSpPr txBox="1"/>
          <p:nvPr/>
        </p:nvSpPr>
        <p:spPr>
          <a:xfrm>
            <a:off x="4121308" y="5824870"/>
            <a:ext cx="245496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Organização digital </a:t>
            </a:r>
          </a:p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e produtividade II</a:t>
            </a:r>
          </a:p>
        </p:txBody>
      </p:sp>
      <p:sp>
        <p:nvSpPr>
          <p:cNvPr id="52" name="Google Shape;319;p3">
            <a:extLst>
              <a:ext uri="{FF2B5EF4-FFF2-40B4-BE49-F238E27FC236}">
                <a16:creationId xmlns:a16="http://schemas.microsoft.com/office/drawing/2014/main" id="{98FB546E-4159-D031-9ABC-B5234BC2782E}"/>
              </a:ext>
            </a:extLst>
          </p:cNvPr>
          <p:cNvSpPr txBox="1"/>
          <p:nvPr/>
        </p:nvSpPr>
        <p:spPr>
          <a:xfrm>
            <a:off x="6510730" y="635326"/>
            <a:ext cx="4266127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Endereçamento e protocolos de rede</a:t>
            </a:r>
          </a:p>
        </p:txBody>
      </p:sp>
      <p:sp>
        <p:nvSpPr>
          <p:cNvPr id="53" name="Google Shape;322;p3">
            <a:extLst>
              <a:ext uri="{FF2B5EF4-FFF2-40B4-BE49-F238E27FC236}">
                <a16:creationId xmlns:a16="http://schemas.microsoft.com/office/drawing/2014/main" id="{E9024FB2-1F44-4160-3CAB-318057AB34BC}"/>
              </a:ext>
            </a:extLst>
          </p:cNvPr>
          <p:cNvSpPr txBox="1"/>
          <p:nvPr/>
        </p:nvSpPr>
        <p:spPr>
          <a:xfrm>
            <a:off x="8673545" y="1652519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Organização digital e produtividade I</a:t>
            </a:r>
          </a:p>
        </p:txBody>
      </p:sp>
      <p:sp>
        <p:nvSpPr>
          <p:cNvPr id="57" name="Google Shape;335;p3">
            <a:extLst>
              <a:ext uri="{FF2B5EF4-FFF2-40B4-BE49-F238E27FC236}">
                <a16:creationId xmlns:a16="http://schemas.microsoft.com/office/drawing/2014/main" id="{BB129EC8-991F-40E0-EDCA-5C2D66D15446}"/>
              </a:ext>
            </a:extLst>
          </p:cNvPr>
          <p:cNvSpPr txBox="1"/>
          <p:nvPr/>
        </p:nvSpPr>
        <p:spPr>
          <a:xfrm>
            <a:off x="9949272" y="4530800"/>
            <a:ext cx="209334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Ferramentas </a:t>
            </a:r>
          </a:p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de escritório I</a:t>
            </a:r>
            <a:endParaRPr lang="pt-BR" sz="1700" noProof="0" dirty="0"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27" name="Google Shape;314;p3">
            <a:extLst>
              <a:ext uri="{FF2B5EF4-FFF2-40B4-BE49-F238E27FC236}">
                <a16:creationId xmlns:a16="http://schemas.microsoft.com/office/drawing/2014/main" id="{768AB0E8-AD0D-EEFE-143A-DF717DB5305B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323;p3">
            <a:extLst>
              <a:ext uri="{FF2B5EF4-FFF2-40B4-BE49-F238E27FC236}">
                <a16:creationId xmlns:a16="http://schemas.microsoft.com/office/drawing/2014/main" id="{9BD53F93-5108-AD08-D68B-CF5F0FA21B87}"/>
              </a:ext>
            </a:extLst>
          </p:cNvPr>
          <p:cNvSpPr txBox="1"/>
          <p:nvPr/>
        </p:nvSpPr>
        <p:spPr>
          <a:xfrm>
            <a:off x="8673535" y="1378294"/>
            <a:ext cx="1728649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noProof="0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lang="pt-BR" sz="1400" noProof="0" dirty="0">
              <a:latin typeface="Poppins" panose="00000500000000000000" pitchFamily="2" charset="0"/>
            </a:endParaRPr>
          </a:p>
        </p:txBody>
      </p:sp>
      <p:pic>
        <p:nvPicPr>
          <p:cNvPr id="56" name="Google Shape;324;p3">
            <a:extLst>
              <a:ext uri="{FF2B5EF4-FFF2-40B4-BE49-F238E27FC236}">
                <a16:creationId xmlns:a16="http://schemas.microsoft.com/office/drawing/2014/main" id="{B8E6F388-B6CD-CE09-8C05-B7630930CAA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7916676" y="1523334"/>
            <a:ext cx="634926" cy="410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326;p3">
            <a:extLst>
              <a:ext uri="{FF2B5EF4-FFF2-40B4-BE49-F238E27FC236}">
                <a16:creationId xmlns:a16="http://schemas.microsoft.com/office/drawing/2014/main" id="{0F9BCA11-72A8-0731-0A51-A77A80BA91E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837257" y="2684184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DFD2990-CFE7-BE3D-780D-1F4D4021AE10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Google Shape;329;p3">
            <a:extLst>
              <a:ext uri="{FF2B5EF4-FFF2-40B4-BE49-F238E27FC236}">
                <a16:creationId xmlns:a16="http://schemas.microsoft.com/office/drawing/2014/main" id="{416B1D0A-089E-44AD-3983-589E6875E14D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Introdução à informática 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4AA561E0-52A1-C52C-ABBA-26B92B39E16B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Google Shape;331;p3">
            <a:extLst>
              <a:ext uri="{FF2B5EF4-FFF2-40B4-BE49-F238E27FC236}">
                <a16:creationId xmlns:a16="http://schemas.microsoft.com/office/drawing/2014/main" id="{9FCAA174-3F7C-4843-B6ED-E24CE42B5406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1   Componente 1</a:t>
            </a:r>
          </a:p>
        </p:txBody>
      </p:sp>
    </p:spTree>
    <p:extLst>
      <p:ext uri="{BB962C8B-B14F-4D97-AF65-F5344CB8AC3E}">
        <p14:creationId xmlns:p14="http://schemas.microsoft.com/office/powerpoint/2010/main" val="250193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BC24-27F9-3DBE-3405-8F8406A96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00D1BD88-3206-EF26-8C5E-2CF2F4ED34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396" t="30197" r="53546" b="6024"/>
          <a:stretch/>
        </p:blipFill>
        <p:spPr>
          <a:xfrm rot="21026348">
            <a:off x="5708588" y="2655329"/>
            <a:ext cx="8603297" cy="4647676"/>
          </a:xfrm>
          <a:prstGeom prst="rect">
            <a:avLst/>
          </a:prstGeom>
        </p:spPr>
      </p:pic>
      <p:sp>
        <p:nvSpPr>
          <p:cNvPr id="7" name="Google Shape;341;p4">
            <a:extLst>
              <a:ext uri="{FF2B5EF4-FFF2-40B4-BE49-F238E27FC236}">
                <a16:creationId xmlns:a16="http://schemas.microsoft.com/office/drawing/2014/main" id="{06E1876A-94F7-0F79-35D3-41E48568F1CC}"/>
              </a:ext>
            </a:extLst>
          </p:cNvPr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2;p4">
            <a:extLst>
              <a:ext uri="{FF2B5EF4-FFF2-40B4-BE49-F238E27FC236}">
                <a16:creationId xmlns:a16="http://schemas.microsoft.com/office/drawing/2014/main" id="{D4164D19-2F6B-152E-724A-16701345122C}"/>
              </a:ext>
            </a:extLst>
          </p:cNvPr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36000" tIns="36000" rIns="36000" bIns="36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buSzPts val="6000"/>
            </a:pPr>
            <a:r>
              <a:rPr lang="pt-BR" sz="42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42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343;p4">
            <a:extLst>
              <a:ext uri="{FF2B5EF4-FFF2-40B4-BE49-F238E27FC236}">
                <a16:creationId xmlns:a16="http://schemas.microsoft.com/office/drawing/2014/main" id="{1A7888D5-318B-5701-35C2-82AE2713ACA0}"/>
              </a:ext>
            </a:extLst>
          </p:cNvPr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344;p4">
            <a:extLst>
              <a:ext uri="{FF2B5EF4-FFF2-40B4-BE49-F238E27FC236}">
                <a16:creationId xmlns:a16="http://schemas.microsoft.com/office/drawing/2014/main" id="{AA8160D3-9B5D-CC56-E5AF-6F11FE0658BD}"/>
              </a:ext>
            </a:extLst>
          </p:cNvPr>
          <p:cNvSpPr txBox="1"/>
          <p:nvPr/>
        </p:nvSpPr>
        <p:spPr>
          <a:xfrm>
            <a:off x="3438114" y="3203817"/>
            <a:ext cx="4487736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250"/>
            </a:pPr>
            <a:r>
              <a:rPr lang="pt-BR" sz="18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Organização digital e produtividade I</a:t>
            </a:r>
          </a:p>
        </p:txBody>
      </p:sp>
      <p:sp>
        <p:nvSpPr>
          <p:cNvPr id="11" name="Google Shape;345;p4">
            <a:extLst>
              <a:ext uri="{FF2B5EF4-FFF2-40B4-BE49-F238E27FC236}">
                <a16:creationId xmlns:a16="http://schemas.microsoft.com/office/drawing/2014/main" id="{2C6F1D12-D185-54ED-8470-A535F9FE4C2E}"/>
              </a:ext>
            </a:extLst>
          </p:cNvPr>
          <p:cNvSpPr txBox="1"/>
          <p:nvPr/>
        </p:nvSpPr>
        <p:spPr>
          <a:xfrm>
            <a:off x="3438114" y="2834485"/>
            <a:ext cx="2582980" cy="400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000"/>
            </a:pPr>
            <a:r>
              <a:rPr lang="pt-BR" sz="2200" b="1" noProof="0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lang="pt-BR" sz="2200" noProof="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5" name="Google Shape;349;p4">
            <a:extLst>
              <a:ext uri="{FF2B5EF4-FFF2-40B4-BE49-F238E27FC236}">
                <a16:creationId xmlns:a16="http://schemas.microsoft.com/office/drawing/2014/main" id="{47D3BC58-A612-A08C-D581-4982E5F8DACE}"/>
              </a:ext>
            </a:extLst>
          </p:cNvPr>
          <p:cNvSpPr txBox="1"/>
          <p:nvPr/>
        </p:nvSpPr>
        <p:spPr>
          <a:xfrm>
            <a:off x="3438114" y="5291567"/>
            <a:ext cx="4785301" cy="699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500"/>
            </a:pPr>
            <a:r>
              <a:rPr lang="pt-BR" sz="1800" noProof="0" dirty="0">
                <a:latin typeface="Poppins" panose="00000500000000000000" pitchFamily="2" charset="0"/>
                <a:ea typeface="Poppins"/>
                <a:cs typeface="Poppins"/>
                <a:sym typeface="Poppins"/>
              </a:rPr>
              <a:t>Código da aula: DADOSANO1C1B2S9A3</a:t>
            </a:r>
            <a:endParaRPr lang="pt-BR" sz="1800" noProof="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6" name="Google Shape;350;p4">
            <a:extLst>
              <a:ext uri="{FF2B5EF4-FFF2-40B4-BE49-F238E27FC236}">
                <a16:creationId xmlns:a16="http://schemas.microsoft.com/office/drawing/2014/main" id="{B1852881-6EB4-6CF0-E867-686C4EB88F01}"/>
              </a:ext>
            </a:extLst>
          </p:cNvPr>
          <p:cNvSpPr txBox="1"/>
          <p:nvPr/>
        </p:nvSpPr>
        <p:spPr>
          <a:xfrm>
            <a:off x="3438114" y="4576477"/>
            <a:ext cx="6724073" cy="5354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defTabSz="609630">
              <a:defRPr/>
            </a:pPr>
            <a:r>
              <a:rPr lang="pt-BR" sz="1800" b="1" noProof="0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Aula 3: Boas práticas para o ambiente </a:t>
            </a:r>
          </a:p>
          <a:p>
            <a:pPr defTabSz="609630">
              <a:defRPr/>
            </a:pPr>
            <a:r>
              <a:rPr lang="pt-BR" sz="1800" b="1" noProof="0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de trabalho digital</a:t>
            </a:r>
            <a:endParaRPr lang="pt-BR" sz="1800" b="1" noProof="0" dirty="0">
              <a:latin typeface="Poppins" panose="000005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1737909-441E-BB6F-E8C3-DA3A5BC5F534}"/>
              </a:ext>
            </a:extLst>
          </p:cNvPr>
          <p:cNvSpPr txBox="1"/>
          <p:nvPr/>
        </p:nvSpPr>
        <p:spPr>
          <a:xfrm>
            <a:off x="365760" y="2743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1F74C1A-CE89-C442-E3B3-F05CF6381E00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510667EF-EA37-FE47-23A2-27219D2E5DBD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Introdução à informática 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0893C31-1564-5C17-48E0-0B43F032170A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Google Shape;331;p3">
            <a:extLst>
              <a:ext uri="{FF2B5EF4-FFF2-40B4-BE49-F238E27FC236}">
                <a16:creationId xmlns:a16="http://schemas.microsoft.com/office/drawing/2014/main" id="{ECA31CE8-C11D-4AB4-8DAA-11D7DD8018B1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1   Componente 1</a:t>
            </a:r>
          </a:p>
        </p:txBody>
      </p:sp>
    </p:spTree>
    <p:extLst>
      <p:ext uri="{BB962C8B-B14F-4D97-AF65-F5344CB8AC3E}">
        <p14:creationId xmlns:p14="http://schemas.microsoft.com/office/powerpoint/2010/main" val="116526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4739A81B-0F16-B396-60E0-40A167CD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177B696-8476-5DDC-CE5D-EB325EB95602}"/>
              </a:ext>
            </a:extLst>
          </p:cNvPr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622" noProof="0" dirty="0"/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B44CAD42-B93A-5EDA-5517-8089CDFBB5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3741" y="1342524"/>
            <a:ext cx="3968360" cy="11720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Compreender e aplicar o conceito de boas práticas para ambiente de trabalho digital.</a:t>
            </a:r>
          </a:p>
        </p:txBody>
      </p:sp>
      <p:sp>
        <p:nvSpPr>
          <p:cNvPr id="13" name="Espaço Reservado para Texto 7">
            <a:extLst>
              <a:ext uri="{FF2B5EF4-FFF2-40B4-BE49-F238E27FC236}">
                <a16:creationId xmlns:a16="http://schemas.microsoft.com/office/drawing/2014/main" id="{D9895193-9A91-68A1-496A-E895479F9C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7165" y="1355465"/>
            <a:ext cx="3968360" cy="115913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Organizar arquivos e recursos digitais de forma produtiva.</a:t>
            </a:r>
          </a:p>
        </p:txBody>
      </p:sp>
      <p:sp>
        <p:nvSpPr>
          <p:cNvPr id="14" name="Espaço Reservado para Texto 7">
            <a:extLst>
              <a:ext uri="{FF2B5EF4-FFF2-40B4-BE49-F238E27FC236}">
                <a16:creationId xmlns:a16="http://schemas.microsoft.com/office/drawing/2014/main" id="{9DAC98F9-D748-6166-3B45-D57E29B97D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7165" y="3649331"/>
            <a:ext cx="4317155" cy="118556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Organizar ações em grupo com responsabilidade e cooperação.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1A5D00A-D2A0-46BD-AF28-462CA79F42C2}"/>
              </a:ext>
            </a:extLst>
          </p:cNvPr>
          <p:cNvSpPr/>
          <p:nvPr/>
        </p:nvSpPr>
        <p:spPr>
          <a:xfrm>
            <a:off x="198783" y="2584174"/>
            <a:ext cx="4154556" cy="1351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oogle Shape;27;p31">
            <a:extLst>
              <a:ext uri="{FF2B5EF4-FFF2-40B4-BE49-F238E27FC236}">
                <a16:creationId xmlns:a16="http://schemas.microsoft.com/office/drawing/2014/main" id="{1A4CF8F9-EA40-487C-A950-C4CB85082188}"/>
              </a:ext>
            </a:extLst>
          </p:cNvPr>
          <p:cNvSpPr txBox="1"/>
          <p:nvPr/>
        </p:nvSpPr>
        <p:spPr>
          <a:xfrm>
            <a:off x="1433188" y="2413801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42;p31">
            <a:extLst>
              <a:ext uri="{FF2B5EF4-FFF2-40B4-BE49-F238E27FC236}">
                <a16:creationId xmlns:a16="http://schemas.microsoft.com/office/drawing/2014/main" id="{D87D99A7-AB68-456F-86D7-C415DC3F12C6}"/>
              </a:ext>
            </a:extLst>
          </p:cNvPr>
          <p:cNvSpPr/>
          <p:nvPr/>
        </p:nvSpPr>
        <p:spPr>
          <a:xfrm>
            <a:off x="514540" y="2468877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44;p31">
            <a:extLst>
              <a:ext uri="{FF2B5EF4-FFF2-40B4-BE49-F238E27FC236}">
                <a16:creationId xmlns:a16="http://schemas.microsoft.com/office/drawing/2014/main" id="{27681720-3F85-41C8-BD30-E378FE00022B}"/>
              </a:ext>
            </a:extLst>
          </p:cNvPr>
          <p:cNvGrpSpPr/>
          <p:nvPr/>
        </p:nvGrpSpPr>
        <p:grpSpPr>
          <a:xfrm>
            <a:off x="632680" y="2599548"/>
            <a:ext cx="486839" cy="481169"/>
            <a:chOff x="8278989" y="8660410"/>
            <a:chExt cx="569755" cy="563121"/>
          </a:xfrm>
        </p:grpSpPr>
        <p:grpSp>
          <p:nvGrpSpPr>
            <p:cNvPr id="11" name="Google Shape;45;p31">
              <a:extLst>
                <a:ext uri="{FF2B5EF4-FFF2-40B4-BE49-F238E27FC236}">
                  <a16:creationId xmlns:a16="http://schemas.microsoft.com/office/drawing/2014/main" id="{F4622225-CC71-4FCB-9C9A-1E3FC367D9B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8" name="Google Shape;46;p31">
                <a:extLst>
                  <a:ext uri="{FF2B5EF4-FFF2-40B4-BE49-F238E27FC236}">
                    <a16:creationId xmlns:a16="http://schemas.microsoft.com/office/drawing/2014/main" id="{DD604394-329C-427A-8DA5-644A7C2F4523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47;p31">
                <a:extLst>
                  <a:ext uri="{FF2B5EF4-FFF2-40B4-BE49-F238E27FC236}">
                    <a16:creationId xmlns:a16="http://schemas.microsoft.com/office/drawing/2014/main" id="{864D7DFD-5234-45E4-9C0E-9CA277F6F383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48;p31">
              <a:extLst>
                <a:ext uri="{FF2B5EF4-FFF2-40B4-BE49-F238E27FC236}">
                  <a16:creationId xmlns:a16="http://schemas.microsoft.com/office/drawing/2014/main" id="{CFEB6959-626D-442E-A9E9-4A957F421380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49;p31">
              <a:extLst>
                <a:ext uri="{FF2B5EF4-FFF2-40B4-BE49-F238E27FC236}">
                  <a16:creationId xmlns:a16="http://schemas.microsoft.com/office/drawing/2014/main" id="{F29297B9-DC4D-4521-9B86-41C49BE51B1A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50;p31">
              <a:extLst>
                <a:ext uri="{FF2B5EF4-FFF2-40B4-BE49-F238E27FC236}">
                  <a16:creationId xmlns:a16="http://schemas.microsoft.com/office/drawing/2014/main" id="{CA0D32CA-555B-4D6D-B59C-76C36B7B383D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Espaço Reservado para Texto 7">
            <a:extLst>
              <a:ext uri="{FF2B5EF4-FFF2-40B4-BE49-F238E27FC236}">
                <a16:creationId xmlns:a16="http://schemas.microsoft.com/office/drawing/2014/main" id="{1FD80EE3-3DF5-2B8D-DB11-4498F0C562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5390" y="2911297"/>
            <a:ext cx="3976711" cy="152602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Recurso audiovisual para exibição de vídeos e imagens;</a:t>
            </a:r>
          </a:p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Acesso ao laboratório de informática e/ou à internet;</a:t>
            </a:r>
          </a:p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Papel e caneta.</a:t>
            </a:r>
          </a:p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Roteiro de Atividade Prática.</a:t>
            </a:r>
          </a:p>
          <a:p>
            <a:pPr marL="0" indent="0">
              <a:spcAft>
                <a:spcPts val="400"/>
              </a:spcAft>
              <a:buNone/>
            </a:pPr>
            <a:endParaRPr lang="pt-BR" sz="1500" noProof="0" dirty="0">
              <a:solidFill>
                <a:schemeClr val="tx1">
                  <a:lumMod val="95000"/>
                  <a:lumOff val="5000"/>
                </a:schemeClr>
              </a:solidFill>
              <a:latin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endParaRPr lang="pt-BR" sz="1500" noProof="0" dirty="0">
              <a:solidFill>
                <a:schemeClr val="tx1">
                  <a:lumMod val="95000"/>
                  <a:lumOff val="5000"/>
                </a:schemeClr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246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9C506E41-6026-CBE8-9EDA-DE317FF01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ixaDeTexto 20">
            <a:extLst>
              <a:ext uri="{FF2B5EF4-FFF2-40B4-BE49-F238E27FC236}">
                <a16:creationId xmlns:a16="http://schemas.microsoft.com/office/drawing/2014/main" id="{B43C4A11-A2C6-AFE6-2412-DB7199EDDFC2}"/>
              </a:ext>
            </a:extLst>
          </p:cNvPr>
          <p:cNvSpPr txBox="1"/>
          <p:nvPr/>
        </p:nvSpPr>
        <p:spPr>
          <a:xfrm>
            <a:off x="11742295" y="64257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15F6AF-51EA-25B1-A0D3-C0035998050D}"/>
              </a:ext>
            </a:extLst>
          </p:cNvPr>
          <p:cNvSpPr txBox="1"/>
          <p:nvPr/>
        </p:nvSpPr>
        <p:spPr>
          <a:xfrm>
            <a:off x="12420600" y="308065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4E9CC0-C866-02BD-24B5-FE6726D9DEF7}"/>
              </a:ext>
            </a:extLst>
          </p:cNvPr>
          <p:cNvSpPr txBox="1"/>
          <p:nvPr/>
        </p:nvSpPr>
        <p:spPr>
          <a:xfrm>
            <a:off x="12997543" y="445225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DAECDB3-9C4E-D9D0-D77D-F7C6101F8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48821" y="1333365"/>
            <a:ext cx="8052782" cy="646332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800" dirty="0">
                <a:latin typeface="Poppins" panose="00000500000000000000" pitchFamily="2" charset="0"/>
              </a:rPr>
              <a:t>Na aula passada, vimos como usar o teclado e os atalhos para ganhar tempo e trabalhar com eficiência no computador.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7D35CE18-8C48-2D94-F905-F3E3694826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9888" y="4321641"/>
            <a:ext cx="3481638" cy="1236464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800" dirty="0">
                <a:latin typeface="Poppins" panose="00000500000000000000" pitchFamily="2" charset="0"/>
              </a:rPr>
              <a:t>Que problemas práticos essa desorganização pode causar na hora de estudar ou de fazer um trabalho?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234D5A1-641B-3F75-C274-7B277BA472B1}"/>
              </a:ext>
            </a:extLst>
          </p:cNvPr>
          <p:cNvSpPr txBox="1"/>
          <p:nvPr/>
        </p:nvSpPr>
        <p:spPr>
          <a:xfrm>
            <a:off x="3448821" y="804044"/>
            <a:ext cx="7981365" cy="394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r>
              <a:rPr lang="pt-BR" sz="3000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Atalhos de navegação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512064-9A32-AADA-E3BB-60F1AF2D27F4}"/>
              </a:ext>
            </a:extLst>
          </p:cNvPr>
          <p:cNvSpPr txBox="1"/>
          <p:nvPr/>
        </p:nvSpPr>
        <p:spPr>
          <a:xfrm>
            <a:off x="3448822" y="2243726"/>
            <a:ext cx="3972704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Agora, imagine a seguinte situação: você precisa usar o computador da escola e a área de trabalho está lotada de ícones, pastas “sem nome” e arquivos duplicados.</a:t>
            </a:r>
            <a:endParaRPr lang="pt-BR" dirty="0">
              <a:latin typeface="Poppins" panose="000005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8833C0A-A44D-75CB-287F-BBDB1DB53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421526" y="2222806"/>
            <a:ext cx="4080077" cy="272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9E3CB00-134C-19FA-9662-89D42D43CB6D}"/>
              </a:ext>
            </a:extLst>
          </p:cNvPr>
          <p:cNvSpPr txBox="1"/>
          <p:nvPr/>
        </p:nvSpPr>
        <p:spPr>
          <a:xfrm>
            <a:off x="7335078" y="4979925"/>
            <a:ext cx="2633102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 panose="00000500000000000000" pitchFamily="2" charset="0"/>
              </a:rPr>
              <a:t>© Getty Images</a:t>
            </a:r>
          </a:p>
        </p:txBody>
      </p:sp>
      <p:sp>
        <p:nvSpPr>
          <p:cNvPr id="14" name="Triângulo 8">
            <a:extLst>
              <a:ext uri="{FF2B5EF4-FFF2-40B4-BE49-F238E27FC236}">
                <a16:creationId xmlns:a16="http://schemas.microsoft.com/office/drawing/2014/main" id="{EA5C36A0-F191-FAA2-DFF7-9ABAF53BB046}"/>
              </a:ext>
            </a:extLst>
          </p:cNvPr>
          <p:cNvSpPr/>
          <p:nvPr/>
        </p:nvSpPr>
        <p:spPr>
          <a:xfrm rot="5400000">
            <a:off x="3737180" y="4435066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</p:spTree>
    <p:extLst>
      <p:ext uri="{BB962C8B-B14F-4D97-AF65-F5344CB8AC3E}">
        <p14:creationId xmlns:p14="http://schemas.microsoft.com/office/powerpoint/2010/main" val="416711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550;p38">
            <a:extLst>
              <a:ext uri="{FF2B5EF4-FFF2-40B4-BE49-F238E27FC236}">
                <a16:creationId xmlns:a16="http://schemas.microsoft.com/office/drawing/2014/main" id="{A0506925-1C19-4A7B-9AEA-F8BDD2D025CA}"/>
              </a:ext>
            </a:extLst>
          </p:cNvPr>
          <p:cNvSpPr/>
          <p:nvPr/>
        </p:nvSpPr>
        <p:spPr>
          <a:xfrm>
            <a:off x="2883290" y="2029006"/>
            <a:ext cx="4046900" cy="3720865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552;p38">
            <a:extLst>
              <a:ext uri="{FF2B5EF4-FFF2-40B4-BE49-F238E27FC236}">
                <a16:creationId xmlns:a16="http://schemas.microsoft.com/office/drawing/2014/main" id="{8C5F72DA-DD20-4268-9E8B-3B2705DB8088}"/>
              </a:ext>
            </a:extLst>
          </p:cNvPr>
          <p:cNvSpPr/>
          <p:nvPr/>
        </p:nvSpPr>
        <p:spPr>
          <a:xfrm>
            <a:off x="7220006" y="2029006"/>
            <a:ext cx="4046900" cy="3720865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1317;p91">
            <a:extLst>
              <a:ext uri="{FF2B5EF4-FFF2-40B4-BE49-F238E27FC236}">
                <a16:creationId xmlns:a16="http://schemas.microsoft.com/office/drawing/2014/main" id="{0A4D987F-8970-28E9-BA85-7727A889FCDA}"/>
              </a:ext>
            </a:extLst>
          </p:cNvPr>
          <p:cNvSpPr txBox="1"/>
          <p:nvPr/>
        </p:nvSpPr>
        <p:spPr>
          <a:xfrm>
            <a:off x="3279108" y="2793780"/>
            <a:ext cx="3466876" cy="1138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R="0" lvl="0" indent="-228611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Acesso ao laboratório de informática e/ou à internet.</a:t>
            </a:r>
          </a:p>
          <a:p>
            <a:pPr marR="0" lvl="0" indent="-228611" defTabSz="914400" rtl="0" eaLnBrk="1" fontAlgn="auto" latinLnBrk="0" hangingPunct="1">
              <a:spcAft>
                <a:spcPts val="60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Computadores com acesso à internet.</a:t>
            </a:r>
          </a:p>
        </p:txBody>
      </p:sp>
      <p:sp>
        <p:nvSpPr>
          <p:cNvPr id="14" name="Google Shape;1318;p91">
            <a:extLst>
              <a:ext uri="{FF2B5EF4-FFF2-40B4-BE49-F238E27FC236}">
                <a16:creationId xmlns:a16="http://schemas.microsoft.com/office/drawing/2014/main" id="{BC34CBB5-91D9-3389-96C9-E97FCE22516C}"/>
              </a:ext>
            </a:extLst>
          </p:cNvPr>
          <p:cNvSpPr txBox="1"/>
          <p:nvPr/>
        </p:nvSpPr>
        <p:spPr>
          <a:xfrm>
            <a:off x="7365576" y="2793780"/>
            <a:ext cx="3882807" cy="285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67" rIns="60950" bIns="30467" anchor="t" anchorCtr="0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rPr>
              <a:t>Siga as instruções do roteiro de atividade prática.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pt-BR" sz="1500" dirty="0"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rPr>
              <a:t>F</a:t>
            </a: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rPr>
              <a:t>aça a atividade conforme a síntese abaixo:</a:t>
            </a:r>
            <a:endParaRPr kumimoji="0" lang="pt-BR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342900" lvl="4" indent="-342900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pt-BR" sz="1500" dirty="0">
                <a:latin typeface="Poppins" panose="00000500000000000000" pitchFamily="2" charset="0"/>
                <a:cs typeface="Poppins" panose="00000500000000000000" pitchFamily="2" charset="0"/>
                <a:sym typeface="Poppins Light"/>
              </a:rPr>
              <a:t>Criar uma pasta chamada “Projeto Escolar” e subpastas por tipo de arquivo.</a:t>
            </a:r>
          </a:p>
          <a:p>
            <a:pPr marL="342900" lvl="4" indent="-342900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pt-BR" sz="1500" dirty="0">
                <a:latin typeface="Poppins" panose="00000500000000000000" pitchFamily="2" charset="0"/>
                <a:cs typeface="Poppins" panose="00000500000000000000" pitchFamily="2" charset="0"/>
                <a:sym typeface="Poppins Light"/>
              </a:rPr>
              <a:t>Simular a inclusão de arquivos e personalizar o visual do sistema.</a:t>
            </a:r>
          </a:p>
          <a:p>
            <a:pPr marL="342900" lvl="4" indent="-342900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lang="pt-BR" sz="1500" dirty="0">
                <a:latin typeface="Poppins" panose="00000500000000000000" pitchFamily="2" charset="0"/>
                <a:cs typeface="Poppins" panose="00000500000000000000" pitchFamily="2" charset="0"/>
                <a:sym typeface="Poppins Light"/>
              </a:rPr>
              <a:t>Refletir sobre as boas práticas aplicadas.</a:t>
            </a:r>
            <a:endParaRPr lang="pt-BR" sz="15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9A980400-46B1-C668-CA37-696C59E06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18" name="Google Shape;833;p62">
            <a:extLst>
              <a:ext uri="{FF2B5EF4-FFF2-40B4-BE49-F238E27FC236}">
                <a16:creationId xmlns:a16="http://schemas.microsoft.com/office/drawing/2014/main" id="{D0A62BC6-0055-3188-C638-E69165A68271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marL="0" marR="0" lvl="0" indent="0" defTabSz="914400" rtl="0" eaLnBrk="1" fontAlgn="auto" latinLnBrk="0" hangingPunct="1">
              <a:lnSpc>
                <a:spcPct val="107000"/>
              </a:lnSpc>
              <a:spcBef>
                <a:spcPts val="71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E7BFD00-AF6D-E87B-4D29-646CBDA65BED}"/>
              </a:ext>
            </a:extLst>
          </p:cNvPr>
          <p:cNvSpPr txBox="1"/>
          <p:nvPr/>
        </p:nvSpPr>
        <p:spPr>
          <a:xfrm>
            <a:off x="6136640" y="8839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Espaço Reservado para Texto 42">
            <a:extLst>
              <a:ext uri="{FF2B5EF4-FFF2-40B4-BE49-F238E27FC236}">
                <a16:creationId xmlns:a16="http://schemas.microsoft.com/office/drawing/2014/main" id="{ED977AD9-D788-71CA-520D-A67C9E2F11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6818" y="792813"/>
            <a:ext cx="8371731" cy="6591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Higiene digital</a:t>
            </a:r>
          </a:p>
        </p:txBody>
      </p:sp>
      <p:sp>
        <p:nvSpPr>
          <p:cNvPr id="24" name="Espaço Reservado para Texto 42">
            <a:extLst>
              <a:ext uri="{FF2B5EF4-FFF2-40B4-BE49-F238E27FC236}">
                <a16:creationId xmlns:a16="http://schemas.microsoft.com/office/drawing/2014/main" id="{87F3C3DB-7926-FC85-BAC8-B57EFF1FD5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5255" y="4111758"/>
            <a:ext cx="1585727" cy="3051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z="1200" b="1" dirty="0">
                <a:latin typeface="Poppins" panose="00000500000000000000" pitchFamily="2" charset="0"/>
                <a:cs typeface="Poppins" pitchFamily="2" charset="77"/>
              </a:rPr>
              <a:t>37 minutos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1E85CEC-6B26-B005-CA2C-AD9A581E64A1}"/>
              </a:ext>
            </a:extLst>
          </p:cNvPr>
          <p:cNvSpPr txBox="1"/>
          <p:nvPr/>
        </p:nvSpPr>
        <p:spPr>
          <a:xfrm>
            <a:off x="9272789" y="216365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7EEE86-195F-30D7-B077-B9E1372576A3}"/>
              </a:ext>
            </a:extLst>
          </p:cNvPr>
          <p:cNvSpPr txBox="1"/>
          <p:nvPr/>
        </p:nvSpPr>
        <p:spPr>
          <a:xfrm>
            <a:off x="5117205" y="212930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90EC73-A11E-3A01-3C37-B0CFF12FA26D}"/>
              </a:ext>
            </a:extLst>
          </p:cNvPr>
          <p:cNvSpPr txBox="1"/>
          <p:nvPr/>
        </p:nvSpPr>
        <p:spPr>
          <a:xfrm>
            <a:off x="12629882" y="40182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Google Shape;578;p38">
            <a:extLst>
              <a:ext uri="{FF2B5EF4-FFF2-40B4-BE49-F238E27FC236}">
                <a16:creationId xmlns:a16="http://schemas.microsoft.com/office/drawing/2014/main" id="{897F6E87-64D3-F33F-643C-025FF0491C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869" y="4056434"/>
            <a:ext cx="305151" cy="3051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D6B4811-AFE7-0B7E-517C-245E2D187F86}"/>
              </a:ext>
            </a:extLst>
          </p:cNvPr>
          <p:cNvSpPr txBox="1"/>
          <p:nvPr/>
        </p:nvSpPr>
        <p:spPr>
          <a:xfrm>
            <a:off x="5346357" y="265258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4522;p66">
            <a:extLst>
              <a:ext uri="{FF2B5EF4-FFF2-40B4-BE49-F238E27FC236}">
                <a16:creationId xmlns:a16="http://schemas.microsoft.com/office/drawing/2014/main" id="{38611ABE-060D-D4B2-4B0E-F95BA31D1D11}"/>
              </a:ext>
            </a:extLst>
          </p:cNvPr>
          <p:cNvSpPr txBox="1"/>
          <p:nvPr/>
        </p:nvSpPr>
        <p:spPr>
          <a:xfrm>
            <a:off x="885254" y="4729663"/>
            <a:ext cx="1910197" cy="20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</a:pPr>
            <a:r>
              <a:rPr lang="pt-BR" sz="1200" b="1" dirty="0">
                <a:latin typeface="Poppins" panose="00000500000000000000" pitchFamily="2" charset="0"/>
                <a:cs typeface="Poppins"/>
                <a:sym typeface="Poppins"/>
              </a:rPr>
              <a:t>Em dupla</a:t>
            </a:r>
            <a:endParaRPr dirty="0">
              <a:latin typeface="Poppins" panose="00000500000000000000" pitchFamily="2" charset="0"/>
            </a:endParaRPr>
          </a:p>
        </p:txBody>
      </p:sp>
      <p:grpSp>
        <p:nvGrpSpPr>
          <p:cNvPr id="11" name="Google Shape;490;p35">
            <a:extLst>
              <a:ext uri="{FF2B5EF4-FFF2-40B4-BE49-F238E27FC236}">
                <a16:creationId xmlns:a16="http://schemas.microsoft.com/office/drawing/2014/main" id="{B0E1FBFC-3B62-6DAE-3061-9B1F19B104C3}"/>
              </a:ext>
            </a:extLst>
          </p:cNvPr>
          <p:cNvGrpSpPr/>
          <p:nvPr/>
        </p:nvGrpSpPr>
        <p:grpSpPr>
          <a:xfrm>
            <a:off x="435573" y="4573815"/>
            <a:ext cx="311258" cy="360135"/>
            <a:chOff x="6941066" y="2777637"/>
            <a:chExt cx="456958" cy="452197"/>
          </a:xfrm>
          <a:noFill/>
        </p:grpSpPr>
        <p:grpSp>
          <p:nvGrpSpPr>
            <p:cNvPr id="12" name="Google Shape;491;p35">
              <a:extLst>
                <a:ext uri="{FF2B5EF4-FFF2-40B4-BE49-F238E27FC236}">
                  <a16:creationId xmlns:a16="http://schemas.microsoft.com/office/drawing/2014/main" id="{69C4A8F9-A7F3-7360-101C-ADE0AAB8E829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32" name="Google Shape;492;p35">
                <a:extLst>
                  <a:ext uri="{FF2B5EF4-FFF2-40B4-BE49-F238E27FC236}">
                    <a16:creationId xmlns:a16="http://schemas.microsoft.com/office/drawing/2014/main" id="{A7EC8C64-C12C-3233-9F19-7F22200C4B56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0633" tIns="20311" rIns="40633" bIns="20311" anchor="ctr" anchorCtr="0">
                <a:noAutofit/>
              </a:bodyPr>
              <a:lstStyle/>
              <a:p>
                <a:pPr defTabSz="609630">
                  <a:buSzPts val="1800"/>
                </a:pPr>
                <a:endParaRPr sz="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493;p35">
                <a:extLst>
                  <a:ext uri="{FF2B5EF4-FFF2-40B4-BE49-F238E27FC236}">
                    <a16:creationId xmlns:a16="http://schemas.microsoft.com/office/drawing/2014/main" id="{EE65E728-4F9F-18FA-9E2A-94CD8E859EAA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0633" tIns="20311" rIns="40633" bIns="20311" anchor="ctr" anchorCtr="0">
                <a:noAutofit/>
              </a:bodyPr>
              <a:lstStyle/>
              <a:p>
                <a:pPr defTabSz="609630">
                  <a:buSzPts val="1800"/>
                </a:pPr>
                <a:endParaRPr sz="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" name="Google Shape;494;p35">
              <a:extLst>
                <a:ext uri="{FF2B5EF4-FFF2-40B4-BE49-F238E27FC236}">
                  <a16:creationId xmlns:a16="http://schemas.microsoft.com/office/drawing/2014/main" id="{0C45A7FD-08A8-4D43-6D19-F16C451B33C8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30" name="Google Shape;495;p35">
                <a:extLst>
                  <a:ext uri="{FF2B5EF4-FFF2-40B4-BE49-F238E27FC236}">
                    <a16:creationId xmlns:a16="http://schemas.microsoft.com/office/drawing/2014/main" id="{9AF4FED4-AD41-6F35-98AA-83FF7C99B675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0633" tIns="20311" rIns="40633" bIns="20311" anchor="ctr" anchorCtr="0">
                <a:noAutofit/>
              </a:bodyPr>
              <a:lstStyle/>
              <a:p>
                <a:pPr defTabSz="609630">
                  <a:buSzPts val="1800"/>
                </a:pPr>
                <a:endParaRPr sz="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96;p35">
                <a:extLst>
                  <a:ext uri="{FF2B5EF4-FFF2-40B4-BE49-F238E27FC236}">
                    <a16:creationId xmlns:a16="http://schemas.microsoft.com/office/drawing/2014/main" id="{B3D0D9C1-110A-1F40-A7BA-4AD97C272DB4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0633" tIns="20311" rIns="40633" bIns="20311" anchor="ctr" anchorCtr="0">
                <a:noAutofit/>
              </a:bodyPr>
              <a:lstStyle/>
              <a:p>
                <a:pPr defTabSz="609630">
                  <a:buSzPts val="1800"/>
                </a:pPr>
                <a:endParaRPr sz="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497;p35">
              <a:extLst>
                <a:ext uri="{FF2B5EF4-FFF2-40B4-BE49-F238E27FC236}">
                  <a16:creationId xmlns:a16="http://schemas.microsoft.com/office/drawing/2014/main" id="{07AC7FDF-B92E-73C7-25C1-6ABF7502E6D8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27" name="Google Shape;498;p35">
                <a:extLst>
                  <a:ext uri="{FF2B5EF4-FFF2-40B4-BE49-F238E27FC236}">
                    <a16:creationId xmlns:a16="http://schemas.microsoft.com/office/drawing/2014/main" id="{84F023A8-D42C-9458-2DA1-5E1313566E5B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0633" tIns="20311" rIns="40633" bIns="20311" anchor="ctr" anchorCtr="0">
                <a:noAutofit/>
              </a:bodyPr>
              <a:lstStyle/>
              <a:p>
                <a:pPr defTabSz="609630">
                  <a:buSzPts val="1800"/>
                </a:pPr>
                <a:endParaRPr sz="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499;p35">
                <a:extLst>
                  <a:ext uri="{FF2B5EF4-FFF2-40B4-BE49-F238E27FC236}">
                    <a16:creationId xmlns:a16="http://schemas.microsoft.com/office/drawing/2014/main" id="{D2B2CE0E-916D-336A-A00E-72CF4A2EB242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0633" tIns="20311" rIns="40633" bIns="20311" anchor="ctr" anchorCtr="0">
                <a:noAutofit/>
              </a:bodyPr>
              <a:lstStyle/>
              <a:p>
                <a:pPr defTabSz="609630">
                  <a:buSzPts val="1800"/>
                </a:pPr>
                <a:endParaRPr sz="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00;p35">
                <a:extLst>
                  <a:ext uri="{FF2B5EF4-FFF2-40B4-BE49-F238E27FC236}">
                    <a16:creationId xmlns:a16="http://schemas.microsoft.com/office/drawing/2014/main" id="{41D9C401-CFBA-021D-3444-37895E071DB5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0633" tIns="20311" rIns="40633" bIns="20311" anchor="ctr" anchorCtr="0">
                <a:noAutofit/>
              </a:bodyPr>
              <a:lstStyle/>
              <a:p>
                <a:pPr defTabSz="609630">
                  <a:buSzPts val="1800"/>
                </a:pPr>
                <a:endParaRPr sz="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501;p35">
              <a:extLst>
                <a:ext uri="{FF2B5EF4-FFF2-40B4-BE49-F238E27FC236}">
                  <a16:creationId xmlns:a16="http://schemas.microsoft.com/office/drawing/2014/main" id="{D968D460-4D24-B5C9-2B2E-18867A4DC1D1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20" name="Google Shape;502;p35">
                <a:extLst>
                  <a:ext uri="{FF2B5EF4-FFF2-40B4-BE49-F238E27FC236}">
                    <a16:creationId xmlns:a16="http://schemas.microsoft.com/office/drawing/2014/main" id="{27F209E4-9151-F7B6-D90E-E5682AD141A5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0633" tIns="20311" rIns="40633" bIns="20311" anchor="ctr" anchorCtr="0">
                <a:noAutofit/>
              </a:bodyPr>
              <a:lstStyle/>
              <a:p>
                <a:pPr defTabSz="609630">
                  <a:buSzPts val="1800"/>
                </a:pPr>
                <a:endParaRPr sz="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03;p35">
                <a:extLst>
                  <a:ext uri="{FF2B5EF4-FFF2-40B4-BE49-F238E27FC236}">
                    <a16:creationId xmlns:a16="http://schemas.microsoft.com/office/drawing/2014/main" id="{2DCE55EA-94CC-3042-53CB-2BE178D23262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0633" tIns="20311" rIns="40633" bIns="20311" anchor="ctr" anchorCtr="0">
                <a:noAutofit/>
              </a:bodyPr>
              <a:lstStyle/>
              <a:p>
                <a:pPr defTabSz="609630">
                  <a:buSzPts val="1800"/>
                </a:pPr>
                <a:endParaRPr sz="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" name="Google Shape;555;p38">
            <a:extLst>
              <a:ext uri="{FF2B5EF4-FFF2-40B4-BE49-F238E27FC236}">
                <a16:creationId xmlns:a16="http://schemas.microsoft.com/office/drawing/2014/main" id="{70E66A6D-B4D0-4014-8082-912095773BDB}"/>
              </a:ext>
            </a:extLst>
          </p:cNvPr>
          <p:cNvSpPr txBox="1"/>
          <p:nvPr/>
        </p:nvSpPr>
        <p:spPr>
          <a:xfrm>
            <a:off x="2883290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Materiais necessários</a:t>
            </a:r>
          </a:p>
        </p:txBody>
      </p:sp>
      <p:sp>
        <p:nvSpPr>
          <p:cNvPr id="37" name="Google Shape;556;p38">
            <a:extLst>
              <a:ext uri="{FF2B5EF4-FFF2-40B4-BE49-F238E27FC236}">
                <a16:creationId xmlns:a16="http://schemas.microsoft.com/office/drawing/2014/main" id="{94DE77FC-EA9F-4A2A-9A3A-55D9EA1ACE02}"/>
              </a:ext>
            </a:extLst>
          </p:cNvPr>
          <p:cNvSpPr txBox="1"/>
          <p:nvPr/>
        </p:nvSpPr>
        <p:spPr>
          <a:xfrm>
            <a:off x="7220007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Passo a passo</a:t>
            </a:r>
          </a:p>
        </p:txBody>
      </p:sp>
      <p:sp>
        <p:nvSpPr>
          <p:cNvPr id="38" name="Google Shape;551;p38">
            <a:extLst>
              <a:ext uri="{FF2B5EF4-FFF2-40B4-BE49-F238E27FC236}">
                <a16:creationId xmlns:a16="http://schemas.microsoft.com/office/drawing/2014/main" id="{47D118A7-A26A-4B37-8EE0-5353F9EAA0D3}"/>
              </a:ext>
            </a:extLst>
          </p:cNvPr>
          <p:cNvSpPr/>
          <p:nvPr/>
        </p:nvSpPr>
        <p:spPr>
          <a:xfrm rot="10800000">
            <a:off x="4522940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" name="Gráfico 38">
            <a:extLst>
              <a:ext uri="{FF2B5EF4-FFF2-40B4-BE49-F238E27FC236}">
                <a16:creationId xmlns:a16="http://schemas.microsoft.com/office/drawing/2014/main" id="{7F0EF467-9893-4A0A-87D0-A0674CD2D6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5052" y="1652486"/>
            <a:ext cx="613321" cy="417058"/>
          </a:xfrm>
          <a:prstGeom prst="rect">
            <a:avLst/>
          </a:prstGeom>
        </p:spPr>
      </p:pic>
      <p:sp>
        <p:nvSpPr>
          <p:cNvPr id="40" name="Google Shape;553;p38">
            <a:extLst>
              <a:ext uri="{FF2B5EF4-FFF2-40B4-BE49-F238E27FC236}">
                <a16:creationId xmlns:a16="http://schemas.microsoft.com/office/drawing/2014/main" id="{C3AB821E-E811-4BCF-B267-81309D9CDDD4}"/>
              </a:ext>
            </a:extLst>
          </p:cNvPr>
          <p:cNvSpPr/>
          <p:nvPr/>
        </p:nvSpPr>
        <p:spPr>
          <a:xfrm rot="10800000">
            <a:off x="8859658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ráfico 40">
            <a:extLst>
              <a:ext uri="{FF2B5EF4-FFF2-40B4-BE49-F238E27FC236}">
                <a16:creationId xmlns:a16="http://schemas.microsoft.com/office/drawing/2014/main" id="{90D63506-97AA-4B3C-9958-C42AB13BC2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5782" y="1632977"/>
            <a:ext cx="450550" cy="44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56FD887E-B93D-BDCD-9369-FD95FDE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B3C016AC-DDDD-DD91-73CB-CB42058B3B27}"/>
              </a:ext>
            </a:extLst>
          </p:cNvPr>
          <p:cNvSpPr/>
          <p:nvPr/>
        </p:nvSpPr>
        <p:spPr>
          <a:xfrm>
            <a:off x="3165224" y="322793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9DE43542-FAE4-28BF-0418-7CB783187862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82A5993B-A9D7-A8C0-6A63-505441FC9966}"/>
              </a:ext>
            </a:extLst>
          </p:cNvPr>
          <p:cNvSpPr/>
          <p:nvPr/>
        </p:nvSpPr>
        <p:spPr>
          <a:xfrm>
            <a:off x="3179554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2;p64">
            <a:extLst>
              <a:ext uri="{FF2B5EF4-FFF2-40B4-BE49-F238E27FC236}">
                <a16:creationId xmlns:a16="http://schemas.microsoft.com/office/drawing/2014/main" id="{C61B1EC0-ED8B-BCB5-348F-E47EC80E50C3}"/>
              </a:ext>
            </a:extLst>
          </p:cNvPr>
          <p:cNvSpPr txBox="1"/>
          <p:nvPr/>
        </p:nvSpPr>
        <p:spPr>
          <a:xfrm>
            <a:off x="3313996" y="3331388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Apagar todos os arquivos após o uso.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04C5C731-1F24-627B-19CB-5096C80BBF38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54;p64">
            <a:extLst>
              <a:ext uri="{FF2B5EF4-FFF2-40B4-BE49-F238E27FC236}">
                <a16:creationId xmlns:a16="http://schemas.microsoft.com/office/drawing/2014/main" id="{9E3950BC-9B34-CB66-4268-279D817CEEE2}"/>
              </a:ext>
            </a:extLst>
          </p:cNvPr>
          <p:cNvSpPr txBox="1"/>
          <p:nvPr/>
        </p:nvSpPr>
        <p:spPr>
          <a:xfrm>
            <a:off x="6925731" y="3311287"/>
            <a:ext cx="302045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  <a:sym typeface="Poppins"/>
              </a:rPr>
              <a:t>Organizar arquivos </a:t>
            </a:r>
          </a:p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  <a:sym typeface="Poppins"/>
              </a:rPr>
              <a:t>e pastas.</a:t>
            </a:r>
          </a:p>
        </p:txBody>
      </p:sp>
      <p:sp>
        <p:nvSpPr>
          <p:cNvPr id="18" name="Google Shape;855;p64">
            <a:extLst>
              <a:ext uri="{FF2B5EF4-FFF2-40B4-BE49-F238E27FC236}">
                <a16:creationId xmlns:a16="http://schemas.microsoft.com/office/drawing/2014/main" id="{6E3D2C29-296A-26DB-453E-18D42E75FC08}"/>
              </a:ext>
            </a:extLst>
          </p:cNvPr>
          <p:cNvSpPr txBox="1"/>
          <p:nvPr/>
        </p:nvSpPr>
        <p:spPr>
          <a:xfrm>
            <a:off x="6887189" y="4400582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Usar sempre o mesmo plano de fundo.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9" name="Google Shape;856;p64">
            <a:extLst>
              <a:ext uri="{FF2B5EF4-FFF2-40B4-BE49-F238E27FC236}">
                <a16:creationId xmlns:a16="http://schemas.microsoft.com/office/drawing/2014/main" id="{F5FBB34A-2D83-0D0A-5DDE-E4ED71D44ABF}"/>
              </a:ext>
            </a:extLst>
          </p:cNvPr>
          <p:cNvSpPr txBox="1"/>
          <p:nvPr/>
        </p:nvSpPr>
        <p:spPr>
          <a:xfrm>
            <a:off x="3328326" y="4400582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Ter poucos programas instalados.</a:t>
            </a:r>
            <a:endParaRPr lang="pt-BR" dirty="0">
              <a:latin typeface="Poppins" panose="00000500000000000000" pitchFamily="2" charset="0"/>
              <a:sym typeface="Poppins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3093AC5-2B6F-4E3D-857A-B9FD374D7AD5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4" name="Google Shape;812;p61">
              <a:extLst>
                <a:ext uri="{FF2B5EF4-FFF2-40B4-BE49-F238E27FC236}">
                  <a16:creationId xmlns:a16="http://schemas.microsoft.com/office/drawing/2014/main" id="{E6AF24B0-A248-71C3-C03C-F9303785060B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defTabSz="609630">
                <a:defRPr/>
              </a:pPr>
              <a:endParaRPr lang="pt-BR" noProof="0" dirty="0"/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B69C4C47-8BDA-BC4E-4E6A-5DE09A91A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7" name="Google Shape;833;p62">
              <a:extLst>
                <a:ext uri="{FF2B5EF4-FFF2-40B4-BE49-F238E27FC236}">
                  <a16:creationId xmlns:a16="http://schemas.microsoft.com/office/drawing/2014/main" id="{7222916A-2D25-25DB-5ADF-9038E985538B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 defTabSz="609630">
                <a:lnSpc>
                  <a:spcPct val="107000"/>
                </a:lnSpc>
                <a:buSzPts val="2700"/>
                <a:defRPr/>
              </a:pPr>
              <a:r>
                <a:rPr lang="pt-BR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lang="pt-BR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 defTabSz="609630">
                <a:lnSpc>
                  <a:spcPct val="107000"/>
                </a:lnSpc>
                <a:spcBef>
                  <a:spcPts val="715"/>
                </a:spcBef>
                <a:buSzPts val="2700"/>
                <a:defRPr/>
              </a:pPr>
              <a:endParaRPr lang="pt-BR" sz="1333" noProof="0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3DD07AD-3BD0-5FA3-C078-0BCCB00616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25429" y="1126640"/>
            <a:ext cx="8478841" cy="130521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noProof="0" dirty="0">
                <a:latin typeface="Poppins" panose="00000500000000000000" pitchFamily="2" charset="0"/>
              </a:rPr>
              <a:t>O que significa manter um </a:t>
            </a:r>
          </a:p>
          <a:p>
            <a:pPr lvl="4"/>
            <a:r>
              <a:rPr lang="pt-BR" sz="3200" noProof="0" dirty="0">
                <a:latin typeface="Poppins" panose="00000500000000000000" pitchFamily="2" charset="0"/>
              </a:rPr>
              <a:t>“ambiente digital limpo”?</a:t>
            </a:r>
          </a:p>
        </p:txBody>
      </p:sp>
    </p:spTree>
    <p:extLst>
      <p:ext uri="{BB962C8B-B14F-4D97-AF65-F5344CB8AC3E}">
        <p14:creationId xmlns:p14="http://schemas.microsoft.com/office/powerpoint/2010/main" val="411372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CC8ADE88-CA75-A165-5EF3-2699BF5B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387B1D23-BE76-4BF6-AAAC-DF69AE3BF602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4" name="Google Shape;812;p61">
              <a:extLst>
                <a:ext uri="{FF2B5EF4-FFF2-40B4-BE49-F238E27FC236}">
                  <a16:creationId xmlns:a16="http://schemas.microsoft.com/office/drawing/2014/main" id="{795B5F57-5223-4B78-F058-84DB9305ED0F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defTabSz="609630">
                <a:defRPr/>
              </a:pPr>
              <a:endParaRPr lang="pt-BR" noProof="0" dirty="0"/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CC5225A9-16C8-DC9A-2ED2-120679252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7" name="Google Shape;833;p62">
              <a:extLst>
                <a:ext uri="{FF2B5EF4-FFF2-40B4-BE49-F238E27FC236}">
                  <a16:creationId xmlns:a16="http://schemas.microsoft.com/office/drawing/2014/main" id="{F507E7DD-CEA9-9F01-8FF7-D693F09A7F6B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 defTabSz="609630">
                <a:lnSpc>
                  <a:spcPct val="107000"/>
                </a:lnSpc>
                <a:buSzPts val="2700"/>
                <a:defRPr/>
              </a:pPr>
              <a:r>
                <a:rPr lang="pt-BR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lang="pt-BR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 defTabSz="609630">
                <a:lnSpc>
                  <a:spcPct val="107000"/>
                </a:lnSpc>
                <a:spcBef>
                  <a:spcPts val="715"/>
                </a:spcBef>
                <a:buSzPts val="2700"/>
                <a:defRPr/>
              </a:pPr>
              <a:endParaRPr lang="pt-BR" sz="1333" noProof="0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AA42AEC-1015-A226-6D30-21C09DFAD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25429" y="1126640"/>
            <a:ext cx="8478841" cy="130521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noProof="0" dirty="0">
                <a:latin typeface="Poppins" panose="00000500000000000000" pitchFamily="2" charset="0"/>
              </a:rPr>
              <a:t>O que significa manter um </a:t>
            </a:r>
          </a:p>
          <a:p>
            <a:pPr lvl="4"/>
            <a:r>
              <a:rPr lang="pt-BR" sz="3200" noProof="0" dirty="0">
                <a:latin typeface="Poppins" panose="00000500000000000000" pitchFamily="2" charset="0"/>
              </a:rPr>
              <a:t>“ambiente digital limpo”?</a:t>
            </a:r>
          </a:p>
        </p:txBody>
      </p:sp>
      <p:sp>
        <p:nvSpPr>
          <p:cNvPr id="2" name="Google Shape;1434;p98">
            <a:extLst>
              <a:ext uri="{FF2B5EF4-FFF2-40B4-BE49-F238E27FC236}">
                <a16:creationId xmlns:a16="http://schemas.microsoft.com/office/drawing/2014/main" id="{13E2FAB1-33F8-747E-211D-C002E0EC72C0}"/>
              </a:ext>
            </a:extLst>
          </p:cNvPr>
          <p:cNvSpPr/>
          <p:nvPr/>
        </p:nvSpPr>
        <p:spPr>
          <a:xfrm>
            <a:off x="2503426" y="3357364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35;p98">
            <a:extLst>
              <a:ext uri="{FF2B5EF4-FFF2-40B4-BE49-F238E27FC236}">
                <a16:creationId xmlns:a16="http://schemas.microsoft.com/office/drawing/2014/main" id="{B699CBA5-6E8B-66B6-F29B-651C4B1A7238}"/>
              </a:ext>
            </a:extLst>
          </p:cNvPr>
          <p:cNvSpPr/>
          <p:nvPr/>
        </p:nvSpPr>
        <p:spPr>
          <a:xfrm>
            <a:off x="10320808" y="4388630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37;p98">
            <a:extLst>
              <a:ext uri="{FF2B5EF4-FFF2-40B4-BE49-F238E27FC236}">
                <a16:creationId xmlns:a16="http://schemas.microsoft.com/office/drawing/2014/main" id="{44050F99-AC48-4A25-EB9A-2B4999A5DC4A}"/>
              </a:ext>
            </a:extLst>
          </p:cNvPr>
          <p:cNvSpPr/>
          <p:nvPr/>
        </p:nvSpPr>
        <p:spPr>
          <a:xfrm rot="-3043640">
            <a:off x="10353007" y="3403335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6;p98">
            <a:extLst>
              <a:ext uri="{FF2B5EF4-FFF2-40B4-BE49-F238E27FC236}">
                <a16:creationId xmlns:a16="http://schemas.microsoft.com/office/drawing/2014/main" id="{2B82F16B-1380-F642-DBAB-8E02D4DA218B}"/>
              </a:ext>
            </a:extLst>
          </p:cNvPr>
          <p:cNvSpPr/>
          <p:nvPr/>
        </p:nvSpPr>
        <p:spPr>
          <a:xfrm>
            <a:off x="2425871" y="4388630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49;p64">
            <a:extLst>
              <a:ext uri="{FF2B5EF4-FFF2-40B4-BE49-F238E27FC236}">
                <a16:creationId xmlns:a16="http://schemas.microsoft.com/office/drawing/2014/main" id="{3F9289F0-59CB-4133-9A7B-379E46D6F389}"/>
              </a:ext>
            </a:extLst>
          </p:cNvPr>
          <p:cNvSpPr/>
          <p:nvPr/>
        </p:nvSpPr>
        <p:spPr>
          <a:xfrm>
            <a:off x="3165224" y="322793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50;p64">
            <a:extLst>
              <a:ext uri="{FF2B5EF4-FFF2-40B4-BE49-F238E27FC236}">
                <a16:creationId xmlns:a16="http://schemas.microsoft.com/office/drawing/2014/main" id="{48EA9EC0-66FF-469E-BD81-2BEDF9E4F09C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</a:pPr>
            <a:endParaRPr lang="pt-BR" sz="1200" dirty="0">
              <a:latin typeface="Calibri"/>
              <a:cs typeface="Calibri"/>
              <a:sym typeface="Calibri"/>
            </a:endParaRPr>
          </a:p>
        </p:txBody>
      </p:sp>
      <p:sp>
        <p:nvSpPr>
          <p:cNvPr id="22" name="Google Shape;851;p64">
            <a:extLst>
              <a:ext uri="{FF2B5EF4-FFF2-40B4-BE49-F238E27FC236}">
                <a16:creationId xmlns:a16="http://schemas.microsoft.com/office/drawing/2014/main" id="{ECFF59AC-45B9-4217-9A1A-6477E69DEC05}"/>
              </a:ext>
            </a:extLst>
          </p:cNvPr>
          <p:cNvSpPr/>
          <p:nvPr/>
        </p:nvSpPr>
        <p:spPr>
          <a:xfrm>
            <a:off x="3179554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52;p64">
            <a:extLst>
              <a:ext uri="{FF2B5EF4-FFF2-40B4-BE49-F238E27FC236}">
                <a16:creationId xmlns:a16="http://schemas.microsoft.com/office/drawing/2014/main" id="{20B13A81-46B5-4D82-BD91-98454FEB40CD}"/>
              </a:ext>
            </a:extLst>
          </p:cNvPr>
          <p:cNvSpPr txBox="1"/>
          <p:nvPr/>
        </p:nvSpPr>
        <p:spPr>
          <a:xfrm>
            <a:off x="3313996" y="3331388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Apagar todos os arquivos após o uso.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24" name="Google Shape;853;p64">
            <a:extLst>
              <a:ext uri="{FF2B5EF4-FFF2-40B4-BE49-F238E27FC236}">
                <a16:creationId xmlns:a16="http://schemas.microsoft.com/office/drawing/2014/main" id="{D5AFCF89-FF34-4E4C-9B32-7963C6A9A372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854;p64">
            <a:extLst>
              <a:ext uri="{FF2B5EF4-FFF2-40B4-BE49-F238E27FC236}">
                <a16:creationId xmlns:a16="http://schemas.microsoft.com/office/drawing/2014/main" id="{6312F511-8046-4AC9-BF1D-F0B937B380AE}"/>
              </a:ext>
            </a:extLst>
          </p:cNvPr>
          <p:cNvSpPr txBox="1"/>
          <p:nvPr/>
        </p:nvSpPr>
        <p:spPr>
          <a:xfrm>
            <a:off x="6925731" y="3311287"/>
            <a:ext cx="302045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  <a:sym typeface="Poppins"/>
              </a:rPr>
              <a:t>Organizar arquivos </a:t>
            </a:r>
          </a:p>
          <a:p>
            <a:pPr>
              <a:lnSpc>
                <a:spcPct val="100000"/>
              </a:lnSpc>
            </a:pPr>
            <a:r>
              <a:rPr lang="pt-BR" noProof="0" dirty="0">
                <a:latin typeface="Poppins" panose="00000500000000000000" pitchFamily="2" charset="0"/>
                <a:sym typeface="Poppins"/>
              </a:rPr>
              <a:t>e pastas.</a:t>
            </a:r>
          </a:p>
        </p:txBody>
      </p:sp>
      <p:sp>
        <p:nvSpPr>
          <p:cNvPr id="26" name="Google Shape;855;p64">
            <a:extLst>
              <a:ext uri="{FF2B5EF4-FFF2-40B4-BE49-F238E27FC236}">
                <a16:creationId xmlns:a16="http://schemas.microsoft.com/office/drawing/2014/main" id="{102B7B11-6939-448B-A0D1-522DF78EB317}"/>
              </a:ext>
            </a:extLst>
          </p:cNvPr>
          <p:cNvSpPr txBox="1"/>
          <p:nvPr/>
        </p:nvSpPr>
        <p:spPr>
          <a:xfrm>
            <a:off x="6887189" y="4400582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Usar sempre o mesmo plano de fundo.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27" name="Google Shape;856;p64">
            <a:extLst>
              <a:ext uri="{FF2B5EF4-FFF2-40B4-BE49-F238E27FC236}">
                <a16:creationId xmlns:a16="http://schemas.microsoft.com/office/drawing/2014/main" id="{2DC12CB8-E7B6-4841-89F1-36D231F83341}"/>
              </a:ext>
            </a:extLst>
          </p:cNvPr>
          <p:cNvSpPr txBox="1"/>
          <p:nvPr/>
        </p:nvSpPr>
        <p:spPr>
          <a:xfrm>
            <a:off x="3328326" y="4400582"/>
            <a:ext cx="309753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Ter poucos programas instalados.</a:t>
            </a:r>
            <a:endParaRPr lang="pt-BR" dirty="0">
              <a:latin typeface="Poppins" panose="000005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1388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00F765D8-99DE-2A83-E736-0AFC49BC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61B4F0-12EC-E2F2-C0DD-1EBE393A91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67933" y="1840726"/>
            <a:ext cx="6354575" cy="934833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pt-BR" sz="1800" dirty="0">
                <a:latin typeface="Poppins" panose="00000500000000000000" pitchFamily="2" charset="0"/>
              </a:rPr>
              <a:t>Aprendemos que manter um ambiente de trabalho digital limpo e organizado contribui diretamente para a produtividade e para a concentração.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1AB578-B64F-815F-9CC9-04A9D46F28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67933" y="3054864"/>
            <a:ext cx="6354575" cy="85736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pt-BR" sz="1800" dirty="0">
                <a:latin typeface="Poppins" panose="00000500000000000000" pitchFamily="2" charset="0"/>
              </a:rPr>
              <a:t>Compreendemos que a manutenção da estrutura de pastas, arquivos e backups é essencial para evitar perdas e garantir um fluxo de trabalho eficiente.</a:t>
            </a:r>
            <a:br>
              <a:rPr lang="pt-BR" sz="1800" dirty="0">
                <a:latin typeface="Poppins" panose="00000500000000000000" pitchFamily="2" charset="0"/>
              </a:rPr>
            </a:br>
            <a:endParaRPr lang="pt-BR" sz="1800" dirty="0">
              <a:latin typeface="Poppins" panose="00000500000000000000" pitchFamily="2" charset="0"/>
            </a:endParaRP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1B0984-4E19-7545-B025-4C4C1638EDB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867933" y="4270907"/>
            <a:ext cx="6354575" cy="106961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pt-BR" sz="1800" dirty="0">
                <a:latin typeface="Poppins" panose="00000500000000000000" pitchFamily="2" charset="0"/>
              </a:rPr>
              <a:t>Reconhecemos que a customização responsável do ambiente digital permite adaptá-lo às preferências e necessidades de cada usuário.</a:t>
            </a:r>
          </a:p>
        </p:txBody>
      </p:sp>
      <p:sp>
        <p:nvSpPr>
          <p:cNvPr id="3" name="Google Shape;741;p22">
            <a:extLst>
              <a:ext uri="{FF2B5EF4-FFF2-40B4-BE49-F238E27FC236}">
                <a16:creationId xmlns:a16="http://schemas.microsoft.com/office/drawing/2014/main" id="{99EAAB3A-500F-3303-113F-2DE38B40643E}"/>
              </a:ext>
            </a:extLst>
          </p:cNvPr>
          <p:cNvSpPr txBox="1">
            <a:spLocks/>
          </p:cNvSpPr>
          <p:nvPr/>
        </p:nvSpPr>
        <p:spPr>
          <a:xfrm>
            <a:off x="4676921" y="734021"/>
            <a:ext cx="5440600" cy="56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815" indent="-152408">
              <a:spcBef>
                <a:spcPts val="600"/>
              </a:spcBef>
              <a:buClr>
                <a:schemeClr val="dk1"/>
              </a:buClr>
              <a:buSzPts val="4500"/>
            </a:pPr>
            <a:r>
              <a:rPr lang="pt-BR" sz="3200" b="1" noProof="0" dirty="0">
                <a:solidFill>
                  <a:srgbClr val="FF161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Então ficamos assim...</a:t>
            </a:r>
          </a:p>
        </p:txBody>
      </p:sp>
    </p:spTree>
    <p:extLst>
      <p:ext uri="{BB962C8B-B14F-4D97-AF65-F5344CB8AC3E}">
        <p14:creationId xmlns:p14="http://schemas.microsoft.com/office/powerpoint/2010/main" val="822114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1;p53">
            <a:extLst>
              <a:ext uri="{FF2B5EF4-FFF2-40B4-BE49-F238E27FC236}">
                <a16:creationId xmlns:a16="http://schemas.microsoft.com/office/drawing/2014/main" id="{622C50B5-A2EB-20D7-6B76-58DB77432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85013" y="1019734"/>
            <a:ext cx="6281123" cy="43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</a:pPr>
            <a:r>
              <a:rPr lang="pt-BR" sz="1800" noProof="0" dirty="0">
                <a:latin typeface="Poppins" panose="00000500000000000000" pitchFamily="2" charset="0"/>
              </a:rPr>
              <a:t>Quer conhecer mais</a:t>
            </a:r>
            <a:r>
              <a:rPr lang="pt-BR" sz="1800" dirty="0">
                <a:latin typeface="Poppins" panose="00000500000000000000" pitchFamily="2" charset="0"/>
              </a:rPr>
              <a:t> boas práticas para o ambiente de trabalho digital</a:t>
            </a:r>
            <a:r>
              <a:rPr lang="pt-BR" sz="1800" noProof="0" dirty="0">
                <a:latin typeface="Poppins" panose="00000500000000000000" pitchFamily="2" charset="0"/>
              </a:rPr>
              <a:t>?</a:t>
            </a: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endParaRPr lang="pt-BR" sz="1800" b="1" dirty="0">
              <a:latin typeface="Poppins" panose="00000500000000000000" pitchFamily="2" charset="0"/>
            </a:endParaRP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r>
              <a:rPr lang="pt-BR" sz="1800" noProof="0" dirty="0">
                <a:latin typeface="Poppins" panose="00000500000000000000" pitchFamily="2" charset="0"/>
              </a:rPr>
              <a:t>GESTÃO PARA TODOS. Como organizar a área de trabalho do computador #napratica. YouTube, 17 jan. 2020. Disponível em: </a:t>
            </a:r>
            <a:r>
              <a:rPr lang="pt-BR" sz="1800" noProof="0" dirty="0">
                <a:latin typeface="Poppins" panose="00000500000000000000" pitchFamily="2" charset="0"/>
                <a:hlinkClick r:id="rId3"/>
              </a:rPr>
              <a:t>https://youtu.be/jO9nnkpkK90</a:t>
            </a:r>
            <a:r>
              <a:rPr lang="pt-BR" sz="1800" noProof="0" dirty="0">
                <a:latin typeface="Poppins" panose="00000500000000000000" pitchFamily="2" charset="0"/>
              </a:rPr>
              <a:t>. Acesso em: </a:t>
            </a:r>
            <a:r>
              <a:rPr lang="pt-BR" sz="1800" dirty="0">
                <a:latin typeface="Poppins" panose="00000500000000000000" pitchFamily="2" charset="0"/>
              </a:rPr>
              <a:t>03 </a:t>
            </a:r>
            <a:r>
              <a:rPr lang="pt-BR" sz="1800" dirty="0" err="1">
                <a:latin typeface="Poppins" panose="00000500000000000000" pitchFamily="2" charset="0"/>
              </a:rPr>
              <a:t>nov</a:t>
            </a:r>
            <a:r>
              <a:rPr lang="pt-BR" sz="1800" noProof="0" dirty="0">
                <a:latin typeface="Poppins" panose="00000500000000000000" pitchFamily="2" charset="0"/>
              </a:rPr>
              <a:t>. 2025.</a:t>
            </a:r>
          </a:p>
          <a:p>
            <a:endParaRPr lang="pt-BR" sz="1800" noProof="0" dirty="0">
              <a:latin typeface="Poppins" panose="00000500000000000000" pitchFamily="2" charset="0"/>
            </a:endParaRP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endParaRPr lang="pt-BR" sz="1800" b="1" noProof="0" dirty="0">
              <a:cs typeface="Poppins"/>
            </a:endParaRPr>
          </a:p>
        </p:txBody>
      </p:sp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8AFD5CF4-520D-C05E-0436-E4E65A8A0785}"/>
              </a:ext>
            </a:extLst>
          </p:cNvPr>
          <p:cNvSpPr txBox="1"/>
          <p:nvPr/>
        </p:nvSpPr>
        <p:spPr>
          <a:xfrm>
            <a:off x="1024125" y="1786467"/>
            <a:ext cx="3183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6000"/>
            </a:pPr>
            <a:r>
              <a:rPr lang="pt-BR" sz="4000" b="1" noProof="0" dirty="0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Saiba mais</a:t>
            </a:r>
            <a:endParaRPr lang="pt-BR" sz="4000" noProof="0" dirty="0">
              <a:solidFill>
                <a:schemeClr val="bg1"/>
              </a:solidFill>
              <a:latin typeface="Poppins" panose="00000500000000000000" pitchFamily="2" charset="0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819781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62BEEF-0307-48FF-6E67-C6CA173D0375}"/>
              </a:ext>
            </a:extLst>
          </p:cNvPr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 noProof="0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2DAA5CE2-6037-2516-3655-B3DE0E64284B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390238" y="1854200"/>
            <a:ext cx="10356285" cy="3822911"/>
          </a:xfrm>
        </p:spPr>
        <p:txBody>
          <a:bodyPr>
            <a:normAutofit/>
          </a:bodyPr>
          <a:lstStyle/>
          <a:p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ASSIS, Cláudia. </a:t>
            </a:r>
            <a:r>
              <a:rPr lang="pt-BR" sz="1400" b="1" dirty="0">
                <a:solidFill>
                  <a:schemeClr val="tx1"/>
                </a:solidFill>
                <a:latin typeface="Poppins" panose="00000500000000000000" pitchFamily="2" charset="0"/>
              </a:rPr>
              <a:t>Produtividade digital</a:t>
            </a:r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: como organizar seu espaço e tempo online. São Paulo: Atlas, 2021.</a:t>
            </a:r>
          </a:p>
          <a:p>
            <a:endParaRPr lang="pt-BR" sz="1400" dirty="0">
              <a:solidFill>
                <a:schemeClr val="tx1"/>
              </a:solidFill>
              <a:latin typeface="Poppins" panose="00000500000000000000" pitchFamily="2" charset="0"/>
            </a:endParaRPr>
          </a:p>
          <a:p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GESTÃO PARA TODOS. Como organizar a área de trabalho do computador #napratica. YouTube, 17 jan. 2020. Disponível em: </a:t>
            </a:r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https://youtu.be/jO9nnkpkK90</a:t>
            </a:r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. Acesso em: 03 nov. 2025.</a:t>
            </a:r>
          </a:p>
          <a:p>
            <a:endParaRPr lang="pt-BR" sz="1400" dirty="0">
              <a:solidFill>
                <a:schemeClr val="tx1"/>
              </a:solidFill>
              <a:latin typeface="Poppins" panose="00000500000000000000" pitchFamily="2" charset="0"/>
            </a:endParaRPr>
          </a:p>
          <a:p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MARTINS, José. </a:t>
            </a:r>
            <a:r>
              <a:rPr lang="pt-BR" sz="1400" b="1" dirty="0">
                <a:solidFill>
                  <a:schemeClr val="tx1"/>
                </a:solidFill>
                <a:latin typeface="Poppins" panose="00000500000000000000" pitchFamily="2" charset="0"/>
              </a:rPr>
              <a:t>Fundamentos de informática</a:t>
            </a:r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. 5. ed. São Paulo: Pearson, 2020.</a:t>
            </a:r>
          </a:p>
          <a:p>
            <a:endParaRPr lang="pt-BR" sz="1400" dirty="0">
              <a:solidFill>
                <a:schemeClr val="tx1"/>
              </a:solidFill>
              <a:latin typeface="Poppins" panose="00000500000000000000" pitchFamily="2" charset="0"/>
            </a:endParaRPr>
          </a:p>
          <a:p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PUC-RIO. </a:t>
            </a:r>
            <a:r>
              <a:rPr lang="pt-BR" sz="1400" b="1" dirty="0">
                <a:solidFill>
                  <a:schemeClr val="tx1"/>
                </a:solidFill>
                <a:latin typeface="Poppins" panose="00000500000000000000" pitchFamily="2" charset="0"/>
              </a:rPr>
              <a:t>Boas práticas de organização digital</a:t>
            </a:r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. Rio de Janeiro: Pontifícia Universidade Católica do Rio de Janeiro, Núcleo de Apoio à Educação a Distância, 2022.</a:t>
            </a:r>
          </a:p>
          <a:p>
            <a:endParaRPr lang="pt-BR" sz="1400" dirty="0">
              <a:solidFill>
                <a:schemeClr val="tx1"/>
              </a:solidFill>
              <a:latin typeface="Poppins" panose="00000500000000000000" pitchFamily="2" charset="0"/>
            </a:endParaRPr>
          </a:p>
          <a:p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SENAC-SP. </a:t>
            </a:r>
            <a:r>
              <a:rPr lang="pt-BR" sz="1400" b="1" dirty="0">
                <a:solidFill>
                  <a:schemeClr val="tx1"/>
                </a:solidFill>
                <a:latin typeface="Poppins" panose="00000500000000000000" pitchFamily="2" charset="0"/>
              </a:rPr>
              <a:t>Competências digitais</a:t>
            </a:r>
            <a:r>
              <a:rPr lang="pt-BR" sz="1400" dirty="0">
                <a:solidFill>
                  <a:schemeClr val="tx1"/>
                </a:solidFill>
                <a:latin typeface="Poppins" panose="00000500000000000000" pitchFamily="2" charset="0"/>
              </a:rPr>
              <a:t>: fundamentos e práticas para o mundo do trabalho. São Paulo: Editora Senac São Paulo, 2023.</a:t>
            </a:r>
          </a:p>
          <a:p>
            <a:endParaRPr lang="pt-BR" sz="1400" dirty="0">
              <a:latin typeface="Poppins" panose="00000500000000000000" pitchFamily="2" charset="0"/>
            </a:endParaRPr>
          </a:p>
          <a:p>
            <a:r>
              <a:rPr lang="pt-BR" sz="1400" dirty="0">
                <a:latin typeface="Poppins" panose="00000500000000000000" pitchFamily="2" charset="0"/>
              </a:rPr>
              <a:t>Identidade visual: imagens © Getty Images</a:t>
            </a: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404412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D3AFF8-DEE9-30D6-C4FC-7C420AB16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313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BB9E14-02D2-A561-0326-A9DC2D6C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48978AF4-AC88-4E16-889B-B32B46F32134}"/>
              </a:ext>
            </a:extLst>
          </p:cNvPr>
          <p:cNvSpPr/>
          <p:nvPr/>
        </p:nvSpPr>
        <p:spPr>
          <a:xfrm>
            <a:off x="0" y="565052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7A953F-6B87-9FA0-939A-D0724FEA242E}"/>
              </a:ext>
            </a:extLst>
          </p:cNvPr>
          <p:cNvSpPr txBox="1"/>
          <p:nvPr/>
        </p:nvSpPr>
        <p:spPr>
          <a:xfrm>
            <a:off x="988040" y="3248211"/>
            <a:ext cx="10495718" cy="293670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Relembre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retomar conhecimentos já adquiridos por meio de atividades simples/exercícios que abordem conceitos previamente trabalhados com os estudantes. </a:t>
            </a: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 a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ssegure que todos os estudantes tenham a oportunidade de participar. Se necessário, faça rodízio ou direcione perguntas a estudantes que estejam menos ativos para garantir a participação de todos. Mantenha um ambiente de respeito, onde todas as opiniões são valorizadas, garantindo que todos se sintam confortáveis para expressar seus pontos de vista. Conclua a atividade resumindo as principais ideias discutidas e vinculando-as aos objetivos de aprendizagem da aula. 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aça a pergunta do</a:t>
            </a:r>
            <a:r>
              <a:rPr lang="pt-BR" sz="1000" b="1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 Relembre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 para os alunos e os incentive a participar e relembrar os conceitos apresentados nas aulas anteriores. É importante reforçar bem os conceitos aprendidos, pois os alunos vão precisar estar com eles bem fixados para as demais aulas. 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s estudantes podem mencionar: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perda de tempo para achar documentos;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exclusão acidental de arquivos importantes;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dificuldade para identificar versões atualizadas;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computador mais lento ou bagunçado visualmente.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C62F6DA-735B-F88A-CAD2-634F995BB688}"/>
              </a:ext>
            </a:extLst>
          </p:cNvPr>
          <p:cNvSpPr/>
          <p:nvPr/>
        </p:nvSpPr>
        <p:spPr>
          <a:xfrm>
            <a:off x="0" y="2573652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25562ED-BC91-1BA1-E8EA-CF2E8733FC2E}"/>
              </a:ext>
            </a:extLst>
          </p:cNvPr>
          <p:cNvSpPr txBox="1"/>
          <p:nvPr/>
        </p:nvSpPr>
        <p:spPr>
          <a:xfrm>
            <a:off x="979978" y="2578270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Slide </a:t>
            </a:r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06</a:t>
            </a:r>
            <a:endParaRPr lang="pt-BR" sz="3000" b="1" noProof="0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21" name="Conector Reto 6">
            <a:extLst>
              <a:ext uri="{FF2B5EF4-FFF2-40B4-BE49-F238E27FC236}">
                <a16:creationId xmlns:a16="http://schemas.microsoft.com/office/drawing/2014/main" id="{83B1EA30-7E28-8113-7C87-3D6F72D134A6}"/>
              </a:ext>
            </a:extLst>
          </p:cNvPr>
          <p:cNvCxnSpPr>
            <a:cxnSpLocks/>
          </p:cNvCxnSpPr>
          <p:nvPr/>
        </p:nvCxnSpPr>
        <p:spPr>
          <a:xfrm flipV="1">
            <a:off x="660690" y="2797831"/>
            <a:ext cx="6758" cy="3932712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8">
            <a:extLst>
              <a:ext uri="{FF2B5EF4-FFF2-40B4-BE49-F238E27FC236}">
                <a16:creationId xmlns:a16="http://schemas.microsoft.com/office/drawing/2014/main" id="{E27FC59B-D077-57F2-C576-B7B60A6F425D}"/>
              </a:ext>
            </a:extLst>
          </p:cNvPr>
          <p:cNvSpPr/>
          <p:nvPr/>
        </p:nvSpPr>
        <p:spPr>
          <a:xfrm>
            <a:off x="471030" y="5420893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02FD4D44-4F46-0386-7CD7-BC5888D86EDC}"/>
              </a:ext>
            </a:extLst>
          </p:cNvPr>
          <p:cNvSpPr/>
          <p:nvPr/>
        </p:nvSpPr>
        <p:spPr>
          <a:xfrm>
            <a:off x="471030" y="410033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AB4F34BD-69D1-A249-2C1B-E3214C7CEBB7}"/>
              </a:ext>
            </a:extLst>
          </p:cNvPr>
          <p:cNvSpPr/>
          <p:nvPr/>
        </p:nvSpPr>
        <p:spPr>
          <a:xfrm>
            <a:off x="471030" y="359131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8506896A-3FF2-342D-E2D8-33E8CE2853A0}"/>
              </a:ext>
            </a:extLst>
          </p:cNvPr>
          <p:cNvSpPr/>
          <p:nvPr/>
        </p:nvSpPr>
        <p:spPr>
          <a:xfrm>
            <a:off x="471030" y="312170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Google Shape;2216;p100">
            <a:extLst>
              <a:ext uri="{FF2B5EF4-FFF2-40B4-BE49-F238E27FC236}">
                <a16:creationId xmlns:a16="http://schemas.microsoft.com/office/drawing/2014/main" id="{85D3E840-FB17-D075-665B-9EC2F4739E94}"/>
              </a:ext>
            </a:extLst>
          </p:cNvPr>
          <p:cNvSpPr/>
          <p:nvPr/>
        </p:nvSpPr>
        <p:spPr>
          <a:xfrm>
            <a:off x="545452" y="3220256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94C2D06A-DBA8-DE8F-FEDB-68A57491D9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847" y="3685016"/>
            <a:ext cx="154445" cy="193056"/>
          </a:xfrm>
          <a:prstGeom prst="rect">
            <a:avLst/>
          </a:prstGeom>
        </p:spPr>
      </p:pic>
      <p:sp>
        <p:nvSpPr>
          <p:cNvPr id="28" name="Google Shape;2223;p100">
            <a:extLst>
              <a:ext uri="{FF2B5EF4-FFF2-40B4-BE49-F238E27FC236}">
                <a16:creationId xmlns:a16="http://schemas.microsoft.com/office/drawing/2014/main" id="{333D074D-510F-3F30-7362-3C7E4E76536C}"/>
              </a:ext>
            </a:extLst>
          </p:cNvPr>
          <p:cNvSpPr>
            <a:spLocks/>
          </p:cNvSpPr>
          <p:nvPr/>
        </p:nvSpPr>
        <p:spPr>
          <a:xfrm>
            <a:off x="541197" y="4178767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74C25E02-5C69-57C7-296B-336D25C58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56" y="5475014"/>
            <a:ext cx="208026" cy="266700"/>
          </a:xfrm>
          <a:prstGeom prst="rect">
            <a:avLst/>
          </a:prstGeom>
        </p:spPr>
      </p:pic>
      <p:sp>
        <p:nvSpPr>
          <p:cNvPr id="30" name="Oval 9">
            <a:extLst>
              <a:ext uri="{FF2B5EF4-FFF2-40B4-BE49-F238E27FC236}">
                <a16:creationId xmlns:a16="http://schemas.microsoft.com/office/drawing/2014/main" id="{F8C2883B-CE85-AB8B-3850-48C0D6F53F21}"/>
              </a:ext>
            </a:extLst>
          </p:cNvPr>
          <p:cNvSpPr/>
          <p:nvPr/>
        </p:nvSpPr>
        <p:spPr>
          <a:xfrm>
            <a:off x="471030" y="482248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F69D688C-DAE9-4E12-3C8D-C3FFD87EA0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421" y="4892944"/>
            <a:ext cx="235296" cy="24064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E1498F5C-991C-E78E-9AAA-ECA584A046CA}"/>
              </a:ext>
            </a:extLst>
          </p:cNvPr>
          <p:cNvSpPr txBox="1"/>
          <p:nvPr/>
        </p:nvSpPr>
        <p:spPr>
          <a:xfrm>
            <a:off x="979978" y="599406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</a:t>
            </a:r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05</a:t>
            </a:r>
            <a:endParaRPr lang="pt-BR" sz="3000" b="1" noProof="0" dirty="0">
              <a:solidFill>
                <a:schemeClr val="bg1"/>
              </a:solidFill>
              <a:latin typeface="Poppins" panose="00000500000000000000" pitchFamily="2" charset="0"/>
              <a:cs typeface="Poppins"/>
            </a:endParaRPr>
          </a:p>
        </p:txBody>
      </p:sp>
      <p:cxnSp>
        <p:nvCxnSpPr>
          <p:cNvPr id="34" name="Conector Reto 7">
            <a:extLst>
              <a:ext uri="{FF2B5EF4-FFF2-40B4-BE49-F238E27FC236}">
                <a16:creationId xmlns:a16="http://schemas.microsoft.com/office/drawing/2014/main" id="{7E882FD8-0BE6-E77E-1E2D-54419CA14256}"/>
              </a:ext>
            </a:extLst>
          </p:cNvPr>
          <p:cNvCxnSpPr>
            <a:cxnSpLocks/>
          </p:cNvCxnSpPr>
          <p:nvPr/>
        </p:nvCxnSpPr>
        <p:spPr>
          <a:xfrm flipV="1">
            <a:off x="660690" y="854208"/>
            <a:ext cx="6758" cy="1232378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432F12C-8536-AFF9-C904-26FA872DDE3D}"/>
              </a:ext>
            </a:extLst>
          </p:cNvPr>
          <p:cNvSpPr txBox="1"/>
          <p:nvPr/>
        </p:nvSpPr>
        <p:spPr>
          <a:xfrm>
            <a:off x="1019343" y="1181911"/>
            <a:ext cx="10958576" cy="98488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professor, indicamos a seguir o tempo previsto para o desenvolvimento das seções desta aula: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Relembre: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Colocando em prática: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37 minutos.​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hoje:  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minutos.​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</p:txBody>
      </p:sp>
      <p:sp>
        <p:nvSpPr>
          <p:cNvPr id="41" name="Oval 20">
            <a:extLst>
              <a:ext uri="{FF2B5EF4-FFF2-40B4-BE49-F238E27FC236}">
                <a16:creationId xmlns:a16="http://schemas.microsoft.com/office/drawing/2014/main" id="{59B206CC-B0B6-8288-9368-C638D57729E2}"/>
              </a:ext>
            </a:extLst>
          </p:cNvPr>
          <p:cNvSpPr/>
          <p:nvPr/>
        </p:nvSpPr>
        <p:spPr>
          <a:xfrm>
            <a:off x="471030" y="110606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2216;p100">
            <a:extLst>
              <a:ext uri="{FF2B5EF4-FFF2-40B4-BE49-F238E27FC236}">
                <a16:creationId xmlns:a16="http://schemas.microsoft.com/office/drawing/2014/main" id="{08DDD8FF-3534-7473-D7E7-565FCAD4B1B6}"/>
              </a:ext>
            </a:extLst>
          </p:cNvPr>
          <p:cNvSpPr/>
          <p:nvPr/>
        </p:nvSpPr>
        <p:spPr>
          <a:xfrm>
            <a:off x="545452" y="121168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920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FDD58C-4CBB-0F62-C046-2E757867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AD738F70-32A4-423C-9481-7045A23A9132}"/>
              </a:ext>
            </a:extLst>
          </p:cNvPr>
          <p:cNvSpPr/>
          <p:nvPr/>
        </p:nvSpPr>
        <p:spPr>
          <a:xfrm>
            <a:off x="0" y="565052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0" name="Conector Reto 7">
            <a:extLst>
              <a:ext uri="{FF2B5EF4-FFF2-40B4-BE49-F238E27FC236}">
                <a16:creationId xmlns:a16="http://schemas.microsoft.com/office/drawing/2014/main" id="{9B06EDE5-09A9-4104-B4EF-B87EDCC553E1}"/>
              </a:ext>
            </a:extLst>
          </p:cNvPr>
          <p:cNvCxnSpPr>
            <a:cxnSpLocks/>
          </p:cNvCxnSpPr>
          <p:nvPr/>
        </p:nvCxnSpPr>
        <p:spPr>
          <a:xfrm flipV="1">
            <a:off x="667448" y="854209"/>
            <a:ext cx="0" cy="3496727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552536-44A0-0203-31A9-F978F8FDCC19}"/>
              </a:ext>
            </a:extLst>
          </p:cNvPr>
          <p:cNvSpPr txBox="1"/>
          <p:nvPr/>
        </p:nvSpPr>
        <p:spPr>
          <a:xfrm>
            <a:off x="979978" y="601590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07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7B2532-D9AB-063F-28B1-38170731D2FE}"/>
              </a:ext>
            </a:extLst>
          </p:cNvPr>
          <p:cNvSpPr/>
          <p:nvPr/>
        </p:nvSpPr>
        <p:spPr>
          <a:xfrm>
            <a:off x="482289" y="362881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E9CC92-A4F9-E3E9-A9B5-2D22E0EBC4E8}"/>
              </a:ext>
            </a:extLst>
          </p:cNvPr>
          <p:cNvSpPr/>
          <p:nvPr/>
        </p:nvSpPr>
        <p:spPr>
          <a:xfrm>
            <a:off x="482289" y="197442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CD69DE-9F0F-B603-0B8C-7436BB21CEBB}"/>
              </a:ext>
            </a:extLst>
          </p:cNvPr>
          <p:cNvSpPr/>
          <p:nvPr/>
        </p:nvSpPr>
        <p:spPr>
          <a:xfrm>
            <a:off x="482289" y="159624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42DBA04-9C63-A734-8DD7-CDF0A785E1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106" y="1689954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496030E3-C90C-A6C3-AD93-562763B62C29}"/>
              </a:ext>
            </a:extLst>
          </p:cNvPr>
          <p:cNvSpPr>
            <a:spLocks/>
          </p:cNvSpPr>
          <p:nvPr/>
        </p:nvSpPr>
        <p:spPr>
          <a:xfrm>
            <a:off x="552456" y="2052856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505B24F5-05AC-2448-C9EF-5BB0D10A4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315" y="3682937"/>
            <a:ext cx="208026" cy="266700"/>
          </a:xfrm>
          <a:prstGeom prst="rect">
            <a:avLst/>
          </a:prstGeom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677ADA2D-E9EB-0A53-3672-9F1B107CDDC2}"/>
              </a:ext>
            </a:extLst>
          </p:cNvPr>
          <p:cNvSpPr/>
          <p:nvPr/>
        </p:nvSpPr>
        <p:spPr>
          <a:xfrm>
            <a:off x="482289" y="251400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729E8A7-6D76-891C-F375-DB5BD04C58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680" y="2584461"/>
            <a:ext cx="235296" cy="240643"/>
          </a:xfrm>
          <a:prstGeom prst="rect">
            <a:avLst/>
          </a:prstGeom>
        </p:spPr>
      </p:pic>
      <p:sp>
        <p:nvSpPr>
          <p:cNvPr id="31" name="Oval 20">
            <a:extLst>
              <a:ext uri="{FF2B5EF4-FFF2-40B4-BE49-F238E27FC236}">
                <a16:creationId xmlns:a16="http://schemas.microsoft.com/office/drawing/2014/main" id="{FA40BE5A-4BF2-44B7-8562-F86DE0330C18}"/>
              </a:ext>
            </a:extLst>
          </p:cNvPr>
          <p:cNvSpPr/>
          <p:nvPr/>
        </p:nvSpPr>
        <p:spPr>
          <a:xfrm>
            <a:off x="482289" y="110606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Google Shape;2216;p100">
            <a:extLst>
              <a:ext uri="{FF2B5EF4-FFF2-40B4-BE49-F238E27FC236}">
                <a16:creationId xmlns:a16="http://schemas.microsoft.com/office/drawing/2014/main" id="{408536E0-1F29-406D-A972-B95B8996A9A1}"/>
              </a:ext>
            </a:extLst>
          </p:cNvPr>
          <p:cNvSpPr/>
          <p:nvPr/>
        </p:nvSpPr>
        <p:spPr>
          <a:xfrm>
            <a:off x="556711" y="121168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FC647C7-84D4-40AB-8486-72ABBA5EF7BA}"/>
              </a:ext>
            </a:extLst>
          </p:cNvPr>
          <p:cNvSpPr txBox="1"/>
          <p:nvPr/>
        </p:nvSpPr>
        <p:spPr>
          <a:xfrm>
            <a:off x="1019343" y="1181911"/>
            <a:ext cx="10958576" cy="2724849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levar os estudantes a aplicar os conhecimentos construídos durante a aula, incentivando-os a promover autonomia, senso crítico e criatividade. </a:t>
            </a:r>
          </a:p>
          <a:p>
            <a:pPr rtl="0" fontAlgn="base">
              <a:spcBef>
                <a:spcPts val="600"/>
              </a:spcBef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37 minutos.</a:t>
            </a:r>
          </a:p>
          <a:p>
            <a:pPr rtl="0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 organize as duplas de forma equilibrada (misturando alunos com mais e menos experiência). Circule pela sala e elogie soluções criativas ou bem estruturadas.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 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Apresentação (5 minutos):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relembre o que foi aprendido nas aulas anteriores sobre organização e eficiência digital. Explique que a tarefa de hoje é colocar em prática essas boas práticas, criando um ambiente digital funcional. Mostre um exemplo no projetor: uma área de trabalho organizada, com pastas e subpastas bem nomeadas.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Execução da atividade (25 minutos):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divida os alunos em duplas e peça para que criem e organizem suas pastas conforme o passo a passo. Circule pela sala, ajudando e observando as escolhas de nomes, estrutura e personalização. Estimule o uso dos atalhos aprendidos na aula anterior (</a:t>
            </a:r>
            <a:r>
              <a:rPr lang="pt-BR" sz="1000" dirty="0" err="1">
                <a:latin typeface="Poppins" panose="00000500000000000000" pitchFamily="2" charset="0"/>
                <a:cs typeface="Poppins" panose="00000500000000000000" pitchFamily="2" charset="0"/>
              </a:rPr>
              <a:t>Ctrl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+ N, Del, Alt + </a:t>
            </a:r>
            <a:r>
              <a:rPr lang="pt-BR" sz="1000" dirty="0" err="1">
                <a:latin typeface="Poppins" panose="00000500000000000000" pitchFamily="2" charset="0"/>
                <a:cs typeface="Poppins" panose="00000500000000000000" pitchFamily="2" charset="0"/>
              </a:rPr>
              <a:t>Enter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etc.).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Encerramento (7 minutos):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peça que abram o arquivo “Boas praticas aplicadas.txt” e compartilhem um exemplo com a turma. Reforce como a organização digital reflete a responsabilidade profissional e facilita o trabalho em equipe.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estão descritas no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roteiro do professor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ID147520DADOSANO1C1B2S9A3AP_professor_AD2_mod.docx. </a:t>
            </a:r>
          </a:p>
        </p:txBody>
      </p:sp>
    </p:spTree>
    <p:extLst>
      <p:ext uri="{BB962C8B-B14F-4D97-AF65-F5344CB8AC3E}">
        <p14:creationId xmlns:p14="http://schemas.microsoft.com/office/powerpoint/2010/main" val="2408983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FDD58C-4CBB-0F62-C046-2E757867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F2DFA777-4F6E-4E82-B5EC-278095A7049D}"/>
              </a:ext>
            </a:extLst>
          </p:cNvPr>
          <p:cNvSpPr/>
          <p:nvPr/>
        </p:nvSpPr>
        <p:spPr>
          <a:xfrm>
            <a:off x="0" y="565052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0" name="Conector Reto 7">
            <a:extLst>
              <a:ext uri="{FF2B5EF4-FFF2-40B4-BE49-F238E27FC236}">
                <a16:creationId xmlns:a16="http://schemas.microsoft.com/office/drawing/2014/main" id="{C1A52FBC-6A19-4128-9929-30559148DBFF}"/>
              </a:ext>
            </a:extLst>
          </p:cNvPr>
          <p:cNvCxnSpPr>
            <a:cxnSpLocks/>
          </p:cNvCxnSpPr>
          <p:nvPr/>
        </p:nvCxnSpPr>
        <p:spPr>
          <a:xfrm flipV="1">
            <a:off x="667448" y="854208"/>
            <a:ext cx="0" cy="2001287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C862ED1-3CF0-FED9-2CBC-9D6FADF18424}"/>
              </a:ext>
            </a:extLst>
          </p:cNvPr>
          <p:cNvSpPr txBox="1"/>
          <p:nvPr/>
        </p:nvSpPr>
        <p:spPr>
          <a:xfrm>
            <a:off x="981364" y="603260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08 e 09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9D12BEA-D70D-47BF-0F06-7B2D194F27A4}"/>
              </a:ext>
            </a:extLst>
          </p:cNvPr>
          <p:cNvSpPr txBox="1"/>
          <p:nvPr/>
        </p:nvSpPr>
        <p:spPr>
          <a:xfrm>
            <a:off x="686587" y="276385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4" name="Oval 20">
            <a:extLst>
              <a:ext uri="{FF2B5EF4-FFF2-40B4-BE49-F238E27FC236}">
                <a16:creationId xmlns:a16="http://schemas.microsoft.com/office/drawing/2014/main" id="{39606D4F-73E8-C135-CCAD-BCF6505C3466}"/>
              </a:ext>
            </a:extLst>
          </p:cNvPr>
          <p:cNvSpPr/>
          <p:nvPr/>
        </p:nvSpPr>
        <p:spPr>
          <a:xfrm>
            <a:off x="482289" y="157042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5" name="Oval 21">
            <a:extLst>
              <a:ext uri="{FF2B5EF4-FFF2-40B4-BE49-F238E27FC236}">
                <a16:creationId xmlns:a16="http://schemas.microsoft.com/office/drawing/2014/main" id="{7176F5D2-C3CF-684A-B9D0-87EA3FEC50D0}"/>
              </a:ext>
            </a:extLst>
          </p:cNvPr>
          <p:cNvSpPr/>
          <p:nvPr/>
        </p:nvSpPr>
        <p:spPr>
          <a:xfrm>
            <a:off x="482289" y="203270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27" name="Google Shape;2223;p100">
            <a:extLst>
              <a:ext uri="{FF2B5EF4-FFF2-40B4-BE49-F238E27FC236}">
                <a16:creationId xmlns:a16="http://schemas.microsoft.com/office/drawing/2014/main" id="{7D7FD22E-237A-7A56-B419-DCEBA859FFEE}"/>
              </a:ext>
            </a:extLst>
          </p:cNvPr>
          <p:cNvSpPr>
            <a:spLocks/>
          </p:cNvSpPr>
          <p:nvPr/>
        </p:nvSpPr>
        <p:spPr>
          <a:xfrm>
            <a:off x="552456" y="2115707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73E167E-2F5E-052E-4086-D7A99DC95E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106" y="1660054"/>
            <a:ext cx="154445" cy="193056"/>
          </a:xfrm>
          <a:prstGeom prst="rect">
            <a:avLst/>
          </a:prstGeom>
        </p:spPr>
      </p:pic>
      <p:sp>
        <p:nvSpPr>
          <p:cNvPr id="31" name="Oval 20">
            <a:extLst>
              <a:ext uri="{FF2B5EF4-FFF2-40B4-BE49-F238E27FC236}">
                <a16:creationId xmlns:a16="http://schemas.microsoft.com/office/drawing/2014/main" id="{14309BE6-E8B9-43AF-9CFD-43DE434CAF03}"/>
              </a:ext>
            </a:extLst>
          </p:cNvPr>
          <p:cNvSpPr/>
          <p:nvPr/>
        </p:nvSpPr>
        <p:spPr>
          <a:xfrm>
            <a:off x="482289" y="110606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Google Shape;2216;p100">
            <a:extLst>
              <a:ext uri="{FF2B5EF4-FFF2-40B4-BE49-F238E27FC236}">
                <a16:creationId xmlns:a16="http://schemas.microsoft.com/office/drawing/2014/main" id="{087A0974-D246-4F43-83D4-D56595E66B0B}"/>
              </a:ext>
            </a:extLst>
          </p:cNvPr>
          <p:cNvSpPr/>
          <p:nvPr/>
        </p:nvSpPr>
        <p:spPr>
          <a:xfrm>
            <a:off x="556711" y="121168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5463ED3-9160-4B7A-B7AC-70EA4A347921}"/>
              </a:ext>
            </a:extLst>
          </p:cNvPr>
          <p:cNvSpPr txBox="1"/>
          <p:nvPr/>
        </p:nvSpPr>
        <p:spPr>
          <a:xfrm>
            <a:off x="1019343" y="1181911"/>
            <a:ext cx="10958576" cy="129266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mobilizar os estudantes em relação aos conhecimentos apresentados e construídos em aula. É registro. 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2 minutos.</a:t>
            </a: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 resposta certa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organizar pastas e arquivos. </a:t>
            </a:r>
            <a:r>
              <a:rPr lang="pt-BR" sz="10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Feedback: </a:t>
            </a:r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“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Organizar arquivos e pastas mantém um ambiente digital limpo porque evita o acúmulo de itens desnecessários, facilita a localização do que é importante e mantém o computador visualmente e funcionalmente leve.”.</a:t>
            </a:r>
          </a:p>
        </p:txBody>
      </p:sp>
    </p:spTree>
    <p:extLst>
      <p:ext uri="{BB962C8B-B14F-4D97-AF65-F5344CB8AC3E}">
        <p14:creationId xmlns:p14="http://schemas.microsoft.com/office/powerpoint/2010/main" val="271887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B71528-C9B5-A429-99E4-EC56034E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1262455-A45F-B412-7D12-CB7C30C1D919}"/>
              </a:ext>
            </a:extLst>
          </p:cNvPr>
          <p:cNvSpPr/>
          <p:nvPr/>
        </p:nvSpPr>
        <p:spPr>
          <a:xfrm>
            <a:off x="0" y="565052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Conector Reto 7">
            <a:extLst>
              <a:ext uri="{FF2B5EF4-FFF2-40B4-BE49-F238E27FC236}">
                <a16:creationId xmlns:a16="http://schemas.microsoft.com/office/drawing/2014/main" id="{0830C284-CE91-4E14-908D-845F391DF5F3}"/>
              </a:ext>
            </a:extLst>
          </p:cNvPr>
          <p:cNvCxnSpPr>
            <a:cxnSpLocks/>
          </p:cNvCxnSpPr>
          <p:nvPr/>
        </p:nvCxnSpPr>
        <p:spPr>
          <a:xfrm flipV="1">
            <a:off x="667448" y="854208"/>
            <a:ext cx="0" cy="3461118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1AA83C-6E3F-464D-60C2-88C7B35E9A69}"/>
              </a:ext>
            </a:extLst>
          </p:cNvPr>
          <p:cNvSpPr txBox="1"/>
          <p:nvPr/>
        </p:nvSpPr>
        <p:spPr>
          <a:xfrm>
            <a:off x="979978" y="602922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10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17400A-A7A1-3C5D-E55E-F2FD403D4561}"/>
              </a:ext>
            </a:extLst>
          </p:cNvPr>
          <p:cNvSpPr/>
          <p:nvPr/>
        </p:nvSpPr>
        <p:spPr>
          <a:xfrm>
            <a:off x="484436" y="355119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400E50-4A91-2F09-7EC8-E31C519C4EBF}"/>
              </a:ext>
            </a:extLst>
          </p:cNvPr>
          <p:cNvSpPr/>
          <p:nvPr/>
        </p:nvSpPr>
        <p:spPr>
          <a:xfrm>
            <a:off x="484436" y="273696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22A15C-DEB5-C4E0-D5AA-A166C8E27B99}"/>
              </a:ext>
            </a:extLst>
          </p:cNvPr>
          <p:cNvSpPr/>
          <p:nvPr/>
        </p:nvSpPr>
        <p:spPr>
          <a:xfrm>
            <a:off x="484436" y="198004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E0C1BC-DD66-23DD-6F65-929BCA4FE433}"/>
              </a:ext>
            </a:extLst>
          </p:cNvPr>
          <p:cNvSpPr/>
          <p:nvPr/>
        </p:nvSpPr>
        <p:spPr>
          <a:xfrm>
            <a:off x="484436" y="15868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07FF879-5937-1392-6ADB-1307D23184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0253" y="1680571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EC82023C-7B80-8CC1-474C-164594A56CBE}"/>
              </a:ext>
            </a:extLst>
          </p:cNvPr>
          <p:cNvSpPr>
            <a:spLocks/>
          </p:cNvSpPr>
          <p:nvPr/>
        </p:nvSpPr>
        <p:spPr>
          <a:xfrm>
            <a:off x="554603" y="2058470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AA3D268F-2AC7-B7BC-834F-3E759636E8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827" y="2807416"/>
            <a:ext cx="235296" cy="240643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6F516C3-5015-82B3-04C2-2E384E5F19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462" y="3605320"/>
            <a:ext cx="208026" cy="266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88E1A94-7A43-752A-77A1-A4CC640BDCC8}"/>
              </a:ext>
            </a:extLst>
          </p:cNvPr>
          <p:cNvSpPr/>
          <p:nvPr/>
        </p:nvSpPr>
        <p:spPr>
          <a:xfrm>
            <a:off x="0" y="4513524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401B33-B5B8-5BEF-9DE3-9318B699998D}"/>
              </a:ext>
            </a:extLst>
          </p:cNvPr>
          <p:cNvSpPr txBox="1"/>
          <p:nvPr/>
        </p:nvSpPr>
        <p:spPr>
          <a:xfrm>
            <a:off x="985520" y="4523684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11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2F3E5B87-D399-B274-066B-2371653E601E}"/>
              </a:ext>
            </a:extLst>
          </p:cNvPr>
          <p:cNvCxnSpPr>
            <a:cxnSpLocks/>
          </p:cNvCxnSpPr>
          <p:nvPr/>
        </p:nvCxnSpPr>
        <p:spPr>
          <a:xfrm flipH="1" flipV="1">
            <a:off x="690880" y="4764253"/>
            <a:ext cx="1" cy="162710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964F9C5F-A11C-929E-07AE-21B37991BA56}"/>
              </a:ext>
            </a:extLst>
          </p:cNvPr>
          <p:cNvSpPr/>
          <p:nvPr/>
        </p:nvSpPr>
        <p:spPr>
          <a:xfrm>
            <a:off x="497841" y="553533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93F346B9-FFB3-4AF4-F05D-A37799CF4107}"/>
              </a:ext>
            </a:extLst>
          </p:cNvPr>
          <p:cNvSpPr/>
          <p:nvPr/>
        </p:nvSpPr>
        <p:spPr>
          <a:xfrm>
            <a:off x="497841" y="506685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2216;p100">
            <a:extLst>
              <a:ext uri="{FF2B5EF4-FFF2-40B4-BE49-F238E27FC236}">
                <a16:creationId xmlns:a16="http://schemas.microsoft.com/office/drawing/2014/main" id="{6E55D0CE-1460-B2AC-8966-ED7476D5F8E9}"/>
              </a:ext>
            </a:extLst>
          </p:cNvPr>
          <p:cNvSpPr/>
          <p:nvPr/>
        </p:nvSpPr>
        <p:spPr>
          <a:xfrm>
            <a:off x="572263" y="516541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FAF5D27-4EC9-A831-4B32-15B5F56F6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3658" y="5629043"/>
            <a:ext cx="154445" cy="19305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9863524A-0039-5986-7CFD-3FE3348A56BE}"/>
              </a:ext>
            </a:extLst>
          </p:cNvPr>
          <p:cNvSpPr txBox="1"/>
          <p:nvPr/>
        </p:nvSpPr>
        <p:spPr>
          <a:xfrm>
            <a:off x="1000171" y="5186571"/>
            <a:ext cx="10251440" cy="98488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apresenta recursos extraclasse para que os estudantes complementem sua formação. Incentive-os a continuarem explorando o tema da aula.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Oval 20">
            <a:extLst>
              <a:ext uri="{FF2B5EF4-FFF2-40B4-BE49-F238E27FC236}">
                <a16:creationId xmlns:a16="http://schemas.microsoft.com/office/drawing/2014/main" id="{73EB3F35-489E-4C5D-BAFA-8D8E37C1233C}"/>
              </a:ext>
            </a:extLst>
          </p:cNvPr>
          <p:cNvSpPr/>
          <p:nvPr/>
        </p:nvSpPr>
        <p:spPr>
          <a:xfrm>
            <a:off x="484436" y="110606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2216;p100">
            <a:extLst>
              <a:ext uri="{FF2B5EF4-FFF2-40B4-BE49-F238E27FC236}">
                <a16:creationId xmlns:a16="http://schemas.microsoft.com/office/drawing/2014/main" id="{A532E255-95B7-4026-9856-6ECEE7725100}"/>
              </a:ext>
            </a:extLst>
          </p:cNvPr>
          <p:cNvSpPr/>
          <p:nvPr/>
        </p:nvSpPr>
        <p:spPr>
          <a:xfrm>
            <a:off x="558858" y="121168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68C5187-0AFB-4B83-8B8D-1245CA30BA02}"/>
              </a:ext>
            </a:extLst>
          </p:cNvPr>
          <p:cNvSpPr txBox="1"/>
          <p:nvPr/>
        </p:nvSpPr>
        <p:spPr>
          <a:xfrm>
            <a:off x="1019343" y="1181911"/>
            <a:ext cx="10958576" cy="2677656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hoje?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reforçar e esclarecer os principais conceitos discutidos, incentivando os estudantes a recordarem e articularem os principais pontos da aula. 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da sala de aula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mantenha um ambiente de diálogo aberto e respeitoso;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seja direto e objetivo nas explicações para manter a atividade dentro do tempo estipulado;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engaje os estudantes rapidamente, pedindo confirmações ou reações breves às definições apresentadas.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estudantes que esse é um momento de reflexão e esclarecimento sobre os conceitos abordados na aula;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informe que será feita uma rápida revisão para assegurar o entendimento correto das definições e dos conceitos;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slide com a definição sintética de cada conceito principal discutido na aula, ampliando a explicação com as informações que achar necessárias;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resumindo os pontos principais e reiterando a importância de cada conceito e como ele se encaixa no contexto maior da aula.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sair da aula com um entendimento claro e preciso dos conceitos principais.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864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94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F221F30FA1D846BC6503DE840D959B" ma:contentTypeVersion="8" ma:contentTypeDescription="Crie um novo documento." ma:contentTypeScope="" ma:versionID="64f56a52a51cc80b8ddb3d94a2f0550b">
  <xsd:schema xmlns:xsd="http://www.w3.org/2001/XMLSchema" xmlns:xs="http://www.w3.org/2001/XMLSchema" xmlns:p="http://schemas.microsoft.com/office/2006/metadata/properties" xmlns:ns2="4facdbb2-8ef9-464d-a709-26ca1c337062" targetNamespace="http://schemas.microsoft.com/office/2006/metadata/properties" ma:root="true" ma:fieldsID="6bd439814cc2a84ec9ae5087f29ffa06" ns2:_="">
    <xsd:import namespace="4facdbb2-8ef9-464d-a709-26ca1c3370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cdbb2-8ef9-464d-a709-26ca1c33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661F7A-1649-4A39-91A5-A3893F5678E5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4facdbb2-8ef9-464d-a709-26ca1c33706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F2396A6-4422-4B27-B95E-3A964ABD2F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cdbb2-8ef9-464d-a709-26ca1c3370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7590F2-902A-4FFC-B993-9715B30E05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16137</TotalTime>
  <Words>1537</Words>
  <Application>Microsoft Office PowerPoint</Application>
  <PresentationFormat>Widescreen</PresentationFormat>
  <Paragraphs>165</Paragraphs>
  <Slides>18</Slides>
  <Notes>16</Notes>
  <HiddenSlides>6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Poppins</vt:lpstr>
      <vt:lpstr>Poppins Bold</vt:lpstr>
      <vt:lpstr>Arial</vt:lpstr>
      <vt:lpstr>Poppins Medium</vt:lpstr>
      <vt:lpstr>Calibri</vt:lpstr>
      <vt:lpstr>Poppins Light</vt:lpstr>
      <vt:lpstr>Office Theme</vt:lpstr>
      <vt:lpstr>2_Office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Caco Bressane Ilustração e Design</dc:creator>
  <cp:lastModifiedBy>Luca Santiago Rocha</cp:lastModifiedBy>
  <cp:revision>1215</cp:revision>
  <dcterms:modified xsi:type="dcterms:W3CDTF">2026-02-05T20:16:01Z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0x0101000AF221F30FA1D846BC6503DE840D959B</vt:lpwstr>
  </property>
  <property fmtid="{D5CDD505-2E9C-101B-9397-08002B2CF9AE}" pid="3" name="MediaServiceImageTags">
    <vt:lpwstr/>
  </property>
  <property fmtid="{D5CDD505-2E9C-101B-9397-08002B2CF9AE}" pid="4" name="Order">
    <vt:lpwstr>378100.000000000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