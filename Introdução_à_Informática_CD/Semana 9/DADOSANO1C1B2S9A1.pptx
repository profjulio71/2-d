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  <p:sldMasterId id="2147483768" r:id="rId5"/>
  </p:sldMasterIdLst>
  <p:notesMasterIdLst>
    <p:notesMasterId r:id="rId32"/>
  </p:notesMasterIdLst>
  <p:handoutMasterIdLst>
    <p:handoutMasterId r:id="rId33"/>
  </p:handoutMasterIdLst>
  <p:sldIdLst>
    <p:sldId id="498" r:id="rId6"/>
    <p:sldId id="608" r:id="rId7"/>
    <p:sldId id="536" r:id="rId8"/>
    <p:sldId id="537" r:id="rId9"/>
    <p:sldId id="828" r:id="rId10"/>
    <p:sldId id="557" r:id="rId11"/>
    <p:sldId id="1461" r:id="rId12"/>
    <p:sldId id="563" r:id="rId13"/>
    <p:sldId id="1462" r:id="rId14"/>
    <p:sldId id="1444" r:id="rId15"/>
    <p:sldId id="1446" r:id="rId16"/>
    <p:sldId id="535" r:id="rId17"/>
    <p:sldId id="855" r:id="rId18"/>
    <p:sldId id="1443" r:id="rId19"/>
    <p:sldId id="1448" r:id="rId20"/>
    <p:sldId id="527" r:id="rId21"/>
    <p:sldId id="266" r:id="rId22"/>
    <p:sldId id="519" r:id="rId23"/>
    <p:sldId id="576" r:id="rId24"/>
    <p:sldId id="577" r:id="rId25"/>
    <p:sldId id="1318" r:id="rId26"/>
    <p:sldId id="1475" r:id="rId27"/>
    <p:sldId id="1447" r:id="rId28"/>
    <p:sldId id="1476" r:id="rId29"/>
    <p:sldId id="1474" r:id="rId30"/>
    <p:sldId id="550" r:id="rId31"/>
  </p:sldIdLst>
  <p:sldSz cx="12192000" cy="6858000"/>
  <p:notesSz cx="6858000" cy="9144000"/>
  <p:embeddedFontLs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Poppins Bold" panose="00000800000000000000" pitchFamily="2" charset="0"/>
      <p:regular r:id="rId38"/>
      <p:bold r:id="rId39"/>
      <p:italic r:id="rId40"/>
      <p:boldItalic r:id="rId41"/>
    </p:embeddedFont>
    <p:embeddedFont>
      <p:font typeface="Poppins Light" panose="00000400000000000000" pitchFamily="2" charset="0"/>
      <p:regular r:id="rId42"/>
      <p:bold r:id="rId43"/>
      <p:italic r:id="rId44"/>
      <p:boldItalic r:id="rId45"/>
    </p:embeddedFont>
    <p:embeddedFont>
      <p:font typeface="Poppins Medium" panose="00000600000000000000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orient="horz" pos="5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E6B411-79F2-2BA9-D2E5-195CC60EC4EB}" name="Vanessa Leite Rios" initials="VL" userId="S::vrios@vanzolini-ead.org.br::0d7f6d10-7524-4913-bb54-b4a9cca6091b" providerId="AD"/>
  <p188:author id="{5D93F123-A5E2-A62B-D9E3-D9303D1BB86B}" name="Gustavo Cruz dos Reis" initials="GC" userId="S::greis@vanzolini-ead.org.br::837664e1-438f-44d7-9e01-7f6012fe004f" providerId="AD"/>
  <p188:author id="{C6975768-E079-2129-EF66-8C7D8D20589C}" name="Usuário Convidado" initials="UC" userId="S::urn:spo:anon#9c1a6640c4cf430e37b8e52984f4ed92aa1896e2c9d3b1637fd5ce4c8fd5c9d5::" providerId="AD"/>
  <p188:author id="{0F28A37D-7A78-6275-D2DB-23C237B8C9CB}" name="Sebastiana Gomes" initials="SG" userId="4eca4e9bf25f6851" providerId="Windows Live"/>
  <p188:author id="{A42D7C86-2999-ABEF-315C-7093285DA929}" name="Utilizador Convidado" initials="UC" userId="S::urn:spo:tenantanon#4a187474-b69b-445f-9d2d-b39f721fca7f::" providerId="AD"/>
  <p188:author id="{8DD8E787-7B43-E508-6891-C6122D24A71C}" name="Douglas José Mendonça" initials="DM" userId="4153c5f748151241" providerId="Windows Live"/>
  <p188:author id="{377AEB95-F34C-FEB2-A03E-D3DA85656470}" name="Izabella Saadi Cerutti" initials="IS" userId="4295702eb40843b9" providerId="Windows Live"/>
  <p188:author id="{28615DA9-B5E9-CA04-7D8D-122763E6B868}" name="Izabella Saadi Cerutti Leal Reis" initials="IS" userId="S::izabella_reis@vanzolini-ead.org.br::21085dfd-0335-48ee-9e04-b8a1dbb1bca2" providerId="AD"/>
  <p188:author id="{323E71DD-2DD6-0498-FA2F-F91E6C9039EE}" name="Manuela Buk de Araujo" initials="MB" userId="0af21dece6336a93" providerId="Windows Live"/>
  <p188:author id="{E0388DF7-5B9F-86E5-E6C5-3F344187204B}" name="Eloisa Dalbem" initials="ED" userId="S::eldalbem@vanzolini-ead.org.br::9ae0c03a-8642-493e-97df-c9fd93e6c398" providerId="AD"/>
  <p188:author id="{E06AE5F7-C4FB-8FC1-0379-16158CB16B4E}" name="Michelle Mirabile Barbosa" initials="MM" userId="S::michelle_barbosa@vanzolini-ead.org.br::514663f0-91cb-4e5c-876a-7189c1f198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BE149"/>
    <a:srgbClr val="D8D8D8"/>
    <a:srgbClr val="BFBFBF"/>
    <a:srgbClr val="F2F2F2"/>
    <a:srgbClr val="000000"/>
    <a:srgbClr val="EE0000"/>
    <a:srgbClr val="3E3593"/>
    <a:srgbClr val="AAA6D3"/>
    <a:srgbClr val="312F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99318B-0AAC-FE27-6E0B-D01B0F4D4B6B}" v="3" dt="2025-11-07T14:06:16.344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89464" autoAdjust="0"/>
  </p:normalViewPr>
  <p:slideViewPr>
    <p:cSldViewPr snapToGrid="0">
      <p:cViewPr>
        <p:scale>
          <a:sx n="50" d="100"/>
          <a:sy n="50" d="100"/>
        </p:scale>
        <p:origin x="2778" y="1056"/>
      </p:cViewPr>
      <p:guideLst>
        <p:guide orient="horz" pos="663"/>
        <p:guide pos="665"/>
        <p:guide orient="horz" pos="5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176" y="-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6.fntdata"/><Relationship Id="rId21" Type="http://schemas.openxmlformats.org/officeDocument/2006/relationships/slide" Target="slides/slide16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5.xml"/><Relationship Id="rId41" Type="http://schemas.openxmlformats.org/officeDocument/2006/relationships/font" Target="fonts/font8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65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pt-BR" i="1" dirty="0"/>
          </a:p>
        </p:txBody>
      </p:sp>
      <p:sp>
        <p:nvSpPr>
          <p:cNvPr id="641" name="Google Shape;6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355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52" name="Google Shape;6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7257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C17B253A-D33A-66AC-02D6-390A7960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:notes">
            <a:extLst>
              <a:ext uri="{FF2B5EF4-FFF2-40B4-BE49-F238E27FC236}">
                <a16:creationId xmlns:a16="http://schemas.microsoft.com/office/drawing/2014/main" id="{FF279A7A-E778-9EA2-D416-378DA625D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89" name="Google Shape;689;p7:notes">
            <a:extLst>
              <a:ext uri="{FF2B5EF4-FFF2-40B4-BE49-F238E27FC236}">
                <a16:creationId xmlns:a16="http://schemas.microsoft.com/office/drawing/2014/main" id="{49D3FE13-802A-F1DB-88CE-4301E69C3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7201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8AE020DF-CA11-A5AD-C82B-178A12FB0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B43936A0-4F44-FF76-1D43-79B0A24AA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52EEACBB-37B8-6E9A-B48C-B15CAD651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343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F4B4FA1A-3CCF-C51F-0353-C46DFF60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5ABE5921-9E11-63AC-90C1-1811179DA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BCD59D41-1F63-EEDD-B67E-E21B0708A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682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0A953065-C8B4-4627-5027-A4E06D0F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49721AB4-D32A-D785-010C-C95CC4CEA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602270CF-0041-40C1-2F44-9144E0F9F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26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C6D0ABA1-4B80-C96B-A36E-77AD4C5B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0559BF2C-A922-1221-126B-9C54DEAE5A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4F5B8E17-251C-6156-8B52-5156DB650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448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3016C2B9-ACEC-ED13-94EA-676648C8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C8755886-6102-A194-285C-389B2A52B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4737FB4D-931B-0AFC-5C30-A6E1A2DF7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261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424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BBD4E10-55D0-5732-5D75-FF274638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0EF73ECB-53A1-F939-CFB9-7B65FCBC7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0F109F54-BB0D-8B72-4E85-FEEEF1313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162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EB90-7FFF-C1D8-FD0C-0EE3E0A1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D79B70-66B4-4824-251D-6E8EA1460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813310-C4F9-F271-E3AE-102299F25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0400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Poppins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16518E-6193-AF42-F3BF-507BBCF8DF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72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48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9448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03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8BA4-19C3-9F30-58CC-FF9B1F11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2E36CD-B480-33FE-01D2-EEABE824F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A338E7-82EB-E08D-9119-85453E0B7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54B966-8207-A36D-8BF8-E94C5D9814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04140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8BA4-19C3-9F30-58CC-FF9B1F11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2E36CD-B480-33FE-01D2-EEABE824F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A338E7-82EB-E08D-9119-85453E0B7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54B966-8207-A36D-8BF8-E94C5D9814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2784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270F-DC30-1CCF-BD10-E3039484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D160060-BE4E-EE52-E51C-97238776D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07EE718-84DF-C598-F487-5CACB3396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0B8D7-25A7-49D1-0794-7667E793D4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5107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270F-DC30-1CCF-BD10-E3039484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D160060-BE4E-EE52-E51C-97238776D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07EE718-84DF-C598-F487-5CACB3396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0B8D7-25A7-49D1-0794-7667E793D4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0536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034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Tempo: 0 min.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3433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B7F5AE4-74D4-F959-3019-3348581F878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EF0413C-BEAD-83FC-0B11-45DEC38D36E1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8B42BE9-7CD9-AFE9-6C10-410D8C523F90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DE69EC3-96E7-69C3-B494-EE1611863A80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EC3A9B7-F521-057A-A1F1-60FFB54F854E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D1BB4194-0FA2-8D69-A8E0-A988047F0B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0E779849-F286-4189-5E04-D6C7DD014A4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963DCE1-24FA-9D43-C56A-864B7761E3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2027FC5-E54E-C9E6-D839-62FDBDB3EE15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2" name="Retângulo: Cantos Superiores Arredondados 11">
              <a:extLst>
                <a:ext uri="{FF2B5EF4-FFF2-40B4-BE49-F238E27FC236}">
                  <a16:creationId xmlns:a16="http://schemas.microsoft.com/office/drawing/2014/main" id="{A001476B-B71E-7653-ADC1-226D06230750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8BBED551-44AF-240B-4782-46249E14A14F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2C4B0022-2D93-5A99-78A2-FD5DD01A9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4710945-1D33-1928-F6C3-12053A74C3E0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37F9DB8D-164D-A1D8-3D5A-EC1543E3C517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EE6C7E5-8BD8-84C5-E637-46097896241F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4088314-2442-4917-C7D8-02A32322E8D6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1;p2">
            <a:extLst>
              <a:ext uri="{FF2B5EF4-FFF2-40B4-BE49-F238E27FC236}">
                <a16:creationId xmlns:a16="http://schemas.microsoft.com/office/drawing/2014/main" id="{ACDEC9D1-084D-70FE-3869-B5777B4AC7F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DD67D95-6CB4-3844-12D9-76FFDC5E205E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A3DE642A-9731-53AF-36C9-858B45264C8A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19F9E1D4-3685-790A-061E-4262ADE23667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576A4916-3281-14C3-26A2-C5132E8EFBE8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" name="Google Shape;643;p43">
            <a:extLst>
              <a:ext uri="{FF2B5EF4-FFF2-40B4-BE49-F238E27FC236}">
                <a16:creationId xmlns:a16="http://schemas.microsoft.com/office/drawing/2014/main" id="{8089A20C-C9EC-AF5D-C6D2-A76CE9F7BCF7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7256FC6-CB7A-9518-C9D9-0536540D0E77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31;p21">
            <a:extLst>
              <a:ext uri="{FF2B5EF4-FFF2-40B4-BE49-F238E27FC236}">
                <a16:creationId xmlns:a16="http://schemas.microsoft.com/office/drawing/2014/main" id="{E6078B48-0208-2680-A644-912671FEC8DE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60AAE2F-F81B-090C-6FDC-0992F67B7CF9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" name="Google Shape;689;p48">
            <a:extLst>
              <a:ext uri="{FF2B5EF4-FFF2-40B4-BE49-F238E27FC236}">
                <a16:creationId xmlns:a16="http://schemas.microsoft.com/office/drawing/2014/main" id="{3A19ED95-0334-F47C-AF86-3309C91852AB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E19A468-A0C6-431F-AE53-64D4D0C94D80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353;p32">
            <a:extLst>
              <a:ext uri="{FF2B5EF4-FFF2-40B4-BE49-F238E27FC236}">
                <a16:creationId xmlns:a16="http://schemas.microsoft.com/office/drawing/2014/main" id="{5BF31E40-2FFC-C47C-3035-40C1F7D02D0C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preserve="1" userDrawn="1">
  <p:cSld name="1_Título e Conteú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;p4">
            <a:extLst>
              <a:ext uri="{FF2B5EF4-FFF2-40B4-BE49-F238E27FC236}">
                <a16:creationId xmlns:a16="http://schemas.microsoft.com/office/drawing/2014/main" id="{5E705E55-01E4-945B-7072-330DFCE9FF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3;p4">
            <a:extLst>
              <a:ext uri="{FF2B5EF4-FFF2-40B4-BE49-F238E27FC236}">
                <a16:creationId xmlns:a16="http://schemas.microsoft.com/office/drawing/2014/main" id="{F49E36B5-2934-9CA4-7B2E-4F438B27C5E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77D9E9D2-505F-0E7C-E845-C5678130B47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7" name="Espaço Reservado para Texto 8">
            <a:extLst>
              <a:ext uri="{FF2B5EF4-FFF2-40B4-BE49-F238E27FC236}">
                <a16:creationId xmlns:a16="http://schemas.microsoft.com/office/drawing/2014/main" id="{B79890C7-E0F3-5660-10F8-DFF87BDAC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8" name="Espaço Reservado para Texto 8">
            <a:extLst>
              <a:ext uri="{FF2B5EF4-FFF2-40B4-BE49-F238E27FC236}">
                <a16:creationId xmlns:a16="http://schemas.microsoft.com/office/drawing/2014/main" id="{54D85AE8-3082-9CC0-AA41-526BEEC89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61A0A3D-474C-217B-DEFE-96F96FA380F8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101;p34">
            <a:extLst>
              <a:ext uri="{FF2B5EF4-FFF2-40B4-BE49-F238E27FC236}">
                <a16:creationId xmlns:a16="http://schemas.microsoft.com/office/drawing/2014/main" id="{1132E3A5-5215-3837-F526-20E98B515A76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21042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userDrawn="1">
  <p:cSld name="2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3;p10">
            <a:extLst>
              <a:ext uri="{FF2B5EF4-FFF2-40B4-BE49-F238E27FC236}">
                <a16:creationId xmlns:a16="http://schemas.microsoft.com/office/drawing/2014/main" id="{F0494D6C-0775-1679-6C69-816F3881D12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2786"/>
          <a:stretch/>
        </p:blipFill>
        <p:spPr>
          <a:xfrm>
            <a:off x="2" y="0"/>
            <a:ext cx="30956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Espaço Reservado para Texto 8">
            <a:extLst>
              <a:ext uri="{FF2B5EF4-FFF2-40B4-BE49-F238E27FC236}">
                <a16:creationId xmlns:a16="http://schemas.microsoft.com/office/drawing/2014/main" id="{6B4BF7EF-FB5E-D8D4-26C0-433E9665A2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4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/>
              <a:t>Inserir &gt; Mídia &gt; Vídeo &gt; Vídeos online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E32734B-2B57-39FC-F07A-BC52815540CF}"/>
              </a:ext>
            </a:extLst>
          </p:cNvPr>
          <p:cNvSpPr/>
          <p:nvPr userDrawn="1"/>
        </p:nvSpPr>
        <p:spPr>
          <a:xfrm>
            <a:off x="200185" y="269162"/>
            <a:ext cx="2290073" cy="167139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Google Shape;82;p33">
            <a:extLst>
              <a:ext uri="{FF2B5EF4-FFF2-40B4-BE49-F238E27FC236}">
                <a16:creationId xmlns:a16="http://schemas.microsoft.com/office/drawing/2014/main" id="{9A3C2558-8038-DB01-55FE-CA8F98189B90}"/>
              </a:ext>
            </a:extLst>
          </p:cNvPr>
          <p:cNvSpPr txBox="1"/>
          <p:nvPr userDrawn="1"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1545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 userDrawn="1">
  <p:cSld name="3_Atividade_seminario2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;p4">
            <a:extLst>
              <a:ext uri="{FF2B5EF4-FFF2-40B4-BE49-F238E27FC236}">
                <a16:creationId xmlns:a16="http://schemas.microsoft.com/office/drawing/2014/main" id="{B36FC4F7-12D0-9D87-77F5-84F03FCC4B2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;p4">
            <a:extLst>
              <a:ext uri="{FF2B5EF4-FFF2-40B4-BE49-F238E27FC236}">
                <a16:creationId xmlns:a16="http://schemas.microsoft.com/office/drawing/2014/main" id="{2B016A40-80F4-2C44-91CC-E0383C166B3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5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622" cy="64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4" name="Google Shape;464;p35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622" cy="64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7" name="Google Shape;467;p35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622" cy="64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0" name="Google Shape;470;p35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622" cy="64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1" name="Google Shape;471;p35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423" cy="26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-152408" algn="l" rtl="0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2" name="Google Shape;472;p35"/>
          <p:cNvSpPr txBox="1">
            <a:spLocks noGrp="1"/>
          </p:cNvSpPr>
          <p:nvPr>
            <p:ph type="body" idx="6" hasCustomPrompt="1"/>
          </p:nvPr>
        </p:nvSpPr>
        <p:spPr>
          <a:xfrm>
            <a:off x="854491" y="4775003"/>
            <a:ext cx="1733054" cy="27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-152408" algn="l" rtl="0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609630" marR="0" lvl="1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-152408" algn="l" defTabSz="609630" rtl="0" eaLnBrk="1" fontAlgn="auto" latinLnBrk="0" hangingPunct="1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tabLst/>
              <a:defRPr/>
            </a:pPr>
            <a:r>
              <a:rPr lang="pt-BR"/>
              <a:t>Próxima aula</a:t>
            </a:r>
          </a:p>
          <a:p>
            <a:endParaRPr/>
          </a:p>
        </p:txBody>
      </p:sp>
      <p:sp>
        <p:nvSpPr>
          <p:cNvPr id="473" name="Google Shape;473;p35"/>
          <p:cNvSpPr txBox="1">
            <a:spLocks noGrp="1"/>
          </p:cNvSpPr>
          <p:nvPr>
            <p:ph type="body" idx="7" hasCustomPrompt="1"/>
          </p:nvPr>
        </p:nvSpPr>
        <p:spPr>
          <a:xfrm>
            <a:off x="882213" y="5217603"/>
            <a:ext cx="1705332" cy="27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-152408" algn="l" rtl="0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609630" marR="0" lvl="1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28611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</a:pPr>
            <a:r>
              <a:rPr lang="pt-BR"/>
              <a:t>Em grupo</a:t>
            </a:r>
          </a:p>
          <a:p>
            <a:endParaRPr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1396543-8077-3873-EFD6-82EC0D2410EA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Google Shape;207;p37">
            <a:extLst>
              <a:ext uri="{FF2B5EF4-FFF2-40B4-BE49-F238E27FC236}">
                <a16:creationId xmlns:a16="http://schemas.microsoft.com/office/drawing/2014/main" id="{34049049-6782-0EDF-5371-9FBCA1BC84E1}"/>
              </a:ext>
            </a:extLst>
          </p:cNvPr>
          <p:cNvSpPr txBox="1"/>
          <p:nvPr userDrawn="1"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878912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1_Título e Conteú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;p4">
            <a:extLst>
              <a:ext uri="{FF2B5EF4-FFF2-40B4-BE49-F238E27FC236}">
                <a16:creationId xmlns:a16="http://schemas.microsoft.com/office/drawing/2014/main" id="{4774E8B0-98E0-7A0D-DD6A-31206E95DE3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54770894-68D4-3162-22A1-63B498C9AC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1C904D48-A0F9-60D5-EB49-9DF7624491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1B98057-1034-3D4F-911D-0A5AAC9E46A3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101;p34">
            <a:extLst>
              <a:ext uri="{FF2B5EF4-FFF2-40B4-BE49-F238E27FC236}">
                <a16:creationId xmlns:a16="http://schemas.microsoft.com/office/drawing/2014/main" id="{C76B1700-97D8-63BB-791D-2A0C3E8F4386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601921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1_Título e Conteú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;p4">
            <a:extLst>
              <a:ext uri="{FF2B5EF4-FFF2-40B4-BE49-F238E27FC236}">
                <a16:creationId xmlns:a16="http://schemas.microsoft.com/office/drawing/2014/main" id="{4B0435A3-32EC-E6F3-FA90-08A2C06954E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3;p4">
            <a:extLst>
              <a:ext uri="{FF2B5EF4-FFF2-40B4-BE49-F238E27FC236}">
                <a16:creationId xmlns:a16="http://schemas.microsoft.com/office/drawing/2014/main" id="{3BD39D9C-F08E-C76A-ED3F-2E79DE35164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7E6A8B7-E0DB-1297-5803-801B69FAC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A4610CAA-693D-15C7-F9EF-48A1DA79B8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630EA91-1A48-3E2F-9CC8-32FDA4ECAA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8CC7B60-CEDA-ECF7-2FEA-7966BFE696C0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101;p34">
            <a:extLst>
              <a:ext uri="{FF2B5EF4-FFF2-40B4-BE49-F238E27FC236}">
                <a16:creationId xmlns:a16="http://schemas.microsoft.com/office/drawing/2014/main" id="{3C231E2B-F8C1-BFD4-5632-1D4996AADA94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93585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13" r:id="rId5"/>
    <p:sldLayoutId id="2147483701" r:id="rId6"/>
    <p:sldLayoutId id="2147483658" r:id="rId7"/>
    <p:sldLayoutId id="2147483705" r:id="rId8"/>
    <p:sldLayoutId id="2147483707" r:id="rId9"/>
    <p:sldLayoutId id="2147483757" r:id="rId10"/>
    <p:sldLayoutId id="2147483730" r:id="rId11"/>
    <p:sldLayoutId id="2147483764" r:id="rId12"/>
    <p:sldLayoutId id="2147483766" r:id="rId13"/>
    <p:sldLayoutId id="214748383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9420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q5e291QdZ0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Uq5e291QdZ0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emf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7.sv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07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43;p43">
            <a:extLst>
              <a:ext uri="{FF2B5EF4-FFF2-40B4-BE49-F238E27FC236}">
                <a16:creationId xmlns:a16="http://schemas.microsoft.com/office/drawing/2014/main" id="{21B44D14-C032-9E7B-6137-9125CF4AE115}"/>
              </a:ext>
            </a:extLst>
          </p:cNvPr>
          <p:cNvSpPr txBox="1">
            <a:spLocks/>
          </p:cNvSpPr>
          <p:nvPr/>
        </p:nvSpPr>
        <p:spPr>
          <a:xfrm>
            <a:off x="1018823" y="917774"/>
            <a:ext cx="6003459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200" noProof="0" dirty="0">
                <a:solidFill>
                  <a:srgbClr val="FF161F"/>
                </a:solidFill>
                <a:latin typeface="Poppins" panose="00000500000000000000" pitchFamily="2" charset="0"/>
              </a:rPr>
              <a:t>Introdução à informática</a:t>
            </a:r>
          </a:p>
        </p:txBody>
      </p:sp>
      <p:sp>
        <p:nvSpPr>
          <p:cNvPr id="8" name="Google Shape;643;p43">
            <a:extLst>
              <a:ext uri="{FF2B5EF4-FFF2-40B4-BE49-F238E27FC236}">
                <a16:creationId xmlns:a16="http://schemas.microsoft.com/office/drawing/2014/main" id="{79C53378-5638-4394-B211-79094EBC8787}"/>
              </a:ext>
            </a:extLst>
          </p:cNvPr>
          <p:cNvSpPr txBox="1">
            <a:spLocks/>
          </p:cNvSpPr>
          <p:nvPr/>
        </p:nvSpPr>
        <p:spPr>
          <a:xfrm>
            <a:off x="613181" y="2140324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09630">
              <a:buSzPts val="4500"/>
              <a:defRPr/>
            </a:pPr>
            <a:r>
              <a:rPr lang="pt-BR" sz="26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itchFamily="2" charset="77"/>
              </a:rPr>
              <a:t>Organização digital e produtividade I</a:t>
            </a:r>
          </a:p>
        </p:txBody>
      </p:sp>
      <p:sp>
        <p:nvSpPr>
          <p:cNvPr id="9" name="Google Shape;644;p43">
            <a:extLst>
              <a:ext uri="{FF2B5EF4-FFF2-40B4-BE49-F238E27FC236}">
                <a16:creationId xmlns:a16="http://schemas.microsoft.com/office/drawing/2014/main" id="{B612F43F-1A04-48AE-A3B3-9823407766F9}"/>
              </a:ext>
            </a:extLst>
          </p:cNvPr>
          <p:cNvSpPr txBox="1">
            <a:spLocks/>
          </p:cNvSpPr>
          <p:nvPr/>
        </p:nvSpPr>
        <p:spPr>
          <a:xfrm>
            <a:off x="613179" y="3262085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defTabSz="609630">
              <a:spcBef>
                <a:spcPts val="0"/>
              </a:spcBef>
              <a:buClr>
                <a:srgbClr val="000000"/>
              </a:buClr>
              <a:defRPr/>
            </a:pPr>
            <a:r>
              <a:rPr lang="pt-BR" sz="1800" b="0" noProof="0" dirty="0">
                <a:solidFill>
                  <a:schemeClr val="bg1">
                    <a:lumMod val="7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Aula 1: Gerenciamento de arquivos e pastas</a:t>
            </a: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29D62C2D-8EF0-4993-A4E9-775F2B38E16E}"/>
              </a:ext>
            </a:extLst>
          </p:cNvPr>
          <p:cNvSpPr txBox="1">
            <a:spLocks/>
          </p:cNvSpPr>
          <p:nvPr/>
        </p:nvSpPr>
        <p:spPr>
          <a:xfrm>
            <a:off x="613179" y="4075099"/>
            <a:ext cx="6814747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09630">
              <a:buSzPts val="2500"/>
              <a:defRPr/>
            </a:pPr>
            <a:r>
              <a:rPr lang="pt-BR" sz="1800" noProof="0" dirty="0">
                <a:latin typeface="Poppins" panose="00000500000000000000" pitchFamily="2" charset="0"/>
                <a:cs typeface="Poppins"/>
              </a:rPr>
              <a:t>Código da aula: DADOSANO1C1B2S9A1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5D7D75E9-0F4B-DBE3-CC79-711BCF1FE0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6" name="Google Shape;293;p3">
            <a:extLst>
              <a:ext uri="{FF2B5EF4-FFF2-40B4-BE49-F238E27FC236}">
                <a16:creationId xmlns:a16="http://schemas.microsoft.com/office/drawing/2014/main" id="{EA53E5E4-D3ED-749E-28C3-DEE2A2835353}"/>
              </a:ext>
            </a:extLst>
          </p:cNvPr>
          <p:cNvSpPr/>
          <p:nvPr/>
        </p:nvSpPr>
        <p:spPr>
          <a:xfrm rot="-3438299">
            <a:off x="3101898" y="46871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r">
              <a:buSzPts val="2700"/>
            </a:pPr>
            <a:endParaRPr lang="pt-BR" sz="1800" noProof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4A2899B7-3121-4E75-668A-D6819BA310CC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B526F078-F664-0138-7558-AC45725A848F}"/>
              </a:ext>
            </a:extLst>
          </p:cNvPr>
          <p:cNvSpPr/>
          <p:nvPr/>
        </p:nvSpPr>
        <p:spPr>
          <a:xfrm rot="-4951757">
            <a:off x="7445899" y="2445517"/>
            <a:ext cx="210524" cy="21052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F56660FF-75DD-636F-27CC-F8F675E987DE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4808A2D2-A4FC-3D56-47CE-166BBAB51C4E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2ADF4355-9ECC-B4E2-9FBC-DA12643DF645}"/>
              </a:ext>
            </a:extLst>
          </p:cNvPr>
          <p:cNvGrpSpPr/>
          <p:nvPr/>
        </p:nvGrpSpPr>
        <p:grpSpPr>
          <a:xfrm>
            <a:off x="587293" y="1657363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AE89209E-AD43-F36B-EC55-50B97549360D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EB71AE8F-D310-98D6-CA71-79035040DEC1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6C307A4F-094A-23FC-557D-912DF9A29E01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916F17AB-B0F5-C1FB-97C4-50122119F3CA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0A8D9351-46FD-D23A-3037-C46C45F92D91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22631971-8A49-57CD-7FBA-7BE977CEAB6E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50D90645-AF57-FEAD-2749-2B51069E1233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9B89F5CA-3CF3-066E-9671-313FE3DA7DD3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99644665-3712-5F2D-5826-629ED5D6892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28D0CE33-4442-076D-969F-E0A34D86FAF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29001061-2B4E-2A97-25E1-E7EF16B56B34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1F0E5483-CD99-2945-FC23-E3806E0A67D1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04211789-F56F-C23C-C247-0FAC2D857D69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52CFE4AB-8A58-6560-93BB-FE230AD3F22F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5126F024-2398-EBCB-6024-73271DC2FCE8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3DAC69B2-F4BA-1C4E-B6AB-7423C4FE510B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C009BA89-22BC-CFB4-3C0E-83100D24268B}"/>
              </a:ext>
            </a:extLst>
          </p:cNvPr>
          <p:cNvSpPr/>
          <p:nvPr/>
        </p:nvSpPr>
        <p:spPr>
          <a:xfrm>
            <a:off x="2933526" y="2830191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7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D8F92167-29C2-CA3E-0AD6-79D50CFE9919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3201572" y="3366284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AE113DAB-1467-3300-D48F-76A846FDA5DB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BC591161-98D6-0211-EA98-799357E38698}"/>
              </a:ext>
            </a:extLst>
          </p:cNvPr>
          <p:cNvSpPr/>
          <p:nvPr/>
        </p:nvSpPr>
        <p:spPr>
          <a:xfrm>
            <a:off x="5860040" y="62685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8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1E1ABABF-EEF2-4B32-8408-6EC59AAD3800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5" y="1162945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9B8FDE68-E380-EB27-40EA-3B826FED28DE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C0E391BB-50C3-FED4-8AA1-8F92A5936C6B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34639" y="2145716"/>
            <a:ext cx="469019" cy="34094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9B875051-FE9F-A696-248F-67EFDD495C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723761">
            <a:off x="6529979" y="5582655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26;p3">
            <a:extLst>
              <a:ext uri="{FF2B5EF4-FFF2-40B4-BE49-F238E27FC236}">
                <a16:creationId xmlns:a16="http://schemas.microsoft.com/office/drawing/2014/main" id="{47D50267-A1B5-AD3D-95BD-9B822B9D82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10072805" y="371605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14D81371-99D7-4FAA-B842-A3B7E1B4A6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30774" y="48326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20D05082-7FE0-9C08-E511-E5ABF433E1FA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11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0DF76807-11D9-D815-F260-1D7E45733370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2534AD05-DEC5-F97B-ADD8-DA0028DFF764}"/>
              </a:ext>
            </a:extLst>
          </p:cNvPr>
          <p:cNvSpPr txBox="1"/>
          <p:nvPr/>
        </p:nvSpPr>
        <p:spPr>
          <a:xfrm>
            <a:off x="287503" y="3965364"/>
            <a:ext cx="283256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Redes e dispositivos </a:t>
            </a:r>
          </a:p>
          <a:p>
            <a:pPr>
              <a:buSzPts val="2250"/>
            </a:pPr>
            <a:r>
              <a:rPr lang="pt-BR" sz="1700" noProof="0" dirty="0"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de conectividade</a:t>
            </a: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0E40C7D1-B07D-7607-3919-E959E42D9AE8}"/>
              </a:ext>
            </a:extLst>
          </p:cNvPr>
          <p:cNvSpPr txBox="1"/>
          <p:nvPr/>
        </p:nvSpPr>
        <p:spPr>
          <a:xfrm>
            <a:off x="4229794" y="5617581"/>
            <a:ext cx="245496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</a:t>
            </a:r>
          </a:p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 produtividade II</a:t>
            </a: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C7EBBC61-12C1-8FD9-FE3E-95B596546E94}"/>
              </a:ext>
            </a:extLst>
          </p:cNvPr>
          <p:cNvSpPr txBox="1"/>
          <p:nvPr/>
        </p:nvSpPr>
        <p:spPr>
          <a:xfrm>
            <a:off x="6510730" y="635326"/>
            <a:ext cx="467434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Endereçamento e protocolos de rede</a:t>
            </a: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E937EEE7-8AD5-0965-AFEF-7972D3B0E0C6}"/>
              </a:ext>
            </a:extLst>
          </p:cNvPr>
          <p:cNvSpPr txBox="1"/>
          <p:nvPr/>
        </p:nvSpPr>
        <p:spPr>
          <a:xfrm>
            <a:off x="8673545" y="1652519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e produtividade I</a:t>
            </a: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27DF6EEE-ABB9-F21D-DC51-574CA07674FA}"/>
              </a:ext>
            </a:extLst>
          </p:cNvPr>
          <p:cNvSpPr txBox="1"/>
          <p:nvPr/>
        </p:nvSpPr>
        <p:spPr>
          <a:xfrm>
            <a:off x="9949272" y="4530800"/>
            <a:ext cx="209334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Ferramentas </a:t>
            </a:r>
            <a:b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</a:b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de escritório I</a:t>
            </a:r>
            <a:endParaRPr lang="pt-BR" sz="1700" noProof="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4001D8D6-34F2-D9E9-BFE3-F0D9953EABE5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323;p3">
            <a:extLst>
              <a:ext uri="{FF2B5EF4-FFF2-40B4-BE49-F238E27FC236}">
                <a16:creationId xmlns:a16="http://schemas.microsoft.com/office/drawing/2014/main" id="{7B57060B-3C4F-2A46-EE0E-178F4AEDFD7B}"/>
              </a:ext>
            </a:extLst>
          </p:cNvPr>
          <p:cNvSpPr txBox="1"/>
          <p:nvPr/>
        </p:nvSpPr>
        <p:spPr>
          <a:xfrm>
            <a:off x="8657206" y="1361965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noProof="0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lang="pt-BR" sz="1400" noProof="0" dirty="0">
              <a:latin typeface="Poppins" panose="00000500000000000000" pitchFamily="2" charset="0"/>
            </a:endParaRPr>
          </a:p>
        </p:txBody>
      </p:sp>
      <p:pic>
        <p:nvPicPr>
          <p:cNvPr id="56" name="Google Shape;324;p3">
            <a:extLst>
              <a:ext uri="{FF2B5EF4-FFF2-40B4-BE49-F238E27FC236}">
                <a16:creationId xmlns:a16="http://schemas.microsoft.com/office/drawing/2014/main" id="{2AC5785F-8AC1-DC32-1160-39BF253736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947512" y="151014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326;p3">
            <a:extLst>
              <a:ext uri="{FF2B5EF4-FFF2-40B4-BE49-F238E27FC236}">
                <a16:creationId xmlns:a16="http://schemas.microsoft.com/office/drawing/2014/main" id="{47D50267-A1B5-AD3D-95BD-9B822B9D82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837257" y="2684184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308B26E-B1DB-1D0F-EC4A-D4460A465FFA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Google Shape;329;p3">
            <a:extLst>
              <a:ext uri="{FF2B5EF4-FFF2-40B4-BE49-F238E27FC236}">
                <a16:creationId xmlns:a16="http://schemas.microsoft.com/office/drawing/2014/main" id="{24EBC644-466B-DFDD-24D0-CF04BDFA02E0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Introdução à informática 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C8F6C0D1-356C-E43F-77C2-D4AC419C77F1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Google Shape;331;p3">
            <a:extLst>
              <a:ext uri="{FF2B5EF4-FFF2-40B4-BE49-F238E27FC236}">
                <a16:creationId xmlns:a16="http://schemas.microsoft.com/office/drawing/2014/main" id="{F6A679A0-8165-3633-B3B4-1A0CC1AF9B76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1   Componente 1</a:t>
            </a:r>
          </a:p>
        </p:txBody>
      </p:sp>
    </p:spTree>
    <p:extLst>
      <p:ext uri="{BB962C8B-B14F-4D97-AF65-F5344CB8AC3E}">
        <p14:creationId xmlns:p14="http://schemas.microsoft.com/office/powerpoint/2010/main" val="394527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2669C60-1B2E-CB26-6D65-F137874BF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708588" y="2655329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454BE3FB-DBF5-B9B9-2C32-D91EB68E7728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11417446-22F7-018A-FD17-8BE6870376DA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buSzPts val="6000"/>
            </a:pPr>
            <a:r>
              <a:rPr lang="pt-BR" sz="42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42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38C1C8A1-D576-D03F-ABAB-56823E51B9F2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5EB2AABC-411A-4DB1-754E-398B32A01EC9}"/>
              </a:ext>
            </a:extLst>
          </p:cNvPr>
          <p:cNvSpPr txBox="1"/>
          <p:nvPr/>
        </p:nvSpPr>
        <p:spPr>
          <a:xfrm>
            <a:off x="3234690" y="3203817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250"/>
            </a:pPr>
            <a:r>
              <a:rPr lang="pt-BR" sz="18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e produtividade I</a:t>
            </a: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9DC627E0-692B-B963-150C-C9ABA2375B7B}"/>
              </a:ext>
            </a:extLst>
          </p:cNvPr>
          <p:cNvSpPr txBox="1"/>
          <p:nvPr/>
        </p:nvSpPr>
        <p:spPr>
          <a:xfrm>
            <a:off x="3234690" y="2834485"/>
            <a:ext cx="2582980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000"/>
            </a:pPr>
            <a:r>
              <a:rPr lang="pt-BR" sz="2200" b="1" noProof="0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lang="pt-BR" sz="2200" noProof="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AFF9433E-50D2-8459-4418-8A47B897A114}"/>
              </a:ext>
            </a:extLst>
          </p:cNvPr>
          <p:cNvSpPr txBox="1"/>
          <p:nvPr/>
        </p:nvSpPr>
        <p:spPr>
          <a:xfrm>
            <a:off x="3234690" y="5324225"/>
            <a:ext cx="4785301" cy="699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500"/>
            </a:pPr>
            <a:r>
              <a:rPr lang="pt-BR" sz="1800" noProof="0" dirty="0"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DADOSANO1C1B2S9A1</a:t>
            </a:r>
            <a:endParaRPr lang="pt-BR" sz="1800" noProof="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7678E78B-4D53-2DA7-5F21-B11136BABC01}"/>
              </a:ext>
            </a:extLst>
          </p:cNvPr>
          <p:cNvSpPr txBox="1"/>
          <p:nvPr/>
        </p:nvSpPr>
        <p:spPr>
          <a:xfrm>
            <a:off x="3234690" y="4576477"/>
            <a:ext cx="5849811" cy="5354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defTabSz="609630">
              <a:defRPr/>
            </a:pPr>
            <a:r>
              <a:rPr lang="pt-BR" sz="1800" b="1" noProof="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1: Gerenciamento de arquivos e pastas</a:t>
            </a:r>
            <a:endParaRPr lang="pt-BR" sz="1800" b="1" noProof="0" dirty="0">
              <a:latin typeface="Poppins" panose="000005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2378EC7-99F1-DCEF-FB74-29CC4694D08D}"/>
              </a:ext>
            </a:extLst>
          </p:cNvPr>
          <p:cNvSpPr txBox="1"/>
          <p:nvPr/>
        </p:nvSpPr>
        <p:spPr>
          <a:xfrm>
            <a:off x="365760" y="2743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A0C7666-2A61-C076-4E1D-D9E4847DE758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3D3C720B-2686-83DD-EB39-F40BA207EE0C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Introdução à informática 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EA0DF30-2737-4A91-7B84-71A4923C66A1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Google Shape;331;p3">
            <a:extLst>
              <a:ext uri="{FF2B5EF4-FFF2-40B4-BE49-F238E27FC236}">
                <a16:creationId xmlns:a16="http://schemas.microsoft.com/office/drawing/2014/main" id="{7D20B0B4-2449-7E60-A436-5ED749BC4329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1   Componente 1</a:t>
            </a:r>
          </a:p>
        </p:txBody>
      </p:sp>
    </p:spTree>
    <p:extLst>
      <p:ext uri="{BB962C8B-B14F-4D97-AF65-F5344CB8AC3E}">
        <p14:creationId xmlns:p14="http://schemas.microsoft.com/office/powerpoint/2010/main" val="185692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3C5105A-85F0-44B3-8CC7-25FDE81191C5}"/>
              </a:ext>
            </a:extLst>
          </p:cNvPr>
          <p:cNvSpPr/>
          <p:nvPr/>
        </p:nvSpPr>
        <p:spPr>
          <a:xfrm>
            <a:off x="198783" y="2584174"/>
            <a:ext cx="4154556" cy="1351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BD5C18-7776-B553-F6CC-A3FD61A66D26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622" noProof="0" dirty="0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94495801-E3A7-5C9C-58B6-5A613616DE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3741" y="1342524"/>
            <a:ext cx="3968360" cy="97776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Compreender e aplicar o conceito de gerenciamento de arquivos e pastas.</a:t>
            </a:r>
          </a:p>
        </p:txBody>
      </p:sp>
      <p:sp>
        <p:nvSpPr>
          <p:cNvPr id="13" name="Espaço Reservado para Texto 7">
            <a:extLst>
              <a:ext uri="{FF2B5EF4-FFF2-40B4-BE49-F238E27FC236}">
                <a16:creationId xmlns:a16="http://schemas.microsoft.com/office/drawing/2014/main" id="{D4D707D4-C5C3-358C-828D-F0E51DF1C5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7165" y="1355465"/>
            <a:ext cx="3968360" cy="115913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Organizar arquivos e recursos digitais de forma produtiva.</a:t>
            </a:r>
          </a:p>
        </p:txBody>
      </p:sp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DE336765-0FB7-BD47-5351-9D659F6B6C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7165" y="3649331"/>
            <a:ext cx="4317155" cy="118556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Organizar ações em grupo com responsabilidade e cooperação.</a:t>
            </a:r>
          </a:p>
        </p:txBody>
      </p:sp>
      <p:sp>
        <p:nvSpPr>
          <p:cNvPr id="15" name="Espaço Reservado para Texto 7">
            <a:extLst>
              <a:ext uri="{FF2B5EF4-FFF2-40B4-BE49-F238E27FC236}">
                <a16:creationId xmlns:a16="http://schemas.microsoft.com/office/drawing/2014/main" id="{6E3FB853-DB70-A92D-898B-C5E6E91787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5390" y="2931175"/>
            <a:ext cx="3976711" cy="152602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Recurso audiovisual para exibição de vídeos e imagens;</a:t>
            </a:r>
          </a:p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Acesso ao laboratório de informática e/ou à internet;</a:t>
            </a:r>
          </a:p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Papel e caneta.</a:t>
            </a:r>
          </a:p>
          <a:p>
            <a:pPr marL="0" indent="0">
              <a:spcAft>
                <a:spcPts val="400"/>
              </a:spcAft>
              <a:buNone/>
            </a:pPr>
            <a:endParaRPr lang="pt-BR" sz="1500" noProof="0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pt-BR" sz="1500" noProof="0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</a:endParaRPr>
          </a:p>
        </p:txBody>
      </p:sp>
      <p:sp>
        <p:nvSpPr>
          <p:cNvPr id="8" name="Google Shape;27;p31">
            <a:extLst>
              <a:ext uri="{FF2B5EF4-FFF2-40B4-BE49-F238E27FC236}">
                <a16:creationId xmlns:a16="http://schemas.microsoft.com/office/drawing/2014/main" id="{545A9BB3-5FCF-4F36-A28D-AA3BABA73C6B}"/>
              </a:ext>
            </a:extLst>
          </p:cNvPr>
          <p:cNvSpPr txBox="1"/>
          <p:nvPr/>
        </p:nvSpPr>
        <p:spPr>
          <a:xfrm>
            <a:off x="1433188" y="2413801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42;p31">
            <a:extLst>
              <a:ext uri="{FF2B5EF4-FFF2-40B4-BE49-F238E27FC236}">
                <a16:creationId xmlns:a16="http://schemas.microsoft.com/office/drawing/2014/main" id="{1C4CDA27-CC87-4C06-B5F0-D56ED1311CEE}"/>
              </a:ext>
            </a:extLst>
          </p:cNvPr>
          <p:cNvSpPr/>
          <p:nvPr/>
        </p:nvSpPr>
        <p:spPr>
          <a:xfrm>
            <a:off x="514540" y="246887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44;p31">
            <a:extLst>
              <a:ext uri="{FF2B5EF4-FFF2-40B4-BE49-F238E27FC236}">
                <a16:creationId xmlns:a16="http://schemas.microsoft.com/office/drawing/2014/main" id="{3E08F94A-DA86-41EF-AD1F-E464E0C73D9C}"/>
              </a:ext>
            </a:extLst>
          </p:cNvPr>
          <p:cNvGrpSpPr/>
          <p:nvPr/>
        </p:nvGrpSpPr>
        <p:grpSpPr>
          <a:xfrm>
            <a:off x="632680" y="2599548"/>
            <a:ext cx="486839" cy="481169"/>
            <a:chOff x="8278989" y="8660410"/>
            <a:chExt cx="569755" cy="563121"/>
          </a:xfrm>
        </p:grpSpPr>
        <p:grpSp>
          <p:nvGrpSpPr>
            <p:cNvPr id="11" name="Google Shape;45;p31">
              <a:extLst>
                <a:ext uri="{FF2B5EF4-FFF2-40B4-BE49-F238E27FC236}">
                  <a16:creationId xmlns:a16="http://schemas.microsoft.com/office/drawing/2014/main" id="{5ABC0BE1-235F-4143-BC36-282CBFFEEF0D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8" name="Google Shape;46;p31">
                <a:extLst>
                  <a:ext uri="{FF2B5EF4-FFF2-40B4-BE49-F238E27FC236}">
                    <a16:creationId xmlns:a16="http://schemas.microsoft.com/office/drawing/2014/main" id="{40A1204D-3F2E-4785-838E-CEC5C4246B56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7;p31">
                <a:extLst>
                  <a:ext uri="{FF2B5EF4-FFF2-40B4-BE49-F238E27FC236}">
                    <a16:creationId xmlns:a16="http://schemas.microsoft.com/office/drawing/2014/main" id="{C28A1ACE-6264-41C8-A55F-71D5FE288C61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48;p31">
              <a:extLst>
                <a:ext uri="{FF2B5EF4-FFF2-40B4-BE49-F238E27FC236}">
                  <a16:creationId xmlns:a16="http://schemas.microsoft.com/office/drawing/2014/main" id="{C9E8B1E4-F5D6-4DAB-A11A-C82DFC331343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9;p31">
              <a:extLst>
                <a:ext uri="{FF2B5EF4-FFF2-40B4-BE49-F238E27FC236}">
                  <a16:creationId xmlns:a16="http://schemas.microsoft.com/office/drawing/2014/main" id="{C5BE0DFB-0260-4A7A-84E3-0E95B242829A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50;p31">
              <a:extLst>
                <a:ext uri="{FF2B5EF4-FFF2-40B4-BE49-F238E27FC236}">
                  <a16:creationId xmlns:a16="http://schemas.microsoft.com/office/drawing/2014/main" id="{EE6BE79B-D23B-4C7C-A039-5F3C6B28F07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42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9C506E41-6026-CBE8-9EDA-DE317FF0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B43C4A11-A2C6-AFE6-2412-DB7199EDDFC2}"/>
              </a:ext>
            </a:extLst>
          </p:cNvPr>
          <p:cNvSpPr txBox="1"/>
          <p:nvPr/>
        </p:nvSpPr>
        <p:spPr>
          <a:xfrm>
            <a:off x="11742295" y="64257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4E9CC0-C866-02BD-24B5-FE6726D9DEF7}"/>
              </a:ext>
            </a:extLst>
          </p:cNvPr>
          <p:cNvSpPr txBox="1"/>
          <p:nvPr/>
        </p:nvSpPr>
        <p:spPr>
          <a:xfrm>
            <a:off x="12997543" y="445225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2DD4E05A-E94A-F4B8-D7CC-D4067915CCD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598410" y="1482163"/>
            <a:ext cx="7759980" cy="268255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Imagine que você e seu grupo estão prestes a apresentar um trabalho importante na escola. Todos contribuíram, mas cada parte do material ficou em um lugar diferente: um colega salvou no notebook, outro no celular e outro no pen drive. 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Quando chega o momento da apresentação, ninguém encontra a versão final. A turma aguarda, o professor observa e o grupo entra em desespero.</a:t>
            </a:r>
            <a:endParaRPr lang="pt-BR" sz="18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878B8C33-4A4C-D01F-0757-E68E44057A8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857136" y="5017553"/>
            <a:ext cx="6422596" cy="9328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spcAft>
                <a:spcPts val="1200"/>
              </a:spcAft>
            </a:pPr>
            <a:r>
              <a:rPr lang="pt-BR" sz="1800" noProof="0" dirty="0">
                <a:latin typeface="Poppins" panose="00000500000000000000" pitchFamily="2" charset="0"/>
                <a:cs typeface="Poppins"/>
              </a:rPr>
              <a:t>O que poderia ter sido feito de forma diferente para evitar essa confusão?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9F500B3-8CF4-4F84-8BC8-2640E8DF1D89}"/>
              </a:ext>
            </a:extLst>
          </p:cNvPr>
          <p:cNvGrpSpPr/>
          <p:nvPr/>
        </p:nvGrpSpPr>
        <p:grpSpPr>
          <a:xfrm>
            <a:off x="11462298" y="-25836"/>
            <a:ext cx="729702" cy="733463"/>
            <a:chOff x="11462298" y="-25836"/>
            <a:chExt cx="729702" cy="733463"/>
          </a:xfrm>
        </p:grpSpPr>
        <p:pic>
          <p:nvPicPr>
            <p:cNvPr id="2" name="Gráfico 1">
              <a:extLst>
                <a:ext uri="{FF2B5EF4-FFF2-40B4-BE49-F238E27FC236}">
                  <a16:creationId xmlns:a16="http://schemas.microsoft.com/office/drawing/2014/main" id="{A07784A0-348A-23FD-F865-CC7E17480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32419" y="219019"/>
              <a:ext cx="425236" cy="380475"/>
            </a:xfrm>
            <a:prstGeom prst="rect">
              <a:avLst/>
            </a:prstGeom>
          </p:spPr>
        </p:pic>
        <p:sp>
          <p:nvSpPr>
            <p:cNvPr id="3" name="Google Shape;833;p62">
              <a:extLst>
                <a:ext uri="{FF2B5EF4-FFF2-40B4-BE49-F238E27FC236}">
                  <a16:creationId xmlns:a16="http://schemas.microsoft.com/office/drawing/2014/main" id="{AA227012-F792-C0C0-14D1-EE9801441870}"/>
                </a:ext>
              </a:extLst>
            </p:cNvPr>
            <p:cNvSpPr txBox="1"/>
            <p:nvPr/>
          </p:nvSpPr>
          <p:spPr>
            <a:xfrm>
              <a:off x="11472292" y="1839"/>
              <a:ext cx="704005" cy="193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>
                <a:lnSpc>
                  <a:spcPct val="107000"/>
                </a:lnSpc>
                <a:buSzPts val="2700"/>
              </a:pPr>
              <a:r>
                <a:rPr lang="pt-BR" sz="8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Registro</a:t>
              </a:r>
              <a:endParaRPr sz="800"/>
            </a:p>
            <a:p>
              <a:pPr algn="r">
                <a:lnSpc>
                  <a:spcPct val="107000"/>
                </a:lnSpc>
                <a:spcBef>
                  <a:spcPts val="715"/>
                </a:spcBef>
                <a:buSzPts val="2700"/>
              </a:pPr>
              <a:endPara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4" name="Google Shape;369;p6">
              <a:extLst>
                <a:ext uri="{FF2B5EF4-FFF2-40B4-BE49-F238E27FC236}">
                  <a16:creationId xmlns:a16="http://schemas.microsoft.com/office/drawing/2014/main" id="{C096CFA0-ACCB-62AA-158D-7C52642B2C1B}"/>
                </a:ext>
              </a:extLst>
            </p:cNvPr>
            <p:cNvSpPr/>
            <p:nvPr/>
          </p:nvSpPr>
          <p:spPr>
            <a:xfrm flipH="1">
              <a:off x="11472465" y="-10656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grpSp>
          <p:nvGrpSpPr>
            <p:cNvPr id="5" name="Google Shape;370;p6">
              <a:extLst>
                <a:ext uri="{FF2B5EF4-FFF2-40B4-BE49-F238E27FC236}">
                  <a16:creationId xmlns:a16="http://schemas.microsoft.com/office/drawing/2014/main" id="{480E8658-AC97-888B-C8EF-D400B4F74AE2}"/>
                </a:ext>
              </a:extLst>
            </p:cNvPr>
            <p:cNvGrpSpPr/>
            <p:nvPr/>
          </p:nvGrpSpPr>
          <p:grpSpPr>
            <a:xfrm>
              <a:off x="11654317" y="195053"/>
              <a:ext cx="382615" cy="456000"/>
              <a:chOff x="16810081" y="921861"/>
              <a:chExt cx="743773" cy="886429"/>
            </a:xfrm>
          </p:grpSpPr>
          <p:grpSp>
            <p:nvGrpSpPr>
              <p:cNvPr id="7" name="Google Shape;371;p6">
                <a:extLst>
                  <a:ext uri="{FF2B5EF4-FFF2-40B4-BE49-F238E27FC236}">
                    <a16:creationId xmlns:a16="http://schemas.microsoft.com/office/drawing/2014/main" id="{AA078FF0-05AF-F056-51D5-34D10AA5D8B1}"/>
                  </a:ext>
                </a:extLst>
              </p:cNvPr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14" name="Google Shape;372;p6">
                  <a:extLst>
                    <a:ext uri="{FF2B5EF4-FFF2-40B4-BE49-F238E27FC236}">
                      <a16:creationId xmlns:a16="http://schemas.microsoft.com/office/drawing/2014/main" id="{0CED7906-1E28-7E1F-E50E-F7F55E530207}"/>
                    </a:ext>
                  </a:extLst>
                </p:cNvPr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  <p:sp>
              <p:nvSpPr>
                <p:cNvPr id="15" name="Google Shape;373;p6">
                  <a:extLst>
                    <a:ext uri="{FF2B5EF4-FFF2-40B4-BE49-F238E27FC236}">
                      <a16:creationId xmlns:a16="http://schemas.microsoft.com/office/drawing/2014/main" id="{17DD9219-0DC8-0248-AE74-01BDCFA5339D}"/>
                    </a:ext>
                  </a:extLst>
                </p:cNvPr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  <p:sp>
              <p:nvSpPr>
                <p:cNvPr id="16" name="Google Shape;374;p6">
                  <a:extLst>
                    <a:ext uri="{FF2B5EF4-FFF2-40B4-BE49-F238E27FC236}">
                      <a16:creationId xmlns:a16="http://schemas.microsoft.com/office/drawing/2014/main" id="{66185E07-2A62-6580-8225-122B8195B2AC}"/>
                    </a:ext>
                  </a:extLst>
                </p:cNvPr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  <p:sp>
              <p:nvSpPr>
                <p:cNvPr id="17" name="Google Shape;375;p6">
                  <a:extLst>
                    <a:ext uri="{FF2B5EF4-FFF2-40B4-BE49-F238E27FC236}">
                      <a16:creationId xmlns:a16="http://schemas.microsoft.com/office/drawing/2014/main" id="{F5BD075F-2F29-A05A-9577-1A6F52191666}"/>
                    </a:ext>
                  </a:extLst>
                </p:cNvPr>
                <p:cNvSpPr/>
                <p:nvPr/>
              </p:nvSpPr>
              <p:spPr>
                <a:xfrm>
                  <a:off x="16866377" y="1660872"/>
                  <a:ext cx="268605" cy="14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  <p:sp>
              <p:nvSpPr>
                <p:cNvPr id="18" name="Google Shape;376;p6">
                  <a:extLst>
                    <a:ext uri="{FF2B5EF4-FFF2-40B4-BE49-F238E27FC236}">
                      <a16:creationId xmlns:a16="http://schemas.microsoft.com/office/drawing/2014/main" id="{11AE7E31-B8DA-40DF-393E-F17352F85CC4}"/>
                    </a:ext>
                  </a:extLst>
                </p:cNvPr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  <p:sp>
              <p:nvSpPr>
                <p:cNvPr id="19" name="Google Shape;377;p6">
                  <a:extLst>
                    <a:ext uri="{FF2B5EF4-FFF2-40B4-BE49-F238E27FC236}">
                      <a16:creationId xmlns:a16="http://schemas.microsoft.com/office/drawing/2014/main" id="{C08BCE4C-314D-3D30-3344-95AC5BD58B0F}"/>
                    </a:ext>
                  </a:extLst>
                </p:cNvPr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</p:grpSp>
          <p:grpSp>
            <p:nvGrpSpPr>
              <p:cNvPr id="10" name="Google Shape;378;p6">
                <a:extLst>
                  <a:ext uri="{FF2B5EF4-FFF2-40B4-BE49-F238E27FC236}">
                    <a16:creationId xmlns:a16="http://schemas.microsoft.com/office/drawing/2014/main" id="{2FB5DAE0-34BF-A398-BD74-082DC896BCCD}"/>
                  </a:ext>
                </a:extLst>
              </p:cNvPr>
              <p:cNvGrpSpPr/>
              <p:nvPr/>
            </p:nvGrpSpPr>
            <p:grpSpPr>
              <a:xfrm>
                <a:off x="16810081" y="921861"/>
                <a:ext cx="743773" cy="512573"/>
                <a:chOff x="16933626" y="782036"/>
                <a:chExt cx="743773" cy="512573"/>
              </a:xfrm>
            </p:grpSpPr>
            <p:sp>
              <p:nvSpPr>
                <p:cNvPr id="11" name="Google Shape;379;p6">
                  <a:extLst>
                    <a:ext uri="{FF2B5EF4-FFF2-40B4-BE49-F238E27FC236}">
                      <a16:creationId xmlns:a16="http://schemas.microsoft.com/office/drawing/2014/main" id="{AF569D64-C24A-03A6-DCAD-F903626E0C69}"/>
                    </a:ext>
                  </a:extLst>
                </p:cNvPr>
                <p:cNvSpPr/>
                <p:nvPr/>
              </p:nvSpPr>
              <p:spPr>
                <a:xfrm>
                  <a:off x="16933626" y="782036"/>
                  <a:ext cx="476249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  <p:sp>
              <p:nvSpPr>
                <p:cNvPr id="13" name="Google Shape;380;p6">
                  <a:extLst>
                    <a:ext uri="{FF2B5EF4-FFF2-40B4-BE49-F238E27FC236}">
                      <a16:creationId xmlns:a16="http://schemas.microsoft.com/office/drawing/2014/main" id="{07F94715-2BD5-5A8E-9122-C9709E77D665}"/>
                    </a:ext>
                  </a:extLst>
                </p:cNvPr>
                <p:cNvSpPr/>
                <p:nvPr/>
              </p:nvSpPr>
              <p:spPr>
                <a:xfrm>
                  <a:off x="17201150" y="865984"/>
                  <a:ext cx="476249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67" rIns="60950" bIns="30467" anchor="ctr" anchorCtr="0">
                  <a:noAutofit/>
                </a:bodyPr>
                <a:lstStyle/>
                <a:p>
                  <a:pPr>
                    <a:buSzPts val="1400"/>
                  </a:pPr>
                  <a:endParaRPr/>
                </a:p>
              </p:txBody>
            </p:sp>
          </p:grpSp>
        </p:grpSp>
        <p:sp>
          <p:nvSpPr>
            <p:cNvPr id="22" name="Google Shape;381;p6">
              <a:extLst>
                <a:ext uri="{FF2B5EF4-FFF2-40B4-BE49-F238E27FC236}">
                  <a16:creationId xmlns:a16="http://schemas.microsoft.com/office/drawing/2014/main" id="{10BC0F22-7FDA-E2BF-9414-994A03A79E44}"/>
                </a:ext>
              </a:extLst>
            </p:cNvPr>
            <p:cNvSpPr txBox="1"/>
            <p:nvPr/>
          </p:nvSpPr>
          <p:spPr>
            <a:xfrm>
              <a:off x="11462298" y="-25836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>
                <a:lnSpc>
                  <a:spcPct val="107000"/>
                </a:lnSpc>
                <a:buSzPts val="2700"/>
              </a:pPr>
              <a:r>
                <a:rPr lang="pt-BR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>
                <a:latin typeface="Poppins"/>
                <a:ea typeface="Poppins"/>
                <a:cs typeface="Poppins"/>
                <a:sym typeface="Poppins"/>
              </a:endParaRPr>
            </a:p>
            <a:p>
              <a:pPr algn="r">
                <a:lnSpc>
                  <a:spcPct val="107000"/>
                </a:lnSpc>
                <a:spcBef>
                  <a:spcPts val="715"/>
                </a:spcBef>
                <a:buSzPts val="2700"/>
              </a:pPr>
              <a:endParaRPr sz="13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59847C8-E954-8352-F36A-E99F41F29E01}"/>
              </a:ext>
            </a:extLst>
          </p:cNvPr>
          <p:cNvSpPr txBox="1"/>
          <p:nvPr/>
        </p:nvSpPr>
        <p:spPr>
          <a:xfrm>
            <a:off x="3598410" y="832196"/>
            <a:ext cx="6097314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Cadê o arquivo final?</a:t>
            </a:r>
          </a:p>
        </p:txBody>
      </p:sp>
      <p:sp>
        <p:nvSpPr>
          <p:cNvPr id="23" name="Triângulo 12">
            <a:extLst>
              <a:ext uri="{FF2B5EF4-FFF2-40B4-BE49-F238E27FC236}">
                <a16:creationId xmlns:a16="http://schemas.microsoft.com/office/drawing/2014/main" id="{0D33BF36-77D8-5138-C011-31C10BA2D84E}"/>
              </a:ext>
            </a:extLst>
          </p:cNvPr>
          <p:cNvSpPr/>
          <p:nvPr/>
        </p:nvSpPr>
        <p:spPr>
          <a:xfrm rot="5400000">
            <a:off x="4563255" y="5124096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6C0CAD49-952D-8385-8452-590AAB758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410" y="4237634"/>
            <a:ext cx="3496733" cy="728133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EC72D48A-9A99-AA3F-A451-DDC96580D735}"/>
              </a:ext>
            </a:extLst>
          </p:cNvPr>
          <p:cNvSpPr txBox="1"/>
          <p:nvPr/>
        </p:nvSpPr>
        <p:spPr>
          <a:xfrm>
            <a:off x="4568400" y="4481014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VIREM E CONVERSEM</a:t>
            </a:r>
          </a:p>
        </p:txBody>
      </p:sp>
      <p:sp>
        <p:nvSpPr>
          <p:cNvPr id="32" name="Forma Livre 43">
            <a:extLst>
              <a:ext uri="{FF2B5EF4-FFF2-40B4-BE49-F238E27FC236}">
                <a16:creationId xmlns:a16="http://schemas.microsoft.com/office/drawing/2014/main" id="{30DA3D9C-65C9-3FE0-1054-F5C4CB139B93}"/>
              </a:ext>
            </a:extLst>
          </p:cNvPr>
          <p:cNvSpPr/>
          <p:nvPr/>
        </p:nvSpPr>
        <p:spPr>
          <a:xfrm>
            <a:off x="3960909" y="4711633"/>
            <a:ext cx="1385" cy="11651"/>
          </a:xfrm>
          <a:custGeom>
            <a:avLst/>
            <a:gdLst>
              <a:gd name="connsiteX0" fmla="*/ 1044 w 2078"/>
              <a:gd name="connsiteY0" fmla="*/ 0 h 17477"/>
              <a:gd name="connsiteX1" fmla="*/ 1044 w 2078"/>
              <a:gd name="connsiteY1" fmla="*/ 17477 h 17477"/>
              <a:gd name="connsiteX2" fmla="*/ 1044 w 2078"/>
              <a:gd name="connsiteY2" fmla="*/ 0 h 1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8" h="17477">
                <a:moveTo>
                  <a:pt x="1044" y="0"/>
                </a:moveTo>
                <a:cubicBezTo>
                  <a:pt x="16" y="5826"/>
                  <a:pt x="-670" y="11651"/>
                  <a:pt x="1044" y="17477"/>
                </a:cubicBezTo>
                <a:cubicBezTo>
                  <a:pt x="2186" y="11651"/>
                  <a:pt x="2643" y="5826"/>
                  <a:pt x="1044" y="0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sp>
        <p:nvSpPr>
          <p:cNvPr id="33" name="Forma Livre 44">
            <a:extLst>
              <a:ext uri="{FF2B5EF4-FFF2-40B4-BE49-F238E27FC236}">
                <a16:creationId xmlns:a16="http://schemas.microsoft.com/office/drawing/2014/main" id="{D01451F7-2E89-1473-3684-80E447FC16BA}"/>
              </a:ext>
            </a:extLst>
          </p:cNvPr>
          <p:cNvSpPr/>
          <p:nvPr/>
        </p:nvSpPr>
        <p:spPr>
          <a:xfrm>
            <a:off x="3776666" y="4719857"/>
            <a:ext cx="1489" cy="2284"/>
          </a:xfrm>
          <a:custGeom>
            <a:avLst/>
            <a:gdLst>
              <a:gd name="connsiteX0" fmla="*/ 1085 w 2233"/>
              <a:gd name="connsiteY0" fmla="*/ 3427 h 3426"/>
              <a:gd name="connsiteX1" fmla="*/ 971 w 2233"/>
              <a:gd name="connsiteY1" fmla="*/ 0 h 3426"/>
              <a:gd name="connsiteX2" fmla="*/ 1085 w 2233"/>
              <a:gd name="connsiteY2" fmla="*/ 3427 h 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3" h="3426">
                <a:moveTo>
                  <a:pt x="1085" y="3427"/>
                </a:moveTo>
                <a:cubicBezTo>
                  <a:pt x="2799" y="2170"/>
                  <a:pt x="2456" y="1028"/>
                  <a:pt x="971" y="0"/>
                </a:cubicBezTo>
                <a:cubicBezTo>
                  <a:pt x="-286" y="1257"/>
                  <a:pt x="-400" y="2285"/>
                  <a:pt x="1085" y="3427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sp>
        <p:nvSpPr>
          <p:cNvPr id="34" name="Forma Livre 45">
            <a:extLst>
              <a:ext uri="{FF2B5EF4-FFF2-40B4-BE49-F238E27FC236}">
                <a16:creationId xmlns:a16="http://schemas.microsoft.com/office/drawing/2014/main" id="{0A91B2FB-30FB-3E1B-5D4E-57A2BDE90BE9}"/>
              </a:ext>
            </a:extLst>
          </p:cNvPr>
          <p:cNvSpPr/>
          <p:nvPr/>
        </p:nvSpPr>
        <p:spPr>
          <a:xfrm>
            <a:off x="3959701" y="4730557"/>
            <a:ext cx="1327" cy="1247"/>
          </a:xfrm>
          <a:custGeom>
            <a:avLst/>
            <a:gdLst>
              <a:gd name="connsiteX0" fmla="*/ 1942 w 1990"/>
              <a:gd name="connsiteY0" fmla="*/ 56 h 1871"/>
              <a:gd name="connsiteX1" fmla="*/ 0 w 1990"/>
              <a:gd name="connsiteY1" fmla="*/ 1655 h 1871"/>
              <a:gd name="connsiteX2" fmla="*/ 1942 w 1990"/>
              <a:gd name="connsiteY2" fmla="*/ 56 h 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0" h="1871">
                <a:moveTo>
                  <a:pt x="1942" y="56"/>
                </a:moveTo>
                <a:cubicBezTo>
                  <a:pt x="685" y="-172"/>
                  <a:pt x="0" y="285"/>
                  <a:pt x="0" y="1655"/>
                </a:cubicBezTo>
                <a:cubicBezTo>
                  <a:pt x="1599" y="2226"/>
                  <a:pt x="2170" y="1655"/>
                  <a:pt x="1942" y="56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57F5364E-2F2D-54BF-A1B9-CB0FAC7E3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9290" y="4309344"/>
            <a:ext cx="635000" cy="60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BBAF2D25-DFC5-9341-17B0-BFAE1C42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5FDA3CB8-5956-DF12-B053-E90528FFFC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89382" y="790784"/>
            <a:ext cx="8540120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</a:rPr>
              <a:t>Gerenciamento de arquivos e pastas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1591127-DFFC-72A6-C93B-9C0B92346C62}"/>
              </a:ext>
            </a:extLst>
          </p:cNvPr>
          <p:cNvSpPr txBox="1"/>
          <p:nvPr/>
        </p:nvSpPr>
        <p:spPr>
          <a:xfrm>
            <a:off x="12755593" y="5336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4548B0-8973-7345-188A-B3F768584826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E74C43B0-0C8A-E69F-9CEA-DF762BB74ADB}"/>
              </a:ext>
            </a:extLst>
          </p:cNvPr>
          <p:cNvSpPr txBox="1">
            <a:spLocks/>
          </p:cNvSpPr>
          <p:nvPr/>
        </p:nvSpPr>
        <p:spPr>
          <a:xfrm>
            <a:off x="2818971" y="1698738"/>
            <a:ext cx="4910899" cy="32984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>
                <a:latin typeface="Poppins" panose="00000500000000000000" pitchFamily="2" charset="0"/>
              </a:rPr>
              <a:t>Na Ciência de Dados, tudo começa pela </a:t>
            </a:r>
            <a:r>
              <a:rPr lang="pt-BR" b="1" dirty="0">
                <a:latin typeface="Poppins" panose="00000500000000000000" pitchFamily="2" charset="0"/>
              </a:rPr>
              <a:t>organização digital</a:t>
            </a:r>
            <a:r>
              <a:rPr lang="pt-BR" dirty="0">
                <a:latin typeface="Poppins" panose="00000500000000000000" pitchFamily="2" charset="0"/>
              </a:rPr>
              <a:t>. Antes mesmo de criar relatórios ou programar códigos, é preciso saber: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</a:rPr>
              <a:t>onde estão seus arquivos; 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</a:rPr>
              <a:t>como acessá-los rapidamente</a:t>
            </a:r>
            <a:r>
              <a:rPr lang="pt-BR" dirty="0">
                <a:latin typeface="Poppins" panose="00000500000000000000" pitchFamily="2" charset="0"/>
              </a:rPr>
              <a:t>.</a:t>
            </a:r>
          </a:p>
          <a:p>
            <a:endParaRPr lang="pt-BR" sz="1000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Manter planilhas, gráficos e documentos bem estruturados </a:t>
            </a:r>
            <a:r>
              <a:rPr lang="pt-BR" b="1" dirty="0">
                <a:latin typeface="Poppins" panose="00000500000000000000" pitchFamily="2" charset="0"/>
              </a:rPr>
              <a:t>economiza tempo, evita perdas de informação</a:t>
            </a:r>
            <a:r>
              <a:rPr lang="pt-BR" dirty="0">
                <a:latin typeface="Poppins" panose="00000500000000000000" pitchFamily="2" charset="0"/>
              </a:rPr>
              <a:t> e torna o trabalho em equipe mais ágil e confiável.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F78468-1B29-52DD-15EC-4E0A0D12C6F9}"/>
              </a:ext>
            </a:extLst>
          </p:cNvPr>
          <p:cNvSpPr txBox="1"/>
          <p:nvPr/>
        </p:nvSpPr>
        <p:spPr>
          <a:xfrm>
            <a:off x="2294166" y="622136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Google Shape;136;p4">
            <a:extLst>
              <a:ext uri="{FF2B5EF4-FFF2-40B4-BE49-F238E27FC236}">
                <a16:creationId xmlns:a16="http://schemas.microsoft.com/office/drawing/2014/main" id="{99344746-0272-926E-6D6F-F5DB375857E9}"/>
              </a:ext>
            </a:extLst>
          </p:cNvPr>
          <p:cNvSpPr txBox="1"/>
          <p:nvPr/>
        </p:nvSpPr>
        <p:spPr>
          <a:xfrm>
            <a:off x="1052861" y="5110621"/>
            <a:ext cx="7462270" cy="1154889"/>
          </a:xfrm>
          <a:prstGeom prst="rect">
            <a:avLst/>
          </a:prstGeom>
          <a:solidFill>
            <a:srgbClr val="AAA6D3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>
              <a:buSzPts val="1800"/>
            </a:pPr>
            <a:endParaRPr lang="pt-BR" sz="5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SzPts val="1800"/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Aprender a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gerenciar arquivos e pastas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 é desenvolver uma base sólida para qualquer projeto de dados, uma habilidade essencial que também faz diferença em qualquer profissão.</a:t>
            </a:r>
            <a:endParaRPr lang="pt-BR" sz="1600" dirty="0"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46CB5D63-AE48-E550-ED31-58A3D5E7C4DB}"/>
              </a:ext>
            </a:extLst>
          </p:cNvPr>
          <p:cNvGrpSpPr/>
          <p:nvPr/>
        </p:nvGrpSpPr>
        <p:grpSpPr>
          <a:xfrm>
            <a:off x="681870" y="4730859"/>
            <a:ext cx="3499948" cy="728133"/>
            <a:chOff x="12496121" y="1426319"/>
            <a:chExt cx="5249922" cy="10922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43874B19-CA02-05D5-73DA-1C7BD027D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96121" y="1426319"/>
              <a:ext cx="5207000" cy="1092200"/>
            </a:xfrm>
            <a:prstGeom prst="rect">
              <a:avLst/>
            </a:prstGeom>
          </p:spPr>
        </p:pic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EA24927A-4E61-0163-DAC4-2168D8E58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43270BA-4EE3-9E19-B5BB-6F332C8B5E5C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9DF4259C-5BF4-9F17-63C3-9919C795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7929187" y="1984266"/>
            <a:ext cx="3875568" cy="258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6EA08B7-1886-0843-57BD-189184AFBFA0}"/>
              </a:ext>
            </a:extLst>
          </p:cNvPr>
          <p:cNvSpPr txBox="1"/>
          <p:nvPr/>
        </p:nvSpPr>
        <p:spPr>
          <a:xfrm>
            <a:off x="7832498" y="4593530"/>
            <a:ext cx="18101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</a:rPr>
              <a:t>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111540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F8ED89D0-4503-9DB7-E980-1B563D6F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BC1AD93E-7903-F7A1-2A2E-BE6C1F3E2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4932" y="792796"/>
            <a:ext cx="8540120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Arquivo: conceito e nomenclatura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DD67258B-51DB-2792-E136-AC0ADA0E3D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14510" y="1380548"/>
            <a:ext cx="5385428" cy="335295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Um </a:t>
            </a:r>
            <a:r>
              <a:rPr lang="pt-BR" b="1" dirty="0">
                <a:latin typeface="Poppins" panose="00000500000000000000" pitchFamily="2" charset="0"/>
              </a:rPr>
              <a:t>arquivo</a:t>
            </a:r>
            <a:r>
              <a:rPr lang="pt-BR" dirty="0">
                <a:latin typeface="Poppins" panose="00000500000000000000" pitchFamily="2" charset="0"/>
              </a:rPr>
              <a:t> é qualquer informação salva 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em um dispositivo ou na nuvem, como textos, planilhas, imagens, vídeos ou códigos.</a:t>
            </a:r>
          </a:p>
          <a:p>
            <a:endParaRPr lang="pt-BR" sz="1050" dirty="0">
              <a:latin typeface="Poppins" panose="00000500000000000000" pitchFamily="2" charset="0"/>
            </a:endParaRPr>
          </a:p>
          <a:p>
            <a:r>
              <a:rPr lang="pt-BR" dirty="0"/>
              <a:t>Cada arquivo possui um </a:t>
            </a:r>
            <a:r>
              <a:rPr lang="pt-BR" b="1" dirty="0"/>
              <a:t>nome</a:t>
            </a:r>
            <a:r>
              <a:rPr lang="pt-BR" dirty="0"/>
              <a:t> e uma </a:t>
            </a:r>
            <a:r>
              <a:rPr lang="pt-BR" b="1" dirty="0"/>
              <a:t>extensão</a:t>
            </a:r>
            <a:r>
              <a:rPr lang="pt-BR" dirty="0"/>
              <a:t>, que indicam o </a:t>
            </a:r>
            <a:r>
              <a:rPr lang="pt-BR" b="1" dirty="0"/>
              <a:t>formato do </a:t>
            </a:r>
            <a:br>
              <a:rPr lang="pt-BR" b="1" dirty="0"/>
            </a:br>
            <a:r>
              <a:rPr lang="pt-BR" b="1" dirty="0"/>
              <a:t>arquivo</a:t>
            </a:r>
            <a:r>
              <a:rPr lang="pt-BR" dirty="0"/>
              <a:t> e </a:t>
            </a:r>
            <a:r>
              <a:rPr lang="pt-BR" b="1" dirty="0"/>
              <a:t>quais programas são compatíveis</a:t>
            </a:r>
            <a:r>
              <a:rPr lang="pt-BR" dirty="0"/>
              <a:t> para abri-lo</a:t>
            </a:r>
            <a:r>
              <a:rPr lang="pt-BR" dirty="0">
                <a:latin typeface="Poppins" panose="00000500000000000000" pitchFamily="2" charset="0"/>
              </a:rPr>
              <a:t>.</a:t>
            </a:r>
          </a:p>
          <a:p>
            <a:endParaRPr lang="pt-BR" sz="1100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Exemplos:</a:t>
            </a:r>
          </a:p>
          <a:p>
            <a:pPr marL="285750" indent="-285750">
              <a:buBlip>
                <a:blip r:embed="rId3"/>
              </a:buBlip>
            </a:pPr>
            <a:r>
              <a:rPr lang="pt-BR" b="1" dirty="0">
                <a:latin typeface="Poppins" panose="00000500000000000000" pitchFamily="2" charset="0"/>
              </a:rPr>
              <a:t>Gastos.xlsx </a:t>
            </a:r>
            <a:r>
              <a:rPr lang="pt-BR" dirty="0">
                <a:latin typeface="Poppins" panose="00000500000000000000" pitchFamily="2" charset="0"/>
              </a:rPr>
              <a:t>é uma planilha criada 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no Excel.</a:t>
            </a:r>
          </a:p>
          <a:p>
            <a:pPr marL="285750" indent="-285750">
              <a:buBlip>
                <a:blip r:embed="rId3"/>
              </a:buBlip>
            </a:pPr>
            <a:r>
              <a:rPr lang="pt-BR" b="1" dirty="0">
                <a:latin typeface="Poppins" panose="00000500000000000000" pitchFamily="2" charset="0"/>
              </a:rPr>
              <a:t>Trabalho_Informatica.docx </a:t>
            </a:r>
            <a:r>
              <a:rPr lang="pt-BR" dirty="0">
                <a:latin typeface="Poppins" panose="00000500000000000000" pitchFamily="2" charset="0"/>
              </a:rPr>
              <a:t>é um documento criado no Word.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3B66F6F-7144-DC35-B050-05028E94B291}"/>
              </a:ext>
            </a:extLst>
          </p:cNvPr>
          <p:cNvSpPr txBox="1"/>
          <p:nvPr/>
        </p:nvSpPr>
        <p:spPr>
          <a:xfrm>
            <a:off x="12755593" y="5336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79C9C8-CFDC-64DE-729A-0DBF765468E9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ABCBA8-3E43-7CEA-997A-D31BEA46F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8492839" y="1343287"/>
            <a:ext cx="3169471" cy="332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0ECABD7-6AE0-49E8-9649-5B682EF0C731}"/>
              </a:ext>
            </a:extLst>
          </p:cNvPr>
          <p:cNvSpPr txBox="1"/>
          <p:nvPr/>
        </p:nvSpPr>
        <p:spPr>
          <a:xfrm>
            <a:off x="8390085" y="4741361"/>
            <a:ext cx="1700972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</a:rPr>
              <a:t>© Getty Images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6EC34E0-89C7-A242-C931-A42F8C1D7A99}"/>
              </a:ext>
            </a:extLst>
          </p:cNvPr>
          <p:cNvSpPr txBox="1"/>
          <p:nvPr/>
        </p:nvSpPr>
        <p:spPr>
          <a:xfrm>
            <a:off x="1750916" y="641742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4" name="Google Shape;136;p4">
            <a:extLst>
              <a:ext uri="{FF2B5EF4-FFF2-40B4-BE49-F238E27FC236}">
                <a16:creationId xmlns:a16="http://schemas.microsoft.com/office/drawing/2014/main" id="{7AE60B7A-9BB6-6097-6C78-777C90642A57}"/>
              </a:ext>
            </a:extLst>
          </p:cNvPr>
          <p:cNvSpPr txBox="1"/>
          <p:nvPr/>
        </p:nvSpPr>
        <p:spPr>
          <a:xfrm>
            <a:off x="509611" y="5306686"/>
            <a:ext cx="9134119" cy="877890"/>
          </a:xfrm>
          <a:prstGeom prst="rect">
            <a:avLst/>
          </a:prstGeom>
          <a:solidFill>
            <a:srgbClr val="AAA6D3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defRPr/>
            </a:pPr>
            <a:endParaRPr lang="pt-BR" sz="700" dirty="0">
              <a:latin typeface="Poppins" panose="00000500000000000000" pitchFamily="2" charset="0"/>
              <a:cs typeface="Poppins" pitchFamily="2" charset="77"/>
            </a:endParaRPr>
          </a:p>
          <a:p>
            <a:pPr lvl="0">
              <a:defRPr/>
            </a:pPr>
            <a:r>
              <a:rPr lang="pt-BR" sz="1400" dirty="0">
                <a:latin typeface="Poppins" panose="00000500000000000000" pitchFamily="2" charset="0"/>
                <a:cs typeface="Poppins" pitchFamily="2" charset="77"/>
              </a:rPr>
              <a:t>Saber identificar e nomear corretamente um arquivo é essencial para </a:t>
            </a:r>
            <a:r>
              <a:rPr lang="pt-BR" sz="1400" b="1" dirty="0">
                <a:latin typeface="Poppins" panose="00000500000000000000" pitchFamily="2" charset="0"/>
                <a:cs typeface="Poppins" pitchFamily="2" charset="77"/>
              </a:rPr>
              <a:t>organizar projetos</a:t>
            </a:r>
            <a:r>
              <a:rPr lang="pt-BR" sz="1400" dirty="0">
                <a:latin typeface="Poppins" panose="00000500000000000000" pitchFamily="2" charset="0"/>
                <a:cs typeface="Poppins" pitchFamily="2" charset="77"/>
              </a:rPr>
              <a:t>, </a:t>
            </a:r>
          </a:p>
          <a:p>
            <a:pPr lvl="0">
              <a:defRPr/>
            </a:pPr>
            <a:r>
              <a:rPr lang="pt-BR" sz="1400" b="1" dirty="0">
                <a:latin typeface="Poppins" panose="00000500000000000000" pitchFamily="2" charset="0"/>
                <a:cs typeface="Poppins" pitchFamily="2" charset="77"/>
              </a:rPr>
              <a:t>localizar dados rapidamente</a:t>
            </a:r>
            <a:r>
              <a:rPr lang="pt-BR" sz="1400" dirty="0">
                <a:latin typeface="Poppins" panose="00000500000000000000" pitchFamily="2" charset="0"/>
                <a:cs typeface="Poppins" pitchFamily="2" charset="77"/>
              </a:rPr>
              <a:t> e </a:t>
            </a:r>
            <a:r>
              <a:rPr lang="pt-BR" sz="1400" b="1" dirty="0">
                <a:latin typeface="Poppins" panose="00000500000000000000" pitchFamily="2" charset="0"/>
                <a:cs typeface="Poppins" pitchFamily="2" charset="77"/>
              </a:rPr>
              <a:t>evitar confusões</a:t>
            </a:r>
            <a:r>
              <a:rPr lang="pt-BR" sz="1400" dirty="0">
                <a:latin typeface="Poppins" panose="00000500000000000000" pitchFamily="2" charset="0"/>
                <a:cs typeface="Poppins" pitchFamily="2" charset="77"/>
              </a:rPr>
              <a:t> durante o trabalho em equipe.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EC8B6A6-7824-1A94-7D36-F0024A25B9B4}"/>
              </a:ext>
            </a:extLst>
          </p:cNvPr>
          <p:cNvGrpSpPr/>
          <p:nvPr/>
        </p:nvGrpSpPr>
        <p:grpSpPr>
          <a:xfrm>
            <a:off x="138620" y="4926924"/>
            <a:ext cx="3499948" cy="728133"/>
            <a:chOff x="12496121" y="1426319"/>
            <a:chExt cx="5249922" cy="1092200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ADA007D8-3FB8-2689-9A58-AB067CE26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96121" y="1426319"/>
              <a:ext cx="5207000" cy="1092200"/>
            </a:xfrm>
            <a:prstGeom prst="rect">
              <a:avLst/>
            </a:prstGeom>
          </p:spPr>
        </p:pic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69AB67AF-9CB3-9E3D-4DF3-34A0F35AF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BC8DC59-DCDB-9A3B-59E2-4DA369A73055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722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71AE09FC-AF59-C955-57E5-24E1C124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447824AD-B553-21ED-6403-4BB5C63DAD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80701" y="779542"/>
            <a:ext cx="8540120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Pasta: conceito e função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1406376E-2DB9-E529-FA04-F79ACF9D66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92913" y="2077450"/>
            <a:ext cx="4630631" cy="36714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>
              <a:spcAft>
                <a:spcPts val="600"/>
              </a:spcAft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Uma pasta é o espaço onde os </a:t>
            </a:r>
            <a:r>
              <a:rPr lang="pt-BR" b="1" dirty="0">
                <a:latin typeface="Poppins" panose="00000500000000000000" pitchFamily="2" charset="0"/>
                <a:cs typeface="Poppins" panose="00000500000000000000" pitchFamily="2" charset="0"/>
              </a:rPr>
              <a:t>arquivos são guardados</a:t>
            </a: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. F</a:t>
            </a:r>
            <a:r>
              <a:rPr lang="pt-BR" dirty="0">
                <a:latin typeface="Poppins" panose="00000500000000000000" pitchFamily="2" charset="0"/>
              </a:rPr>
              <a:t>uncionam como gavetas digitais que guardam arquivos e permitem organizá-los.</a:t>
            </a:r>
          </a:p>
          <a:p>
            <a:pPr>
              <a:spcAft>
                <a:spcPts val="600"/>
              </a:spcAft>
            </a:pPr>
            <a:endParaRPr lang="pt-BR"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600"/>
              </a:spcAft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Dentro de uma pasta, é possível criar </a:t>
            </a:r>
            <a:r>
              <a:rPr lang="pt-BR" b="1" dirty="0">
                <a:latin typeface="Poppins" panose="00000500000000000000" pitchFamily="2" charset="0"/>
                <a:cs typeface="Poppins" panose="00000500000000000000" pitchFamily="2" charset="0"/>
              </a:rPr>
              <a:t>subpastas</a:t>
            </a: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, permitindo separar documentos por:</a:t>
            </a:r>
          </a:p>
          <a:p>
            <a:pPr marL="285750" indent="-285750">
              <a:spcAft>
                <a:spcPts val="600"/>
              </a:spcAft>
              <a:buBlip>
                <a:blip r:embed="rId3"/>
              </a:buBlip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data; </a:t>
            </a:r>
          </a:p>
          <a:p>
            <a:pPr marL="285750" indent="-285750">
              <a:spcAft>
                <a:spcPts val="600"/>
              </a:spcAft>
              <a:buBlip>
                <a:blip r:embed="rId3"/>
              </a:buBlip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tema (assunto); </a:t>
            </a:r>
          </a:p>
          <a:p>
            <a:pPr marL="285750" indent="-285750">
              <a:spcAft>
                <a:spcPts val="600"/>
              </a:spcAft>
              <a:buBlip>
                <a:blip r:embed="rId3"/>
              </a:buBlip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projeto.</a:t>
            </a:r>
          </a:p>
          <a:p>
            <a:pPr>
              <a:spcAft>
                <a:spcPts val="600"/>
              </a:spcAft>
            </a:pPr>
            <a:endParaRPr lang="pt-BR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CCB8095-F9B1-B30F-393B-F05B231C92E7}"/>
              </a:ext>
            </a:extLst>
          </p:cNvPr>
          <p:cNvSpPr txBox="1"/>
          <p:nvPr/>
        </p:nvSpPr>
        <p:spPr>
          <a:xfrm>
            <a:off x="12755593" y="5336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E81BCC8-276E-72F0-AA40-4F63EAB3FFD7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331DE78-C804-B6D6-3D44-D77C13E03F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1909F21-BA79-3D00-03EC-1FA3DAF39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8474148" y="1828281"/>
            <a:ext cx="3541711" cy="3541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CFD587D-54AE-2D9D-FD61-5761646ACF78}"/>
              </a:ext>
            </a:extLst>
          </p:cNvPr>
          <p:cNvSpPr txBox="1"/>
          <p:nvPr/>
        </p:nvSpPr>
        <p:spPr>
          <a:xfrm>
            <a:off x="10442043" y="4953632"/>
            <a:ext cx="1749957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</a:rPr>
              <a:t>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1268765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F1304E69-A294-03DE-5BF4-F57F3750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857;p62">
            <a:extLst>
              <a:ext uri="{FF2B5EF4-FFF2-40B4-BE49-F238E27FC236}">
                <a16:creationId xmlns:a16="http://schemas.microsoft.com/office/drawing/2014/main" id="{8336E938-D1DD-6A05-F48F-5D063B12A3BC}"/>
              </a:ext>
            </a:extLst>
          </p:cNvPr>
          <p:cNvSpPr/>
          <p:nvPr/>
        </p:nvSpPr>
        <p:spPr>
          <a:xfrm>
            <a:off x="734145" y="4239925"/>
            <a:ext cx="7288467" cy="1833637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62BA6F80-CA31-F85F-2064-E35DF51ABB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5469" y="775560"/>
            <a:ext cx="8540120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</a:rPr>
              <a:t>Como organizar suas pastas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76E64C-24C8-B554-1701-C29F0963ED37}"/>
              </a:ext>
            </a:extLst>
          </p:cNvPr>
          <p:cNvSpPr txBox="1"/>
          <p:nvPr/>
        </p:nvSpPr>
        <p:spPr>
          <a:xfrm>
            <a:off x="12755593" y="5336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5FB6B8-961D-E32E-4043-20B59A3EDC88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FFFCE0FC-85FC-5F64-D14C-6B1F73775DF3}"/>
              </a:ext>
            </a:extLst>
          </p:cNvPr>
          <p:cNvSpPr txBox="1">
            <a:spLocks/>
          </p:cNvSpPr>
          <p:nvPr/>
        </p:nvSpPr>
        <p:spPr>
          <a:xfrm>
            <a:off x="8411812" y="2136858"/>
            <a:ext cx="3313850" cy="336593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pt-BR" dirty="0">
                <a:latin typeface="Poppins" panose="00000500000000000000" pitchFamily="2" charset="0"/>
              </a:rPr>
              <a:t>📁 Meus Documentos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 📁 Escola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  📁 </a:t>
            </a:r>
            <a:r>
              <a:rPr lang="pt-BR" dirty="0" err="1">
                <a:latin typeface="Poppins" panose="00000500000000000000" pitchFamily="2" charset="0"/>
              </a:rPr>
              <a:t>Matematica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  📁 </a:t>
            </a:r>
            <a:r>
              <a:rPr lang="pt-BR" dirty="0" err="1">
                <a:latin typeface="Poppins" panose="00000500000000000000" pitchFamily="2" charset="0"/>
              </a:rPr>
              <a:t>Informatica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   📁 Atividades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 📁 Fotos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  📁 2024</a:t>
            </a:r>
            <a:br>
              <a:rPr lang="pt-BR" dirty="0">
                <a:latin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</a:rPr>
              <a:t>  📁 2025</a:t>
            </a:r>
            <a:endParaRPr lang="pt-BR" sz="1600" dirty="0">
              <a:latin typeface="Poppins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595C32-E668-3BB3-7E4F-DC9A500CB86F}"/>
              </a:ext>
            </a:extLst>
          </p:cNvPr>
          <p:cNvSpPr txBox="1"/>
          <p:nvPr/>
        </p:nvSpPr>
        <p:spPr>
          <a:xfrm>
            <a:off x="2746231" y="1832147"/>
            <a:ext cx="5054819" cy="26007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Ter uma estrutura organizada de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pastas e subpastas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é essencial para manter o ambiente digital limpo e eficiente. Uma boa hierarquia: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facilita o acesso rápido; 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reduz o risco de perder arquivos importantes;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aumenta a produtividade no dia a dia.</a:t>
            </a:r>
          </a:p>
          <a:p>
            <a:endParaRPr lang="pt-B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CA4F8A-29BE-54AD-1A8B-8F7DCA02103A}"/>
              </a:ext>
            </a:extLst>
          </p:cNvPr>
          <p:cNvSpPr txBox="1"/>
          <p:nvPr/>
        </p:nvSpPr>
        <p:spPr>
          <a:xfrm>
            <a:off x="8935281" y="5617798"/>
            <a:ext cx="252257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Produzido pela SEDUC-SP.</a:t>
            </a:r>
            <a:endParaRPr lang="pt-BR" sz="1100" dirty="0">
              <a:latin typeface="Poppins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540486-3ADC-118F-CE8C-04169F9D4F15}"/>
              </a:ext>
            </a:extLst>
          </p:cNvPr>
          <p:cNvSpPr txBox="1"/>
          <p:nvPr/>
        </p:nvSpPr>
        <p:spPr>
          <a:xfrm>
            <a:off x="8154588" y="1814590"/>
            <a:ext cx="3213691" cy="3222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Exemplo de hierarquia de pastas: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7D99FD6-78B6-63F3-00B2-1DD5F679785F}"/>
              </a:ext>
            </a:extLst>
          </p:cNvPr>
          <p:cNvSpPr txBox="1"/>
          <p:nvPr/>
        </p:nvSpPr>
        <p:spPr>
          <a:xfrm>
            <a:off x="1843032" y="4713591"/>
            <a:ext cx="591701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No trabalho de um cientista de dados, essa organização é ainda mais importante. As planilhas, scripts e relatórios precisam estar separados por 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projetos, etapas e versões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, permitindo que qualquer pessoa da equipe encontre informações facilmente.</a:t>
            </a:r>
          </a:p>
        </p:txBody>
      </p:sp>
      <p:sp>
        <p:nvSpPr>
          <p:cNvPr id="16" name="Google Shape;858;p62">
            <a:extLst>
              <a:ext uri="{FF2B5EF4-FFF2-40B4-BE49-F238E27FC236}">
                <a16:creationId xmlns:a16="http://schemas.microsoft.com/office/drawing/2014/main" id="{616CBA17-E231-21E1-2140-BCD39B9F59C9}"/>
              </a:ext>
            </a:extLst>
          </p:cNvPr>
          <p:cNvSpPr txBox="1"/>
          <p:nvPr/>
        </p:nvSpPr>
        <p:spPr>
          <a:xfrm>
            <a:off x="2035004" y="4314086"/>
            <a:ext cx="1890015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en-US" sz="20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Tome nota</a:t>
            </a:r>
            <a:endParaRPr sz="2000">
              <a:latin typeface="Poppins" panose="00000500000000000000" pitchFamily="2" charset="0"/>
            </a:endParaRPr>
          </a:p>
          <a:p>
            <a:pPr>
              <a:lnSpc>
                <a:spcPct val="107000"/>
              </a:lnSpc>
              <a:spcBef>
                <a:spcPts val="715"/>
              </a:spcBef>
              <a:buSzPts val="2700"/>
            </a:pPr>
            <a:endParaRPr sz="2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" name="Google Shape;859;p62">
            <a:extLst>
              <a:ext uri="{FF2B5EF4-FFF2-40B4-BE49-F238E27FC236}">
                <a16:creationId xmlns:a16="http://schemas.microsoft.com/office/drawing/2014/main" id="{D7FB1C0F-9ACA-6734-6D69-BD5AC1F0CB01}"/>
              </a:ext>
            </a:extLst>
          </p:cNvPr>
          <p:cNvSpPr/>
          <p:nvPr/>
        </p:nvSpPr>
        <p:spPr>
          <a:xfrm>
            <a:off x="899411" y="4186638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B0D6126B-B3C1-0533-E117-278497584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334" y="4362576"/>
            <a:ext cx="548441" cy="50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7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1D4B7FBF-6A50-3FA3-AD9D-C5290C97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52AFA3-1DCD-4EE3-BF2C-4E5F7DD9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079" y="2573361"/>
            <a:ext cx="7763647" cy="3521816"/>
          </a:xfrm>
          <a:prstGeom prst="rect">
            <a:avLst/>
          </a:prstGeom>
        </p:spPr>
      </p:pic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A30463C2-8563-1E94-BE75-E4998C184F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3360" y="777978"/>
            <a:ext cx="8540120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</a:rPr>
              <a:t>Criação de pastas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7F9E57-67AA-16F3-CC33-9E01ED3C1527}"/>
              </a:ext>
            </a:extLst>
          </p:cNvPr>
          <p:cNvSpPr txBox="1"/>
          <p:nvPr/>
        </p:nvSpPr>
        <p:spPr>
          <a:xfrm>
            <a:off x="12755593" y="5336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9804E2-F2C1-940C-35A2-5704B5B928DD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92E273AC-3166-D375-7F45-15B96AF1EE3F}"/>
              </a:ext>
            </a:extLst>
          </p:cNvPr>
          <p:cNvSpPr txBox="1">
            <a:spLocks/>
          </p:cNvSpPr>
          <p:nvPr/>
        </p:nvSpPr>
        <p:spPr>
          <a:xfrm>
            <a:off x="2786424" y="1752135"/>
            <a:ext cx="8331064" cy="9394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>
                <a:latin typeface="Poppins" panose="00000500000000000000" pitchFamily="2" charset="0"/>
              </a:rPr>
              <a:t>É o primeiro passo para manter os arquivos organizados e facilitar a localização de documentos no computador. No Explorador de Arquivos do Windows, é possível fazer isso de forma simples:</a:t>
            </a:r>
          </a:p>
        </p:txBody>
      </p:sp>
      <p:sp>
        <p:nvSpPr>
          <p:cNvPr id="11" name="Google Shape;136;p4">
            <a:extLst>
              <a:ext uri="{FF2B5EF4-FFF2-40B4-BE49-F238E27FC236}">
                <a16:creationId xmlns:a16="http://schemas.microsoft.com/office/drawing/2014/main" id="{D7CB9131-105F-B372-46CE-7C61E01675F8}"/>
              </a:ext>
            </a:extLst>
          </p:cNvPr>
          <p:cNvSpPr txBox="1"/>
          <p:nvPr/>
        </p:nvSpPr>
        <p:spPr>
          <a:xfrm>
            <a:off x="704781" y="3461853"/>
            <a:ext cx="3074951" cy="1401110"/>
          </a:xfrm>
          <a:prstGeom prst="rect">
            <a:avLst/>
          </a:prstGeom>
          <a:solidFill>
            <a:srgbClr val="AAA6D3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spcBef>
                <a:spcPts val="600"/>
              </a:spcBef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Use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nomes curtos e claros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, que indiquem o conteúdo (ex.: “Relatorios_2025” ou “</a:t>
            </a:r>
            <a:r>
              <a:rPr lang="pt-BR" sz="1600" dirty="0" err="1">
                <a:latin typeface="Poppins" panose="00000500000000000000" pitchFamily="2" charset="0"/>
                <a:cs typeface="Poppins" panose="00000500000000000000" pitchFamily="2" charset="0"/>
              </a:rPr>
              <a:t>Planilhas_Dados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”).</a:t>
            </a:r>
            <a:endParaRPr lang="pt-BR" sz="9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B51DBCA-8B11-7E87-3E36-B76F1A884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41" y="3116617"/>
            <a:ext cx="3488267" cy="728133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53A1137B-35AE-7BCC-DEBB-B2F46DC0C6DA}"/>
              </a:ext>
            </a:extLst>
          </p:cNvPr>
          <p:cNvSpPr txBox="1"/>
          <p:nvPr/>
        </p:nvSpPr>
        <p:spPr>
          <a:xfrm>
            <a:off x="1112102" y="3357497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FICA A DICA</a:t>
            </a: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FEBEB1FB-53A4-8990-A15E-AB18D51048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408" y="3212087"/>
            <a:ext cx="499533" cy="4826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3C34F32-0205-4C2A-9D8B-BC21CA456E32}"/>
              </a:ext>
            </a:extLst>
          </p:cNvPr>
          <p:cNvSpPr txBox="1"/>
          <p:nvPr/>
        </p:nvSpPr>
        <p:spPr>
          <a:xfrm>
            <a:off x="4029559" y="5873857"/>
            <a:ext cx="3471621" cy="69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rmAutofit/>
          </a:bodyPr>
          <a:lstStyle/>
          <a:p>
            <a:pPr algn="l"/>
            <a:r>
              <a:rPr lang="pt-BR" sz="1100" b="0" i="0" dirty="0">
                <a:solidFill>
                  <a:srgbClr val="1E1F2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Produzido pela SEDUC-SP.</a:t>
            </a:r>
            <a:endParaRPr lang="pt-BR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197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90F600D2-ACE4-DDA7-2E58-6D64C3D6F64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76777" y="784835"/>
            <a:ext cx="8512278" cy="409905"/>
          </a:xfrm>
          <a:prstGeom prst="rect">
            <a:avLst/>
          </a:prstGeom>
        </p:spPr>
        <p:txBody>
          <a:bodyPr/>
          <a:lstStyle>
            <a:lvl1pPr>
              <a:defRPr sz="4400" b="1"/>
            </a:lvl1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</a:rPr>
              <a:t>Boas práticas de gerenciamento</a:t>
            </a:r>
          </a:p>
          <a:p>
            <a:pPr lvl="0"/>
            <a:endParaRPr lang="pt-BR" sz="3200" dirty="0">
              <a:solidFill>
                <a:srgbClr val="FF161F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Espaço Reservado para Texto 22">
            <a:extLst>
              <a:ext uri="{FF2B5EF4-FFF2-40B4-BE49-F238E27FC236}">
                <a16:creationId xmlns:a16="http://schemas.microsoft.com/office/drawing/2014/main" id="{C97DF3A0-1D2A-ADB3-12FF-23F1A2D9F33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90845" y="1972404"/>
            <a:ext cx="8369195" cy="83962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Manter as pastas organizadas é uma forma simples de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ganhar tempo e evitar retrabalho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 Estas são algumas boas práticas que ajudam a manter o ambiente digital eficiente:</a:t>
            </a:r>
          </a:p>
          <a:p>
            <a:endParaRPr lang="pt-BR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B75F92-D621-B1C9-7D4D-F460B95D7F0F}"/>
              </a:ext>
            </a:extLst>
          </p:cNvPr>
          <p:cNvSpPr txBox="1"/>
          <p:nvPr/>
        </p:nvSpPr>
        <p:spPr>
          <a:xfrm>
            <a:off x="3275270" y="3179837"/>
            <a:ext cx="3037039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Evite nomes genéricos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como “Nova pasta (3)”.</a:t>
            </a: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C4008C-0269-C2BD-3974-BB349EA96145}"/>
              </a:ext>
            </a:extLst>
          </p:cNvPr>
          <p:cNvSpPr txBox="1"/>
          <p:nvPr/>
        </p:nvSpPr>
        <p:spPr>
          <a:xfrm>
            <a:off x="3275270" y="3898713"/>
            <a:ext cx="3381169" cy="12311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Use nomes bem definidos e sem acentos,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substituindo espaços por </a:t>
            </a:r>
            <a:r>
              <a:rPr kumimoji="0" lang="pt-BR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underline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(_) ou letras maiúsculas. Ex: </a:t>
            </a:r>
            <a:r>
              <a:rPr kumimoji="0" lang="pt-B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Trabalho_Dados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ou </a:t>
            </a:r>
            <a:r>
              <a:rPr kumimoji="0" lang="pt-B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FotosEscola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EF26E77-E06A-3E95-0C6D-A88FB32EF3DA}"/>
              </a:ext>
            </a:extLst>
          </p:cNvPr>
          <p:cNvSpPr txBox="1"/>
          <p:nvPr/>
        </p:nvSpPr>
        <p:spPr>
          <a:xfrm>
            <a:off x="3275271" y="5249612"/>
            <a:ext cx="330364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Crie pastas por tema ou data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como: Dados/Atividades_1Bi2025.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8620D25-C716-0CFF-350D-71E0D653177D}"/>
              </a:ext>
            </a:extLst>
          </p:cNvPr>
          <p:cNvSpPr txBox="1"/>
          <p:nvPr/>
        </p:nvSpPr>
        <p:spPr>
          <a:xfrm>
            <a:off x="8072282" y="3096387"/>
            <a:ext cx="3125331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Não salve tudo na área de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kumimoji="0" lang="pt-B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rabalho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,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isso deixa o computador mais lento e confuso.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5A27E5-578B-3FB7-D165-808F911B8DBE}"/>
              </a:ext>
            </a:extLst>
          </p:cNvPr>
          <p:cNvSpPr txBox="1"/>
          <p:nvPr/>
        </p:nvSpPr>
        <p:spPr>
          <a:xfrm>
            <a:off x="8072282" y="4396411"/>
            <a:ext cx="3677265" cy="800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Apague arquivos desnecessários periodicamente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para liberar espaço e manter a organização.</a:t>
            </a:r>
            <a:endParaRPr kumimoji="0" lang="pt-B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Arial"/>
              <a:sym typeface="Arial"/>
            </a:endParaRP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DD8CD5F-0C58-A141-DCB0-1AB84A660A76}"/>
              </a:ext>
            </a:extLst>
          </p:cNvPr>
          <p:cNvGrpSpPr/>
          <p:nvPr/>
        </p:nvGrpSpPr>
        <p:grpSpPr>
          <a:xfrm>
            <a:off x="2696295" y="3148060"/>
            <a:ext cx="600000" cy="600000"/>
            <a:chOff x="2696295" y="3148060"/>
            <a:chExt cx="600000" cy="600000"/>
          </a:xfrm>
        </p:grpSpPr>
        <p:sp>
          <p:nvSpPr>
            <p:cNvPr id="15" name="Google Shape;563;p14">
              <a:extLst>
                <a:ext uri="{FF2B5EF4-FFF2-40B4-BE49-F238E27FC236}">
                  <a16:creationId xmlns:a16="http://schemas.microsoft.com/office/drawing/2014/main" id="{CFD37EA7-4DF0-7104-C05A-8A36BD543ABC}"/>
                </a:ext>
              </a:extLst>
            </p:cNvPr>
            <p:cNvSpPr/>
            <p:nvPr/>
          </p:nvSpPr>
          <p:spPr>
            <a:xfrm>
              <a:off x="2696295" y="3148060"/>
              <a:ext cx="600000" cy="600000"/>
            </a:xfrm>
            <a:prstGeom prst="ellipse">
              <a:avLst/>
            </a:prstGeom>
            <a:solidFill>
              <a:srgbClr val="AAA6D3"/>
            </a:solidFill>
            <a:ln w="25400" cap="flat" cmpd="sng">
              <a:solidFill>
                <a:srgbClr val="AAA6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1800"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8087F081-BE7A-EEE6-2890-8B5A7C071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19971" y="3249056"/>
              <a:ext cx="359888" cy="359888"/>
            </a:xfrm>
            <a:prstGeom prst="rect">
              <a:avLst/>
            </a:prstGeom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CC12424-8F23-B78E-2A20-6585C3FA6BC1}"/>
              </a:ext>
            </a:extLst>
          </p:cNvPr>
          <p:cNvGrpSpPr/>
          <p:nvPr/>
        </p:nvGrpSpPr>
        <p:grpSpPr>
          <a:xfrm>
            <a:off x="2700335" y="4004820"/>
            <a:ext cx="600000" cy="600000"/>
            <a:chOff x="2696295" y="3148060"/>
            <a:chExt cx="600000" cy="600000"/>
          </a:xfrm>
        </p:grpSpPr>
        <p:sp>
          <p:nvSpPr>
            <p:cNvPr id="19" name="Google Shape;563;p14">
              <a:extLst>
                <a:ext uri="{FF2B5EF4-FFF2-40B4-BE49-F238E27FC236}">
                  <a16:creationId xmlns:a16="http://schemas.microsoft.com/office/drawing/2014/main" id="{1FE52C5C-F735-C63D-1589-AED95B442176}"/>
                </a:ext>
              </a:extLst>
            </p:cNvPr>
            <p:cNvSpPr/>
            <p:nvPr/>
          </p:nvSpPr>
          <p:spPr>
            <a:xfrm>
              <a:off x="2696295" y="3148060"/>
              <a:ext cx="600000" cy="600000"/>
            </a:xfrm>
            <a:prstGeom prst="ellipse">
              <a:avLst/>
            </a:prstGeom>
            <a:solidFill>
              <a:srgbClr val="AAA6D3"/>
            </a:solidFill>
            <a:ln w="25400" cap="flat" cmpd="sng">
              <a:solidFill>
                <a:srgbClr val="AAA6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1800"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ráfico 19">
              <a:extLst>
                <a:ext uri="{FF2B5EF4-FFF2-40B4-BE49-F238E27FC236}">
                  <a16:creationId xmlns:a16="http://schemas.microsoft.com/office/drawing/2014/main" id="{FAEDAD4E-62A4-DBAD-C75F-227CAEB5B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19971" y="3249056"/>
              <a:ext cx="359888" cy="359888"/>
            </a:xfrm>
            <a:prstGeom prst="rect">
              <a:avLst/>
            </a:prstGeom>
          </p:spPr>
        </p:pic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1911DA3-FC43-B139-6D5B-A4C0B6F757AE}"/>
              </a:ext>
            </a:extLst>
          </p:cNvPr>
          <p:cNvGrpSpPr/>
          <p:nvPr/>
        </p:nvGrpSpPr>
        <p:grpSpPr>
          <a:xfrm>
            <a:off x="2703955" y="5226611"/>
            <a:ext cx="600000" cy="600000"/>
            <a:chOff x="2696295" y="3148060"/>
            <a:chExt cx="600000" cy="600000"/>
          </a:xfrm>
        </p:grpSpPr>
        <p:sp>
          <p:nvSpPr>
            <p:cNvPr id="22" name="Google Shape;563;p14">
              <a:extLst>
                <a:ext uri="{FF2B5EF4-FFF2-40B4-BE49-F238E27FC236}">
                  <a16:creationId xmlns:a16="http://schemas.microsoft.com/office/drawing/2014/main" id="{D63FB501-CE37-8169-B970-470E6474BB25}"/>
                </a:ext>
              </a:extLst>
            </p:cNvPr>
            <p:cNvSpPr/>
            <p:nvPr/>
          </p:nvSpPr>
          <p:spPr>
            <a:xfrm>
              <a:off x="2696295" y="3148060"/>
              <a:ext cx="600000" cy="600000"/>
            </a:xfrm>
            <a:prstGeom prst="ellipse">
              <a:avLst/>
            </a:prstGeom>
            <a:solidFill>
              <a:srgbClr val="AAA6D3"/>
            </a:solidFill>
            <a:ln w="25400" cap="flat" cmpd="sng">
              <a:solidFill>
                <a:srgbClr val="AAA6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1800"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" name="Gráfico 22">
              <a:extLst>
                <a:ext uri="{FF2B5EF4-FFF2-40B4-BE49-F238E27FC236}">
                  <a16:creationId xmlns:a16="http://schemas.microsoft.com/office/drawing/2014/main" id="{740F28E7-AEEE-67DE-4734-30689A043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19971" y="3249056"/>
              <a:ext cx="359888" cy="359888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8EA9C6B2-333B-37FB-1AF9-10F29C2A93B6}"/>
              </a:ext>
            </a:extLst>
          </p:cNvPr>
          <p:cNvGrpSpPr/>
          <p:nvPr/>
        </p:nvGrpSpPr>
        <p:grpSpPr>
          <a:xfrm>
            <a:off x="7506893" y="3189669"/>
            <a:ext cx="600000" cy="600000"/>
            <a:chOff x="2696295" y="3148060"/>
            <a:chExt cx="600000" cy="600000"/>
          </a:xfrm>
        </p:grpSpPr>
        <p:sp>
          <p:nvSpPr>
            <p:cNvPr id="25" name="Google Shape;563;p14">
              <a:extLst>
                <a:ext uri="{FF2B5EF4-FFF2-40B4-BE49-F238E27FC236}">
                  <a16:creationId xmlns:a16="http://schemas.microsoft.com/office/drawing/2014/main" id="{BF8EC52F-AC90-E2B6-7997-30FDB1246F50}"/>
                </a:ext>
              </a:extLst>
            </p:cNvPr>
            <p:cNvSpPr/>
            <p:nvPr/>
          </p:nvSpPr>
          <p:spPr>
            <a:xfrm>
              <a:off x="2696295" y="3148060"/>
              <a:ext cx="600000" cy="600000"/>
            </a:xfrm>
            <a:prstGeom prst="ellipse">
              <a:avLst/>
            </a:prstGeom>
            <a:solidFill>
              <a:srgbClr val="AAA6D3"/>
            </a:solidFill>
            <a:ln w="25400" cap="flat" cmpd="sng">
              <a:solidFill>
                <a:srgbClr val="AAA6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1800"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8FAB1245-F5DD-95F1-7F0A-6B82D664F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19971" y="3249056"/>
              <a:ext cx="359888" cy="359888"/>
            </a:xfrm>
            <a:prstGeom prst="rect">
              <a:avLst/>
            </a:prstGeom>
          </p:spPr>
        </p:pic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14E0F88A-084A-7A7D-7125-4080AF664872}"/>
              </a:ext>
            </a:extLst>
          </p:cNvPr>
          <p:cNvGrpSpPr/>
          <p:nvPr/>
        </p:nvGrpSpPr>
        <p:grpSpPr>
          <a:xfrm>
            <a:off x="7506893" y="4406243"/>
            <a:ext cx="600000" cy="600000"/>
            <a:chOff x="2696295" y="3148060"/>
            <a:chExt cx="600000" cy="600000"/>
          </a:xfrm>
        </p:grpSpPr>
        <p:sp>
          <p:nvSpPr>
            <p:cNvPr id="32" name="Google Shape;563;p14">
              <a:extLst>
                <a:ext uri="{FF2B5EF4-FFF2-40B4-BE49-F238E27FC236}">
                  <a16:creationId xmlns:a16="http://schemas.microsoft.com/office/drawing/2014/main" id="{5118696A-EBC3-7729-87FE-CA5CD8FF28B6}"/>
                </a:ext>
              </a:extLst>
            </p:cNvPr>
            <p:cNvSpPr/>
            <p:nvPr/>
          </p:nvSpPr>
          <p:spPr>
            <a:xfrm>
              <a:off x="2696295" y="3148060"/>
              <a:ext cx="600000" cy="600000"/>
            </a:xfrm>
            <a:prstGeom prst="ellipse">
              <a:avLst/>
            </a:prstGeom>
            <a:solidFill>
              <a:srgbClr val="AAA6D3"/>
            </a:solidFill>
            <a:ln w="25400" cap="flat" cmpd="sng">
              <a:solidFill>
                <a:srgbClr val="AAA6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1800"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" name="Gráfico 32">
              <a:extLst>
                <a:ext uri="{FF2B5EF4-FFF2-40B4-BE49-F238E27FC236}">
                  <a16:creationId xmlns:a16="http://schemas.microsoft.com/office/drawing/2014/main" id="{B5E83A6C-44D1-B2CF-B3C7-486C28DFF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19971" y="3249056"/>
              <a:ext cx="359888" cy="3598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8273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12674" y="316487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738417" y="315970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31428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280200" y="4399233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</a:rPr>
              <a:t>Impedir que outros usem o computador.</a:t>
            </a: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7026900" y="4400582"/>
            <a:ext cx="281811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</a:rPr>
              <a:t>Ter mais espaço no computador.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3386169" y="3268328"/>
            <a:ext cx="284808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  <a:sym typeface="Poppins"/>
              </a:rPr>
              <a:t>Evitar o uso de senhas e </a:t>
            </a:r>
            <a:r>
              <a:rPr lang="pt-BR" i="1" noProof="0" dirty="0">
                <a:latin typeface="Poppins" panose="00000500000000000000" pitchFamily="2" charset="0"/>
                <a:sym typeface="Poppins"/>
              </a:rPr>
              <a:t>logins</a:t>
            </a:r>
            <a:r>
              <a:rPr lang="pt-BR" noProof="0" dirty="0">
                <a:latin typeface="Poppins" panose="00000500000000000000" pitchFamily="2" charset="0"/>
                <a:sym typeface="Poppins"/>
              </a:rPr>
              <a:t>.</a:t>
            </a: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6887189" y="3263161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</a:rPr>
              <a:t>Facilitar a localização dos arquivos.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0528D7-D388-45FF-8BF7-C06AD02F2641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E6AF24B0-A248-71C3-C03C-F9303785060B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lang="pt-BR" noProof="0" dirty="0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B69C4C47-8BDA-BC4E-4E6A-5DE09A91A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7222916A-2D25-25DB-5ADF-9038E985538B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lang="pt-BR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lang="pt-BR" sz="1333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3DD07AD-3BD0-5FA3-C078-0BCCB0061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78224" y="859004"/>
            <a:ext cx="7039811" cy="1556971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noProof="0" dirty="0">
                <a:latin typeface="Poppins" panose="00000500000000000000" pitchFamily="2" charset="0"/>
              </a:rPr>
              <a:t>Qual é a principal vantagem de manter uma boa hierarquia de pastas e arquivos?</a:t>
            </a:r>
          </a:p>
        </p:txBody>
      </p:sp>
    </p:spTree>
    <p:extLst>
      <p:ext uri="{BB962C8B-B14F-4D97-AF65-F5344CB8AC3E}">
        <p14:creationId xmlns:p14="http://schemas.microsoft.com/office/powerpoint/2010/main" val="895365708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Shape 867">
          <a:extLst>
            <a:ext uri="{FF2B5EF4-FFF2-40B4-BE49-F238E27FC236}">
              <a16:creationId xmlns:a16="http://schemas.microsoft.com/office/drawing/2014/main" id="{64020CD9-8A8E-741E-943C-19E2D1D7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05584497-5262-4B58-AB78-B916826355EB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62832897-912B-F488-2E8C-AE3CA772F0C6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lang="pt-BR" noProof="0" dirty="0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770271E6-A5BF-0960-4D77-412EF0730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C83F266A-10EF-2B8B-1A81-B839EED0BEED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lang="pt-BR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lang="pt-BR" sz="1333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2" name="Google Shape;1434;p98">
            <a:extLst>
              <a:ext uri="{FF2B5EF4-FFF2-40B4-BE49-F238E27FC236}">
                <a16:creationId xmlns:a16="http://schemas.microsoft.com/office/drawing/2014/main" id="{0904D54D-1BE3-0E54-EB47-111BA8E36152}"/>
              </a:ext>
            </a:extLst>
          </p:cNvPr>
          <p:cNvSpPr/>
          <p:nvPr/>
        </p:nvSpPr>
        <p:spPr>
          <a:xfrm>
            <a:off x="2467997" y="3429000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5;p98">
            <a:extLst>
              <a:ext uri="{FF2B5EF4-FFF2-40B4-BE49-F238E27FC236}">
                <a16:creationId xmlns:a16="http://schemas.microsoft.com/office/drawing/2014/main" id="{CB4A2F83-C9BD-1F05-0136-A360E08D2290}"/>
              </a:ext>
            </a:extLst>
          </p:cNvPr>
          <p:cNvSpPr/>
          <p:nvPr/>
        </p:nvSpPr>
        <p:spPr>
          <a:xfrm>
            <a:off x="2421579" y="441603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37;p98">
            <a:extLst>
              <a:ext uri="{FF2B5EF4-FFF2-40B4-BE49-F238E27FC236}">
                <a16:creationId xmlns:a16="http://schemas.microsoft.com/office/drawing/2014/main" id="{8CCB5BC5-BF92-3DEF-B694-371A9FEE2F7F}"/>
              </a:ext>
            </a:extLst>
          </p:cNvPr>
          <p:cNvSpPr/>
          <p:nvPr/>
        </p:nvSpPr>
        <p:spPr>
          <a:xfrm rot="-3043640">
            <a:off x="10412540" y="3408491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6;p98">
            <a:extLst>
              <a:ext uri="{FF2B5EF4-FFF2-40B4-BE49-F238E27FC236}">
                <a16:creationId xmlns:a16="http://schemas.microsoft.com/office/drawing/2014/main" id="{E53947A7-F8E7-BA44-F329-AF20B8FAD316}"/>
              </a:ext>
            </a:extLst>
          </p:cNvPr>
          <p:cNvSpPr/>
          <p:nvPr/>
        </p:nvSpPr>
        <p:spPr>
          <a:xfrm>
            <a:off x="10315598" y="442267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8DE6EB98-495D-4F86-A50B-FB7B181B6E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78224" y="859004"/>
            <a:ext cx="7039811" cy="1556971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noProof="0" dirty="0">
                <a:latin typeface="Poppins" panose="00000500000000000000" pitchFamily="2" charset="0"/>
              </a:rPr>
              <a:t>Qual é a principal vantagem de manter uma boa hierarquia de pastas e arquivos?</a:t>
            </a:r>
          </a:p>
        </p:txBody>
      </p:sp>
      <p:sp>
        <p:nvSpPr>
          <p:cNvPr id="22" name="Google Shape;849;p64">
            <a:extLst>
              <a:ext uri="{FF2B5EF4-FFF2-40B4-BE49-F238E27FC236}">
                <a16:creationId xmlns:a16="http://schemas.microsoft.com/office/drawing/2014/main" id="{39478052-7C91-4C84-8799-6D5495ED8279}"/>
              </a:ext>
            </a:extLst>
          </p:cNvPr>
          <p:cNvSpPr/>
          <p:nvPr/>
        </p:nvSpPr>
        <p:spPr>
          <a:xfrm>
            <a:off x="3112674" y="316487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0;p64">
            <a:extLst>
              <a:ext uri="{FF2B5EF4-FFF2-40B4-BE49-F238E27FC236}">
                <a16:creationId xmlns:a16="http://schemas.microsoft.com/office/drawing/2014/main" id="{2111A19E-4CFD-4904-B650-CD053D0C4695}"/>
              </a:ext>
            </a:extLst>
          </p:cNvPr>
          <p:cNvSpPr/>
          <p:nvPr/>
        </p:nvSpPr>
        <p:spPr>
          <a:xfrm>
            <a:off x="6738417" y="315970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</a:pPr>
            <a:endParaRPr lang="pt-BR" sz="1200" dirty="0">
              <a:latin typeface="Calibri"/>
              <a:cs typeface="Calibri"/>
              <a:sym typeface="Calibri"/>
            </a:endParaRPr>
          </a:p>
        </p:txBody>
      </p:sp>
      <p:sp>
        <p:nvSpPr>
          <p:cNvPr id="24" name="Google Shape;851;p64">
            <a:extLst>
              <a:ext uri="{FF2B5EF4-FFF2-40B4-BE49-F238E27FC236}">
                <a16:creationId xmlns:a16="http://schemas.microsoft.com/office/drawing/2014/main" id="{AA773205-4365-4D27-91A5-9D37B8B2BF11}"/>
              </a:ext>
            </a:extLst>
          </p:cNvPr>
          <p:cNvSpPr/>
          <p:nvPr/>
        </p:nvSpPr>
        <p:spPr>
          <a:xfrm>
            <a:off x="3131428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52;p64">
            <a:extLst>
              <a:ext uri="{FF2B5EF4-FFF2-40B4-BE49-F238E27FC236}">
                <a16:creationId xmlns:a16="http://schemas.microsoft.com/office/drawing/2014/main" id="{9270B27C-51CA-45A2-A941-B687F929BFC5}"/>
              </a:ext>
            </a:extLst>
          </p:cNvPr>
          <p:cNvSpPr txBox="1"/>
          <p:nvPr/>
        </p:nvSpPr>
        <p:spPr>
          <a:xfrm>
            <a:off x="3280200" y="4399233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</a:rPr>
              <a:t>Impedir que outros usem o computador.</a:t>
            </a:r>
          </a:p>
        </p:txBody>
      </p:sp>
      <p:sp>
        <p:nvSpPr>
          <p:cNvPr id="26" name="Google Shape;853;p64">
            <a:extLst>
              <a:ext uri="{FF2B5EF4-FFF2-40B4-BE49-F238E27FC236}">
                <a16:creationId xmlns:a16="http://schemas.microsoft.com/office/drawing/2014/main" id="{76040816-2FA7-43BA-BA6D-5770A4217A6D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854;p64">
            <a:extLst>
              <a:ext uri="{FF2B5EF4-FFF2-40B4-BE49-F238E27FC236}">
                <a16:creationId xmlns:a16="http://schemas.microsoft.com/office/drawing/2014/main" id="{07A67D92-9431-48AF-97C6-AE0FCEA57B7F}"/>
              </a:ext>
            </a:extLst>
          </p:cNvPr>
          <p:cNvSpPr txBox="1"/>
          <p:nvPr/>
        </p:nvSpPr>
        <p:spPr>
          <a:xfrm>
            <a:off x="7026900" y="4400582"/>
            <a:ext cx="281811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</a:rPr>
              <a:t>Ter mais espaço no computador.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8" name="Google Shape;855;p64">
            <a:extLst>
              <a:ext uri="{FF2B5EF4-FFF2-40B4-BE49-F238E27FC236}">
                <a16:creationId xmlns:a16="http://schemas.microsoft.com/office/drawing/2014/main" id="{59EFB2BA-D143-43C4-AD13-174F0341EDB6}"/>
              </a:ext>
            </a:extLst>
          </p:cNvPr>
          <p:cNvSpPr txBox="1"/>
          <p:nvPr/>
        </p:nvSpPr>
        <p:spPr>
          <a:xfrm>
            <a:off x="3386169" y="3268328"/>
            <a:ext cx="284808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  <a:sym typeface="Poppins"/>
              </a:rPr>
              <a:t>Evitar o uso de senhas e </a:t>
            </a:r>
            <a:r>
              <a:rPr lang="pt-BR" i="1" noProof="0" dirty="0">
                <a:latin typeface="Poppins" panose="00000500000000000000" pitchFamily="2" charset="0"/>
                <a:sym typeface="Poppins"/>
              </a:rPr>
              <a:t>logins</a:t>
            </a:r>
            <a:r>
              <a:rPr lang="pt-BR" noProof="0" dirty="0">
                <a:latin typeface="Poppins" panose="00000500000000000000" pitchFamily="2" charset="0"/>
                <a:sym typeface="Poppins"/>
              </a:rPr>
              <a:t>.</a:t>
            </a:r>
          </a:p>
        </p:txBody>
      </p:sp>
      <p:sp>
        <p:nvSpPr>
          <p:cNvPr id="29" name="Google Shape;856;p64">
            <a:extLst>
              <a:ext uri="{FF2B5EF4-FFF2-40B4-BE49-F238E27FC236}">
                <a16:creationId xmlns:a16="http://schemas.microsoft.com/office/drawing/2014/main" id="{2B3F793D-36EF-439A-8BD2-56DE810791C3}"/>
              </a:ext>
            </a:extLst>
          </p:cNvPr>
          <p:cNvSpPr txBox="1"/>
          <p:nvPr/>
        </p:nvSpPr>
        <p:spPr>
          <a:xfrm>
            <a:off x="6887189" y="3263161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</a:rPr>
              <a:t>Facilitar a localização dos arquivos.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7346268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7D129-4B1F-BF60-B7E0-A7C4C06B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610;p16">
            <a:extLst>
              <a:ext uri="{FF2B5EF4-FFF2-40B4-BE49-F238E27FC236}">
                <a16:creationId xmlns:a16="http://schemas.microsoft.com/office/drawing/2014/main" id="{2042CB03-74DA-A118-8DF5-6AFD3E6E4D25}"/>
              </a:ext>
            </a:extLst>
          </p:cNvPr>
          <p:cNvSpPr/>
          <p:nvPr/>
        </p:nvSpPr>
        <p:spPr>
          <a:xfrm rot="10800000" flipH="1">
            <a:off x="2744002" y="3807038"/>
            <a:ext cx="8211173" cy="2185213"/>
          </a:xfrm>
          <a:prstGeom prst="foldedCorner">
            <a:avLst>
              <a:gd name="adj" fmla="val 16667"/>
            </a:avLst>
          </a:pr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 lang="pt-BR" noProof="0" dirty="0">
              <a:solidFill>
                <a:schemeClr val="lt1"/>
              </a:solidFill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CEE4D74-A6EE-24E2-807B-7F87F4B60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4002" y="1544393"/>
            <a:ext cx="8584798" cy="237598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sz="1600" noProof="0" dirty="0">
                <a:latin typeface="Poppins" panose="00000500000000000000" pitchFamily="2" charset="0"/>
              </a:rPr>
              <a:t>Você percebeu que seus trabalhos, exercícios e anotações estão espalhados em várias pastas e lugares diferentes no computador: área de trabalho, downloads, pen drive, Google Drive, WhatsApp etc. Quando precisa achar algo importante, como um exercício ou um relatório de atividades, perde tempo procurando. </a:t>
            </a:r>
            <a:r>
              <a:rPr lang="pt-BR" sz="1600" dirty="0">
                <a:latin typeface="Poppins" panose="00000500000000000000" pitchFamily="2" charset="0"/>
              </a:rPr>
              <a:t>Sua missão, agora, é </a:t>
            </a:r>
            <a:r>
              <a:rPr lang="pt-BR" sz="1600" b="1" dirty="0">
                <a:latin typeface="Poppins" panose="00000500000000000000" pitchFamily="2" charset="0"/>
              </a:rPr>
              <a:t>criar uma estrutura de pastas no computador para organizar sua vida escolar</a:t>
            </a:r>
            <a:r>
              <a:rPr lang="pt-BR" sz="1600" dirty="0">
                <a:latin typeface="Poppins" panose="00000500000000000000" pitchFamily="2" charset="0"/>
              </a:rPr>
              <a:t>, separando os arquivos por </a:t>
            </a:r>
            <a:r>
              <a:rPr lang="pt-BR" sz="1600" b="1" dirty="0">
                <a:latin typeface="Poppins" panose="00000500000000000000" pitchFamily="2" charset="0"/>
              </a:rPr>
              <a:t>disciplinas e tipos de atividades</a:t>
            </a:r>
            <a:r>
              <a:rPr lang="pt-BR" sz="1600" dirty="0">
                <a:latin typeface="Poppins" panose="00000500000000000000" pitchFamily="2" charset="0"/>
              </a:rPr>
              <a:t>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sz="1600" dirty="0">
                <a:latin typeface="Poppins" panose="00000500000000000000" pitchFamily="2" charset="0"/>
              </a:rPr>
              <a:t>Essa prática vai te ajudar a ser mais rápido, produtivo e responsável no uso das tecnologias, competência essencial tanto na escola quanto no trabalho.</a:t>
            </a:r>
            <a:endParaRPr lang="pt-BR" sz="1600" noProof="0" dirty="0">
              <a:latin typeface="Poppins" panose="00000500000000000000" pitchFamily="2" charset="0"/>
            </a:endParaRPr>
          </a:p>
          <a:p>
            <a:pPr marL="0" indent="0">
              <a:spcBef>
                <a:spcPts val="347"/>
              </a:spcBef>
              <a:buSzPts val="2600"/>
            </a:pPr>
            <a:endParaRPr lang="pt-BR" sz="2000" noProof="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930B8-7EAF-B929-C808-091CF7DD00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87025" y="733914"/>
            <a:ext cx="8003356" cy="499075"/>
          </a:xfrm>
        </p:spPr>
        <p:txBody>
          <a:bodyPr>
            <a:noAutofit/>
          </a:bodyPr>
          <a:lstStyle/>
          <a:p>
            <a:pPr marL="0" indent="0"/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</a:rPr>
              <a:t>Organização  digital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B6FBBD7-3A05-A495-47FC-F49EA04759CD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894843" y="4777949"/>
            <a:ext cx="1359095" cy="274027"/>
          </a:xfrm>
        </p:spPr>
        <p:txBody>
          <a:bodyPr/>
          <a:lstStyle/>
          <a:p>
            <a:r>
              <a:rPr lang="pt-BR" sz="1100" noProof="0" dirty="0">
                <a:latin typeface="Poppins" panose="00000500000000000000" pitchFamily="2" charset="0"/>
              </a:rPr>
              <a:t>17 minutos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610CBE9-19A8-BDB1-4F16-2E0BB2EF0BC8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882213" y="5217603"/>
            <a:ext cx="1337355" cy="274027"/>
          </a:xfrm>
        </p:spPr>
        <p:txBody>
          <a:bodyPr/>
          <a:lstStyle/>
          <a:p>
            <a:r>
              <a:rPr lang="pt-BR" sz="1100" noProof="0" dirty="0">
                <a:latin typeface="Poppins" panose="00000500000000000000" pitchFamily="2" charset="0"/>
              </a:rPr>
              <a:t>Em duplas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292848E-ADF4-6EC6-BD57-E3CDEAE1017E}"/>
              </a:ext>
            </a:extLst>
          </p:cNvPr>
          <p:cNvSpPr txBox="1"/>
          <p:nvPr/>
        </p:nvSpPr>
        <p:spPr>
          <a:xfrm>
            <a:off x="10353207" y="288810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grpSp>
        <p:nvGrpSpPr>
          <p:cNvPr id="5" name="Google Shape;474;p35">
            <a:extLst>
              <a:ext uri="{FF2B5EF4-FFF2-40B4-BE49-F238E27FC236}">
                <a16:creationId xmlns:a16="http://schemas.microsoft.com/office/drawing/2014/main" id="{A7373A87-6F75-072B-1835-9401C4DE7824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6" name="Google Shape;475;p35">
              <a:extLst>
                <a:ext uri="{FF2B5EF4-FFF2-40B4-BE49-F238E27FC236}">
                  <a16:creationId xmlns:a16="http://schemas.microsoft.com/office/drawing/2014/main" id="{A878A17F-5781-B0B9-F48B-7CF34D531C3F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575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476;p35">
              <a:extLst>
                <a:ext uri="{FF2B5EF4-FFF2-40B4-BE49-F238E27FC236}">
                  <a16:creationId xmlns:a16="http://schemas.microsoft.com/office/drawing/2014/main" id="{37EE73A3-AC9C-0570-3C55-B010DDC8FD57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28575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477;p35">
              <a:extLst>
                <a:ext uri="{FF2B5EF4-FFF2-40B4-BE49-F238E27FC236}">
                  <a16:creationId xmlns:a16="http://schemas.microsoft.com/office/drawing/2014/main" id="{ED5E6B79-DB42-D97B-CC5B-6E4F5AF667D7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28575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478;p35">
              <a:extLst>
                <a:ext uri="{FF2B5EF4-FFF2-40B4-BE49-F238E27FC236}">
                  <a16:creationId xmlns:a16="http://schemas.microsoft.com/office/drawing/2014/main" id="{6B7D342A-D575-C435-8398-FC7ACAAD28F2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28575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" name="Google Shape;479;p35">
              <a:extLst>
                <a:ext uri="{FF2B5EF4-FFF2-40B4-BE49-F238E27FC236}">
                  <a16:creationId xmlns:a16="http://schemas.microsoft.com/office/drawing/2014/main" id="{7110B879-09CD-7D82-D857-D525EF4CF1C5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13" name="Google Shape;480;p35">
                <a:extLst>
                  <a:ext uri="{FF2B5EF4-FFF2-40B4-BE49-F238E27FC236}">
                    <a16:creationId xmlns:a16="http://schemas.microsoft.com/office/drawing/2014/main" id="{16D37CFC-A0F0-CAFB-53A8-E892E38DB9FF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481;p35">
                <a:extLst>
                  <a:ext uri="{FF2B5EF4-FFF2-40B4-BE49-F238E27FC236}">
                    <a16:creationId xmlns:a16="http://schemas.microsoft.com/office/drawing/2014/main" id="{B9B037DA-A1D1-2038-F04A-27469CD412D6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82;p35">
                <a:extLst>
                  <a:ext uri="{FF2B5EF4-FFF2-40B4-BE49-F238E27FC236}">
                    <a16:creationId xmlns:a16="http://schemas.microsoft.com/office/drawing/2014/main" id="{ECCC5350-4A1C-6F36-520B-6528338A730C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483;p35">
                <a:extLst>
                  <a:ext uri="{FF2B5EF4-FFF2-40B4-BE49-F238E27FC236}">
                    <a16:creationId xmlns:a16="http://schemas.microsoft.com/office/drawing/2014/main" id="{5D4CCDFF-FEED-C577-8D61-AFE6D113BA7B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84;p35">
                <a:extLst>
                  <a:ext uri="{FF2B5EF4-FFF2-40B4-BE49-F238E27FC236}">
                    <a16:creationId xmlns:a16="http://schemas.microsoft.com/office/drawing/2014/main" id="{B05B2A9D-6057-82E4-5469-D078250CD3CB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485;p35">
                <a:extLst>
                  <a:ext uri="{FF2B5EF4-FFF2-40B4-BE49-F238E27FC236}">
                    <a16:creationId xmlns:a16="http://schemas.microsoft.com/office/drawing/2014/main" id="{806C1D38-29D0-615B-DD85-C78CAFD6E540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86;p35">
                <a:extLst>
                  <a:ext uri="{FF2B5EF4-FFF2-40B4-BE49-F238E27FC236}">
                    <a16:creationId xmlns:a16="http://schemas.microsoft.com/office/drawing/2014/main" id="{A0F7CCEA-9ACD-993E-1B2B-FFDAAE073F7E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487;p35">
                <a:extLst>
                  <a:ext uri="{FF2B5EF4-FFF2-40B4-BE49-F238E27FC236}">
                    <a16:creationId xmlns:a16="http://schemas.microsoft.com/office/drawing/2014/main" id="{FF725B6F-C22E-CB10-F689-C1921786AFF6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488;p35">
                <a:extLst>
                  <a:ext uri="{FF2B5EF4-FFF2-40B4-BE49-F238E27FC236}">
                    <a16:creationId xmlns:a16="http://schemas.microsoft.com/office/drawing/2014/main" id="{366F603E-79E5-D42F-7433-0A0BDE09A824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489;p35">
                <a:extLst>
                  <a:ext uri="{FF2B5EF4-FFF2-40B4-BE49-F238E27FC236}">
                    <a16:creationId xmlns:a16="http://schemas.microsoft.com/office/drawing/2014/main" id="{1BF8C0DD-6338-FBE2-3C08-1E6D4BC240BD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" name="Google Shape;490;p35">
            <a:extLst>
              <a:ext uri="{FF2B5EF4-FFF2-40B4-BE49-F238E27FC236}">
                <a16:creationId xmlns:a16="http://schemas.microsoft.com/office/drawing/2014/main" id="{BACFE871-8E3A-BB0E-54AB-CA91C51EA58A}"/>
              </a:ext>
            </a:extLst>
          </p:cNvPr>
          <p:cNvGrpSpPr/>
          <p:nvPr/>
        </p:nvGrpSpPr>
        <p:grpSpPr>
          <a:xfrm>
            <a:off x="454351" y="5173639"/>
            <a:ext cx="304639" cy="301465"/>
            <a:chOff x="6941066" y="2777637"/>
            <a:chExt cx="456958" cy="452197"/>
          </a:xfrm>
          <a:noFill/>
        </p:grpSpPr>
        <p:grpSp>
          <p:nvGrpSpPr>
            <p:cNvPr id="24" name="Google Shape;491;p35">
              <a:extLst>
                <a:ext uri="{FF2B5EF4-FFF2-40B4-BE49-F238E27FC236}">
                  <a16:creationId xmlns:a16="http://schemas.microsoft.com/office/drawing/2014/main" id="{F7B9646E-28AE-8435-55DC-B5E8A0B61227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35" name="Google Shape;492;p35">
                <a:extLst>
                  <a:ext uri="{FF2B5EF4-FFF2-40B4-BE49-F238E27FC236}">
                    <a16:creationId xmlns:a16="http://schemas.microsoft.com/office/drawing/2014/main" id="{304E2FD4-6F7D-6C5D-8B4B-F97D7232F79B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493;p35">
                <a:extLst>
                  <a:ext uri="{FF2B5EF4-FFF2-40B4-BE49-F238E27FC236}">
                    <a16:creationId xmlns:a16="http://schemas.microsoft.com/office/drawing/2014/main" id="{F25439B3-F70E-0D35-833C-726FD0F63611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494;p35">
              <a:extLst>
                <a:ext uri="{FF2B5EF4-FFF2-40B4-BE49-F238E27FC236}">
                  <a16:creationId xmlns:a16="http://schemas.microsoft.com/office/drawing/2014/main" id="{B0814A3C-BE3D-8804-8B34-E53AE54324CD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33" name="Google Shape;495;p35">
                <a:extLst>
                  <a:ext uri="{FF2B5EF4-FFF2-40B4-BE49-F238E27FC236}">
                    <a16:creationId xmlns:a16="http://schemas.microsoft.com/office/drawing/2014/main" id="{E823DAFD-FC0A-8F88-163F-3BDA31332A87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496;p35">
                <a:extLst>
                  <a:ext uri="{FF2B5EF4-FFF2-40B4-BE49-F238E27FC236}">
                    <a16:creationId xmlns:a16="http://schemas.microsoft.com/office/drawing/2014/main" id="{DC230631-B1E0-1EDE-3DCF-C3BE89673594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" name="Google Shape;497;p35">
              <a:extLst>
                <a:ext uri="{FF2B5EF4-FFF2-40B4-BE49-F238E27FC236}">
                  <a16:creationId xmlns:a16="http://schemas.microsoft.com/office/drawing/2014/main" id="{0420D324-87DA-6CA2-C849-47E9BBEBC6F5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30" name="Google Shape;498;p35">
                <a:extLst>
                  <a:ext uri="{FF2B5EF4-FFF2-40B4-BE49-F238E27FC236}">
                    <a16:creationId xmlns:a16="http://schemas.microsoft.com/office/drawing/2014/main" id="{E028314D-F740-3A21-742B-7E461FC99D22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99;p35">
                <a:extLst>
                  <a:ext uri="{FF2B5EF4-FFF2-40B4-BE49-F238E27FC236}">
                    <a16:creationId xmlns:a16="http://schemas.microsoft.com/office/drawing/2014/main" id="{3CE237C1-2264-D2D6-C520-8514DAB08C00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00;p35">
                <a:extLst>
                  <a:ext uri="{FF2B5EF4-FFF2-40B4-BE49-F238E27FC236}">
                    <a16:creationId xmlns:a16="http://schemas.microsoft.com/office/drawing/2014/main" id="{D5AA9A63-BEEB-E7B9-B98A-BF8ABBC4BB77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" name="Google Shape;501;p35">
              <a:extLst>
                <a:ext uri="{FF2B5EF4-FFF2-40B4-BE49-F238E27FC236}">
                  <a16:creationId xmlns:a16="http://schemas.microsoft.com/office/drawing/2014/main" id="{004AF4DD-7507-AE2E-2B78-628A27ADD7D5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28" name="Google Shape;502;p35">
                <a:extLst>
                  <a:ext uri="{FF2B5EF4-FFF2-40B4-BE49-F238E27FC236}">
                    <a16:creationId xmlns:a16="http://schemas.microsoft.com/office/drawing/2014/main" id="{795CF1DD-D942-1218-E942-31F29D642C41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03;p35">
                <a:extLst>
                  <a:ext uri="{FF2B5EF4-FFF2-40B4-BE49-F238E27FC236}">
                    <a16:creationId xmlns:a16="http://schemas.microsoft.com/office/drawing/2014/main" id="{00E37E3D-BC9F-14CE-E5AF-DD977B442122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lang="pt-BR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0AB0A022-7815-4BA5-B27E-73F816EDBDDB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37" name="Google Shape;812;p61">
              <a:extLst>
                <a:ext uri="{FF2B5EF4-FFF2-40B4-BE49-F238E27FC236}">
                  <a16:creationId xmlns:a16="http://schemas.microsoft.com/office/drawing/2014/main" id="{3761F729-A6AB-819C-790D-DB861F2C83DA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lang="pt-BR" noProof="0" dirty="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D394935F-2D61-8296-6BD2-FC377AF55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39" name="Google Shape;833;p62">
              <a:extLst>
                <a:ext uri="{FF2B5EF4-FFF2-40B4-BE49-F238E27FC236}">
                  <a16:creationId xmlns:a16="http://schemas.microsoft.com/office/drawing/2014/main" id="{5A3DE5EE-D1CF-0CCA-E190-A0B97B6EDC84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lang="pt-BR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lang="pt-BR" sz="1333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40" name="Rectangle 1">
            <a:extLst>
              <a:ext uri="{FF2B5EF4-FFF2-40B4-BE49-F238E27FC236}">
                <a16:creationId xmlns:a16="http://schemas.microsoft.com/office/drawing/2014/main" id="{5BBCE352-3F15-6942-8285-90E650DB18E6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2770636" y="3807038"/>
            <a:ext cx="8211173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/>
            <a:r>
              <a:rPr lang="pt-BR" sz="14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Tarefa:</a:t>
            </a:r>
          </a:p>
          <a:p>
            <a:pPr marL="342900" indent="-342900"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Em duplas, criem uma </a:t>
            </a:r>
            <a:r>
              <a:rPr lang="pt-BR" sz="14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hierarquia de pastas</a:t>
            </a:r>
            <a:r>
              <a:rPr lang="pt-BR" sz="14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 que tenha </a:t>
            </a:r>
            <a:r>
              <a:rPr lang="pt-BR" sz="1400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uma pasta principal chamada Vida_Escolar e dentro dela, as subpastas: </a:t>
            </a:r>
            <a:r>
              <a:rPr lang="pt-BR" sz="1400" noProof="0" dirty="0" err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Portugu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e</a:t>
            </a:r>
            <a:r>
              <a:rPr lang="pt-BR" sz="1400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s, Matem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a</a:t>
            </a:r>
            <a:r>
              <a:rPr lang="pt-BR" sz="1400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tica e </a:t>
            </a:r>
            <a:r>
              <a:rPr lang="pt-BR" sz="1400" noProof="0" dirty="0" err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Inform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a</a:t>
            </a:r>
            <a:r>
              <a:rPr lang="pt-BR" sz="1400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tica. Dentro de cada disciplina, criar as subpastas: Estudos, Atividades e </a:t>
            </a:r>
            <a:r>
              <a:rPr lang="pt-BR" sz="1400" noProof="0" dirty="0" err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Exerc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i</a:t>
            </a:r>
            <a:r>
              <a:rPr lang="pt-BR" sz="1400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cios. </a:t>
            </a:r>
          </a:p>
          <a:p>
            <a:pPr marL="342900" indent="-342900"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Na pasta </a:t>
            </a:r>
            <a:r>
              <a:rPr lang="pt-BR" sz="1400" dirty="0" err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Informatica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 &gt; </a:t>
            </a:r>
            <a:r>
              <a:rPr lang="pt-BR" sz="1400" dirty="0" err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Exercicios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, criem um arquivo chamado </a:t>
            </a:r>
            <a:r>
              <a:rPr lang="pt-BR" sz="14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Gerenciamento_Arquivos.txt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.</a:t>
            </a:r>
          </a:p>
          <a:p>
            <a:pPr marL="342900" indent="-342900"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Façam uma captura de tela (</a:t>
            </a:r>
            <a:r>
              <a:rPr lang="pt-BR" sz="1400" i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print</a:t>
            </a:r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) da estrutura completa de pastas criada e envie no AVA para o professor.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1D93758-C98B-D668-0E3A-65C81177C7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351" y="5677187"/>
            <a:ext cx="311258" cy="271706"/>
          </a:xfrm>
          <a:prstGeom prst="rect">
            <a:avLst/>
          </a:prstGeom>
        </p:spPr>
      </p:pic>
      <p:sp>
        <p:nvSpPr>
          <p:cNvPr id="41" name="Google Shape;4522;p66">
            <a:extLst>
              <a:ext uri="{FF2B5EF4-FFF2-40B4-BE49-F238E27FC236}">
                <a16:creationId xmlns:a16="http://schemas.microsoft.com/office/drawing/2014/main" id="{C7F1BC33-AA7F-2EF2-41CC-D09DA4182D9A}"/>
              </a:ext>
            </a:extLst>
          </p:cNvPr>
          <p:cNvSpPr txBox="1"/>
          <p:nvPr/>
        </p:nvSpPr>
        <p:spPr>
          <a:xfrm>
            <a:off x="881715" y="5657257"/>
            <a:ext cx="1372223" cy="369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</a:pPr>
            <a:r>
              <a:rPr lang="pt-BR" sz="1100" b="1" dirty="0">
                <a:latin typeface="Poppins" panose="00000500000000000000" pitchFamily="2" charset="0"/>
                <a:cs typeface="Poppins"/>
                <a:sym typeface="Poppins"/>
              </a:rPr>
              <a:t>Documento com a captura da tela </a:t>
            </a:r>
            <a:endParaRPr sz="1100" dirty="0">
              <a:latin typeface="Poppins" panose="00000500000000000000" pitchFamily="2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2821136-FB08-1D6E-7673-299882E4B31C}"/>
              </a:ext>
            </a:extLst>
          </p:cNvPr>
          <p:cNvSpPr txBox="1"/>
          <p:nvPr/>
        </p:nvSpPr>
        <p:spPr>
          <a:xfrm>
            <a:off x="2717368" y="6021644"/>
            <a:ext cx="6093724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Situação fictícia produzida pela SEDUC-SP.</a:t>
            </a:r>
          </a:p>
        </p:txBody>
      </p:sp>
    </p:spTree>
    <p:extLst>
      <p:ext uri="{BB962C8B-B14F-4D97-AF65-F5344CB8AC3E}">
        <p14:creationId xmlns:p14="http://schemas.microsoft.com/office/powerpoint/2010/main" val="3814382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79363" y="1807121"/>
            <a:ext cx="6354575" cy="91447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Aprendemos que um arquivo é o conteúdo digital criado ou salvo no computador, como textos, planilhas, imagens, vídeos ou códigos.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79363" y="3082549"/>
            <a:ext cx="6354575" cy="91447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Compreendemos que uma pasta é o espaço digital usado para agrupar arquivos relacionados, facilitando a organização e o acesso.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879363" y="4208720"/>
            <a:ext cx="6354575" cy="1322128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Reconhecemos que gerenciar arquivos e pastas envolve criar, nomear, mover e excluir conteúdos de forma planejada, garantindo segurança e rapidez no uso do computador.</a:t>
            </a:r>
          </a:p>
        </p:txBody>
      </p:sp>
      <p:sp>
        <p:nvSpPr>
          <p:cNvPr id="3" name="Google Shape;741;p22">
            <a:extLst>
              <a:ext uri="{FF2B5EF4-FFF2-40B4-BE49-F238E27FC236}">
                <a16:creationId xmlns:a16="http://schemas.microsoft.com/office/drawing/2014/main" id="{99EAAB3A-500F-3303-113F-2DE38B40643E}"/>
              </a:ext>
            </a:extLst>
          </p:cNvPr>
          <p:cNvSpPr txBox="1">
            <a:spLocks/>
          </p:cNvSpPr>
          <p:nvPr/>
        </p:nvSpPr>
        <p:spPr>
          <a:xfrm>
            <a:off x="4676921" y="734021"/>
            <a:ext cx="5440600" cy="56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815" indent="-152408"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925201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1;p53">
            <a:extLst>
              <a:ext uri="{FF2B5EF4-FFF2-40B4-BE49-F238E27FC236}">
                <a16:creationId xmlns:a16="http://schemas.microsoft.com/office/drawing/2014/main" id="{622C50B5-A2EB-20D7-6B76-58DB77432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7314" y="890915"/>
            <a:ext cx="5935629" cy="4162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</a:rPr>
              <a:t>As pastas do seu computador estão bagunçadas? Aprenda a organizar seus arquivos e pastas em apenas três passos com o vídeo do Vinícius Spira.</a:t>
            </a: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</a:endParaRP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</a:rPr>
              <a:t>VINÍCIUS SPIRA. Como organizar seus arquivos e pastas (em 3 passos). YouTube, 10 jul. 2025. Disponível em: </a:t>
            </a:r>
            <a:r>
              <a:rPr lang="pt-BR" sz="1800" dirty="0">
                <a:latin typeface="Poppins" panose="00000500000000000000" pitchFamily="2" charset="0"/>
                <a:hlinkClick r:id="rId3"/>
              </a:rPr>
              <a:t>https://youtu.be/Uq5e291QdZ0</a:t>
            </a:r>
            <a:r>
              <a:rPr lang="pt-BR" sz="1800" dirty="0">
                <a:latin typeface="Poppins" panose="00000500000000000000" pitchFamily="2" charset="0"/>
              </a:rPr>
              <a:t>. Acesso em: 02 nov. 2025. </a:t>
            </a:r>
          </a:p>
        </p:txBody>
      </p:sp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 noProof="0" dirty="0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 noProof="0" dirty="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62BEEF-0307-48FF-6E67-C6CA173D0375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 noProof="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9C8C92-FAFE-3F8D-2B14-9EF816F89978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380189" y="1854200"/>
            <a:ext cx="9783529" cy="3822911"/>
          </a:xfrm>
        </p:spPr>
        <p:txBody>
          <a:bodyPr>
            <a:normAutofit lnSpcReduction="10000"/>
          </a:bodyPr>
          <a:lstStyle/>
          <a:p>
            <a:r>
              <a:rPr lang="pt-BR" dirty="0">
                <a:latin typeface="Poppins" panose="00000500000000000000" pitchFamily="2" charset="0"/>
              </a:rPr>
              <a:t>BROOKSHEAR, J. G. </a:t>
            </a:r>
            <a:r>
              <a:rPr lang="pt-BR" b="1" dirty="0">
                <a:latin typeface="Poppins" panose="00000500000000000000" pitchFamily="2" charset="0"/>
              </a:rPr>
              <a:t>Ciência da computação</a:t>
            </a:r>
            <a:r>
              <a:rPr lang="pt-BR" dirty="0">
                <a:latin typeface="Poppins" panose="00000500000000000000" pitchFamily="2" charset="0"/>
              </a:rPr>
              <a:t>: uma visão abrangente. Porto Alegre: Bookman, 2013. </a:t>
            </a: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MONTEIRO, M. A. </a:t>
            </a:r>
            <a:r>
              <a:rPr lang="pt-BR" b="1" dirty="0">
                <a:latin typeface="Poppins" panose="00000500000000000000" pitchFamily="2" charset="0"/>
              </a:rPr>
              <a:t>Introdução à organização de computadores</a:t>
            </a:r>
            <a:r>
              <a:rPr lang="pt-BR" dirty="0">
                <a:latin typeface="Poppins" panose="00000500000000000000" pitchFamily="2" charset="0"/>
              </a:rPr>
              <a:t>. Rio de Janeiro: LTC, 2007.</a:t>
            </a: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STALLINGS, W. </a:t>
            </a:r>
            <a:r>
              <a:rPr lang="pt-BR" b="1" dirty="0">
                <a:latin typeface="Poppins" panose="00000500000000000000" pitchFamily="2" charset="0"/>
              </a:rPr>
              <a:t>Arquitetura e organização de computadores</a:t>
            </a:r>
            <a:r>
              <a:rPr lang="pt-BR" dirty="0">
                <a:latin typeface="Poppins" panose="00000500000000000000" pitchFamily="2" charset="0"/>
              </a:rPr>
              <a:t>. São Paulo: Pearson, 2017.</a:t>
            </a: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TANENBAUM, A. S.; AUSTIN, T. </a:t>
            </a:r>
            <a:r>
              <a:rPr lang="pt-BR" b="1" dirty="0">
                <a:latin typeface="Poppins" panose="00000500000000000000" pitchFamily="2" charset="0"/>
              </a:rPr>
              <a:t>Organização estruturada de computadores</a:t>
            </a:r>
            <a:r>
              <a:rPr lang="pt-BR" dirty="0">
                <a:latin typeface="Poppins" panose="00000500000000000000" pitchFamily="2" charset="0"/>
              </a:rPr>
              <a:t>. São Paulo: Pearson, 2013.</a:t>
            </a: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VINÍCIUS SPIRA. Como organizar seus arquivos e pastas (em 3 passos). YouTube, 10 jul. 2025. Disponível em: </a:t>
            </a:r>
            <a:r>
              <a:rPr lang="pt-BR" dirty="0">
                <a:latin typeface="Poppins" panose="00000500000000000000" pitchFamily="2" charset="0"/>
                <a:hlinkClick r:id="rId2"/>
              </a:rPr>
              <a:t>https://youtu.be/Uq5e291QdZ0</a:t>
            </a:r>
            <a:r>
              <a:rPr lang="pt-BR" dirty="0">
                <a:latin typeface="Poppins" panose="00000500000000000000" pitchFamily="2" charset="0"/>
              </a:rPr>
              <a:t>. Acesso em: 02 nov. 2025. </a:t>
            </a: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Identidade visual: imagens © Getty Images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399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669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C5E477A-2A5F-1F86-7495-AA29D23969CC}"/>
              </a:ext>
            </a:extLst>
          </p:cNvPr>
          <p:cNvSpPr txBox="1"/>
          <p:nvPr/>
        </p:nvSpPr>
        <p:spPr>
          <a:xfrm>
            <a:off x="988040" y="3113360"/>
            <a:ext cx="10495718" cy="344709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Ponto de partida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ativar os conhecimentos prévios dos estudantes sobre o tema da aula e estimular o pensamento crítico e as habilidades comunicativas. Por meio de uma situação-problema ou exemplo próximo da realidade do estudante, pretende-se sair da abstração conceitual e promover um diálogo dinâmico para explorar hipóteses e soluções. Espera-se também que os estudantes compartilhem eventuais experiências que possam ter com os tópicos a serem abordados em aula. </a:t>
            </a: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kern="100" noProof="0" dirty="0" err="1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ssegure-se</a:t>
            </a:r>
            <a:r>
              <a:rPr lang="pt-BR" sz="1000" kern="100" noProof="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 que todos os estudantes tenham a oportunidade de participar. Se necessário, faça rodízio ou direcione perguntas a estudantes que estejam menos ativos para garantir a participação de todos. Mantenha um ambiente de respeito, onde todas as opiniões são valorizadas, garantindo que todos se sintam confortáveis para expressar seus pontos de vista. Conclua a atividade resumindo as principais ideias discutidas e vinculando-as aos objetivos de aprendizagem da aula</a:t>
            </a:r>
            <a:r>
              <a:rPr lang="pt-BR" sz="1000" b="1" kern="100" noProof="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.</a:t>
            </a:r>
          </a:p>
          <a:p>
            <a:pPr rtl="0" fontAlgn="base"/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 </a:t>
            </a: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Discussão da pergunta (5 minutos):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apresente a questão e dê tempo para os alunos pensarem e discutirem.  O objetivo é que percebam a importância da organização digital e do planejamento, sem ainda falar de pastas ou arquivos.</a:t>
            </a: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Apresentação (3 minutos):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peça para alguns alunos compartilharem suas ideias com a turma. Anote no quadro as palavras (como “organizar”, “planejar”, “guardar”), elas serão retomadas na seção 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Construindo o Conceito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 alunos devem refletir sobre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 importância da organização digital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, mencionando soluções como: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manter todos os arquivos em um só lugar;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combinar antecipadamente onde os materiais seriam salvos;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evitar deixar versões espalhadas em diferentes dispositivos.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FD226EF-7124-3D3B-4BD4-942DA94DCDB5}"/>
              </a:ext>
            </a:extLst>
          </p:cNvPr>
          <p:cNvSpPr/>
          <p:nvPr/>
        </p:nvSpPr>
        <p:spPr>
          <a:xfrm>
            <a:off x="0" y="2601146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AEA59D-DF85-23C3-4F29-DB5660C4FFCC}"/>
              </a:ext>
            </a:extLst>
          </p:cNvPr>
          <p:cNvSpPr txBox="1"/>
          <p:nvPr/>
        </p:nvSpPr>
        <p:spPr>
          <a:xfrm>
            <a:off x="1019343" y="2605324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Slide 6</a:t>
            </a:r>
          </a:p>
        </p:txBody>
      </p:sp>
      <p:cxnSp>
        <p:nvCxnSpPr>
          <p:cNvPr id="21" name="Conector Reto 6">
            <a:extLst>
              <a:ext uri="{FF2B5EF4-FFF2-40B4-BE49-F238E27FC236}">
                <a16:creationId xmlns:a16="http://schemas.microsoft.com/office/drawing/2014/main" id="{BCE0BFCD-A08A-231A-775F-76725EC8275F}"/>
              </a:ext>
            </a:extLst>
          </p:cNvPr>
          <p:cNvCxnSpPr>
            <a:cxnSpLocks/>
          </p:cNvCxnSpPr>
          <p:nvPr/>
        </p:nvCxnSpPr>
        <p:spPr>
          <a:xfrm flipV="1">
            <a:off x="667448" y="2954746"/>
            <a:ext cx="0" cy="376760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8">
            <a:extLst>
              <a:ext uri="{FF2B5EF4-FFF2-40B4-BE49-F238E27FC236}">
                <a16:creationId xmlns:a16="http://schemas.microsoft.com/office/drawing/2014/main" id="{F5F245B4-7802-3925-C674-664CE875B081}"/>
              </a:ext>
            </a:extLst>
          </p:cNvPr>
          <p:cNvSpPr/>
          <p:nvPr/>
        </p:nvSpPr>
        <p:spPr>
          <a:xfrm>
            <a:off x="471030" y="587557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CC84B630-89E1-2FB4-859F-F21643B55766}"/>
              </a:ext>
            </a:extLst>
          </p:cNvPr>
          <p:cNvSpPr/>
          <p:nvPr/>
        </p:nvSpPr>
        <p:spPr>
          <a:xfrm>
            <a:off x="471030" y="419989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EC7F6AD3-E820-E455-13E0-ACD8F4CC63A2}"/>
              </a:ext>
            </a:extLst>
          </p:cNvPr>
          <p:cNvSpPr/>
          <p:nvPr/>
        </p:nvSpPr>
        <p:spPr>
          <a:xfrm>
            <a:off x="471030" y="379932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8ECB0DDA-1E17-7A5A-E633-061DAE8AD6BB}"/>
              </a:ext>
            </a:extLst>
          </p:cNvPr>
          <p:cNvSpPr/>
          <p:nvPr/>
        </p:nvSpPr>
        <p:spPr>
          <a:xfrm>
            <a:off x="471030" y="314919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2216;p100">
            <a:extLst>
              <a:ext uri="{FF2B5EF4-FFF2-40B4-BE49-F238E27FC236}">
                <a16:creationId xmlns:a16="http://schemas.microsoft.com/office/drawing/2014/main" id="{F65B9A5C-7612-96BC-804F-7B9C8F83685E}"/>
              </a:ext>
            </a:extLst>
          </p:cNvPr>
          <p:cNvSpPr/>
          <p:nvPr/>
        </p:nvSpPr>
        <p:spPr>
          <a:xfrm>
            <a:off x="545452" y="3247750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888448A-0924-D978-90B2-0CA1425A5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847" y="3893035"/>
            <a:ext cx="154445" cy="193056"/>
          </a:xfrm>
          <a:prstGeom prst="rect">
            <a:avLst/>
          </a:prstGeom>
        </p:spPr>
      </p:pic>
      <p:sp>
        <p:nvSpPr>
          <p:cNvPr id="28" name="Google Shape;2223;p100">
            <a:extLst>
              <a:ext uri="{FF2B5EF4-FFF2-40B4-BE49-F238E27FC236}">
                <a16:creationId xmlns:a16="http://schemas.microsoft.com/office/drawing/2014/main" id="{143A7080-7BB9-E495-4CC9-29DC9F82B3E4}"/>
              </a:ext>
            </a:extLst>
          </p:cNvPr>
          <p:cNvSpPr>
            <a:spLocks/>
          </p:cNvSpPr>
          <p:nvPr/>
        </p:nvSpPr>
        <p:spPr>
          <a:xfrm>
            <a:off x="541197" y="4278322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D7DDFFD3-3DBF-A5AB-995F-C5918E155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56" y="5929691"/>
            <a:ext cx="208026" cy="266700"/>
          </a:xfrm>
          <a:prstGeom prst="rect">
            <a:avLst/>
          </a:prstGeom>
        </p:spPr>
      </p:pic>
      <p:sp>
        <p:nvSpPr>
          <p:cNvPr id="30" name="Oval 9">
            <a:extLst>
              <a:ext uri="{FF2B5EF4-FFF2-40B4-BE49-F238E27FC236}">
                <a16:creationId xmlns:a16="http://schemas.microsoft.com/office/drawing/2014/main" id="{254BA4DE-09FF-26A7-084F-29C028C53D39}"/>
              </a:ext>
            </a:extLst>
          </p:cNvPr>
          <p:cNvSpPr/>
          <p:nvPr/>
        </p:nvSpPr>
        <p:spPr>
          <a:xfrm>
            <a:off x="471030" y="490094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3897E01C-D4A7-E90A-2625-B7EFF5BBB0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421" y="4971397"/>
            <a:ext cx="235296" cy="240643"/>
          </a:xfrm>
          <a:prstGeom prst="rect">
            <a:avLst/>
          </a:prstGeom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A16B2C57-9311-17E5-D84F-EE0B7090092F}"/>
              </a:ext>
            </a:extLst>
          </p:cNvPr>
          <p:cNvSpPr/>
          <p:nvPr/>
        </p:nvSpPr>
        <p:spPr>
          <a:xfrm>
            <a:off x="0" y="542260"/>
            <a:ext cx="12192000" cy="517876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75F6A6C-F5E7-E72C-8F16-D93E9EAB520D}"/>
              </a:ext>
            </a:extLst>
          </p:cNvPr>
          <p:cNvSpPr txBox="1"/>
          <p:nvPr/>
        </p:nvSpPr>
        <p:spPr>
          <a:xfrm>
            <a:off x="979978" y="560612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5</a:t>
            </a:r>
          </a:p>
        </p:txBody>
      </p:sp>
      <p:cxnSp>
        <p:nvCxnSpPr>
          <p:cNvPr id="34" name="Conector Reto 7">
            <a:extLst>
              <a:ext uri="{FF2B5EF4-FFF2-40B4-BE49-F238E27FC236}">
                <a16:creationId xmlns:a16="http://schemas.microsoft.com/office/drawing/2014/main" id="{F6962B06-A753-4CF5-70DD-BC8AA2F519D8}"/>
              </a:ext>
            </a:extLst>
          </p:cNvPr>
          <p:cNvCxnSpPr>
            <a:cxnSpLocks/>
          </p:cNvCxnSpPr>
          <p:nvPr/>
        </p:nvCxnSpPr>
        <p:spPr>
          <a:xfrm flipV="1">
            <a:off x="664069" y="854208"/>
            <a:ext cx="0" cy="150010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C5350C0-BF29-9DA3-17F2-CEB934CE9A08}"/>
              </a:ext>
            </a:extLst>
          </p:cNvPr>
          <p:cNvSpPr txBox="1"/>
          <p:nvPr/>
        </p:nvSpPr>
        <p:spPr>
          <a:xfrm>
            <a:off x="998323" y="1175746"/>
            <a:ext cx="10958576" cy="1138773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professor, indicamos a seguir o tempo previsto para o desenvolvimento das seções desta aula: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Ponto de partida: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Construindo o conceito: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20 minutos.​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17 minutos.​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hoje:  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minutos.​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</p:txBody>
      </p:sp>
      <p:sp>
        <p:nvSpPr>
          <p:cNvPr id="2" name="Oval 20">
            <a:extLst>
              <a:ext uri="{FF2B5EF4-FFF2-40B4-BE49-F238E27FC236}">
                <a16:creationId xmlns:a16="http://schemas.microsoft.com/office/drawing/2014/main" id="{D5C2AACB-6204-4476-0A86-5F6C4CA17669}"/>
              </a:ext>
            </a:extLst>
          </p:cNvPr>
          <p:cNvSpPr/>
          <p:nvPr/>
        </p:nvSpPr>
        <p:spPr>
          <a:xfrm>
            <a:off x="471030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oogle Shape;2216;p100">
            <a:extLst>
              <a:ext uri="{FF2B5EF4-FFF2-40B4-BE49-F238E27FC236}">
                <a16:creationId xmlns:a16="http://schemas.microsoft.com/office/drawing/2014/main" id="{71D056EE-7A74-72AE-9165-D493228521BB}"/>
              </a:ext>
            </a:extLst>
          </p:cNvPr>
          <p:cNvSpPr/>
          <p:nvPr/>
        </p:nvSpPr>
        <p:spPr>
          <a:xfrm>
            <a:off x="545452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366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935C43-2B94-4A43-1B52-78A2EDE8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DC8279F2-7EEE-4FF3-A564-B31E3A753E3C}"/>
              </a:ext>
            </a:extLst>
          </p:cNvPr>
          <p:cNvSpPr/>
          <p:nvPr/>
        </p:nvSpPr>
        <p:spPr>
          <a:xfrm>
            <a:off x="0" y="542260"/>
            <a:ext cx="12192000" cy="517876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" name="Conector Reto 7">
            <a:extLst>
              <a:ext uri="{FF2B5EF4-FFF2-40B4-BE49-F238E27FC236}">
                <a16:creationId xmlns:a16="http://schemas.microsoft.com/office/drawing/2014/main" id="{B2B34A62-BB98-4CAB-853F-D5A426A69CE9}"/>
              </a:ext>
            </a:extLst>
          </p:cNvPr>
          <p:cNvCxnSpPr>
            <a:cxnSpLocks/>
          </p:cNvCxnSpPr>
          <p:nvPr/>
        </p:nvCxnSpPr>
        <p:spPr>
          <a:xfrm flipV="1">
            <a:off x="664069" y="854208"/>
            <a:ext cx="0" cy="492526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F69349-D091-8F87-D400-D38A00292E99}"/>
              </a:ext>
            </a:extLst>
          </p:cNvPr>
          <p:cNvSpPr txBox="1"/>
          <p:nvPr/>
        </p:nvSpPr>
        <p:spPr>
          <a:xfrm>
            <a:off x="978883" y="564903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7 a 12</a:t>
            </a:r>
          </a:p>
          <a:p>
            <a:r>
              <a:rPr lang="pt-BR" sz="32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 </a:t>
            </a: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45C51A4-67AA-16F8-7C9C-A2914E195E11}"/>
              </a:ext>
            </a:extLst>
          </p:cNvPr>
          <p:cNvSpPr/>
          <p:nvPr/>
        </p:nvSpPr>
        <p:spPr>
          <a:xfrm>
            <a:off x="477781" y="161920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B5BCDF3F-3A26-25D4-4C72-C751160F6A6D}"/>
              </a:ext>
            </a:extLst>
          </p:cNvPr>
          <p:cNvSpPr/>
          <p:nvPr/>
        </p:nvSpPr>
        <p:spPr>
          <a:xfrm>
            <a:off x="477781" y="268668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66AA080-2188-B6C1-A5A8-67826A819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598" y="1697428"/>
            <a:ext cx="154445" cy="193056"/>
          </a:xfrm>
          <a:prstGeom prst="rect">
            <a:avLst/>
          </a:prstGeom>
        </p:spPr>
      </p:pic>
      <p:sp>
        <p:nvSpPr>
          <p:cNvPr id="26" name="Google Shape;2237;p100">
            <a:extLst>
              <a:ext uri="{FF2B5EF4-FFF2-40B4-BE49-F238E27FC236}">
                <a16:creationId xmlns:a16="http://schemas.microsoft.com/office/drawing/2014/main" id="{53B11BB8-5B7E-865B-9CF4-61BDCEC2A846}"/>
              </a:ext>
            </a:extLst>
          </p:cNvPr>
          <p:cNvSpPr/>
          <p:nvPr/>
        </p:nvSpPr>
        <p:spPr>
          <a:xfrm>
            <a:off x="530038" y="2712937"/>
            <a:ext cx="281565" cy="305087"/>
          </a:xfrm>
          <a:custGeom>
            <a:avLst/>
            <a:gdLst/>
            <a:ahLst/>
            <a:cxnLst/>
            <a:rect l="l" t="t" r="r" b="b"/>
            <a:pathLst>
              <a:path w="457200" h="495395" extrusionOk="0">
                <a:moveTo>
                  <a:pt x="266700" y="95"/>
                </a:moveTo>
                <a:cubicBezTo>
                  <a:pt x="162973" y="95"/>
                  <a:pt x="78391" y="83439"/>
                  <a:pt x="76200" y="186690"/>
                </a:cubicBezTo>
                <a:cubicBezTo>
                  <a:pt x="65532" y="197453"/>
                  <a:pt x="25241" y="238220"/>
                  <a:pt x="8573" y="254984"/>
                </a:cubicBezTo>
                <a:cubicBezTo>
                  <a:pt x="95" y="263557"/>
                  <a:pt x="-2286" y="275749"/>
                  <a:pt x="2286" y="286893"/>
                </a:cubicBezTo>
                <a:cubicBezTo>
                  <a:pt x="6858" y="297942"/>
                  <a:pt x="17145" y="304895"/>
                  <a:pt x="29147" y="304895"/>
                </a:cubicBezTo>
                <a:lnTo>
                  <a:pt x="57055" y="304895"/>
                </a:lnTo>
                <a:lnTo>
                  <a:pt x="57055" y="390620"/>
                </a:lnTo>
                <a:cubicBezTo>
                  <a:pt x="57055" y="416909"/>
                  <a:pt x="78391" y="438245"/>
                  <a:pt x="104680" y="438245"/>
                </a:cubicBezTo>
                <a:lnTo>
                  <a:pt x="171355" y="438245"/>
                </a:lnTo>
                <a:lnTo>
                  <a:pt x="171355" y="485870"/>
                </a:lnTo>
                <a:cubicBezTo>
                  <a:pt x="171355" y="491109"/>
                  <a:pt x="175641" y="495395"/>
                  <a:pt x="180880" y="495395"/>
                </a:cubicBezTo>
                <a:cubicBezTo>
                  <a:pt x="186119" y="495395"/>
                  <a:pt x="190405" y="491109"/>
                  <a:pt x="190405" y="485870"/>
                </a:cubicBezTo>
                <a:lnTo>
                  <a:pt x="190405" y="428720"/>
                </a:lnTo>
                <a:cubicBezTo>
                  <a:pt x="190405" y="423481"/>
                  <a:pt x="186119" y="419195"/>
                  <a:pt x="180880" y="419195"/>
                </a:cubicBezTo>
                <a:lnTo>
                  <a:pt x="104680" y="419195"/>
                </a:lnTo>
                <a:cubicBezTo>
                  <a:pt x="88964" y="419195"/>
                  <a:pt x="76105" y="406336"/>
                  <a:pt x="76105" y="390620"/>
                </a:cubicBezTo>
                <a:lnTo>
                  <a:pt x="76105" y="295370"/>
                </a:lnTo>
                <a:cubicBezTo>
                  <a:pt x="76105" y="290131"/>
                  <a:pt x="71819" y="285845"/>
                  <a:pt x="66580" y="285845"/>
                </a:cubicBezTo>
                <a:lnTo>
                  <a:pt x="29147" y="285845"/>
                </a:lnTo>
                <a:cubicBezTo>
                  <a:pt x="22955" y="285845"/>
                  <a:pt x="20479" y="281083"/>
                  <a:pt x="19907" y="279559"/>
                </a:cubicBezTo>
                <a:cubicBezTo>
                  <a:pt x="19336" y="278035"/>
                  <a:pt x="17621" y="272891"/>
                  <a:pt x="22098" y="268319"/>
                </a:cubicBezTo>
                <a:cubicBezTo>
                  <a:pt x="70866" y="219103"/>
                  <a:pt x="95250" y="193167"/>
                  <a:pt x="95250" y="190500"/>
                </a:cubicBezTo>
                <a:cubicBezTo>
                  <a:pt x="95250" y="96012"/>
                  <a:pt x="172117" y="19050"/>
                  <a:pt x="266700" y="19050"/>
                </a:cubicBezTo>
                <a:cubicBezTo>
                  <a:pt x="361283" y="19050"/>
                  <a:pt x="438150" y="96012"/>
                  <a:pt x="438150" y="190500"/>
                </a:cubicBezTo>
                <a:cubicBezTo>
                  <a:pt x="438150" y="233267"/>
                  <a:pt x="422243" y="274225"/>
                  <a:pt x="393287" y="305848"/>
                </a:cubicBezTo>
                <a:cubicBezTo>
                  <a:pt x="385382" y="314515"/>
                  <a:pt x="381000" y="325850"/>
                  <a:pt x="381000" y="337661"/>
                </a:cubicBezTo>
                <a:lnTo>
                  <a:pt x="381000" y="485680"/>
                </a:lnTo>
                <a:cubicBezTo>
                  <a:pt x="381000" y="490918"/>
                  <a:pt x="385286" y="495205"/>
                  <a:pt x="390525" y="495205"/>
                </a:cubicBezTo>
                <a:cubicBezTo>
                  <a:pt x="395764" y="495205"/>
                  <a:pt x="400050" y="490918"/>
                  <a:pt x="400050" y="485680"/>
                </a:cubicBezTo>
                <a:lnTo>
                  <a:pt x="400050" y="337661"/>
                </a:lnTo>
                <a:cubicBezTo>
                  <a:pt x="400050" y="330613"/>
                  <a:pt x="402622" y="323850"/>
                  <a:pt x="407384" y="318706"/>
                </a:cubicBezTo>
                <a:cubicBezTo>
                  <a:pt x="439484" y="283464"/>
                  <a:pt x="457200" y="237934"/>
                  <a:pt x="457200" y="190500"/>
                </a:cubicBezTo>
                <a:cubicBezTo>
                  <a:pt x="457200" y="85439"/>
                  <a:pt x="371761" y="0"/>
                  <a:pt x="266700" y="0"/>
                </a:cubicBezTo>
                <a:close/>
                <a:moveTo>
                  <a:pt x="266700" y="95345"/>
                </a:moveTo>
                <a:cubicBezTo>
                  <a:pt x="214217" y="95345"/>
                  <a:pt x="171450" y="138113"/>
                  <a:pt x="171450" y="190595"/>
                </a:cubicBezTo>
                <a:cubicBezTo>
                  <a:pt x="171450" y="217360"/>
                  <a:pt x="182880" y="243078"/>
                  <a:pt x="202692" y="261080"/>
                </a:cubicBezTo>
                <a:cubicBezTo>
                  <a:pt x="207074" y="265081"/>
                  <a:pt x="209550" y="270224"/>
                  <a:pt x="209550" y="275653"/>
                </a:cubicBezTo>
                <a:lnTo>
                  <a:pt x="209550" y="323850"/>
                </a:lnTo>
                <a:cubicBezTo>
                  <a:pt x="209550" y="344900"/>
                  <a:pt x="226600" y="361950"/>
                  <a:pt x="247650" y="361950"/>
                </a:cubicBezTo>
                <a:lnTo>
                  <a:pt x="285750" y="361950"/>
                </a:lnTo>
                <a:cubicBezTo>
                  <a:pt x="306800" y="361950"/>
                  <a:pt x="323850" y="344900"/>
                  <a:pt x="323850" y="323850"/>
                </a:cubicBezTo>
                <a:lnTo>
                  <a:pt x="323850" y="275653"/>
                </a:lnTo>
                <a:cubicBezTo>
                  <a:pt x="323850" y="270224"/>
                  <a:pt x="326327" y="265081"/>
                  <a:pt x="330708" y="261080"/>
                </a:cubicBezTo>
                <a:cubicBezTo>
                  <a:pt x="350520" y="243078"/>
                  <a:pt x="361950" y="217360"/>
                  <a:pt x="361950" y="190595"/>
                </a:cubicBezTo>
                <a:cubicBezTo>
                  <a:pt x="361950" y="138113"/>
                  <a:pt x="319183" y="95345"/>
                  <a:pt x="266700" y="95345"/>
                </a:cubicBezTo>
                <a:close/>
                <a:moveTo>
                  <a:pt x="304800" y="323945"/>
                </a:moveTo>
                <a:cubicBezTo>
                  <a:pt x="304800" y="334423"/>
                  <a:pt x="296228" y="342995"/>
                  <a:pt x="285750" y="342995"/>
                </a:cubicBezTo>
                <a:lnTo>
                  <a:pt x="247650" y="342995"/>
                </a:lnTo>
                <a:cubicBezTo>
                  <a:pt x="237173" y="342995"/>
                  <a:pt x="228600" y="334423"/>
                  <a:pt x="228600" y="323945"/>
                </a:cubicBezTo>
                <a:lnTo>
                  <a:pt x="228600" y="304895"/>
                </a:lnTo>
                <a:lnTo>
                  <a:pt x="304800" y="304895"/>
                </a:lnTo>
                <a:lnTo>
                  <a:pt x="304800" y="323945"/>
                </a:lnTo>
                <a:close/>
                <a:moveTo>
                  <a:pt x="317849" y="246983"/>
                </a:moveTo>
                <a:cubicBezTo>
                  <a:pt x="309563" y="254508"/>
                  <a:pt x="304800" y="264985"/>
                  <a:pt x="304800" y="275653"/>
                </a:cubicBezTo>
                <a:lnTo>
                  <a:pt x="304800" y="285750"/>
                </a:lnTo>
                <a:lnTo>
                  <a:pt x="276225" y="285750"/>
                </a:lnTo>
                <a:lnTo>
                  <a:pt x="276225" y="203930"/>
                </a:lnTo>
                <a:lnTo>
                  <a:pt x="285750" y="194405"/>
                </a:lnTo>
                <a:lnTo>
                  <a:pt x="298037" y="206692"/>
                </a:lnTo>
                <a:cubicBezTo>
                  <a:pt x="299942" y="208597"/>
                  <a:pt x="302324" y="209455"/>
                  <a:pt x="304800" y="209455"/>
                </a:cubicBezTo>
                <a:cubicBezTo>
                  <a:pt x="307277" y="209455"/>
                  <a:pt x="309658" y="208502"/>
                  <a:pt x="311563" y="206692"/>
                </a:cubicBezTo>
                <a:cubicBezTo>
                  <a:pt x="315278" y="202978"/>
                  <a:pt x="315278" y="196977"/>
                  <a:pt x="311563" y="193262"/>
                </a:cubicBezTo>
                <a:lnTo>
                  <a:pt x="292513" y="174212"/>
                </a:lnTo>
                <a:cubicBezTo>
                  <a:pt x="288798" y="170497"/>
                  <a:pt x="282797" y="170497"/>
                  <a:pt x="279083" y="174212"/>
                </a:cubicBezTo>
                <a:lnTo>
                  <a:pt x="266795" y="186500"/>
                </a:lnTo>
                <a:lnTo>
                  <a:pt x="254508" y="174212"/>
                </a:lnTo>
                <a:cubicBezTo>
                  <a:pt x="250793" y="170497"/>
                  <a:pt x="244793" y="170497"/>
                  <a:pt x="241078" y="174212"/>
                </a:cubicBezTo>
                <a:lnTo>
                  <a:pt x="222028" y="193262"/>
                </a:lnTo>
                <a:cubicBezTo>
                  <a:pt x="218313" y="196977"/>
                  <a:pt x="218313" y="202978"/>
                  <a:pt x="222028" y="206692"/>
                </a:cubicBezTo>
                <a:cubicBezTo>
                  <a:pt x="225743" y="210407"/>
                  <a:pt x="231743" y="210407"/>
                  <a:pt x="235458" y="206692"/>
                </a:cubicBezTo>
                <a:lnTo>
                  <a:pt x="247745" y="194405"/>
                </a:lnTo>
                <a:lnTo>
                  <a:pt x="257270" y="203930"/>
                </a:lnTo>
                <a:lnTo>
                  <a:pt x="257270" y="285750"/>
                </a:lnTo>
                <a:lnTo>
                  <a:pt x="228695" y="285750"/>
                </a:lnTo>
                <a:lnTo>
                  <a:pt x="228695" y="275653"/>
                </a:lnTo>
                <a:cubicBezTo>
                  <a:pt x="228695" y="264985"/>
                  <a:pt x="223933" y="254508"/>
                  <a:pt x="215551" y="246983"/>
                </a:cubicBezTo>
                <a:cubicBezTo>
                  <a:pt x="199644" y="232600"/>
                  <a:pt x="190595" y="212026"/>
                  <a:pt x="190595" y="190595"/>
                </a:cubicBezTo>
                <a:cubicBezTo>
                  <a:pt x="190595" y="148590"/>
                  <a:pt x="224790" y="114395"/>
                  <a:pt x="266795" y="114395"/>
                </a:cubicBezTo>
                <a:cubicBezTo>
                  <a:pt x="308801" y="114395"/>
                  <a:pt x="342995" y="148590"/>
                  <a:pt x="342995" y="190595"/>
                </a:cubicBezTo>
                <a:cubicBezTo>
                  <a:pt x="342995" y="212026"/>
                  <a:pt x="333851" y="232600"/>
                  <a:pt x="317945" y="2469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352FAA48-9B71-5E40-0BDF-83B8C90EADDE}"/>
              </a:ext>
            </a:extLst>
          </p:cNvPr>
          <p:cNvSpPr/>
          <p:nvPr/>
        </p:nvSpPr>
        <p:spPr>
          <a:xfrm>
            <a:off x="477781" y="209861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01ED7D05-FF9B-65F7-47A9-CFA226757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172" y="2166631"/>
            <a:ext cx="235296" cy="240643"/>
          </a:xfrm>
          <a:prstGeom prst="rect">
            <a:avLst/>
          </a:prstGeom>
        </p:spPr>
      </p:pic>
      <p:sp>
        <p:nvSpPr>
          <p:cNvPr id="30" name="Oval 20">
            <a:extLst>
              <a:ext uri="{FF2B5EF4-FFF2-40B4-BE49-F238E27FC236}">
                <a16:creationId xmlns:a16="http://schemas.microsoft.com/office/drawing/2014/main" id="{6719F2D5-3B13-4167-ADD3-4383A4F439F7}"/>
              </a:ext>
            </a:extLst>
          </p:cNvPr>
          <p:cNvSpPr/>
          <p:nvPr/>
        </p:nvSpPr>
        <p:spPr>
          <a:xfrm>
            <a:off x="471030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2216;p100">
            <a:extLst>
              <a:ext uri="{FF2B5EF4-FFF2-40B4-BE49-F238E27FC236}">
                <a16:creationId xmlns:a16="http://schemas.microsoft.com/office/drawing/2014/main" id="{53702D49-CC2A-4093-9586-573FB3138696}"/>
              </a:ext>
            </a:extLst>
          </p:cNvPr>
          <p:cNvSpPr/>
          <p:nvPr/>
        </p:nvSpPr>
        <p:spPr>
          <a:xfrm>
            <a:off x="545452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507245E-B40C-4F89-9757-7ADA6EB72877}"/>
              </a:ext>
            </a:extLst>
          </p:cNvPr>
          <p:cNvSpPr txBox="1"/>
          <p:nvPr/>
        </p:nvSpPr>
        <p:spPr>
          <a:xfrm>
            <a:off x="998323" y="1175746"/>
            <a:ext cx="10958576" cy="467820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Construindo o conceito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ajudar o estudante a sistematizar novos conceitos teóricos relacionados com a vivência profissional. </a:t>
            </a: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: 20 minutos.</a:t>
            </a: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os slides aos estudantes com as definições de conceitos e como eles são aplicados em situações práticas.​</a:t>
            </a: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Aprofundamento: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l</a:t>
            </a:r>
            <a:r>
              <a:rPr lang="pt-BR" sz="1000" dirty="0" err="1">
                <a:latin typeface="Poppins" panose="00000500000000000000" pitchFamily="2" charset="0"/>
                <a:cs typeface="Poppins" panose="00000500000000000000" pitchFamily="2" charset="0"/>
              </a:rPr>
              <a:t>embre-se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de que o tema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 “Organização de arquivos e estrutura de pastas”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é mais do que uma habilidade técnica: é uma competência essencial de gestão da informação digital, que prepara o estudante para o mundo do trabalho e para a vida acadêmica.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O objetivo é que eles saiam da aula 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compreendendo e aplicando o conceito de gerenciamento de arquivos e pastas. 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E mais, 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o gerenciamento de arquivos e pastas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é uma competência transversal em todos os cursos técnicos. Desenvolve organização, planejamento e responsabilidade digital, que são pilares da Semana 10 – Multitarefas e organização de tempo.</a:t>
            </a:r>
          </a:p>
          <a:p>
            <a:pPr marL="228600" lvl="0" indent="-228600">
              <a:buAutoNum type="arabicPeriod"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Criação de pastas: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nsina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o aluno a construir a base da sua estrutura digital. Mostre o procedimento no Windows e reforce o uso do botão direito → Novo → Pasta.</a:t>
            </a:r>
          </a:p>
          <a:p>
            <a:pPr marL="228600" lvl="0" indent="-228600">
              <a:buAutoNum type="arabicPeriod"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Nomes e hierarquia: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é aqui que se trabalha o raciocínio de agrupamento de informações por assunto, área ou função. Apresente o conceito de árvore de diretórios (estrutura em níveis). Mostre como o caminho de um arquivo é descrito (exemplo: C:\Usu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rios\Aluno\Documentos\Trabalhos\Historia_2025.docx).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Destaque as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boas práticas de nomenclatura: </a:t>
            </a:r>
          </a:p>
          <a:p>
            <a:pPr lvl="0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não usar acentos ou caracteres especiais; </a:t>
            </a:r>
          </a:p>
          <a:p>
            <a:pPr lvl="0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substituir espaços por </a:t>
            </a:r>
            <a:r>
              <a:rPr lang="pt-BR" sz="1000" i="1" dirty="0" err="1">
                <a:latin typeface="Poppins" panose="00000500000000000000" pitchFamily="2" charset="0"/>
                <a:cs typeface="Poppins" panose="00000500000000000000" pitchFamily="2" charset="0"/>
              </a:rPr>
              <a:t>underline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(_) ou letras maiúsculas; </a:t>
            </a:r>
          </a:p>
          <a:p>
            <a:pPr lvl="0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manter coerência entre os nomes.</a:t>
            </a:r>
          </a:p>
          <a:p>
            <a:pPr lvl="0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Esses padrões evitam erros de leitura em sistemas e garantem compatibilidade entre dispositivos.</a:t>
            </a:r>
          </a:p>
          <a:p>
            <a:pPr lvl="0"/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3.    Organização por data ou tema: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ntroduz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o conceito de sistematização, permitindo ao aluno escolher o método mais adequado ao tipo de trabalho. Cite exemplos concretos (trabalhos por semestre, fotos por ano etc.).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Mostre 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Explorador de Arquivos do Windows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 destaque visualmente as colunas “Nome”, “Data de modificação” e “Tipo”, explicando o que cada uma representa.</a:t>
            </a:r>
          </a:p>
          <a:p>
            <a:pPr lvl="0"/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Explique que todo sistema operacional,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como o Windows, 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organiza seus dados em arquivos e pastas hierarquizadas.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Essas estruturas seguem uma lógica de árvore, onde cada pasta pode conter outras, permitindo o acesso rápido e ordenando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s informações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. É importante que o estudante perceba que o computador não “pensa” por si, quem define a organização é o usuário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Faça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relação com a vida real: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s empresas organizam documentos digitais por departamento, ano e projeto. Essa analogia ajuda o estudante a perceber a aplicação profissional do que está aprendendo. 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Conclua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dizendo que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gerenciar arquivos é mais do que saber salvar: é garantir que nada se perca e que tudo esteja no lugar certo, na hora certa.</a:t>
            </a:r>
          </a:p>
        </p:txBody>
      </p:sp>
    </p:spTree>
    <p:extLst>
      <p:ext uri="{BB962C8B-B14F-4D97-AF65-F5344CB8AC3E}">
        <p14:creationId xmlns:p14="http://schemas.microsoft.com/office/powerpoint/2010/main" val="1214971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935C43-2B94-4A43-1B52-78A2EDE8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0EAA0EDA-C954-4338-9DB3-3A92495C435D}"/>
              </a:ext>
            </a:extLst>
          </p:cNvPr>
          <p:cNvSpPr/>
          <p:nvPr/>
        </p:nvSpPr>
        <p:spPr>
          <a:xfrm>
            <a:off x="0" y="542260"/>
            <a:ext cx="12192000" cy="517876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" name="Conector Reto 7">
            <a:extLst>
              <a:ext uri="{FF2B5EF4-FFF2-40B4-BE49-F238E27FC236}">
                <a16:creationId xmlns:a16="http://schemas.microsoft.com/office/drawing/2014/main" id="{BDB95148-0C8B-404B-BCD0-FB2FBF49D438}"/>
              </a:ext>
            </a:extLst>
          </p:cNvPr>
          <p:cNvCxnSpPr>
            <a:cxnSpLocks/>
          </p:cNvCxnSpPr>
          <p:nvPr/>
        </p:nvCxnSpPr>
        <p:spPr>
          <a:xfrm flipV="1">
            <a:off x="664069" y="854208"/>
            <a:ext cx="0" cy="2053115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529A5F-A40F-74BC-74A4-A3479328DAB2}"/>
              </a:ext>
            </a:extLst>
          </p:cNvPr>
          <p:cNvSpPr txBox="1"/>
          <p:nvPr/>
        </p:nvSpPr>
        <p:spPr>
          <a:xfrm>
            <a:off x="981341" y="563997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13 e 14</a:t>
            </a:r>
          </a:p>
        </p:txBody>
      </p:sp>
      <p:sp>
        <p:nvSpPr>
          <p:cNvPr id="18" name="Oval 20">
            <a:extLst>
              <a:ext uri="{FF2B5EF4-FFF2-40B4-BE49-F238E27FC236}">
                <a16:creationId xmlns:a16="http://schemas.microsoft.com/office/drawing/2014/main" id="{32492C76-DD31-7B9E-744D-3C02A7139282}"/>
              </a:ext>
            </a:extLst>
          </p:cNvPr>
          <p:cNvSpPr/>
          <p:nvPr/>
        </p:nvSpPr>
        <p:spPr>
          <a:xfrm>
            <a:off x="477781" y="160434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921CEB11-2AAB-FAC7-4C11-0CEC31F26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598" y="1693972"/>
            <a:ext cx="154445" cy="193056"/>
          </a:xfrm>
          <a:prstGeom prst="rect">
            <a:avLst/>
          </a:prstGeom>
        </p:spPr>
      </p:pic>
      <p:sp>
        <p:nvSpPr>
          <p:cNvPr id="47" name="Oval 17">
            <a:extLst>
              <a:ext uri="{FF2B5EF4-FFF2-40B4-BE49-F238E27FC236}">
                <a16:creationId xmlns:a16="http://schemas.microsoft.com/office/drawing/2014/main" id="{A07754D7-679D-A728-02AB-A108A80BFB55}"/>
              </a:ext>
            </a:extLst>
          </p:cNvPr>
          <p:cNvSpPr/>
          <p:nvPr/>
        </p:nvSpPr>
        <p:spPr>
          <a:xfrm>
            <a:off x="477781" y="209461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D7DDFFD3-3DBF-A5AB-995F-C5918E155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807" y="2152493"/>
            <a:ext cx="208026" cy="266700"/>
          </a:xfrm>
          <a:prstGeom prst="rect">
            <a:avLst/>
          </a:prstGeom>
        </p:spPr>
      </p:pic>
      <p:sp>
        <p:nvSpPr>
          <p:cNvPr id="30" name="Oval 20">
            <a:extLst>
              <a:ext uri="{FF2B5EF4-FFF2-40B4-BE49-F238E27FC236}">
                <a16:creationId xmlns:a16="http://schemas.microsoft.com/office/drawing/2014/main" id="{803D2D5A-44BB-4AEB-AEC9-6F839F642000}"/>
              </a:ext>
            </a:extLst>
          </p:cNvPr>
          <p:cNvSpPr/>
          <p:nvPr/>
        </p:nvSpPr>
        <p:spPr>
          <a:xfrm>
            <a:off x="471030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2216;p100">
            <a:extLst>
              <a:ext uri="{FF2B5EF4-FFF2-40B4-BE49-F238E27FC236}">
                <a16:creationId xmlns:a16="http://schemas.microsoft.com/office/drawing/2014/main" id="{FFCF1326-9FCC-4865-8044-6A05D7B487E0}"/>
              </a:ext>
            </a:extLst>
          </p:cNvPr>
          <p:cNvSpPr/>
          <p:nvPr/>
        </p:nvSpPr>
        <p:spPr>
          <a:xfrm>
            <a:off x="545452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3ED88D0-B897-427E-A882-1F2598B0DC94}"/>
              </a:ext>
            </a:extLst>
          </p:cNvPr>
          <p:cNvSpPr txBox="1"/>
          <p:nvPr/>
        </p:nvSpPr>
        <p:spPr>
          <a:xfrm>
            <a:off x="998323" y="1175746"/>
            <a:ext cx="10958576" cy="129266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noProof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r>
              <a:rPr lang="pt-BR" sz="1000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alternativa correta:</a:t>
            </a:r>
            <a:r>
              <a:rPr lang="pt-BR" sz="10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“</a:t>
            </a:r>
            <a:r>
              <a:rPr lang="pt-BR" sz="1000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Facilitar a localização dos arquivos”. Feedback</a:t>
            </a:r>
            <a:r>
              <a:rPr lang="pt-BR" sz="10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“</a:t>
            </a:r>
            <a:r>
              <a:rPr lang="pt-BR" sz="1000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Uma boa hierarquia permite encontrar rapidamente o que se precisa, evita confusões e melhora o trabalho em equipe”.</a:t>
            </a:r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93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1EABDD-19A5-6AF0-3FEB-ACDD13BB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1AF25AA2-4D6A-4A43-ADB6-B42B5523FDB7}"/>
              </a:ext>
            </a:extLst>
          </p:cNvPr>
          <p:cNvSpPr/>
          <p:nvPr/>
        </p:nvSpPr>
        <p:spPr>
          <a:xfrm>
            <a:off x="0" y="542260"/>
            <a:ext cx="12192000" cy="517876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4" name="Conector Reto 7">
            <a:extLst>
              <a:ext uri="{FF2B5EF4-FFF2-40B4-BE49-F238E27FC236}">
                <a16:creationId xmlns:a16="http://schemas.microsoft.com/office/drawing/2014/main" id="{CB6F014A-2851-4C46-8578-6B0C4A318C81}"/>
              </a:ext>
            </a:extLst>
          </p:cNvPr>
          <p:cNvCxnSpPr>
            <a:cxnSpLocks/>
          </p:cNvCxnSpPr>
          <p:nvPr/>
        </p:nvCxnSpPr>
        <p:spPr>
          <a:xfrm flipV="1">
            <a:off x="664069" y="854209"/>
            <a:ext cx="0" cy="343401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EB199F-9994-C2E4-4235-46CC8EEB577C}"/>
              </a:ext>
            </a:extLst>
          </p:cNvPr>
          <p:cNvSpPr txBox="1"/>
          <p:nvPr/>
        </p:nvSpPr>
        <p:spPr>
          <a:xfrm>
            <a:off x="985520" y="556123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15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BF2CEF-8CCE-D0CF-7BC3-8589019A9FEB}"/>
              </a:ext>
            </a:extLst>
          </p:cNvPr>
          <p:cNvSpPr/>
          <p:nvPr/>
        </p:nvSpPr>
        <p:spPr>
          <a:xfrm>
            <a:off x="472482" y="189798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00569A-0063-E67B-B24C-3C9E7DBEBC44}"/>
              </a:ext>
            </a:extLst>
          </p:cNvPr>
          <p:cNvSpPr/>
          <p:nvPr/>
        </p:nvSpPr>
        <p:spPr>
          <a:xfrm>
            <a:off x="472482" y="151264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9B8E2E7-AAA7-5A25-EAEB-CB025BFB46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299" y="1606351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87CF725B-A9B7-BAFD-7224-E5A2E63A2BD3}"/>
              </a:ext>
            </a:extLst>
          </p:cNvPr>
          <p:cNvSpPr>
            <a:spLocks/>
          </p:cNvSpPr>
          <p:nvPr/>
        </p:nvSpPr>
        <p:spPr>
          <a:xfrm>
            <a:off x="542649" y="1976415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Oval 9">
            <a:extLst>
              <a:ext uri="{FF2B5EF4-FFF2-40B4-BE49-F238E27FC236}">
                <a16:creationId xmlns:a16="http://schemas.microsoft.com/office/drawing/2014/main" id="{D9E2520C-7544-C36D-57BC-56B364B6FE3B}"/>
              </a:ext>
            </a:extLst>
          </p:cNvPr>
          <p:cNvSpPr/>
          <p:nvPr/>
        </p:nvSpPr>
        <p:spPr>
          <a:xfrm>
            <a:off x="472482" y="234181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78DF42A-C2F1-9546-99CE-B778D772B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873" y="2412274"/>
            <a:ext cx="235296" cy="240643"/>
          </a:xfrm>
          <a:prstGeom prst="rect">
            <a:avLst/>
          </a:prstGeo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4618739-4DEC-4BEC-A879-2BE01D897749}"/>
              </a:ext>
            </a:extLst>
          </p:cNvPr>
          <p:cNvGrpSpPr/>
          <p:nvPr/>
        </p:nvGrpSpPr>
        <p:grpSpPr>
          <a:xfrm>
            <a:off x="10162260" y="5690118"/>
            <a:ext cx="1744133" cy="406400"/>
            <a:chOff x="1310514" y="1144195"/>
            <a:chExt cx="1744133" cy="406400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CC4ACFC1-9FFD-4A52-BBD9-459387DEB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10514" y="1144195"/>
              <a:ext cx="1744133" cy="406400"/>
            </a:xfrm>
            <a:prstGeom prst="rect">
              <a:avLst/>
            </a:prstGeom>
          </p:spPr>
        </p:pic>
        <p:grpSp>
          <p:nvGrpSpPr>
            <p:cNvPr id="20" name="Gráfico 85">
              <a:extLst>
                <a:ext uri="{FF2B5EF4-FFF2-40B4-BE49-F238E27FC236}">
                  <a16:creationId xmlns:a16="http://schemas.microsoft.com/office/drawing/2014/main" id="{67F2F1FA-F032-4C82-8765-D95E792A3257}"/>
                </a:ext>
              </a:extLst>
            </p:cNvPr>
            <p:cNvGrpSpPr/>
            <p:nvPr/>
          </p:nvGrpSpPr>
          <p:grpSpPr>
            <a:xfrm>
              <a:off x="1544140" y="1244659"/>
              <a:ext cx="1172441" cy="199070"/>
              <a:chOff x="2316209" y="1866988"/>
              <a:chExt cx="1758662" cy="298605"/>
            </a:xfrm>
            <a:solidFill>
              <a:srgbClr val="FFFFFF"/>
            </a:solidFill>
          </p:grpSpPr>
          <p:sp>
            <p:nvSpPr>
              <p:cNvPr id="21" name="Forma Livre 47">
                <a:extLst>
                  <a:ext uri="{FF2B5EF4-FFF2-40B4-BE49-F238E27FC236}">
                    <a16:creationId xmlns:a16="http://schemas.microsoft.com/office/drawing/2014/main" id="{990ADBCA-8B35-41FC-B5B0-8C18DFAE997C}"/>
                  </a:ext>
                </a:extLst>
              </p:cNvPr>
              <p:cNvSpPr/>
              <p:nvPr/>
            </p:nvSpPr>
            <p:spPr>
              <a:xfrm>
                <a:off x="2316209" y="1900613"/>
                <a:ext cx="256393" cy="263805"/>
              </a:xfrm>
              <a:custGeom>
                <a:avLst/>
                <a:gdLst>
                  <a:gd name="connsiteX0" fmla="*/ 16815 w 256393"/>
                  <a:gd name="connsiteY0" fmla="*/ 63645 h 263805"/>
                  <a:gd name="connsiteX1" fmla="*/ 63695 w 256393"/>
                  <a:gd name="connsiteY1" fmla="*/ 16771 h 263805"/>
                  <a:gd name="connsiteX2" fmla="*/ 131891 w 256393"/>
                  <a:gd name="connsiteY2" fmla="*/ 0 h 263805"/>
                  <a:gd name="connsiteX3" fmla="*/ 211892 w 256393"/>
                  <a:gd name="connsiteY3" fmla="*/ 24318 h 263805"/>
                  <a:gd name="connsiteX4" fmla="*/ 256394 w 256393"/>
                  <a:gd name="connsiteY4" fmla="*/ 90730 h 263805"/>
                  <a:gd name="connsiteX5" fmla="*/ 186159 w 256393"/>
                  <a:gd name="connsiteY5" fmla="*/ 90730 h 263805"/>
                  <a:gd name="connsiteX6" fmla="*/ 163909 w 256393"/>
                  <a:gd name="connsiteY6" fmla="*/ 65993 h 263805"/>
                  <a:gd name="connsiteX7" fmla="*/ 131212 w 256393"/>
                  <a:gd name="connsiteY7" fmla="*/ 57524 h 263805"/>
                  <a:gd name="connsiteX8" fmla="*/ 83398 w 256393"/>
                  <a:gd name="connsiteY8" fmla="*/ 77817 h 263805"/>
                  <a:gd name="connsiteX9" fmla="*/ 65054 w 256393"/>
                  <a:gd name="connsiteY9" fmla="*/ 132071 h 263805"/>
                  <a:gd name="connsiteX10" fmla="*/ 83398 w 256393"/>
                  <a:gd name="connsiteY10" fmla="*/ 186324 h 263805"/>
                  <a:gd name="connsiteX11" fmla="*/ 131212 w 256393"/>
                  <a:gd name="connsiteY11" fmla="*/ 206617 h 263805"/>
                  <a:gd name="connsiteX12" fmla="*/ 163909 w 256393"/>
                  <a:gd name="connsiteY12" fmla="*/ 198148 h 263805"/>
                  <a:gd name="connsiteX13" fmla="*/ 186159 w 256393"/>
                  <a:gd name="connsiteY13" fmla="*/ 173411 h 263805"/>
                  <a:gd name="connsiteX14" fmla="*/ 256394 w 256393"/>
                  <a:gd name="connsiteY14" fmla="*/ 173411 h 263805"/>
                  <a:gd name="connsiteX15" fmla="*/ 211892 w 256393"/>
                  <a:gd name="connsiteY15" fmla="*/ 239656 h 263805"/>
                  <a:gd name="connsiteX16" fmla="*/ 131891 w 256393"/>
                  <a:gd name="connsiteY16" fmla="*/ 263806 h 263805"/>
                  <a:gd name="connsiteX17" fmla="*/ 63695 w 256393"/>
                  <a:gd name="connsiteY17" fmla="*/ 247035 h 263805"/>
                  <a:gd name="connsiteX18" fmla="*/ 16815 w 256393"/>
                  <a:gd name="connsiteY18" fmla="*/ 200328 h 263805"/>
                  <a:gd name="connsiteX19" fmla="*/ 0 w 256393"/>
                  <a:gd name="connsiteY19" fmla="*/ 132071 h 263805"/>
                  <a:gd name="connsiteX20" fmla="*/ 16815 w 256393"/>
                  <a:gd name="connsiteY20" fmla="*/ 63645 h 263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6393" h="263805">
                    <a:moveTo>
                      <a:pt x="16815" y="63645"/>
                    </a:moveTo>
                    <a:cubicBezTo>
                      <a:pt x="28026" y="43604"/>
                      <a:pt x="43652" y="28007"/>
                      <a:pt x="63695" y="16771"/>
                    </a:cubicBezTo>
                    <a:cubicBezTo>
                      <a:pt x="83738" y="5618"/>
                      <a:pt x="106498" y="0"/>
                      <a:pt x="131891" y="0"/>
                    </a:cubicBezTo>
                    <a:cubicBezTo>
                      <a:pt x="163059" y="0"/>
                      <a:pt x="189726" y="8134"/>
                      <a:pt x="211892" y="24318"/>
                    </a:cubicBezTo>
                    <a:cubicBezTo>
                      <a:pt x="234058" y="40586"/>
                      <a:pt x="248920" y="62723"/>
                      <a:pt x="256394" y="90730"/>
                    </a:cubicBezTo>
                    <a:lnTo>
                      <a:pt x="186159" y="90730"/>
                    </a:lnTo>
                    <a:cubicBezTo>
                      <a:pt x="180894" y="79913"/>
                      <a:pt x="173505" y="71696"/>
                      <a:pt x="163909" y="65993"/>
                    </a:cubicBezTo>
                    <a:cubicBezTo>
                      <a:pt x="154312" y="60375"/>
                      <a:pt x="143441" y="57524"/>
                      <a:pt x="131212" y="57524"/>
                    </a:cubicBezTo>
                    <a:cubicBezTo>
                      <a:pt x="111509" y="57524"/>
                      <a:pt x="95543" y="64316"/>
                      <a:pt x="83398" y="77817"/>
                    </a:cubicBezTo>
                    <a:cubicBezTo>
                      <a:pt x="71169" y="91317"/>
                      <a:pt x="65054" y="109430"/>
                      <a:pt x="65054" y="132071"/>
                    </a:cubicBezTo>
                    <a:cubicBezTo>
                      <a:pt x="65054" y="154711"/>
                      <a:pt x="71169" y="172824"/>
                      <a:pt x="83398" y="186324"/>
                    </a:cubicBezTo>
                    <a:cubicBezTo>
                      <a:pt x="95627" y="199825"/>
                      <a:pt x="111509" y="206617"/>
                      <a:pt x="131212" y="206617"/>
                    </a:cubicBezTo>
                    <a:cubicBezTo>
                      <a:pt x="143441" y="206617"/>
                      <a:pt x="154312" y="203766"/>
                      <a:pt x="163909" y="198148"/>
                    </a:cubicBezTo>
                    <a:cubicBezTo>
                      <a:pt x="173505" y="192530"/>
                      <a:pt x="180894" y="184228"/>
                      <a:pt x="186159" y="173411"/>
                    </a:cubicBezTo>
                    <a:lnTo>
                      <a:pt x="256394" y="173411"/>
                    </a:lnTo>
                    <a:cubicBezTo>
                      <a:pt x="248920" y="201418"/>
                      <a:pt x="234058" y="223556"/>
                      <a:pt x="211892" y="239656"/>
                    </a:cubicBezTo>
                    <a:cubicBezTo>
                      <a:pt x="189726" y="255756"/>
                      <a:pt x="163059" y="263806"/>
                      <a:pt x="131891" y="263806"/>
                    </a:cubicBezTo>
                    <a:cubicBezTo>
                      <a:pt x="106498" y="263806"/>
                      <a:pt x="83738" y="258188"/>
                      <a:pt x="63695" y="247035"/>
                    </a:cubicBezTo>
                    <a:cubicBezTo>
                      <a:pt x="43652" y="235882"/>
                      <a:pt x="28026" y="220285"/>
                      <a:pt x="16815" y="200328"/>
                    </a:cubicBezTo>
                    <a:cubicBezTo>
                      <a:pt x="5605" y="180371"/>
                      <a:pt x="0" y="157646"/>
                      <a:pt x="0" y="132071"/>
                    </a:cubicBezTo>
                    <a:cubicBezTo>
                      <a:pt x="0" y="106495"/>
                      <a:pt x="5605" y="83687"/>
                      <a:pt x="16815" y="636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22" name="Forma Livre 48">
                <a:extLst>
                  <a:ext uri="{FF2B5EF4-FFF2-40B4-BE49-F238E27FC236}">
                    <a16:creationId xmlns:a16="http://schemas.microsoft.com/office/drawing/2014/main" id="{0296318A-A8F8-4631-91FB-A207ED0760D3}"/>
                  </a:ext>
                </a:extLst>
              </p:cNvPr>
              <p:cNvSpPr/>
              <p:nvPr/>
            </p:nvSpPr>
            <p:spPr>
              <a:xfrm>
                <a:off x="2599100" y="1953777"/>
                <a:ext cx="216733" cy="211816"/>
              </a:xfrm>
              <a:custGeom>
                <a:avLst/>
                <a:gdLst>
                  <a:gd name="connsiteX0" fmla="*/ 52485 w 216733"/>
                  <a:gd name="connsiteY0" fmla="*/ 198903 h 211816"/>
                  <a:gd name="connsiteX1" fmla="*/ 14013 w 216733"/>
                  <a:gd name="connsiteY1" fmla="*/ 162007 h 211816"/>
                  <a:gd name="connsiteX2" fmla="*/ 0 w 216733"/>
                  <a:gd name="connsiteY2" fmla="*/ 105908 h 211816"/>
                  <a:gd name="connsiteX3" fmla="*/ 14183 w 216733"/>
                  <a:gd name="connsiteY3" fmla="*/ 49977 h 211816"/>
                  <a:gd name="connsiteX4" fmla="*/ 53079 w 216733"/>
                  <a:gd name="connsiteY4" fmla="*/ 12914 h 211816"/>
                  <a:gd name="connsiteX5" fmla="*/ 108367 w 216733"/>
                  <a:gd name="connsiteY5" fmla="*/ 0 h 211816"/>
                  <a:gd name="connsiteX6" fmla="*/ 163654 w 216733"/>
                  <a:gd name="connsiteY6" fmla="*/ 12914 h 211816"/>
                  <a:gd name="connsiteX7" fmla="*/ 202550 w 216733"/>
                  <a:gd name="connsiteY7" fmla="*/ 49977 h 211816"/>
                  <a:gd name="connsiteX8" fmla="*/ 216733 w 216733"/>
                  <a:gd name="connsiteY8" fmla="*/ 105908 h 211816"/>
                  <a:gd name="connsiteX9" fmla="*/ 202380 w 216733"/>
                  <a:gd name="connsiteY9" fmla="*/ 161839 h 211816"/>
                  <a:gd name="connsiteX10" fmla="*/ 163144 w 216733"/>
                  <a:gd name="connsiteY10" fmla="*/ 198903 h 211816"/>
                  <a:gd name="connsiteX11" fmla="*/ 107687 w 216733"/>
                  <a:gd name="connsiteY11" fmla="*/ 211816 h 211816"/>
                  <a:gd name="connsiteX12" fmla="*/ 52570 w 216733"/>
                  <a:gd name="connsiteY12" fmla="*/ 198903 h 211816"/>
                  <a:gd name="connsiteX13" fmla="*/ 138855 w 216733"/>
                  <a:gd name="connsiteY13" fmla="*/ 143894 h 211816"/>
                  <a:gd name="connsiteX14" fmla="*/ 151764 w 216733"/>
                  <a:gd name="connsiteY14" fmla="*/ 105908 h 211816"/>
                  <a:gd name="connsiteX15" fmla="*/ 139280 w 216733"/>
                  <a:gd name="connsiteY15" fmla="*/ 67922 h 211816"/>
                  <a:gd name="connsiteX16" fmla="*/ 108451 w 216733"/>
                  <a:gd name="connsiteY16" fmla="*/ 54673 h 211816"/>
                  <a:gd name="connsiteX17" fmla="*/ 77453 w 216733"/>
                  <a:gd name="connsiteY17" fmla="*/ 67754 h 211816"/>
                  <a:gd name="connsiteX18" fmla="*/ 65139 w 216733"/>
                  <a:gd name="connsiteY18" fmla="*/ 105908 h 211816"/>
                  <a:gd name="connsiteX19" fmla="*/ 77283 w 216733"/>
                  <a:gd name="connsiteY19" fmla="*/ 143894 h 211816"/>
                  <a:gd name="connsiteX20" fmla="*/ 107772 w 216733"/>
                  <a:gd name="connsiteY20" fmla="*/ 157143 h 211816"/>
                  <a:gd name="connsiteX21" fmla="*/ 138940 w 216733"/>
                  <a:gd name="connsiteY21" fmla="*/ 143894 h 21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6733" h="211816">
                    <a:moveTo>
                      <a:pt x="52485" y="198903"/>
                    </a:moveTo>
                    <a:cubicBezTo>
                      <a:pt x="36179" y="190266"/>
                      <a:pt x="23355" y="178023"/>
                      <a:pt x="14013" y="162007"/>
                    </a:cubicBezTo>
                    <a:cubicBezTo>
                      <a:pt x="4671" y="145991"/>
                      <a:pt x="0" y="127291"/>
                      <a:pt x="0" y="105908"/>
                    </a:cubicBezTo>
                    <a:cubicBezTo>
                      <a:pt x="0" y="84525"/>
                      <a:pt x="4756" y="66077"/>
                      <a:pt x="14183" y="49977"/>
                    </a:cubicBezTo>
                    <a:cubicBezTo>
                      <a:pt x="23610" y="33877"/>
                      <a:pt x="36603" y="21467"/>
                      <a:pt x="53079" y="12914"/>
                    </a:cubicBezTo>
                    <a:cubicBezTo>
                      <a:pt x="69555" y="4277"/>
                      <a:pt x="87984" y="0"/>
                      <a:pt x="108367" y="0"/>
                    </a:cubicBezTo>
                    <a:cubicBezTo>
                      <a:pt x="128749" y="0"/>
                      <a:pt x="147263" y="4277"/>
                      <a:pt x="163654" y="12914"/>
                    </a:cubicBezTo>
                    <a:cubicBezTo>
                      <a:pt x="180130" y="21551"/>
                      <a:pt x="193038" y="33877"/>
                      <a:pt x="202550" y="49977"/>
                    </a:cubicBezTo>
                    <a:cubicBezTo>
                      <a:pt x="211977" y="66077"/>
                      <a:pt x="216733" y="84693"/>
                      <a:pt x="216733" y="105908"/>
                    </a:cubicBezTo>
                    <a:cubicBezTo>
                      <a:pt x="216733" y="127123"/>
                      <a:pt x="211892" y="145739"/>
                      <a:pt x="202380" y="161839"/>
                    </a:cubicBezTo>
                    <a:cubicBezTo>
                      <a:pt x="192784" y="177939"/>
                      <a:pt x="179705" y="190349"/>
                      <a:pt x="163144" y="198903"/>
                    </a:cubicBezTo>
                    <a:cubicBezTo>
                      <a:pt x="146584" y="207540"/>
                      <a:pt x="128069" y="211816"/>
                      <a:pt x="107687" y="211816"/>
                    </a:cubicBezTo>
                    <a:cubicBezTo>
                      <a:pt x="87305" y="211816"/>
                      <a:pt x="68876" y="207540"/>
                      <a:pt x="52570" y="198903"/>
                    </a:cubicBezTo>
                    <a:close/>
                    <a:moveTo>
                      <a:pt x="138855" y="143894"/>
                    </a:moveTo>
                    <a:cubicBezTo>
                      <a:pt x="147433" y="135006"/>
                      <a:pt x="151764" y="122344"/>
                      <a:pt x="151764" y="105908"/>
                    </a:cubicBezTo>
                    <a:cubicBezTo>
                      <a:pt x="151764" y="89473"/>
                      <a:pt x="147603" y="76727"/>
                      <a:pt x="139280" y="67922"/>
                    </a:cubicBezTo>
                    <a:cubicBezTo>
                      <a:pt x="130957" y="59033"/>
                      <a:pt x="120681" y="54673"/>
                      <a:pt x="108451" y="54673"/>
                    </a:cubicBezTo>
                    <a:cubicBezTo>
                      <a:pt x="96222" y="54673"/>
                      <a:pt x="85691" y="59033"/>
                      <a:pt x="77453" y="67754"/>
                    </a:cubicBezTo>
                    <a:cubicBezTo>
                      <a:pt x="69215" y="76475"/>
                      <a:pt x="65139" y="89221"/>
                      <a:pt x="65139" y="105908"/>
                    </a:cubicBezTo>
                    <a:cubicBezTo>
                      <a:pt x="65139" y="122595"/>
                      <a:pt x="69215" y="135089"/>
                      <a:pt x="77283" y="143894"/>
                    </a:cubicBezTo>
                    <a:cubicBezTo>
                      <a:pt x="85351" y="152783"/>
                      <a:pt x="95543" y="157143"/>
                      <a:pt x="107772" y="157143"/>
                    </a:cubicBezTo>
                    <a:cubicBezTo>
                      <a:pt x="120001" y="157143"/>
                      <a:pt x="130362" y="152699"/>
                      <a:pt x="138940" y="1438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23" name="Forma Livre 49">
                <a:extLst>
                  <a:ext uri="{FF2B5EF4-FFF2-40B4-BE49-F238E27FC236}">
                    <a16:creationId xmlns:a16="http://schemas.microsoft.com/office/drawing/2014/main" id="{C0095DDE-D896-4F6E-9D40-FF376CDD3CD2}"/>
                  </a:ext>
                </a:extLst>
              </p:cNvPr>
              <p:cNvSpPr/>
              <p:nvPr/>
            </p:nvSpPr>
            <p:spPr>
              <a:xfrm>
                <a:off x="2849888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7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24" name="Forma Livre 50">
                <a:extLst>
                  <a:ext uri="{FF2B5EF4-FFF2-40B4-BE49-F238E27FC236}">
                    <a16:creationId xmlns:a16="http://schemas.microsoft.com/office/drawing/2014/main" id="{9A9A7D5F-CC2D-4B0E-981D-E354A7759047}"/>
                  </a:ext>
                </a:extLst>
              </p:cNvPr>
              <p:cNvSpPr/>
              <p:nvPr/>
            </p:nvSpPr>
            <p:spPr>
              <a:xfrm>
                <a:off x="3086409" y="1906483"/>
                <a:ext cx="131551" cy="256175"/>
              </a:xfrm>
              <a:custGeom>
                <a:avLst/>
                <a:gdLst>
                  <a:gd name="connsiteX0" fmla="*/ 131551 w 131551"/>
                  <a:gd name="connsiteY0" fmla="*/ 202676 h 256175"/>
                  <a:gd name="connsiteX1" fmla="*/ 131551 w 131551"/>
                  <a:gd name="connsiteY1" fmla="*/ 256175 h 256175"/>
                  <a:gd name="connsiteX2" fmla="*/ 99024 w 131551"/>
                  <a:gd name="connsiteY2" fmla="*/ 256175 h 256175"/>
                  <a:gd name="connsiteX3" fmla="*/ 44841 w 131551"/>
                  <a:gd name="connsiteY3" fmla="*/ 239404 h 256175"/>
                  <a:gd name="connsiteX4" fmla="*/ 25393 w 131551"/>
                  <a:gd name="connsiteY4" fmla="*/ 184564 h 256175"/>
                  <a:gd name="connsiteX5" fmla="*/ 25393 w 131551"/>
                  <a:gd name="connsiteY5" fmla="*/ 102638 h 256175"/>
                  <a:gd name="connsiteX6" fmla="*/ 0 w 131551"/>
                  <a:gd name="connsiteY6" fmla="*/ 102638 h 256175"/>
                  <a:gd name="connsiteX7" fmla="*/ 0 w 131551"/>
                  <a:gd name="connsiteY7" fmla="*/ 50229 h 256175"/>
                  <a:gd name="connsiteX8" fmla="*/ 25393 w 131551"/>
                  <a:gd name="connsiteY8" fmla="*/ 50229 h 256175"/>
                  <a:gd name="connsiteX9" fmla="*/ 25393 w 131551"/>
                  <a:gd name="connsiteY9" fmla="*/ 0 h 256175"/>
                  <a:gd name="connsiteX10" fmla="*/ 89343 w 131551"/>
                  <a:gd name="connsiteY10" fmla="*/ 0 h 256175"/>
                  <a:gd name="connsiteX11" fmla="*/ 89343 w 131551"/>
                  <a:gd name="connsiteY11" fmla="*/ 50229 h 256175"/>
                  <a:gd name="connsiteX12" fmla="*/ 131212 w 131551"/>
                  <a:gd name="connsiteY12" fmla="*/ 50229 h 256175"/>
                  <a:gd name="connsiteX13" fmla="*/ 131212 w 131551"/>
                  <a:gd name="connsiteY13" fmla="*/ 102638 h 256175"/>
                  <a:gd name="connsiteX14" fmla="*/ 89343 w 131551"/>
                  <a:gd name="connsiteY14" fmla="*/ 102638 h 256175"/>
                  <a:gd name="connsiteX15" fmla="*/ 89343 w 131551"/>
                  <a:gd name="connsiteY15" fmla="*/ 185318 h 256175"/>
                  <a:gd name="connsiteX16" fmla="*/ 93844 w 131551"/>
                  <a:gd name="connsiteY16" fmla="*/ 198567 h 256175"/>
                  <a:gd name="connsiteX17" fmla="*/ 108791 w 131551"/>
                  <a:gd name="connsiteY17" fmla="*/ 202592 h 256175"/>
                  <a:gd name="connsiteX18" fmla="*/ 131551 w 131551"/>
                  <a:gd name="connsiteY18" fmla="*/ 202592 h 25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551" h="256175">
                    <a:moveTo>
                      <a:pt x="131551" y="202676"/>
                    </a:moveTo>
                    <a:lnTo>
                      <a:pt x="131551" y="256175"/>
                    </a:lnTo>
                    <a:lnTo>
                      <a:pt x="99024" y="256175"/>
                    </a:lnTo>
                    <a:cubicBezTo>
                      <a:pt x="75839" y="256175"/>
                      <a:pt x="57750" y="250557"/>
                      <a:pt x="44841" y="239404"/>
                    </a:cubicBezTo>
                    <a:cubicBezTo>
                      <a:pt x="31932" y="228252"/>
                      <a:pt x="25393" y="209971"/>
                      <a:pt x="25393" y="184564"/>
                    </a:cubicBezTo>
                    <a:lnTo>
                      <a:pt x="25393" y="102638"/>
                    </a:lnTo>
                    <a:lnTo>
                      <a:pt x="0" y="102638"/>
                    </a:lnTo>
                    <a:lnTo>
                      <a:pt x="0" y="50229"/>
                    </a:lnTo>
                    <a:lnTo>
                      <a:pt x="25393" y="50229"/>
                    </a:lnTo>
                    <a:lnTo>
                      <a:pt x="25393" y="0"/>
                    </a:lnTo>
                    <a:lnTo>
                      <a:pt x="89343" y="0"/>
                    </a:lnTo>
                    <a:lnTo>
                      <a:pt x="89343" y="50229"/>
                    </a:lnTo>
                    <a:lnTo>
                      <a:pt x="131212" y="50229"/>
                    </a:lnTo>
                    <a:lnTo>
                      <a:pt x="131212" y="102638"/>
                    </a:lnTo>
                    <a:lnTo>
                      <a:pt x="89343" y="102638"/>
                    </a:lnTo>
                    <a:lnTo>
                      <a:pt x="89343" y="185318"/>
                    </a:lnTo>
                    <a:cubicBezTo>
                      <a:pt x="89343" y="191440"/>
                      <a:pt x="90872" y="195884"/>
                      <a:pt x="93844" y="198567"/>
                    </a:cubicBezTo>
                    <a:cubicBezTo>
                      <a:pt x="96816" y="201251"/>
                      <a:pt x="101827" y="202592"/>
                      <a:pt x="108791" y="202592"/>
                    </a:cubicBezTo>
                    <a:lnTo>
                      <a:pt x="131551" y="20259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25" name="Forma Livre 51">
                <a:extLst>
                  <a:ext uri="{FF2B5EF4-FFF2-40B4-BE49-F238E27FC236}">
                    <a16:creationId xmlns:a16="http://schemas.microsoft.com/office/drawing/2014/main" id="{DC68988C-AB5D-4AD7-A8DD-B6439A8DF5E3}"/>
                  </a:ext>
                </a:extLst>
              </p:cNvPr>
              <p:cNvSpPr/>
              <p:nvPr/>
            </p:nvSpPr>
            <p:spPr>
              <a:xfrm>
                <a:off x="3247515" y="1866988"/>
                <a:ext cx="75754" cy="295586"/>
              </a:xfrm>
              <a:custGeom>
                <a:avLst/>
                <a:gdLst>
                  <a:gd name="connsiteX0" fmla="*/ 10616 w 75754"/>
                  <a:gd name="connsiteY0" fmla="*/ 58530 h 295586"/>
                  <a:gd name="connsiteX1" fmla="*/ 0 w 75754"/>
                  <a:gd name="connsiteY1" fmla="*/ 34380 h 295586"/>
                  <a:gd name="connsiteX2" fmla="*/ 10616 w 75754"/>
                  <a:gd name="connsiteY2" fmla="*/ 9811 h 295586"/>
                  <a:gd name="connsiteX3" fmla="*/ 38047 w 75754"/>
                  <a:gd name="connsiteY3" fmla="*/ 0 h 295586"/>
                  <a:gd name="connsiteX4" fmla="*/ 65139 w 75754"/>
                  <a:gd name="connsiteY4" fmla="*/ 9811 h 295586"/>
                  <a:gd name="connsiteX5" fmla="*/ 75755 w 75754"/>
                  <a:gd name="connsiteY5" fmla="*/ 34380 h 295586"/>
                  <a:gd name="connsiteX6" fmla="*/ 65139 w 75754"/>
                  <a:gd name="connsiteY6" fmla="*/ 58530 h 295586"/>
                  <a:gd name="connsiteX7" fmla="*/ 38047 w 75754"/>
                  <a:gd name="connsiteY7" fmla="*/ 68341 h 295586"/>
                  <a:gd name="connsiteX8" fmla="*/ 10616 w 75754"/>
                  <a:gd name="connsiteY8" fmla="*/ 58530 h 295586"/>
                  <a:gd name="connsiteX9" fmla="*/ 69895 w 75754"/>
                  <a:gd name="connsiteY9" fmla="*/ 89724 h 295586"/>
                  <a:gd name="connsiteX10" fmla="*/ 69895 w 75754"/>
                  <a:gd name="connsiteY10" fmla="*/ 295587 h 295586"/>
                  <a:gd name="connsiteX11" fmla="*/ 5945 w 75754"/>
                  <a:gd name="connsiteY11" fmla="*/ 295587 h 295586"/>
                  <a:gd name="connsiteX12" fmla="*/ 5945 w 75754"/>
                  <a:gd name="connsiteY12" fmla="*/ 89724 h 295586"/>
                  <a:gd name="connsiteX13" fmla="*/ 69895 w 75754"/>
                  <a:gd name="connsiteY13" fmla="*/ 89724 h 2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5754" h="295586">
                    <a:moveTo>
                      <a:pt x="10616" y="58530"/>
                    </a:moveTo>
                    <a:cubicBezTo>
                      <a:pt x="3482" y="51990"/>
                      <a:pt x="0" y="43940"/>
                      <a:pt x="0" y="34380"/>
                    </a:cubicBezTo>
                    <a:cubicBezTo>
                      <a:pt x="0" y="24821"/>
                      <a:pt x="3567" y="16352"/>
                      <a:pt x="10616" y="9811"/>
                    </a:cubicBezTo>
                    <a:cubicBezTo>
                      <a:pt x="17665" y="3270"/>
                      <a:pt x="26837" y="0"/>
                      <a:pt x="38047" y="0"/>
                    </a:cubicBezTo>
                    <a:cubicBezTo>
                      <a:pt x="49257" y="0"/>
                      <a:pt x="58005" y="3270"/>
                      <a:pt x="65139" y="9811"/>
                    </a:cubicBezTo>
                    <a:cubicBezTo>
                      <a:pt x="72273" y="16352"/>
                      <a:pt x="75755" y="24485"/>
                      <a:pt x="75755" y="34380"/>
                    </a:cubicBezTo>
                    <a:cubicBezTo>
                      <a:pt x="75755" y="44275"/>
                      <a:pt x="72188" y="52074"/>
                      <a:pt x="65139" y="58530"/>
                    </a:cubicBezTo>
                    <a:cubicBezTo>
                      <a:pt x="58090" y="64987"/>
                      <a:pt x="49003" y="68341"/>
                      <a:pt x="38047" y="68341"/>
                    </a:cubicBezTo>
                    <a:cubicBezTo>
                      <a:pt x="27092" y="68341"/>
                      <a:pt x="17665" y="65071"/>
                      <a:pt x="10616" y="58530"/>
                    </a:cubicBezTo>
                    <a:close/>
                    <a:moveTo>
                      <a:pt x="69895" y="89724"/>
                    </a:moveTo>
                    <a:lnTo>
                      <a:pt x="69895" y="295587"/>
                    </a:lnTo>
                    <a:lnTo>
                      <a:pt x="5945" y="295587"/>
                    </a:lnTo>
                    <a:lnTo>
                      <a:pt x="5945" y="89724"/>
                    </a:lnTo>
                    <a:lnTo>
                      <a:pt x="69895" y="8972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26" name="Forma Livre 52">
                <a:extLst>
                  <a:ext uri="{FF2B5EF4-FFF2-40B4-BE49-F238E27FC236}">
                    <a16:creationId xmlns:a16="http://schemas.microsoft.com/office/drawing/2014/main" id="{96651B54-1056-4FAF-9307-395D0C11BC79}"/>
                  </a:ext>
                </a:extLst>
              </p:cNvPr>
              <p:cNvSpPr/>
              <p:nvPr/>
            </p:nvSpPr>
            <p:spPr>
              <a:xfrm>
                <a:off x="3363695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6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27" name="Forma Livre 53">
                <a:extLst>
                  <a:ext uri="{FF2B5EF4-FFF2-40B4-BE49-F238E27FC236}">
                    <a16:creationId xmlns:a16="http://schemas.microsoft.com/office/drawing/2014/main" id="{4B446112-60C9-4BAF-AB7C-2FD511D89DE9}"/>
                  </a:ext>
                </a:extLst>
              </p:cNvPr>
              <p:cNvSpPr/>
              <p:nvPr/>
            </p:nvSpPr>
            <p:spPr>
              <a:xfrm>
                <a:off x="3613804" y="1956712"/>
                <a:ext cx="207900" cy="208126"/>
              </a:xfrm>
              <a:custGeom>
                <a:avLst/>
                <a:gdLst>
                  <a:gd name="connsiteX0" fmla="*/ 207731 w 207900"/>
                  <a:gd name="connsiteY0" fmla="*/ 0 h 208126"/>
                  <a:gd name="connsiteX1" fmla="*/ 207731 w 207900"/>
                  <a:gd name="connsiteY1" fmla="*/ 205863 h 208126"/>
                  <a:gd name="connsiteX2" fmla="*/ 143781 w 207900"/>
                  <a:gd name="connsiteY2" fmla="*/ 205863 h 208126"/>
                  <a:gd name="connsiteX3" fmla="*/ 143781 w 207900"/>
                  <a:gd name="connsiteY3" fmla="*/ 177855 h 208126"/>
                  <a:gd name="connsiteX4" fmla="*/ 117454 w 207900"/>
                  <a:gd name="connsiteY4" fmla="*/ 199825 h 208126"/>
                  <a:gd name="connsiteX5" fmla="*/ 80680 w 207900"/>
                  <a:gd name="connsiteY5" fmla="*/ 208127 h 208126"/>
                  <a:gd name="connsiteX6" fmla="*/ 38472 w 207900"/>
                  <a:gd name="connsiteY6" fmla="*/ 197645 h 208126"/>
                  <a:gd name="connsiteX7" fmla="*/ 10106 w 207900"/>
                  <a:gd name="connsiteY7" fmla="*/ 167206 h 208126"/>
                  <a:gd name="connsiteX8" fmla="*/ 0 w 207900"/>
                  <a:gd name="connsiteY8" fmla="*/ 120331 h 208126"/>
                  <a:gd name="connsiteX9" fmla="*/ 0 w 207900"/>
                  <a:gd name="connsiteY9" fmla="*/ 0 h 208126"/>
                  <a:gd name="connsiteX10" fmla="*/ 63525 w 207900"/>
                  <a:gd name="connsiteY10" fmla="*/ 0 h 208126"/>
                  <a:gd name="connsiteX11" fmla="*/ 63525 w 207900"/>
                  <a:gd name="connsiteY11" fmla="*/ 111778 h 208126"/>
                  <a:gd name="connsiteX12" fmla="*/ 74396 w 207900"/>
                  <a:gd name="connsiteY12" fmla="*/ 143894 h 208126"/>
                  <a:gd name="connsiteX13" fmla="*/ 103526 w 207900"/>
                  <a:gd name="connsiteY13" fmla="*/ 155298 h 208126"/>
                  <a:gd name="connsiteX14" fmla="*/ 133080 w 207900"/>
                  <a:gd name="connsiteY14" fmla="*/ 143894 h 208126"/>
                  <a:gd name="connsiteX15" fmla="*/ 143951 w 207900"/>
                  <a:gd name="connsiteY15" fmla="*/ 111778 h 208126"/>
                  <a:gd name="connsiteX16" fmla="*/ 143951 w 207900"/>
                  <a:gd name="connsiteY16" fmla="*/ 0 h 208126"/>
                  <a:gd name="connsiteX17" fmla="*/ 207901 w 207900"/>
                  <a:gd name="connsiteY17" fmla="*/ 0 h 208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07900" h="208126">
                    <a:moveTo>
                      <a:pt x="207731" y="0"/>
                    </a:moveTo>
                    <a:lnTo>
                      <a:pt x="207731" y="205863"/>
                    </a:lnTo>
                    <a:lnTo>
                      <a:pt x="143781" y="205863"/>
                    </a:lnTo>
                    <a:lnTo>
                      <a:pt x="143781" y="177855"/>
                    </a:lnTo>
                    <a:cubicBezTo>
                      <a:pt x="137326" y="186995"/>
                      <a:pt x="128494" y="194291"/>
                      <a:pt x="117454" y="199825"/>
                    </a:cubicBezTo>
                    <a:cubicBezTo>
                      <a:pt x="106328" y="205359"/>
                      <a:pt x="94099" y="208127"/>
                      <a:pt x="80680" y="208127"/>
                    </a:cubicBezTo>
                    <a:cubicBezTo>
                      <a:pt x="64714" y="208127"/>
                      <a:pt x="50616" y="204605"/>
                      <a:pt x="38472" y="197645"/>
                    </a:cubicBezTo>
                    <a:cubicBezTo>
                      <a:pt x="26242" y="190601"/>
                      <a:pt x="16816" y="180455"/>
                      <a:pt x="10106" y="167206"/>
                    </a:cubicBezTo>
                    <a:cubicBezTo>
                      <a:pt x="3397" y="153957"/>
                      <a:pt x="0" y="138276"/>
                      <a:pt x="0" y="120331"/>
                    </a:cubicBezTo>
                    <a:lnTo>
                      <a:pt x="0" y="0"/>
                    </a:lnTo>
                    <a:lnTo>
                      <a:pt x="63525" y="0"/>
                    </a:lnTo>
                    <a:lnTo>
                      <a:pt x="63525" y="111778"/>
                    </a:lnTo>
                    <a:cubicBezTo>
                      <a:pt x="63525" y="125530"/>
                      <a:pt x="67092" y="136263"/>
                      <a:pt x="74396" y="143894"/>
                    </a:cubicBezTo>
                    <a:cubicBezTo>
                      <a:pt x="81615" y="151525"/>
                      <a:pt x="91381" y="155298"/>
                      <a:pt x="103526" y="155298"/>
                    </a:cubicBezTo>
                    <a:cubicBezTo>
                      <a:pt x="115670" y="155298"/>
                      <a:pt x="125776" y="151441"/>
                      <a:pt x="133080" y="143894"/>
                    </a:cubicBezTo>
                    <a:cubicBezTo>
                      <a:pt x="140299" y="136263"/>
                      <a:pt x="143951" y="125530"/>
                      <a:pt x="143951" y="111778"/>
                    </a:cubicBezTo>
                    <a:lnTo>
                      <a:pt x="143951" y="0"/>
                    </a:lnTo>
                    <a:lnTo>
                      <a:pt x="2079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28" name="Forma Livre 54">
                <a:extLst>
                  <a:ext uri="{FF2B5EF4-FFF2-40B4-BE49-F238E27FC236}">
                    <a16:creationId xmlns:a16="http://schemas.microsoft.com/office/drawing/2014/main" id="{F5A72377-CC05-4F37-AFA4-154472FFED0A}"/>
                  </a:ext>
                </a:extLst>
              </p:cNvPr>
              <p:cNvSpPr/>
              <p:nvPr/>
            </p:nvSpPr>
            <p:spPr>
              <a:xfrm>
                <a:off x="3854826" y="1953777"/>
                <a:ext cx="220045" cy="211732"/>
              </a:xfrm>
              <a:custGeom>
                <a:avLst/>
                <a:gdLst>
                  <a:gd name="connsiteX0" fmla="*/ 12144 w 220045"/>
                  <a:gd name="connsiteY0" fmla="*/ 49810 h 211732"/>
                  <a:gd name="connsiteX1" fmla="*/ 45181 w 220045"/>
                  <a:gd name="connsiteY1" fmla="*/ 12914 h 211732"/>
                  <a:gd name="connsiteX2" fmla="*/ 91891 w 220045"/>
                  <a:gd name="connsiteY2" fmla="*/ 0 h 211732"/>
                  <a:gd name="connsiteX3" fmla="*/ 130532 w 220045"/>
                  <a:gd name="connsiteY3" fmla="*/ 8889 h 211732"/>
                  <a:gd name="connsiteX4" fmla="*/ 156180 w 220045"/>
                  <a:gd name="connsiteY4" fmla="*/ 32116 h 211732"/>
                  <a:gd name="connsiteX5" fmla="*/ 156180 w 220045"/>
                  <a:gd name="connsiteY5" fmla="*/ 2935 h 211732"/>
                  <a:gd name="connsiteX6" fmla="*/ 220045 w 220045"/>
                  <a:gd name="connsiteY6" fmla="*/ 2935 h 211732"/>
                  <a:gd name="connsiteX7" fmla="*/ 220045 w 220045"/>
                  <a:gd name="connsiteY7" fmla="*/ 208797 h 211732"/>
                  <a:gd name="connsiteX8" fmla="*/ 156180 w 220045"/>
                  <a:gd name="connsiteY8" fmla="*/ 208797 h 211732"/>
                  <a:gd name="connsiteX9" fmla="*/ 156180 w 220045"/>
                  <a:gd name="connsiteY9" fmla="*/ 179616 h 211732"/>
                  <a:gd name="connsiteX10" fmla="*/ 130193 w 220045"/>
                  <a:gd name="connsiteY10" fmla="*/ 202844 h 211732"/>
                  <a:gd name="connsiteX11" fmla="*/ 91551 w 220045"/>
                  <a:gd name="connsiteY11" fmla="*/ 211732 h 211732"/>
                  <a:gd name="connsiteX12" fmla="*/ 45181 w 220045"/>
                  <a:gd name="connsiteY12" fmla="*/ 198651 h 211732"/>
                  <a:gd name="connsiteX13" fmla="*/ 12144 w 220045"/>
                  <a:gd name="connsiteY13" fmla="*/ 161420 h 211732"/>
                  <a:gd name="connsiteX14" fmla="*/ 0 w 220045"/>
                  <a:gd name="connsiteY14" fmla="*/ 105489 h 211732"/>
                  <a:gd name="connsiteX15" fmla="*/ 12144 w 220045"/>
                  <a:gd name="connsiteY15" fmla="*/ 49726 h 211732"/>
                  <a:gd name="connsiteX16" fmla="*/ 142932 w 220045"/>
                  <a:gd name="connsiteY16" fmla="*/ 68593 h 211732"/>
                  <a:gd name="connsiteX17" fmla="*/ 110575 w 220045"/>
                  <a:gd name="connsiteY17" fmla="*/ 54925 h 211732"/>
                  <a:gd name="connsiteX18" fmla="*/ 78218 w 220045"/>
                  <a:gd name="connsiteY18" fmla="*/ 68425 h 211732"/>
                  <a:gd name="connsiteX19" fmla="*/ 64969 w 220045"/>
                  <a:gd name="connsiteY19" fmla="*/ 105489 h 211732"/>
                  <a:gd name="connsiteX20" fmla="*/ 78218 w 220045"/>
                  <a:gd name="connsiteY20" fmla="*/ 142972 h 211732"/>
                  <a:gd name="connsiteX21" fmla="*/ 110575 w 220045"/>
                  <a:gd name="connsiteY21" fmla="*/ 156808 h 211732"/>
                  <a:gd name="connsiteX22" fmla="*/ 142932 w 220045"/>
                  <a:gd name="connsiteY22" fmla="*/ 143139 h 211732"/>
                  <a:gd name="connsiteX23" fmla="*/ 156180 w 220045"/>
                  <a:gd name="connsiteY23" fmla="*/ 105908 h 211732"/>
                  <a:gd name="connsiteX24" fmla="*/ 142932 w 220045"/>
                  <a:gd name="connsiteY24" fmla="*/ 68677 h 211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0045" h="211732">
                    <a:moveTo>
                      <a:pt x="12144" y="49810"/>
                    </a:moveTo>
                    <a:cubicBezTo>
                      <a:pt x="20213" y="33793"/>
                      <a:pt x="31253" y="21551"/>
                      <a:pt x="45181" y="12914"/>
                    </a:cubicBezTo>
                    <a:cubicBezTo>
                      <a:pt x="59109" y="4277"/>
                      <a:pt x="74736" y="0"/>
                      <a:pt x="91891" y="0"/>
                    </a:cubicBezTo>
                    <a:cubicBezTo>
                      <a:pt x="106583" y="0"/>
                      <a:pt x="119492" y="2935"/>
                      <a:pt x="130532" y="8889"/>
                    </a:cubicBezTo>
                    <a:cubicBezTo>
                      <a:pt x="141658" y="14758"/>
                      <a:pt x="150150" y="22557"/>
                      <a:pt x="156180" y="32116"/>
                    </a:cubicBezTo>
                    <a:lnTo>
                      <a:pt x="156180" y="2935"/>
                    </a:lnTo>
                    <a:lnTo>
                      <a:pt x="220045" y="2935"/>
                    </a:lnTo>
                    <a:lnTo>
                      <a:pt x="220045" y="208797"/>
                    </a:lnTo>
                    <a:lnTo>
                      <a:pt x="156180" y="208797"/>
                    </a:lnTo>
                    <a:lnTo>
                      <a:pt x="156180" y="179616"/>
                    </a:lnTo>
                    <a:cubicBezTo>
                      <a:pt x="149981" y="189175"/>
                      <a:pt x="141318" y="196974"/>
                      <a:pt x="130193" y="202844"/>
                    </a:cubicBezTo>
                    <a:cubicBezTo>
                      <a:pt x="119067" y="208714"/>
                      <a:pt x="106243" y="211732"/>
                      <a:pt x="91551" y="211732"/>
                    </a:cubicBezTo>
                    <a:cubicBezTo>
                      <a:pt x="74566" y="211732"/>
                      <a:pt x="59194" y="207372"/>
                      <a:pt x="45181" y="198651"/>
                    </a:cubicBezTo>
                    <a:cubicBezTo>
                      <a:pt x="31168" y="189930"/>
                      <a:pt x="20213" y="177520"/>
                      <a:pt x="12144" y="161420"/>
                    </a:cubicBezTo>
                    <a:cubicBezTo>
                      <a:pt x="4076" y="145320"/>
                      <a:pt x="0" y="126704"/>
                      <a:pt x="0" y="105489"/>
                    </a:cubicBezTo>
                    <a:cubicBezTo>
                      <a:pt x="0" y="84274"/>
                      <a:pt x="4076" y="65742"/>
                      <a:pt x="12144" y="49726"/>
                    </a:cubicBezTo>
                    <a:close/>
                    <a:moveTo>
                      <a:pt x="142932" y="68593"/>
                    </a:moveTo>
                    <a:cubicBezTo>
                      <a:pt x="134099" y="59537"/>
                      <a:pt x="123314" y="54925"/>
                      <a:pt x="110575" y="54925"/>
                    </a:cubicBezTo>
                    <a:cubicBezTo>
                      <a:pt x="97836" y="54925"/>
                      <a:pt x="87050" y="59453"/>
                      <a:pt x="78218" y="68425"/>
                    </a:cubicBezTo>
                    <a:cubicBezTo>
                      <a:pt x="69385" y="77398"/>
                      <a:pt x="64969" y="89808"/>
                      <a:pt x="64969" y="105489"/>
                    </a:cubicBezTo>
                    <a:cubicBezTo>
                      <a:pt x="64969" y="121170"/>
                      <a:pt x="69385" y="133748"/>
                      <a:pt x="78218" y="142972"/>
                    </a:cubicBezTo>
                    <a:cubicBezTo>
                      <a:pt x="87050" y="152196"/>
                      <a:pt x="97836" y="156808"/>
                      <a:pt x="110575" y="156808"/>
                    </a:cubicBezTo>
                    <a:cubicBezTo>
                      <a:pt x="123314" y="156808"/>
                      <a:pt x="134014" y="152280"/>
                      <a:pt x="142932" y="143139"/>
                    </a:cubicBezTo>
                    <a:cubicBezTo>
                      <a:pt x="151764" y="134083"/>
                      <a:pt x="156180" y="121589"/>
                      <a:pt x="156180" y="105908"/>
                    </a:cubicBezTo>
                    <a:cubicBezTo>
                      <a:pt x="156180" y="90227"/>
                      <a:pt x="151764" y="77733"/>
                      <a:pt x="142932" y="686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</p:grp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B70241D-EDB1-4355-A705-56DA8D2553BE}"/>
              </a:ext>
            </a:extLst>
          </p:cNvPr>
          <p:cNvSpPr txBox="1"/>
          <p:nvPr/>
        </p:nvSpPr>
        <p:spPr>
          <a:xfrm>
            <a:off x="998323" y="1175746"/>
            <a:ext cx="10958576" cy="330398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levar os estudantes a aplicar os conhecimentos construídos durante a aula, incentivando-os a promover autonomia, senso crítico, criatividade.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17 minutos.</a:t>
            </a:r>
          </a:p>
          <a:p>
            <a:pPr>
              <a:lnSpc>
                <a:spcPct val="107000"/>
              </a:lnSpc>
            </a:pPr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atividade pode ser feita no computador ou no caderno. Acompanhe os alunos e observe se entenderam o conceito de hierarquia de pastas.</a:t>
            </a: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associe a atividade com a rotina real do curso: “Pense que cada vez que fizer uma atividade no computador, você vai saber exatamente onde salvar. Isso ajuda a estudar melhor e a encontrar tudo na hora das provas.”;</a:t>
            </a:r>
          </a:p>
          <a:p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corrija exemplos genéricos (Nova pasta (2), Teste etc.);</a:t>
            </a:r>
          </a:p>
          <a:p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reforce que cada pasta representa uma disciplina ou tipo de atividade escolar;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l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embre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que os nomes não devem ter acentos 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etc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;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l</a:t>
            </a:r>
            <a:r>
              <a:rPr lang="pt-BR" sz="1000" b="1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embre</a:t>
            </a: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 que o Explorador de Arquivos do Windows (e praticamente todos os sistemas operacionais) organiza as pastas e arquivos em ordem alfabética automaticamente.</a:t>
            </a:r>
          </a:p>
          <a:p>
            <a:endParaRPr lang="pt-BR" sz="1000" noProof="0" dirty="0">
              <a:solidFill>
                <a:schemeClr val="dk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  <a:p>
            <a:r>
              <a:rPr lang="pt-BR" sz="1000" noProof="0" dirty="0">
                <a:solidFill>
                  <a:schemeClr val="dk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A atividade é de registro e deve ser </a:t>
            </a:r>
            <a:r>
              <a:rPr lang="pt-BR" sz="1000" b="1" noProof="0" dirty="0">
                <a:solidFill>
                  <a:schemeClr val="dk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entregue no AVA </a:t>
            </a:r>
            <a:r>
              <a:rPr lang="pt-BR" sz="1000" noProof="0" dirty="0">
                <a:solidFill>
                  <a:schemeClr val="dk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em um local indicado pelo professor.</a:t>
            </a:r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noProof="0" dirty="0">
              <a:solidFill>
                <a:schemeClr val="dk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Sorteio e apresentação das respostas (4 minutos)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: sortear duas ou três duplas para compartilharem suas respostas oralmente. </a:t>
            </a:r>
          </a:p>
          <a:p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Oval 20">
            <a:extLst>
              <a:ext uri="{FF2B5EF4-FFF2-40B4-BE49-F238E27FC236}">
                <a16:creationId xmlns:a16="http://schemas.microsoft.com/office/drawing/2014/main" id="{D4AF1A7A-12A1-4304-9A9F-F05D69C5C311}"/>
              </a:ext>
            </a:extLst>
          </p:cNvPr>
          <p:cNvSpPr/>
          <p:nvPr/>
        </p:nvSpPr>
        <p:spPr>
          <a:xfrm>
            <a:off x="472482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2216;p100">
            <a:extLst>
              <a:ext uri="{FF2B5EF4-FFF2-40B4-BE49-F238E27FC236}">
                <a16:creationId xmlns:a16="http://schemas.microsoft.com/office/drawing/2014/main" id="{DD328357-BD78-4871-B6DF-4847AC44DC2F}"/>
              </a:ext>
            </a:extLst>
          </p:cNvPr>
          <p:cNvSpPr/>
          <p:nvPr/>
        </p:nvSpPr>
        <p:spPr>
          <a:xfrm>
            <a:off x="546904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5290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1EABDD-19A5-6AF0-3FEB-ACDD13BB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70B5FC95-E319-4A68-9F05-7608D64209EA}"/>
              </a:ext>
            </a:extLst>
          </p:cNvPr>
          <p:cNvSpPr/>
          <p:nvPr/>
        </p:nvSpPr>
        <p:spPr>
          <a:xfrm>
            <a:off x="0" y="542260"/>
            <a:ext cx="12192000" cy="517876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EB199F-9994-C2E4-4235-46CC8EEB577C}"/>
              </a:ext>
            </a:extLst>
          </p:cNvPr>
          <p:cNvSpPr txBox="1"/>
          <p:nvPr/>
        </p:nvSpPr>
        <p:spPr>
          <a:xfrm>
            <a:off x="985520" y="560428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15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7" name="Conector Reto 7">
            <a:extLst>
              <a:ext uri="{FF2B5EF4-FFF2-40B4-BE49-F238E27FC236}">
                <a16:creationId xmlns:a16="http://schemas.microsoft.com/office/drawing/2014/main" id="{50322BD4-965C-48F3-8D73-0E33A949BFE5}"/>
              </a:ext>
            </a:extLst>
          </p:cNvPr>
          <p:cNvCxnSpPr>
            <a:cxnSpLocks/>
          </p:cNvCxnSpPr>
          <p:nvPr/>
        </p:nvCxnSpPr>
        <p:spPr>
          <a:xfrm flipV="1">
            <a:off x="664069" y="854208"/>
            <a:ext cx="0" cy="317853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20">
            <a:extLst>
              <a:ext uri="{FF2B5EF4-FFF2-40B4-BE49-F238E27FC236}">
                <a16:creationId xmlns:a16="http://schemas.microsoft.com/office/drawing/2014/main" id="{362F546F-950C-45D3-9309-2C3C78A65973}"/>
              </a:ext>
            </a:extLst>
          </p:cNvPr>
          <p:cNvSpPr/>
          <p:nvPr/>
        </p:nvSpPr>
        <p:spPr>
          <a:xfrm>
            <a:off x="471030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8398EFC1-1480-E5F2-979C-BAACF15C8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809" y="1182876"/>
            <a:ext cx="208026" cy="2667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4134EF6E-96BC-4B44-8AFA-26B72D1A914B}"/>
              </a:ext>
            </a:extLst>
          </p:cNvPr>
          <p:cNvSpPr txBox="1"/>
          <p:nvPr/>
        </p:nvSpPr>
        <p:spPr>
          <a:xfrm>
            <a:off x="998323" y="1175746"/>
            <a:ext cx="10958576" cy="2677656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noProof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2"/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Essa deve ser a h</a:t>
            </a:r>
            <a:r>
              <a:rPr lang="pt-BR" sz="1000" noProof="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ierarquia</a:t>
            </a:r>
            <a:r>
              <a:rPr lang="pt-BR" sz="1000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pastas criada conforme o enunciado: </a:t>
            </a: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pt-BR" sz="1000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 nomes devem estar padronizados e coerentes e o arquivo criado na pasta “</a:t>
            </a:r>
            <a:r>
              <a:rPr lang="pt-BR" sz="1000" noProof="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Informatica</a:t>
            </a:r>
            <a:r>
              <a:rPr lang="pt-BR" sz="1000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” com texto escrito.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📁 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Vida_Escolar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📁 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Inform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tica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Atividades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Estudos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Exerc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cios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    📄 Gerenciamento_de_Arquivos.txt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📁 Matem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tica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Atividades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Estudos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Exercicios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📁 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Portugues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Atividades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Estudos  </a:t>
            </a:r>
          </a:p>
          <a:p>
            <a:pPr lvl="2"/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      📁 </a:t>
            </a:r>
            <a:r>
              <a:rPr lang="pt-BR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Exerc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cios</a:t>
            </a:r>
          </a:p>
        </p:txBody>
      </p:sp>
    </p:spTree>
    <p:extLst>
      <p:ext uri="{BB962C8B-B14F-4D97-AF65-F5344CB8AC3E}">
        <p14:creationId xmlns:p14="http://schemas.microsoft.com/office/powerpoint/2010/main" val="373983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CF8EF205-8819-4C63-B2BD-1578ABFEED49}"/>
              </a:ext>
            </a:extLst>
          </p:cNvPr>
          <p:cNvSpPr/>
          <p:nvPr/>
        </p:nvSpPr>
        <p:spPr>
          <a:xfrm>
            <a:off x="0" y="542260"/>
            <a:ext cx="12192000" cy="517876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7">
            <a:extLst>
              <a:ext uri="{FF2B5EF4-FFF2-40B4-BE49-F238E27FC236}">
                <a16:creationId xmlns:a16="http://schemas.microsoft.com/office/drawing/2014/main" id="{DDA47A4E-16FB-4020-B132-78036EE94DF0}"/>
              </a:ext>
            </a:extLst>
          </p:cNvPr>
          <p:cNvCxnSpPr>
            <a:cxnSpLocks/>
          </p:cNvCxnSpPr>
          <p:nvPr/>
        </p:nvCxnSpPr>
        <p:spPr>
          <a:xfrm flipV="1">
            <a:off x="664069" y="854208"/>
            <a:ext cx="0" cy="3459884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D3BC7C-28C1-7DC2-665A-68D709ECA042}"/>
              </a:ext>
            </a:extLst>
          </p:cNvPr>
          <p:cNvSpPr txBox="1"/>
          <p:nvPr/>
        </p:nvSpPr>
        <p:spPr>
          <a:xfrm>
            <a:off x="985520" y="563039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16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4DBA7C-940F-C042-3626-460C69069086}"/>
              </a:ext>
            </a:extLst>
          </p:cNvPr>
          <p:cNvSpPr/>
          <p:nvPr/>
        </p:nvSpPr>
        <p:spPr>
          <a:xfrm>
            <a:off x="497841" y="355201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66996-F575-2D9B-FB10-9D63ABDB8BE3}"/>
              </a:ext>
            </a:extLst>
          </p:cNvPr>
          <p:cNvSpPr/>
          <p:nvPr/>
        </p:nvSpPr>
        <p:spPr>
          <a:xfrm>
            <a:off x="497841" y="271409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397EF8-7A9D-91D4-6673-39CEDC2E1885}"/>
              </a:ext>
            </a:extLst>
          </p:cNvPr>
          <p:cNvSpPr/>
          <p:nvPr/>
        </p:nvSpPr>
        <p:spPr>
          <a:xfrm>
            <a:off x="497841" y="204761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AC075A-B8C8-E930-4E60-044E1150CB99}"/>
              </a:ext>
            </a:extLst>
          </p:cNvPr>
          <p:cNvSpPr/>
          <p:nvPr/>
        </p:nvSpPr>
        <p:spPr>
          <a:xfrm>
            <a:off x="497841" y="157405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95306FF-08A1-054B-09E2-33A5D393CB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658" y="1667759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C7770A96-F87E-0498-2BA2-D02000C11890}"/>
              </a:ext>
            </a:extLst>
          </p:cNvPr>
          <p:cNvSpPr>
            <a:spLocks/>
          </p:cNvSpPr>
          <p:nvPr/>
        </p:nvSpPr>
        <p:spPr>
          <a:xfrm>
            <a:off x="568008" y="2126044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3E502561-9DB9-2437-2E6E-EF32977DD6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232" y="2784554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EA88AAEC-DD86-FF7B-F21F-28ED7E431D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867" y="3606139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7F6B292-3D83-E571-FD51-CCA61623FA94}"/>
              </a:ext>
            </a:extLst>
          </p:cNvPr>
          <p:cNvSpPr/>
          <p:nvPr/>
        </p:nvSpPr>
        <p:spPr>
          <a:xfrm>
            <a:off x="0" y="4500712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A9F9AB-C399-E7DA-505F-8CA14238343D}"/>
              </a:ext>
            </a:extLst>
          </p:cNvPr>
          <p:cNvSpPr txBox="1"/>
          <p:nvPr/>
        </p:nvSpPr>
        <p:spPr>
          <a:xfrm>
            <a:off x="985520" y="4510872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17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04533A7A-8EB8-E7B8-1D93-E6780BC1DB6B}"/>
              </a:ext>
            </a:extLst>
          </p:cNvPr>
          <p:cNvCxnSpPr>
            <a:cxnSpLocks/>
          </p:cNvCxnSpPr>
          <p:nvPr/>
        </p:nvCxnSpPr>
        <p:spPr>
          <a:xfrm flipH="1" flipV="1">
            <a:off x="690880" y="4751441"/>
            <a:ext cx="1" cy="162710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B7265E95-17DF-2822-E9FF-AD9252CAAC25}"/>
              </a:ext>
            </a:extLst>
          </p:cNvPr>
          <p:cNvSpPr/>
          <p:nvPr/>
        </p:nvSpPr>
        <p:spPr>
          <a:xfrm>
            <a:off x="497841" y="552252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56B0E120-245B-0E73-3BCA-DA3438A26824}"/>
              </a:ext>
            </a:extLst>
          </p:cNvPr>
          <p:cNvSpPr/>
          <p:nvPr/>
        </p:nvSpPr>
        <p:spPr>
          <a:xfrm>
            <a:off x="497841" y="505404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491EAECC-3B72-C43D-F3AB-2D6DCD81F71D}"/>
              </a:ext>
            </a:extLst>
          </p:cNvPr>
          <p:cNvSpPr/>
          <p:nvPr/>
        </p:nvSpPr>
        <p:spPr>
          <a:xfrm>
            <a:off x="572263" y="5152600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081CAE0-B47F-9DFC-7F3E-10B11AC3A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658" y="5616231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D48725F3-066D-C3A7-9D08-69DBC99A3642}"/>
              </a:ext>
            </a:extLst>
          </p:cNvPr>
          <p:cNvSpPr txBox="1"/>
          <p:nvPr/>
        </p:nvSpPr>
        <p:spPr>
          <a:xfrm>
            <a:off x="1000171" y="5173759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continuarem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val 20">
            <a:extLst>
              <a:ext uri="{FF2B5EF4-FFF2-40B4-BE49-F238E27FC236}">
                <a16:creationId xmlns:a16="http://schemas.microsoft.com/office/drawing/2014/main" id="{E46C5097-3F25-46D4-A476-07158300E038}"/>
              </a:ext>
            </a:extLst>
          </p:cNvPr>
          <p:cNvSpPr/>
          <p:nvPr/>
        </p:nvSpPr>
        <p:spPr>
          <a:xfrm>
            <a:off x="471030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2216;p100">
            <a:extLst>
              <a:ext uri="{FF2B5EF4-FFF2-40B4-BE49-F238E27FC236}">
                <a16:creationId xmlns:a16="http://schemas.microsoft.com/office/drawing/2014/main" id="{F14F2637-C72A-4393-BE80-0A18927C085B}"/>
              </a:ext>
            </a:extLst>
          </p:cNvPr>
          <p:cNvSpPr/>
          <p:nvPr/>
        </p:nvSpPr>
        <p:spPr>
          <a:xfrm>
            <a:off x="545452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565E725-4A43-4DC5-8BAF-D1E25A0241C2}"/>
              </a:ext>
            </a:extLst>
          </p:cNvPr>
          <p:cNvSpPr txBox="1"/>
          <p:nvPr/>
        </p:nvSpPr>
        <p:spPr>
          <a:xfrm>
            <a:off x="998323" y="1175746"/>
            <a:ext cx="10958576" cy="2677656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aula: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dentro do tempo estipulado;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conceitos;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necessárias;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os estudantes devem sair da aula com um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80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58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8" ma:contentTypeDescription="Crie um novo documento." ma:contentTypeScope="" ma:versionID="64f56a52a51cc80b8ddb3d94a2f0550b">
  <xsd:schema xmlns:xsd="http://www.w3.org/2001/XMLSchema" xmlns:xs="http://www.w3.org/2001/XMLSchema" xmlns:p="http://schemas.microsoft.com/office/2006/metadata/properties" xmlns:ns2="4facdbb2-8ef9-464d-a709-26ca1c337062" targetNamespace="http://schemas.microsoft.com/office/2006/metadata/properties" ma:root="true" ma:fieldsID="6bd439814cc2a84ec9ae5087f29ffa06" ns2:_="">
    <xsd:import namespace="4facdbb2-8ef9-464d-a709-26ca1c3370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2396A6-4422-4B27-B95E-3A964ABD2F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661F7A-1649-4A39-91A5-A3893F5678E5}">
  <ds:schemaRefs>
    <ds:schemaRef ds:uri="http://schemas.microsoft.com/office/2006/documentManagement/types"/>
    <ds:schemaRef ds:uri="http://purl.org/dc/elements/1.1/"/>
    <ds:schemaRef ds:uri="http://purl.org/dc/dcmitype/"/>
    <ds:schemaRef ds:uri="4facdbb2-8ef9-464d-a709-26ca1c337062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16147</TotalTime>
  <Words>2900</Words>
  <Application>Microsoft Office PowerPoint</Application>
  <PresentationFormat>Widescreen</PresentationFormat>
  <Paragraphs>263</Paragraphs>
  <Slides>26</Slides>
  <Notes>23</Notes>
  <HiddenSlides>8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26</vt:i4>
      </vt:variant>
    </vt:vector>
  </HeadingPairs>
  <TitlesOfParts>
    <vt:vector size="34" baseType="lpstr">
      <vt:lpstr>Poppins</vt:lpstr>
      <vt:lpstr>Poppins Bold</vt:lpstr>
      <vt:lpstr>Arial</vt:lpstr>
      <vt:lpstr>Poppins Medium</vt:lpstr>
      <vt:lpstr>Calibri</vt:lpstr>
      <vt:lpstr>Poppins Light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Luca Santiago Rocha</cp:lastModifiedBy>
  <cp:revision>1219</cp:revision>
  <dcterms:modified xsi:type="dcterms:W3CDTF">2026-02-05T20:02:47Z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