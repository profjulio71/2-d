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29"/>
  </p:notesMasterIdLst>
  <p:handoutMasterIdLst>
    <p:handoutMasterId r:id="rId30"/>
  </p:handoutMasterIdLst>
  <p:sldIdLst>
    <p:sldId id="1273" r:id="rId5"/>
    <p:sldId id="1394" r:id="rId6"/>
    <p:sldId id="1395" r:id="rId7"/>
    <p:sldId id="1396" r:id="rId8"/>
    <p:sldId id="1397" r:id="rId9"/>
    <p:sldId id="1400" r:id="rId10"/>
    <p:sldId id="1331" r:id="rId11"/>
    <p:sldId id="567" r:id="rId12"/>
    <p:sldId id="1362" r:id="rId13"/>
    <p:sldId id="1384" r:id="rId14"/>
    <p:sldId id="534" r:id="rId15"/>
    <p:sldId id="1290" r:id="rId16"/>
    <p:sldId id="1291" r:id="rId17"/>
    <p:sldId id="530" r:id="rId18"/>
    <p:sldId id="529" r:id="rId19"/>
    <p:sldId id="1293" r:id="rId20"/>
    <p:sldId id="1294" r:id="rId21"/>
    <p:sldId id="1295" r:id="rId22"/>
    <p:sldId id="1296" r:id="rId23"/>
    <p:sldId id="1329" r:id="rId24"/>
    <p:sldId id="1336" r:id="rId25"/>
    <p:sldId id="690" r:id="rId26"/>
    <p:sldId id="1337" r:id="rId27"/>
    <p:sldId id="1302" r:id="rId28"/>
  </p:sldIdLst>
  <p:sldSz cx="12192000" cy="6858000"/>
  <p:notesSz cx="6858000" cy="9144000"/>
  <p:embeddedFontLst>
    <p:embeddedFont>
      <p:font typeface="Poppins" panose="00000500000000000000" pitchFamily="2" charset="0"/>
      <p:regular r:id="rId31"/>
      <p:bold r:id="rId32"/>
      <p:italic r:id="rId33"/>
      <p:boldItalic r:id="rId34"/>
    </p:embeddedFont>
    <p:embeddedFont>
      <p:font typeface="Poppins Bold" panose="00000800000000000000" pitchFamily="2" charset="0"/>
      <p:regular r:id="rId35"/>
      <p:bold r:id="rId36"/>
      <p:italic r:id="rId37"/>
      <p:boldItalic r:id="rId38"/>
    </p:embeddedFont>
    <p:embeddedFont>
      <p:font typeface="Poppins Light" panose="000004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610C16-66F6-B1A4-9D90-062FE2F1FDF0}" name="Marcos Gimenes" initials="MG" userId="c32f034e2807843d" providerId="Windows Live"/>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A42D7C86-2999-ABEF-315C-7093285DA929}" name="Usuário Convidado" initials="UC" userId="S::urn:spo:tenantanon#4a187474-b69b-445f-9d2d-b39f721fca7f::" providerId="AD"/>
  <p188:author id="{BFFA9486-43ED-CA1A-8701-A106D5798246}" name="Mainã Greeb Vicente" initials="MV" userId="S::mgreeb@vanzolini-ead.org.br::fd9f705a-0a89-4b5e-afba-2e796769ec11" providerId="AD"/>
  <p188:author id="{8DD8E787-7B43-E508-6891-C6122D24A71C}" name="Douglas José Mendonça" initials="DM" userId="4153c5f748151241" providerId="Windows Live"/>
  <p188:author id="{377AEB95-F34C-FEB2-A03E-D3DA85656470}" name="Izabella Saadi Cerutti" initials="IS" userId="4295702eb40843b9" providerId="Windows Live"/>
  <p188:author id="{EA7E6897-FBE9-9C70-C068-FD298403604C}" name="JOSE AVELINO PLACCA" initials="JP" userId="S::jose.placca@fatec.sp.gov.br::5607103a-18bc-4249-a88b-cf9b68ce5d63" providerId="AD"/>
  <p188:author id="{B74062B8-8947-A910-EE1E-8786B94DA4B0}" name="Douglas José Mendonça" initials="DM" userId="S::douglas_mendonca@vanzolini-ead.org.br::5072134e-9038-4068-846d-3ccb0206f133" providerId="AD"/>
  <p188:author id="{9D095BDE-F5FA-7BD7-1A64-22CC9666D052}" name="Victor Frohlich" initials="VF" userId="1cc2284370bbaaa1" providerId="Windows Liv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7030A0"/>
    <a:srgbClr val="FF0000"/>
    <a:srgbClr val="AAA6D3"/>
    <a:srgbClr val="FFFFFF"/>
    <a:srgbClr val="EE0000"/>
    <a:srgbClr val="3E3593"/>
    <a:srgbClr val="312F67"/>
    <a:srgbClr val="EC4E58"/>
    <a:srgbClr val="E83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2636" autoAdjust="0"/>
  </p:normalViewPr>
  <p:slideViewPr>
    <p:cSldViewPr snapToGrid="0">
      <p:cViewPr varScale="1">
        <p:scale>
          <a:sx n="82" d="100"/>
          <a:sy n="82" d="100"/>
        </p:scale>
        <p:origin x="461"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28/01/2026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2709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AB61DF2C-CC74-04BA-B120-F9BA8BB3EC0C}"/>
            </a:ext>
          </a:extLst>
        </p:cNvPr>
        <p:cNvGrpSpPr/>
        <p:nvPr/>
      </p:nvGrpSpPr>
      <p:grpSpPr>
        <a:xfrm>
          <a:off x="0" y="0"/>
          <a:ext cx="0" cy="0"/>
          <a:chOff x="0" y="0"/>
          <a:chExt cx="0" cy="0"/>
        </a:xfrm>
      </p:grpSpPr>
      <p:sp>
        <p:nvSpPr>
          <p:cNvPr id="640" name="Google Shape;640;p1:notes">
            <a:extLst>
              <a:ext uri="{FF2B5EF4-FFF2-40B4-BE49-F238E27FC236}">
                <a16:creationId xmlns:a16="http://schemas.microsoft.com/office/drawing/2014/main" id="{C48CEA68-FCA4-EE71-5F7D-E0B9BE8CB6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a:extLst>
              <a:ext uri="{FF2B5EF4-FFF2-40B4-BE49-F238E27FC236}">
                <a16:creationId xmlns:a16="http://schemas.microsoft.com/office/drawing/2014/main" id="{29D25337-75F1-5FC1-247D-790995CC32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5540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11AEF-0254-62E8-5788-5594690D306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403468D-9D6E-A992-C1E8-99504FE22EB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C023652-8667-5D48-8675-DAB52C44E7C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6DFB0E1-7F2D-1A60-FE25-6199CBA960F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8449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ADF24372-0BEC-018F-8EA8-015A54D64C39}"/>
            </a:ext>
          </a:extLst>
        </p:cNvPr>
        <p:cNvGrpSpPr/>
        <p:nvPr/>
      </p:nvGrpSpPr>
      <p:grpSpPr>
        <a:xfrm>
          <a:off x="0" y="0"/>
          <a:ext cx="0" cy="0"/>
          <a:chOff x="0" y="0"/>
          <a:chExt cx="0" cy="0"/>
        </a:xfrm>
      </p:grpSpPr>
      <p:sp>
        <p:nvSpPr>
          <p:cNvPr id="651" name="Google Shape;651;p3:notes">
            <a:extLst>
              <a:ext uri="{FF2B5EF4-FFF2-40B4-BE49-F238E27FC236}">
                <a16:creationId xmlns:a16="http://schemas.microsoft.com/office/drawing/2014/main" id="{810039BD-A99F-DD4F-5873-B298B5B374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a:extLst>
              <a:ext uri="{FF2B5EF4-FFF2-40B4-BE49-F238E27FC236}">
                <a16:creationId xmlns:a16="http://schemas.microsoft.com/office/drawing/2014/main" id="{19F645BE-B872-4BB2-3CB8-54E9081DA7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9899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a:extLst>
            <a:ext uri="{FF2B5EF4-FFF2-40B4-BE49-F238E27FC236}">
              <a16:creationId xmlns:a16="http://schemas.microsoft.com/office/drawing/2014/main" id="{7EB424F7-8A48-74D6-ED97-9715E58F4476}"/>
            </a:ext>
          </a:extLst>
        </p:cNvPr>
        <p:cNvGrpSpPr/>
        <p:nvPr/>
      </p:nvGrpSpPr>
      <p:grpSpPr>
        <a:xfrm>
          <a:off x="0" y="0"/>
          <a:ext cx="0" cy="0"/>
          <a:chOff x="0" y="0"/>
          <a:chExt cx="0" cy="0"/>
        </a:xfrm>
      </p:grpSpPr>
      <p:sp>
        <p:nvSpPr>
          <p:cNvPr id="671" name="Google Shape;671;p5:notes">
            <a:extLst>
              <a:ext uri="{FF2B5EF4-FFF2-40B4-BE49-F238E27FC236}">
                <a16:creationId xmlns:a16="http://schemas.microsoft.com/office/drawing/2014/main" id="{BF68DED4-129E-F104-F2B0-86E19A84F9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2" name="Google Shape;672;p5:notes">
            <a:extLst>
              <a:ext uri="{FF2B5EF4-FFF2-40B4-BE49-F238E27FC236}">
                <a16:creationId xmlns:a16="http://schemas.microsoft.com/office/drawing/2014/main" id="{398F4068-A684-AC71-7006-FD561D6749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6549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2" name="Google Shape;6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030635E9-A6F8-0C3E-B263-8DFF96D33C98}"/>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DB0430FB-5B93-28C5-749C-88FCD8BAAA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13:notes">
            <a:extLst>
              <a:ext uri="{FF2B5EF4-FFF2-40B4-BE49-F238E27FC236}">
                <a16:creationId xmlns:a16="http://schemas.microsoft.com/office/drawing/2014/main" id="{5042B77B-F86D-57DA-57FE-6B042194CE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1926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9068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2208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B76F30A-5EFE-3CCD-F11E-167422ADB71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2E6B615F-FD7A-6DF5-7BA7-7B18B061F1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C96FF24-BA94-5CD9-FF44-DCBA09F82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9620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230400">
              <a:lnSpc>
                <a:spcPct val="107000"/>
              </a:lnSpc>
              <a:spcAft>
                <a:spcPts val="800"/>
              </a:spcAft>
            </a:pPr>
            <a:r>
              <a:rPr lang="pt-BR" sz="18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3971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2610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2395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5526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1B9D1-0BA0-D5CF-A1EB-3728966625C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5BA20F7-919D-D7F3-8BE0-F686CA54824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607AFE2-A1FD-D75C-F85C-B46A3D94B30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153116B-20A3-0A25-E4D8-FDB8EF2CEA3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11208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D0DF5-C235-95F6-3F49-D93834B9F03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1A647D4-707A-5766-AA4C-11BC9D9D571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DF81B38-6F29-0245-37C3-7109427F923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9A5B758-F716-42F0-71A4-FF6B110A04D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4858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C4AA-F382-799C-DDF1-F28AFCB7132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25FF486-3885-54BF-2C07-B87B72C2A07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9690990-DBE2-35C5-68FC-E7355BBDFA0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C43144E-BC81-3881-CF28-8596FCB72FF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0905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B836B-4AF5-82B5-6FF9-09AA69EC919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5B3FF79-0CDB-A266-C9B0-4768718D9D6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0AA496A-0EB0-425A-DE54-FE2EA701248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B3C4AC3-D062-130E-35B0-3E570AF3D05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59462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2385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2" name="Retângulo: Cantos Arredondados 3">
            <a:extLst>
              <a:ext uri="{FF2B5EF4-FFF2-40B4-BE49-F238E27FC236}">
                <a16:creationId xmlns:a16="http://schemas.microsoft.com/office/drawing/2014/main" id="{EA0CFB81-7623-A7ED-0056-699306CF27C5}"/>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Box 4">
            <a:extLst>
              <a:ext uri="{FF2B5EF4-FFF2-40B4-BE49-F238E27FC236}">
                <a16:creationId xmlns:a16="http://schemas.microsoft.com/office/drawing/2014/main" id="{CF524BA5-8A5B-145B-7D69-2189A7ECA0A4}"/>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dirty="0">
                <a:solidFill>
                  <a:srgbClr val="000000"/>
                </a:solidFill>
                <a:latin typeface="Poppins Bold"/>
              </a:rPr>
              <a:t>Educação Profissional Paulista</a:t>
            </a:r>
          </a:p>
        </p:txBody>
      </p:sp>
      <p:sp>
        <p:nvSpPr>
          <p:cNvPr id="11" name="TextBox 5">
            <a:extLst>
              <a:ext uri="{FF2B5EF4-FFF2-40B4-BE49-F238E27FC236}">
                <a16:creationId xmlns:a16="http://schemas.microsoft.com/office/drawing/2014/main" id="{98280850-023D-A739-FC0C-EF20B5B8E50C}"/>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dirty="0">
                <a:solidFill>
                  <a:srgbClr val="FFFFFF"/>
                </a:solidFill>
                <a:latin typeface="Poppins Light"/>
              </a:rPr>
              <a:t>Técnico em </a:t>
            </a:r>
          </a:p>
        </p:txBody>
      </p:sp>
      <p:sp>
        <p:nvSpPr>
          <p:cNvPr id="12" name="TextBox 6">
            <a:extLst>
              <a:ext uri="{FF2B5EF4-FFF2-40B4-BE49-F238E27FC236}">
                <a16:creationId xmlns:a16="http://schemas.microsoft.com/office/drawing/2014/main" id="{BD347C05-9ADD-70B2-6601-E4FADB3DAC99}"/>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dirty="0">
                <a:solidFill>
                  <a:srgbClr val="FFFFFF"/>
                </a:solidFill>
                <a:latin typeface="Poppins Bold"/>
              </a:rPr>
              <a:t>Ciência de</a:t>
            </a:r>
          </a:p>
          <a:p>
            <a:pPr>
              <a:lnSpc>
                <a:spcPct val="100000"/>
              </a:lnSpc>
            </a:pPr>
            <a:r>
              <a:rPr lang="pt-BR" sz="3334" noProof="0" dirty="0">
                <a:solidFill>
                  <a:srgbClr val="FFFFFF"/>
                </a:solidFill>
                <a:latin typeface="Poppins Bold"/>
              </a:rPr>
              <a:t>Dados</a:t>
            </a:r>
          </a:p>
        </p:txBody>
      </p:sp>
      <p:pic>
        <p:nvPicPr>
          <p:cNvPr id="4" name="Imagem 3" descr="Logotipo&#10;&#10;O conteúdo gerado por IA pode estar incorreto.">
            <a:extLst>
              <a:ext uri="{FF2B5EF4-FFF2-40B4-BE49-F238E27FC236}">
                <a16:creationId xmlns:a16="http://schemas.microsoft.com/office/drawing/2014/main" id="{2A0D9EF5-7301-8422-B2FA-2784BE301E32}"/>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177496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ECCB835E-A92E-1E72-1AFA-B8363F23E5A9}"/>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6" name="Agrupar 5">
            <a:extLst>
              <a:ext uri="{FF2B5EF4-FFF2-40B4-BE49-F238E27FC236}">
                <a16:creationId xmlns:a16="http://schemas.microsoft.com/office/drawing/2014/main" id="{297C1750-32A8-1D35-7B53-BED4F29ABADF}"/>
              </a:ext>
            </a:extLst>
          </p:cNvPr>
          <p:cNvGrpSpPr/>
          <p:nvPr userDrawn="1"/>
        </p:nvGrpSpPr>
        <p:grpSpPr>
          <a:xfrm>
            <a:off x="10400796" y="6090630"/>
            <a:ext cx="1791203" cy="767370"/>
            <a:chOff x="10400796" y="6090630"/>
            <a:chExt cx="1791203" cy="767370"/>
          </a:xfrm>
        </p:grpSpPr>
        <p:sp>
          <p:nvSpPr>
            <p:cNvPr id="10" name="Retângulo: Cantos Superiores Arredondados 9">
              <a:extLst>
                <a:ext uri="{FF2B5EF4-FFF2-40B4-BE49-F238E27FC236}">
                  <a16:creationId xmlns:a16="http://schemas.microsoft.com/office/drawing/2014/main" id="{EEFCDB2F-FD01-3AC7-B854-BA0D5D881F11}"/>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C82A0E37-894A-B608-B0DB-1A47CF2910B0}"/>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2" name="Imagem 11" descr="Logotipo&#10;&#10;O conteúdo gerado por IA pode estar incorreto.">
            <a:extLst>
              <a:ext uri="{FF2B5EF4-FFF2-40B4-BE49-F238E27FC236}">
                <a16:creationId xmlns:a16="http://schemas.microsoft.com/office/drawing/2014/main" id="{9B356D5B-4542-D660-E289-0AC2BE449C34}"/>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4" name="Agrupar 13">
            <a:extLst>
              <a:ext uri="{FF2B5EF4-FFF2-40B4-BE49-F238E27FC236}">
                <a16:creationId xmlns:a16="http://schemas.microsoft.com/office/drawing/2014/main" id="{FA2A85EE-BB75-0B8B-2F96-D3311E5BAE51}"/>
              </a:ext>
            </a:extLst>
          </p:cNvPr>
          <p:cNvGrpSpPr/>
          <p:nvPr userDrawn="1"/>
        </p:nvGrpSpPr>
        <p:grpSpPr>
          <a:xfrm>
            <a:off x="0" y="1"/>
            <a:ext cx="8566485" cy="5380264"/>
            <a:chOff x="0" y="0"/>
            <a:chExt cx="8566485" cy="5808133"/>
          </a:xfrm>
        </p:grpSpPr>
        <p:sp>
          <p:nvSpPr>
            <p:cNvPr id="15" name="Retângulo 14">
              <a:extLst>
                <a:ext uri="{FF2B5EF4-FFF2-40B4-BE49-F238E27FC236}">
                  <a16:creationId xmlns:a16="http://schemas.microsoft.com/office/drawing/2014/main" id="{598CE15B-ED1A-9D07-0A80-92B6D6FFD7A3}"/>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Cantos Arredondados 15">
              <a:extLst>
                <a:ext uri="{FF2B5EF4-FFF2-40B4-BE49-F238E27FC236}">
                  <a16:creationId xmlns:a16="http://schemas.microsoft.com/office/drawing/2014/main" id="{DE003238-E077-FEDE-7B5E-BBB88BD51A78}"/>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2016C26A-DE07-D122-4B37-055FA800B952}"/>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B1FADC0B-1941-A0A5-16A0-A6F876CF44EF}"/>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3" name="Agrupar 2">
            <a:extLst>
              <a:ext uri="{FF2B5EF4-FFF2-40B4-BE49-F238E27FC236}">
                <a16:creationId xmlns:a16="http://schemas.microsoft.com/office/drawing/2014/main" id="{7A8D44C4-D35C-8781-1C3A-50E9453C32BA}"/>
              </a:ext>
            </a:extLst>
          </p:cNvPr>
          <p:cNvGrpSpPr/>
          <p:nvPr userDrawn="1"/>
        </p:nvGrpSpPr>
        <p:grpSpPr>
          <a:xfrm>
            <a:off x="0" y="1"/>
            <a:ext cx="8566485" cy="5380264"/>
            <a:chOff x="0" y="0"/>
            <a:chExt cx="8566485" cy="5808133"/>
          </a:xfrm>
        </p:grpSpPr>
        <p:sp>
          <p:nvSpPr>
            <p:cNvPr id="9" name="Retângulo 8">
              <a:extLst>
                <a:ext uri="{FF2B5EF4-FFF2-40B4-BE49-F238E27FC236}">
                  <a16:creationId xmlns:a16="http://schemas.microsoft.com/office/drawing/2014/main" id="{4765A9EC-F01E-E6A7-AB0E-688290CEFF38}"/>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Cantos Arredondados 9">
              <a:extLst>
                <a:ext uri="{FF2B5EF4-FFF2-40B4-BE49-F238E27FC236}">
                  <a16:creationId xmlns:a16="http://schemas.microsoft.com/office/drawing/2014/main" id="{10479DA9-A510-BE21-944C-A577E02F6DD5}"/>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9C0E72F7-9256-155C-323E-AC472F19B0CA}"/>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41" name="Google Shape;203;p21">
            <a:extLst>
              <a:ext uri="{FF2B5EF4-FFF2-40B4-BE49-F238E27FC236}">
                <a16:creationId xmlns:a16="http://schemas.microsoft.com/office/drawing/2014/main" id="{9DDC5778-3EED-652F-B839-CCA84D3C4B20}"/>
              </a:ext>
            </a:extLst>
          </p:cNvPr>
          <p:cNvPicPr preferRelativeResize="0"/>
          <p:nvPr userDrawn="1"/>
        </p:nvPicPr>
        <p:blipFill rotWithShape="1">
          <a:blip r:embed="rId2">
            <a:alphaModFix/>
          </a:blip>
          <a:srcRect l="43252" t="14556" r="41611" b="16115"/>
          <a:stretch/>
        </p:blipFill>
        <p:spPr>
          <a:xfrm rot="10800000">
            <a:off x="-7" y="-9602"/>
            <a:ext cx="3426937" cy="6895887"/>
          </a:xfrm>
          <a:prstGeom prst="rect">
            <a:avLst/>
          </a:prstGeom>
          <a:noFill/>
          <a:ln>
            <a:noFill/>
          </a:ln>
        </p:spPr>
      </p:pic>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 name="Retângulo: Cantos Arredondados 1">
            <a:extLst>
              <a:ext uri="{FF2B5EF4-FFF2-40B4-BE49-F238E27FC236}">
                <a16:creationId xmlns:a16="http://schemas.microsoft.com/office/drawing/2014/main" id="{E8F9DD80-D731-8A74-ABA9-5A5B4FE61ACA}"/>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Google Shape;101;p34">
            <a:extLst>
              <a:ext uri="{FF2B5EF4-FFF2-40B4-BE49-F238E27FC236}">
                <a16:creationId xmlns:a16="http://schemas.microsoft.com/office/drawing/2014/main" id="{E1A97872-B9EF-0AFD-3514-284372397B96}"/>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98271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lang="pt-BR" sz="20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474545"/>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lang="pt-BR" sz="20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52962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2660292"/>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3">
            <a:alphaModFix/>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932735F0-D652-9FE3-DE2A-DEF97ECEDB9C}"/>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69;p32">
            <a:extLst>
              <a:ext uri="{FF2B5EF4-FFF2-40B4-BE49-F238E27FC236}">
                <a16:creationId xmlns:a16="http://schemas.microsoft.com/office/drawing/2014/main" id="{D470FFB3-0925-CBA0-FA15-5B3AA0CF1E9B}"/>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2549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3" name="Google Shape;22;p4">
            <a:extLst>
              <a:ext uri="{FF2B5EF4-FFF2-40B4-BE49-F238E27FC236}">
                <a16:creationId xmlns:a16="http://schemas.microsoft.com/office/drawing/2014/main" id="{4C6347CA-4494-5E4E-E655-CDA6EC629BB0}"/>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16" name="Google Shape;23;p4">
            <a:extLst>
              <a:ext uri="{FF2B5EF4-FFF2-40B4-BE49-F238E27FC236}">
                <a16:creationId xmlns:a16="http://schemas.microsoft.com/office/drawing/2014/main" id="{AE1F9DD4-49DE-EFA5-E344-674DCAD12147}"/>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8" name="Retângulo: Cantos Arredondados 1">
            <a:extLst>
              <a:ext uri="{FF2B5EF4-FFF2-40B4-BE49-F238E27FC236}">
                <a16:creationId xmlns:a16="http://schemas.microsoft.com/office/drawing/2014/main" id="{E992EC7C-78B1-D3E8-BF2B-F2F1CDBFB29D}"/>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Google Shape;101;p34">
            <a:extLst>
              <a:ext uri="{FF2B5EF4-FFF2-40B4-BE49-F238E27FC236}">
                <a16:creationId xmlns:a16="http://schemas.microsoft.com/office/drawing/2014/main" id="{7FCFA5CE-7ED5-41DC-E0FC-25ED2D8ACB20}"/>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a:alphaModFix/>
          </a:blip>
          <a:srcRect l="429" t="12285" r="30240" b="18386"/>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4" name="Retângulo: Cantos Arredondados 5">
            <a:extLst>
              <a:ext uri="{FF2B5EF4-FFF2-40B4-BE49-F238E27FC236}">
                <a16:creationId xmlns:a16="http://schemas.microsoft.com/office/drawing/2014/main" id="{502B0B47-4DEB-6859-3673-9CB0256CB9F5}"/>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231;p21">
            <a:extLst>
              <a:ext uri="{FF2B5EF4-FFF2-40B4-BE49-F238E27FC236}">
                <a16:creationId xmlns:a16="http://schemas.microsoft.com/office/drawing/2014/main" id="{AC73E042-91B7-13A3-8ECD-BE4FCA715544}"/>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2" name="Google Shape;113;p10">
            <a:extLst>
              <a:ext uri="{FF2B5EF4-FFF2-40B4-BE49-F238E27FC236}">
                <a16:creationId xmlns:a16="http://schemas.microsoft.com/office/drawing/2014/main" id="{6DB00E26-BCDE-0E55-ED92-7563396D6975}"/>
              </a:ext>
            </a:extLst>
          </p:cNvPr>
          <p:cNvPicPr preferRelativeResize="0"/>
          <p:nvPr userDrawn="1"/>
        </p:nvPicPr>
        <p:blipFill rotWithShape="1">
          <a:blip r:embed="rId2">
            <a:alphaModFix/>
          </a:blip>
          <a:srcRect l="31822" r="41781"/>
          <a:stretch/>
        </p:blipFill>
        <p:spPr>
          <a:xfrm>
            <a:off x="0" y="0"/>
            <a:ext cx="3218199" cy="6858000"/>
          </a:xfrm>
          <a:prstGeom prst="rect">
            <a:avLst/>
          </a:prstGeom>
          <a:noFill/>
          <a:ln>
            <a:noFill/>
          </a:ln>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3641085" y="1210734"/>
            <a:ext cx="7610475" cy="2825557"/>
          </a:xfrm>
          <a:prstGeom prst="rect">
            <a:avLst/>
          </a:prstGeom>
          <a:solidFill>
            <a:srgbClr val="D9D9D9"/>
          </a:solidFill>
        </p:spPr>
        <p:txBody>
          <a:bodyPr/>
          <a:lstStyle>
            <a:lvl1pPr>
              <a:defRPr sz="12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4736123" y="-64476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7" name="Retângulo: Cantos Arredondados 1">
            <a:extLst>
              <a:ext uri="{FF2B5EF4-FFF2-40B4-BE49-F238E27FC236}">
                <a16:creationId xmlns:a16="http://schemas.microsoft.com/office/drawing/2014/main" id="{7552994D-60FC-7CFC-980C-84169D7586B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extLst>
    <p:ext uri="{DCECCB84-F9BA-43D5-87BE-67443E8EF086}">
      <p15:sldGuideLst xmlns:p15="http://schemas.microsoft.com/office/powerpoint/2012/main">
        <p15:guide id="1" orient="horz" pos="542" userDrawn="1">
          <p15:clr>
            <a:srgbClr val="FBAE40"/>
          </p15:clr>
        </p15:guide>
        <p15:guide id="2" pos="22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a:alphaModFix/>
          </a:blip>
          <a:srcRect l="429" t="12285" r="30240" b="18386"/>
          <a:stretch/>
        </p:blipFill>
        <p:spPr>
          <a:xfrm rot="10800000">
            <a:off x="0" y="12"/>
            <a:ext cx="12192000" cy="6857989"/>
          </a:xfrm>
          <a:prstGeom prst="rect">
            <a:avLst/>
          </a:prstGeom>
          <a:noFill/>
          <a:ln>
            <a:noFill/>
          </a:ln>
        </p:spPr>
      </p:pic>
      <p:sp>
        <p:nvSpPr>
          <p:cNvPr id="4" name="Retângulo: Cantos Arredondados 3">
            <a:extLst>
              <a:ext uri="{FF2B5EF4-FFF2-40B4-BE49-F238E27FC236}">
                <a16:creationId xmlns:a16="http://schemas.microsoft.com/office/drawing/2014/main" id="{80A8213F-0DA6-6303-699E-A9D92CBF74B7}"/>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a:alphaModFix/>
          </a:blip>
          <a:srcRect l="17961" t="437" r="51208"/>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1</a:t>
            </a:r>
            <a:endParaRPr sz="933"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2</a:t>
            </a:r>
            <a:endParaRPr sz="933"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3</a:t>
            </a:r>
            <a:endParaRPr sz="933"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9" name="Google Shape;689;p48">
            <a:extLst>
              <a:ext uri="{FF2B5EF4-FFF2-40B4-BE49-F238E27FC236}">
                <a16:creationId xmlns:a16="http://schemas.microsoft.com/office/drawing/2014/main" id="{0EC9478A-250B-F0DE-C5A6-4448914FB99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20" name="Retângulo: Cantos Arredondados 2">
            <a:extLst>
              <a:ext uri="{FF2B5EF4-FFF2-40B4-BE49-F238E27FC236}">
                <a16:creationId xmlns:a16="http://schemas.microsoft.com/office/drawing/2014/main" id="{06333EF7-CE01-0887-2481-FF47537935BA}"/>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Google Shape;353;p32">
            <a:extLst>
              <a:ext uri="{FF2B5EF4-FFF2-40B4-BE49-F238E27FC236}">
                <a16:creationId xmlns:a16="http://schemas.microsoft.com/office/drawing/2014/main" id="{98180AE7-AE7C-7A89-11F8-95EFC0BD9A6F}"/>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dirty="0">
                <a:solidFill>
                  <a:srgbClr val="FF161F"/>
                </a:solidFill>
                <a:latin typeface="Poppins"/>
                <a:ea typeface="Poppins"/>
                <a:cs typeface="Poppins"/>
                <a:sym typeface="Poppins"/>
              </a:rPr>
              <a:t>Referências</a:t>
            </a:r>
            <a:r>
              <a:rPr lang="en-US" sz="3200" b="1" i="0" u="none" strike="noStrike" cap="none" dirty="0">
                <a:solidFill>
                  <a:srgbClr val="FF161F"/>
                </a:solidFill>
                <a:latin typeface="Poppins"/>
                <a:ea typeface="Poppins"/>
                <a:cs typeface="Poppins"/>
                <a:sym typeface="Poppins"/>
              </a:rPr>
              <a:t> da aula</a:t>
            </a:r>
            <a:endParaRPr sz="32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9" name="Retângulo: Cantos Arredondados 1">
            <a:extLst>
              <a:ext uri="{FF2B5EF4-FFF2-40B4-BE49-F238E27FC236}">
                <a16:creationId xmlns:a16="http://schemas.microsoft.com/office/drawing/2014/main" id="{17DC1D12-BF67-E766-F491-05AA02E18F28}"/>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7431B71C-F84A-7A31-A6FC-607201AF6CE1}"/>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Tree>
    <p:extLst>
      <p:ext uri="{BB962C8B-B14F-4D97-AF65-F5344CB8AC3E}">
        <p14:creationId xmlns:p14="http://schemas.microsoft.com/office/powerpoint/2010/main" val="1358944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4774E8B0-98E0-7A0D-DD6A-31206E95DE3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54770894-68D4-3162-22A1-63B498C9AC03}"/>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3" name="Retângulo: Cantos Arredondados 1">
            <a:extLst>
              <a:ext uri="{FF2B5EF4-FFF2-40B4-BE49-F238E27FC236}">
                <a16:creationId xmlns:a16="http://schemas.microsoft.com/office/drawing/2014/main" id="{670E40E2-334C-27C7-794B-AE5E3D7E46F3}"/>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101;p34">
            <a:extLst>
              <a:ext uri="{FF2B5EF4-FFF2-40B4-BE49-F238E27FC236}">
                <a16:creationId xmlns:a16="http://schemas.microsoft.com/office/drawing/2014/main" id="{EC02B295-D7AD-C4A4-7B49-BCB1C443560C}"/>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729899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09" r:id="rId4"/>
    <p:sldLayoutId id="2147483710" r:id="rId5"/>
    <p:sldLayoutId id="2147483735" r:id="rId6"/>
    <p:sldLayoutId id="2147483712" r:id="rId7"/>
    <p:sldLayoutId id="2147483713" r:id="rId8"/>
    <p:sldLayoutId id="2147483701" r:id="rId9"/>
    <p:sldLayoutId id="2147483683" r:id="rId10"/>
    <p:sldLayoutId id="2147483658" r:id="rId11"/>
    <p:sldLayoutId id="2147483705" r:id="rId12"/>
    <p:sldLayoutId id="2147483707" r:id="rId13"/>
    <p:sldLayoutId id="2147483757" r:id="rId14"/>
    <p:sldLayoutId id="2147483730" r:id="rId15"/>
    <p:sldLayoutId id="21474837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9.jpg"/><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MhXnEhvgtf4"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30.sv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sv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31.sv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490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A7E517EF-611B-0A4B-1968-B6E8169F9E16}"/>
            </a:ext>
          </a:extLst>
        </p:cNvPr>
        <p:cNvGrpSpPr/>
        <p:nvPr/>
      </p:nvGrpSpPr>
      <p:grpSpPr>
        <a:xfrm>
          <a:off x="0" y="0"/>
          <a:ext cx="0" cy="0"/>
          <a:chOff x="0" y="0"/>
          <a:chExt cx="0" cy="0"/>
        </a:xfrm>
      </p:grpSpPr>
      <p:sp>
        <p:nvSpPr>
          <p:cNvPr id="6" name="Google Shape;643;p43">
            <a:extLst>
              <a:ext uri="{FF2B5EF4-FFF2-40B4-BE49-F238E27FC236}">
                <a16:creationId xmlns:a16="http://schemas.microsoft.com/office/drawing/2014/main" id="{49FFA301-F4FA-1F2E-85C6-C741932322FA}"/>
              </a:ext>
            </a:extLst>
          </p:cNvPr>
          <p:cNvSpPr txBox="1">
            <a:spLocks/>
          </p:cNvSpPr>
          <p:nvPr/>
        </p:nvSpPr>
        <p:spPr>
          <a:xfrm>
            <a:off x="1018822" y="1474515"/>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Introdução à informática</a:t>
            </a:r>
          </a:p>
        </p:txBody>
      </p:sp>
      <p:sp>
        <p:nvSpPr>
          <p:cNvPr id="8" name="Google Shape;643;p43">
            <a:extLst>
              <a:ext uri="{FF2B5EF4-FFF2-40B4-BE49-F238E27FC236}">
                <a16:creationId xmlns:a16="http://schemas.microsoft.com/office/drawing/2014/main" id="{70C32292-AD57-C34A-3FF0-383CD7720EB1}"/>
              </a:ext>
            </a:extLst>
          </p:cNvPr>
          <p:cNvSpPr txBox="1">
            <a:spLocks/>
          </p:cNvSpPr>
          <p:nvPr/>
        </p:nvSpPr>
        <p:spPr>
          <a:xfrm>
            <a:off x="613179" y="2181339"/>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400" b="1" dirty="0">
                <a:solidFill>
                  <a:schemeClr val="tx1"/>
                </a:solidFill>
                <a:latin typeface="Poppins" panose="00000500000000000000" pitchFamily="2" charset="0"/>
                <a:cs typeface="Poppins" pitchFamily="2" charset="77"/>
              </a:rPr>
              <a:t>Endereçamento e protocolos de rede</a:t>
            </a:r>
          </a:p>
        </p:txBody>
      </p:sp>
      <p:sp>
        <p:nvSpPr>
          <p:cNvPr id="9" name="Google Shape;644;p43">
            <a:extLst>
              <a:ext uri="{FF2B5EF4-FFF2-40B4-BE49-F238E27FC236}">
                <a16:creationId xmlns:a16="http://schemas.microsoft.com/office/drawing/2014/main" id="{B3C85824-2918-04F5-C3D1-EFCEF228C1CE}"/>
              </a:ext>
            </a:extLst>
          </p:cNvPr>
          <p:cNvSpPr txBox="1">
            <a:spLocks/>
          </p:cNvSpPr>
          <p:nvPr/>
        </p:nvSpPr>
        <p:spPr>
          <a:xfrm>
            <a:off x="613179" y="2821849"/>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667" b="0" dirty="0">
                <a:solidFill>
                  <a:schemeClr val="bg1">
                    <a:lumMod val="75000"/>
                  </a:schemeClr>
                </a:solidFill>
                <a:latin typeface="Poppins Medium" panose="00000600000000000000" pitchFamily="2" charset="0"/>
                <a:cs typeface="Poppins Medium" panose="00000600000000000000" pitchFamily="2" charset="0"/>
              </a:rPr>
              <a:t>Aula 3: Conectando e diagnosticando redes</a:t>
            </a:r>
          </a:p>
        </p:txBody>
      </p:sp>
      <p:sp>
        <p:nvSpPr>
          <p:cNvPr id="10" name="Google Shape;644;p43">
            <a:extLst>
              <a:ext uri="{FF2B5EF4-FFF2-40B4-BE49-F238E27FC236}">
                <a16:creationId xmlns:a16="http://schemas.microsoft.com/office/drawing/2014/main" id="{07BBEA95-7158-88BC-87DE-9F7C594B79D9}"/>
              </a:ext>
            </a:extLst>
          </p:cNvPr>
          <p:cNvSpPr txBox="1">
            <a:spLocks/>
          </p:cNvSpPr>
          <p:nvPr/>
        </p:nvSpPr>
        <p:spPr>
          <a:xfrm>
            <a:off x="613179" y="3429000"/>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667" dirty="0">
                <a:latin typeface="Poppins" panose="00000500000000000000" pitchFamily="2" charset="0"/>
                <a:cs typeface="Poppins"/>
              </a:rPr>
              <a:t>Código da aula: DADOSANO1C1B2S8A3</a:t>
            </a:r>
          </a:p>
        </p:txBody>
      </p:sp>
    </p:spTree>
    <p:extLst>
      <p:ext uri="{BB962C8B-B14F-4D97-AF65-F5344CB8AC3E}">
        <p14:creationId xmlns:p14="http://schemas.microsoft.com/office/powerpoint/2010/main" val="64764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CF5B-936A-DBAF-D02A-A36FA2FD6FF6}"/>
            </a:ext>
          </a:extLst>
        </p:cNvPr>
        <p:cNvGrpSpPr/>
        <p:nvPr/>
      </p:nvGrpSpPr>
      <p:grpSpPr>
        <a:xfrm>
          <a:off x="0" y="0"/>
          <a:ext cx="0" cy="0"/>
          <a:chOff x="0" y="0"/>
          <a:chExt cx="0" cy="0"/>
        </a:xfrm>
      </p:grpSpPr>
      <p:sp>
        <p:nvSpPr>
          <p:cNvPr id="32" name="Retângulo: Cantos Arredondados 31">
            <a:extLst>
              <a:ext uri="{FF2B5EF4-FFF2-40B4-BE49-F238E27FC236}">
                <a16:creationId xmlns:a16="http://schemas.microsoft.com/office/drawing/2014/main" id="{CB90C12C-C9E6-C9D6-C2C7-8DAF5D3B5A21}"/>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Cantos Arredondados 34">
            <a:extLst>
              <a:ext uri="{FF2B5EF4-FFF2-40B4-BE49-F238E27FC236}">
                <a16:creationId xmlns:a16="http://schemas.microsoft.com/office/drawing/2014/main" id="{F59D2E0F-4859-11B6-5FF3-75E87F5C1B15}"/>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Gráfico 1">
            <a:extLst>
              <a:ext uri="{FF2B5EF4-FFF2-40B4-BE49-F238E27FC236}">
                <a16:creationId xmlns:a16="http://schemas.microsoft.com/office/drawing/2014/main" id="{8A28A6DB-C917-0D47-1A23-EC82A6924F56}"/>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9FB6FC2E-6222-701D-8C85-08488F101051}"/>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439E1B7C-2B73-7C23-542A-43EA2F4DF2C8}"/>
              </a:ext>
            </a:extLst>
          </p:cNvPr>
          <p:cNvSpPr/>
          <p:nvPr/>
        </p:nvSpPr>
        <p:spPr>
          <a:xfrm rot="8953789">
            <a:off x="6038168" y="1499766"/>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12565219-1C7B-C4AA-5A6F-A2E3A8A8212B}"/>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CD956AE2-C0F2-AF00-1B89-C6743E99D72F}"/>
              </a:ext>
            </a:extLst>
          </p:cNvPr>
          <p:cNvSpPr/>
          <p:nvPr/>
        </p:nvSpPr>
        <p:spPr>
          <a:xfrm rot="-2290074">
            <a:off x="8128877" y="5906090"/>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2355B4E2-7250-79BC-E992-5B57310ACF51}"/>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6F1703B1-071F-4247-759C-C1FBDEDBE669}"/>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E6C89075-0AE2-FE75-2FFE-C18CDC1FF0D0}"/>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C79810A1-EE36-CF78-9043-9DF5810AF8E2}"/>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7335D457-47DB-E023-7FEF-23F61C134E3B}"/>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E6D30DBA-AC00-E79E-8352-C8FF53AA743C}"/>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0753E7C8-C6EB-13A6-6806-8D3A4CE68709}"/>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54C9B89A-8366-8713-B8DD-DE407B3AF7B9}"/>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35712295-D888-C7FC-6848-CFE8A090B8DD}"/>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5CA1C0EA-F275-A2FE-D208-28F7366F5103}"/>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8CD3B892-1359-48C1-990F-8B4FBEAF7870}"/>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A1681F79-F42F-CF4D-ED93-DDCC939A5450}"/>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D5552F88-3E6F-6C96-1088-35ECECA398AA}"/>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0B62C197-AA69-94E4-A541-B26985A6BEA8}"/>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5C89C1C5-60DA-E90E-967A-6D31119E3771}"/>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64FAE379-EFB1-3ABF-13C1-443290F8ED55}"/>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260A8F80-AB37-35A2-2F36-60051647C6A9}"/>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CDC9076C-93D5-98BC-4624-54CEC6BF4922}"/>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7FC9EBEA-9381-CABD-461F-0B0EC190FDD1}"/>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AC6D1AD3-FDF4-F306-35F6-EA0F45CCC43E}"/>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22A94888-A0BF-5E61-B86B-486D4F255301}"/>
              </a:ext>
            </a:extLst>
          </p:cNvPr>
          <p:cNvCxnSpPr>
            <a:cxnSpLocks/>
            <a:endCxn id="16" idx="1"/>
          </p:cNvCxnSpPr>
          <p:nvPr/>
        </p:nvCxnSpPr>
        <p:spPr>
          <a:xfrm flipV="1">
            <a:off x="7013622" y="5998830"/>
            <a:ext cx="1116003" cy="15420"/>
          </a:xfrm>
          <a:prstGeom prst="straightConnector1">
            <a:avLst/>
          </a:prstGeom>
          <a:noFill/>
          <a:ln w="9525" cap="flat" cmpd="sng">
            <a:solidFill>
              <a:schemeClr val="tx1"/>
            </a:solidFill>
            <a:prstDash val="solid"/>
            <a:round/>
            <a:headEnd type="none" w="sm" len="sm"/>
            <a:tailEnd type="none" w="sm" len="sm"/>
          </a:ln>
        </p:spPr>
      </p:cxnSp>
      <p:sp>
        <p:nvSpPr>
          <p:cNvPr id="30" name="Google Shape;317;p3">
            <a:extLst>
              <a:ext uri="{FF2B5EF4-FFF2-40B4-BE49-F238E27FC236}">
                <a16:creationId xmlns:a16="http://schemas.microsoft.com/office/drawing/2014/main" id="{F5E02BDF-EDE2-14FA-E393-9D6F6F71BF68}"/>
              </a:ext>
            </a:extLst>
          </p:cNvPr>
          <p:cNvSpPr/>
          <p:nvPr/>
        </p:nvSpPr>
        <p:spPr>
          <a:xfrm>
            <a:off x="5860040" y="626852"/>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79B9D83E-AAC7-EDAE-8941-9A92C38A2BBA}"/>
              </a:ext>
            </a:extLst>
          </p:cNvPr>
          <p:cNvCxnSpPr>
            <a:cxnSpLocks/>
            <a:stCxn id="30" idx="4"/>
            <a:endCxn id="11" idx="7"/>
          </p:cNvCxnSpPr>
          <p:nvPr/>
        </p:nvCxnSpPr>
        <p:spPr>
          <a:xfrm flipH="1">
            <a:off x="6117555" y="1162945"/>
            <a:ext cx="10531" cy="544115"/>
          </a:xfrm>
          <a:prstGeom prst="straightConnector1">
            <a:avLst/>
          </a:prstGeom>
          <a:noFill/>
          <a:ln w="9525" cap="flat" cmpd="sng">
            <a:solidFill>
              <a:srgbClr val="FF0000"/>
            </a:solidFill>
            <a:prstDash val="solid"/>
            <a:round/>
            <a:headEnd type="none" w="sm" len="sm"/>
            <a:tailEnd type="none" w="sm" len="sm"/>
          </a:ln>
        </p:spPr>
      </p:cxnSp>
      <p:sp>
        <p:nvSpPr>
          <p:cNvPr id="33" name="Google Shape;320;p3">
            <a:extLst>
              <a:ext uri="{FF2B5EF4-FFF2-40B4-BE49-F238E27FC236}">
                <a16:creationId xmlns:a16="http://schemas.microsoft.com/office/drawing/2014/main" id="{D1B1571C-FBE0-7179-6F1E-D5FF366D66C6}"/>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B6CC1365-A2E3-3CFB-6BAE-06308C2238DA}"/>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7" name="Google Shape;324;p3">
            <a:extLst>
              <a:ext uri="{FF2B5EF4-FFF2-40B4-BE49-F238E27FC236}">
                <a16:creationId xmlns:a16="http://schemas.microsoft.com/office/drawing/2014/main" id="{F2DAE9CA-3DA8-F761-0CFD-7A2AB6FE664E}"/>
              </a:ext>
            </a:extLst>
          </p:cNvPr>
          <p:cNvPicPr preferRelativeResize="0"/>
          <p:nvPr/>
        </p:nvPicPr>
        <p:blipFill rotWithShape="1">
          <a:blip r:embed="rId5">
            <a:alphaModFix/>
          </a:blip>
          <a:srcRect/>
          <a:stretch/>
        </p:blipFill>
        <p:spPr>
          <a:xfrm rot="-2744266">
            <a:off x="5733709" y="483267"/>
            <a:ext cx="595814" cy="351746"/>
          </a:xfrm>
          <a:prstGeom prst="rect">
            <a:avLst/>
          </a:prstGeom>
          <a:noFill/>
          <a:ln>
            <a:noFill/>
          </a:ln>
        </p:spPr>
      </p:pic>
      <p:pic>
        <p:nvPicPr>
          <p:cNvPr id="38" name="Google Shape;325;p3">
            <a:extLst>
              <a:ext uri="{FF2B5EF4-FFF2-40B4-BE49-F238E27FC236}">
                <a16:creationId xmlns:a16="http://schemas.microsoft.com/office/drawing/2014/main" id="{0C241450-AF8E-608B-C9BF-FEDB5EF70302}"/>
              </a:ext>
            </a:extLst>
          </p:cNvPr>
          <p:cNvPicPr preferRelativeResize="0"/>
          <p:nvPr/>
        </p:nvPicPr>
        <p:blipFill rotWithShape="1">
          <a:blip r:embed="rId6">
            <a:alphaModFix/>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9A5F00BA-8033-2284-5DC3-7EFB112C99A9}"/>
              </a:ext>
            </a:extLst>
          </p:cNvPr>
          <p:cNvPicPr preferRelativeResize="0"/>
          <p:nvPr/>
        </p:nvPicPr>
        <p:blipFill rotWithShape="1">
          <a:blip r:embed="rId6">
            <a:alphaModFix/>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DF4DFD3A-EB57-2864-148C-4EBD63BD2FD4}"/>
              </a:ext>
            </a:extLst>
          </p:cNvPr>
          <p:cNvPicPr preferRelativeResize="0"/>
          <p:nvPr/>
        </p:nvPicPr>
        <p:blipFill rotWithShape="1">
          <a:blip r:embed="rId6">
            <a:alphaModFix/>
          </a:blip>
          <a:srcRect/>
          <a:stretch/>
        </p:blipFill>
        <p:spPr>
          <a:xfrm rot="-2744266">
            <a:off x="2837838" y="2679825"/>
            <a:ext cx="595814" cy="351746"/>
          </a:xfrm>
          <a:prstGeom prst="rect">
            <a:avLst/>
          </a:prstGeom>
          <a:noFill/>
          <a:ln>
            <a:noFill/>
          </a:ln>
        </p:spPr>
      </p:pic>
      <p:sp>
        <p:nvSpPr>
          <p:cNvPr id="45" name="Google Shape;332;p3">
            <a:extLst>
              <a:ext uri="{FF2B5EF4-FFF2-40B4-BE49-F238E27FC236}">
                <a16:creationId xmlns:a16="http://schemas.microsoft.com/office/drawing/2014/main" id="{DEB0A12F-8301-318F-9AE3-0BD00C91BAF2}"/>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88CF0225-1656-C8D0-6A82-C8AE8AEBD0A1}"/>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pic>
        <p:nvPicPr>
          <p:cNvPr id="47" name="Google Shape;334;p3">
            <a:extLst>
              <a:ext uri="{FF2B5EF4-FFF2-40B4-BE49-F238E27FC236}">
                <a16:creationId xmlns:a16="http://schemas.microsoft.com/office/drawing/2014/main" id="{86F8C55C-CD02-F787-E89D-885C15AABCB7}"/>
              </a:ext>
            </a:extLst>
          </p:cNvPr>
          <p:cNvPicPr preferRelativeResize="0"/>
          <p:nvPr/>
        </p:nvPicPr>
        <p:blipFill rotWithShape="1">
          <a:blip r:embed="rId6">
            <a:alphaModFix/>
          </a:blip>
          <a:srcRect/>
          <a:stretch/>
        </p:blipFill>
        <p:spPr>
          <a:xfrm rot="-2744266">
            <a:off x="6539506" y="5588364"/>
            <a:ext cx="595814" cy="351746"/>
          </a:xfrm>
          <a:prstGeom prst="rect">
            <a:avLst/>
          </a:prstGeom>
          <a:noFill/>
          <a:ln>
            <a:noFill/>
          </a:ln>
        </p:spPr>
      </p:pic>
      <p:sp>
        <p:nvSpPr>
          <p:cNvPr id="50" name="Google Shape;313;p3">
            <a:extLst>
              <a:ext uri="{FF2B5EF4-FFF2-40B4-BE49-F238E27FC236}">
                <a16:creationId xmlns:a16="http://schemas.microsoft.com/office/drawing/2014/main" id="{DCA0F36E-6587-08EF-3565-F9F9BFF31117}"/>
              </a:ext>
            </a:extLst>
          </p:cNvPr>
          <p:cNvSpPr txBox="1"/>
          <p:nvPr/>
        </p:nvSpPr>
        <p:spPr>
          <a:xfrm>
            <a:off x="287503" y="3965364"/>
            <a:ext cx="2832564" cy="584749"/>
          </a:xfrm>
          <a:prstGeom prst="rect">
            <a:avLst/>
          </a:prstGeom>
          <a:noFill/>
          <a:ln>
            <a:noFill/>
          </a:ln>
        </p:spPr>
        <p:txBody>
          <a:bodyPr spcFirstLastPara="1" wrap="square" lIns="60950" tIns="30467" rIns="60950" bIns="30467" anchor="t" anchorCtr="0">
            <a:spAutoFit/>
          </a:bodyPr>
          <a:lstStyle/>
          <a:p>
            <a:pP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4D3612D7-86C7-657C-8809-1BE92857B850}"/>
              </a:ext>
            </a:extLst>
          </p:cNvPr>
          <p:cNvSpPr txBox="1"/>
          <p:nvPr/>
        </p:nvSpPr>
        <p:spPr>
          <a:xfrm>
            <a:off x="4121308" y="5824870"/>
            <a:ext cx="245496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73EC775E-F402-1CAC-687C-59FD38690CDA}"/>
              </a:ext>
            </a:extLst>
          </p:cNvPr>
          <p:cNvSpPr txBox="1"/>
          <p:nvPr/>
        </p:nvSpPr>
        <p:spPr>
          <a:xfrm>
            <a:off x="6510730" y="504694"/>
            <a:ext cx="4343426" cy="32313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6CF0EC5C-BE74-16CF-027F-08FB8E45DD5C}"/>
              </a:ext>
            </a:extLst>
          </p:cNvPr>
          <p:cNvSpPr txBox="1"/>
          <p:nvPr/>
        </p:nvSpPr>
        <p:spPr>
          <a:xfrm>
            <a:off x="8673545" y="1652519"/>
            <a:ext cx="275645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4" name="Google Shape;329;p3">
            <a:extLst>
              <a:ext uri="{FF2B5EF4-FFF2-40B4-BE49-F238E27FC236}">
                <a16:creationId xmlns:a16="http://schemas.microsoft.com/office/drawing/2014/main" id="{F348E4DB-6438-12E0-0CAC-8332ADC6B10D}"/>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57" name="Google Shape;335;p3">
            <a:extLst>
              <a:ext uri="{FF2B5EF4-FFF2-40B4-BE49-F238E27FC236}">
                <a16:creationId xmlns:a16="http://schemas.microsoft.com/office/drawing/2014/main" id="{7865D4D2-B715-6F9B-6643-95B81A780550}"/>
              </a:ext>
            </a:extLst>
          </p:cNvPr>
          <p:cNvSpPr txBox="1"/>
          <p:nvPr/>
        </p:nvSpPr>
        <p:spPr>
          <a:xfrm>
            <a:off x="9949272" y="4530800"/>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6" name="Google Shape;331;p3">
            <a:extLst>
              <a:ext uri="{FF2B5EF4-FFF2-40B4-BE49-F238E27FC236}">
                <a16:creationId xmlns:a16="http://schemas.microsoft.com/office/drawing/2014/main" id="{8E7B441B-1E0A-74C1-F0D7-C631108EB04D}"/>
              </a:ext>
            </a:extLst>
          </p:cNvPr>
          <p:cNvSpPr txBox="1"/>
          <p:nvPr/>
        </p:nvSpPr>
        <p:spPr>
          <a:xfrm>
            <a:off x="2135841"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
        <p:nvSpPr>
          <p:cNvPr id="27" name="Google Shape;314;p3">
            <a:extLst>
              <a:ext uri="{FF2B5EF4-FFF2-40B4-BE49-F238E27FC236}">
                <a16:creationId xmlns:a16="http://schemas.microsoft.com/office/drawing/2014/main" id="{2BB3B18D-846E-D082-8858-7544C3C1AAA9}"/>
              </a:ext>
            </a:extLst>
          </p:cNvPr>
          <p:cNvSpPr/>
          <p:nvPr/>
        </p:nvSpPr>
        <p:spPr>
          <a:xfrm>
            <a:off x="6649008" y="5735630"/>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5E39DAFD-C717-7298-C2A5-BE3E720AE957}"/>
              </a:ext>
            </a:extLst>
          </p:cNvPr>
          <p:cNvSpPr txBox="1"/>
          <p:nvPr/>
        </p:nvSpPr>
        <p:spPr>
          <a:xfrm>
            <a:off x="6576273" y="234073"/>
            <a:ext cx="2476903" cy="276973"/>
          </a:xfrm>
          <a:prstGeom prst="rect">
            <a:avLst/>
          </a:prstGeom>
          <a:noFill/>
          <a:ln>
            <a:noFill/>
          </a:ln>
        </p:spPr>
        <p:txBody>
          <a:bodyPr spcFirstLastPara="1" wrap="square" lIns="60950" tIns="30467" rIns="60950" bIns="30467" anchor="t" anchorCtr="0">
            <a:spAutoFit/>
          </a:bodyPr>
          <a:lstStyle/>
          <a:p>
            <a:pPr>
              <a:buSzPts val="1800"/>
            </a:pPr>
            <a:r>
              <a:rPr lang="pt-BR" sz="1400" b="1" dirty="0">
                <a:solidFill>
                  <a:srgbClr val="FA161E"/>
                </a:solidFill>
                <a:latin typeface="Poppins"/>
                <a:ea typeface="Poppins"/>
                <a:cs typeface="Poppins"/>
                <a:sym typeface="Poppins"/>
              </a:rPr>
              <a:t>Você está aqui!</a:t>
            </a:r>
            <a:endParaRPr sz="1400" dirty="0"/>
          </a:p>
        </p:txBody>
      </p:sp>
    </p:spTree>
    <p:extLst>
      <p:ext uri="{BB962C8B-B14F-4D97-AF65-F5344CB8AC3E}">
        <p14:creationId xmlns:p14="http://schemas.microsoft.com/office/powerpoint/2010/main" val="1725045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921E-1825-FC25-4687-45E12FE916C4}"/>
            </a:ext>
          </a:extLst>
        </p:cNvPr>
        <p:cNvGrpSpPr/>
        <p:nvPr/>
      </p:nvGrpSpPr>
      <p:grpSpPr>
        <a:xfrm>
          <a:off x="0" y="0"/>
          <a:ext cx="0" cy="0"/>
          <a:chOff x="0" y="0"/>
          <a:chExt cx="0" cy="0"/>
        </a:xfrm>
      </p:grpSpPr>
      <p:pic>
        <p:nvPicPr>
          <p:cNvPr id="6" name="Gráfico 5">
            <a:extLst>
              <a:ext uri="{FF2B5EF4-FFF2-40B4-BE49-F238E27FC236}">
                <a16:creationId xmlns:a16="http://schemas.microsoft.com/office/drawing/2014/main" id="{4D95E3F9-0C65-F8D5-E141-AA0BCC8C4DD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678584" y="2638764"/>
            <a:ext cx="8603297" cy="4647676"/>
          </a:xfrm>
          <a:prstGeom prst="rect">
            <a:avLst/>
          </a:prstGeom>
        </p:spPr>
      </p:pic>
      <p:sp>
        <p:nvSpPr>
          <p:cNvPr id="7" name="Google Shape;341;p4">
            <a:extLst>
              <a:ext uri="{FF2B5EF4-FFF2-40B4-BE49-F238E27FC236}">
                <a16:creationId xmlns:a16="http://schemas.microsoft.com/office/drawing/2014/main" id="{0403289A-C250-CCB0-6011-3F7BCBC0A7E0}"/>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03EB5BDB-5A73-4740-B3A9-5A48465309E8}"/>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8</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33E51C97-3BE0-F2D3-8841-59B7707737BA}"/>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11245E0D-6D52-C32F-09A5-AD891D7E3964}"/>
              </a:ext>
            </a:extLst>
          </p:cNvPr>
          <p:cNvSpPr txBox="1"/>
          <p:nvPr/>
        </p:nvSpPr>
        <p:spPr>
          <a:xfrm>
            <a:off x="3361984" y="3254025"/>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200"/>
            </a:pPr>
            <a:r>
              <a:rPr lang="pt-BR" sz="1800" dirty="0">
                <a:solidFill>
                  <a:schemeClr val="tx1">
                    <a:lumMod val="95000"/>
                    <a:lumOff val="5000"/>
                  </a:schemeClr>
                </a:solidFill>
                <a:latin typeface="Poppins" panose="00000500000000000000" pitchFamily="2" charset="0"/>
                <a:ea typeface="Poppins Light"/>
                <a:cs typeface="Poppins" pitchFamily="2" charset="77"/>
                <a:sym typeface="Poppins Light"/>
              </a:rPr>
              <a:t>Endereçamento e protocolos de rede</a:t>
            </a:r>
          </a:p>
        </p:txBody>
      </p:sp>
      <p:sp>
        <p:nvSpPr>
          <p:cNvPr id="11" name="Google Shape;345;p4">
            <a:extLst>
              <a:ext uri="{FF2B5EF4-FFF2-40B4-BE49-F238E27FC236}">
                <a16:creationId xmlns:a16="http://schemas.microsoft.com/office/drawing/2014/main" id="{1ED38964-9A1B-4BE0-0327-7E7D7841E249}"/>
              </a:ext>
            </a:extLst>
          </p:cNvPr>
          <p:cNvSpPr txBox="1"/>
          <p:nvPr/>
        </p:nvSpPr>
        <p:spPr>
          <a:xfrm>
            <a:off x="3361984" y="2834485"/>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F8E9F2A8-16B2-B0E4-99C3-CECA9F2B95DF}"/>
              </a:ext>
            </a:extLst>
          </p:cNvPr>
          <p:cNvSpPr txBox="1"/>
          <p:nvPr/>
        </p:nvSpPr>
        <p:spPr>
          <a:xfrm>
            <a:off x="3380131" y="5079775"/>
            <a:ext cx="4785301"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DADOSANO1C1B2S8A3</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67DB0B6E-F4EA-9999-7DAA-573AB6F7DB1B}"/>
              </a:ext>
            </a:extLst>
          </p:cNvPr>
          <p:cNvSpPr txBox="1"/>
          <p:nvPr/>
        </p:nvSpPr>
        <p:spPr>
          <a:xfrm>
            <a:off x="3380131" y="4576477"/>
            <a:ext cx="5252210"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1800" b="1" dirty="0">
                <a:solidFill>
                  <a:schemeClr val="dk1"/>
                </a:solidFill>
                <a:latin typeface="Poppins" panose="00000500000000000000" pitchFamily="2" charset="0"/>
                <a:ea typeface="Poppins"/>
                <a:cs typeface="Poppins"/>
                <a:sym typeface="Poppins"/>
              </a:rPr>
              <a:t>Aula 3: Conectando e diagnosticando redes</a:t>
            </a:r>
          </a:p>
        </p:txBody>
      </p:sp>
      <p:sp>
        <p:nvSpPr>
          <p:cNvPr id="2" name="Retângulo: Cantos Arredondados 1">
            <a:extLst>
              <a:ext uri="{FF2B5EF4-FFF2-40B4-BE49-F238E27FC236}">
                <a16:creationId xmlns:a16="http://schemas.microsoft.com/office/drawing/2014/main" id="{8FCB09F2-7D2C-3407-5F4A-5E0763D400F6}"/>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2B4CA692-D918-E7D4-FFE9-166F34E63009}"/>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Google Shape;329;p3">
            <a:extLst>
              <a:ext uri="{FF2B5EF4-FFF2-40B4-BE49-F238E27FC236}">
                <a16:creationId xmlns:a16="http://schemas.microsoft.com/office/drawing/2014/main" id="{0BB2D3CD-2EE5-3783-9B8A-C89ED9BE49B9}"/>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17" name="Google Shape;331;p3">
            <a:extLst>
              <a:ext uri="{FF2B5EF4-FFF2-40B4-BE49-F238E27FC236}">
                <a16:creationId xmlns:a16="http://schemas.microsoft.com/office/drawing/2014/main" id="{3F4B96AD-0011-EAD0-1217-2FD362A9D351}"/>
              </a:ext>
            </a:extLst>
          </p:cNvPr>
          <p:cNvSpPr txBox="1"/>
          <p:nvPr/>
        </p:nvSpPr>
        <p:spPr>
          <a:xfrm>
            <a:off x="2135841"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Tree>
    <p:extLst>
      <p:ext uri="{BB962C8B-B14F-4D97-AF65-F5344CB8AC3E}">
        <p14:creationId xmlns:p14="http://schemas.microsoft.com/office/powerpoint/2010/main" val="5789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6FFB7553-CC69-E873-582E-106D178B5189}"/>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F8297E3-B2CC-73DE-7B5E-8C792DE0F1C2}"/>
              </a:ext>
            </a:extLst>
          </p:cNvPr>
          <p:cNvSpPr txBox="1"/>
          <p:nvPr/>
        </p:nvSpPr>
        <p:spPr>
          <a:xfrm>
            <a:off x="6215922" y="319790"/>
            <a:ext cx="184731" cy="188065"/>
          </a:xfrm>
          <a:prstGeom prst="rect">
            <a:avLst/>
          </a:prstGeom>
          <a:noFill/>
        </p:spPr>
        <p:txBody>
          <a:bodyPr wrap="none" rtlCol="0">
            <a:spAutoFit/>
          </a:bodyPr>
          <a:lstStyle/>
          <a:p>
            <a:endParaRPr lang="pt-BR" sz="622" dirty="0"/>
          </a:p>
        </p:txBody>
      </p:sp>
      <p:sp>
        <p:nvSpPr>
          <p:cNvPr id="4" name="Espaço Reservado para Texto 7">
            <a:extLst>
              <a:ext uri="{FF2B5EF4-FFF2-40B4-BE49-F238E27FC236}">
                <a16:creationId xmlns:a16="http://schemas.microsoft.com/office/drawing/2014/main" id="{97E2338F-3326-DA39-9153-D911F7F95140}"/>
              </a:ext>
            </a:extLst>
          </p:cNvPr>
          <p:cNvSpPr>
            <a:spLocks noGrp="1"/>
          </p:cNvSpPr>
          <p:nvPr>
            <p:ph type="body" sz="quarter" idx="10"/>
          </p:nvPr>
        </p:nvSpPr>
        <p:spPr>
          <a:xfrm>
            <a:off x="1403741" y="1342524"/>
            <a:ext cx="4327208" cy="67535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conectando e diagnosticando redes.</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6C604A2F-68D5-1294-7A74-C507ED61C51B}"/>
              </a:ext>
            </a:extLst>
          </p:cNvPr>
          <p:cNvSpPr>
            <a:spLocks noGrp="1"/>
          </p:cNvSpPr>
          <p:nvPr>
            <p:ph type="body" sz="quarter" idx="11"/>
          </p:nvPr>
        </p:nvSpPr>
        <p:spPr>
          <a:xfrm>
            <a:off x="7387164" y="1355465"/>
            <a:ext cx="4414975" cy="675354"/>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Interpretar endereçamento IP e funcionamento de protocolos de rede.</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83DDA0D1-4A7F-B267-4AA3-3CE744875C6A}"/>
              </a:ext>
            </a:extLst>
          </p:cNvPr>
          <p:cNvSpPr>
            <a:spLocks noGrp="1"/>
          </p:cNvSpPr>
          <p:nvPr>
            <p:ph type="body" sz="quarter" idx="12"/>
          </p:nvPr>
        </p:nvSpPr>
        <p:spPr>
          <a:xfrm>
            <a:off x="7387165" y="3649330"/>
            <a:ext cx="4119891" cy="1590171"/>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Interagir com confiança e disposição para aprender com os outros.</a:t>
            </a:r>
            <a:endParaRPr lang="pt-BR" sz="1500" noProof="0" dirty="0">
              <a:solidFill>
                <a:schemeClr val="tx1">
                  <a:lumMod val="95000"/>
                  <a:lumOff val="5000"/>
                </a:schemeClr>
              </a:solidFill>
              <a:latin typeface="Poppins" panose="00000500000000000000" pitchFamily="2" charset="0"/>
            </a:endParaRPr>
          </a:p>
        </p:txBody>
      </p:sp>
      <p:sp>
        <p:nvSpPr>
          <p:cNvPr id="15" name="Espaço Reservado para Texto 7">
            <a:extLst>
              <a:ext uri="{FF2B5EF4-FFF2-40B4-BE49-F238E27FC236}">
                <a16:creationId xmlns:a16="http://schemas.microsoft.com/office/drawing/2014/main" id="{718202C9-658A-0A2E-77B4-3C3DEFECE9E2}"/>
              </a:ext>
            </a:extLst>
          </p:cNvPr>
          <p:cNvSpPr>
            <a:spLocks noGrp="1"/>
          </p:cNvSpPr>
          <p:nvPr>
            <p:ph type="body" sz="quarter" idx="13"/>
          </p:nvPr>
        </p:nvSpPr>
        <p:spPr>
          <a:xfrm>
            <a:off x="1395390" y="3029688"/>
            <a:ext cx="4044985" cy="1239283"/>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lgn="just">
              <a:spcAft>
                <a:spcPts val="400"/>
              </a:spcAft>
              <a:buNone/>
            </a:pPr>
            <a:endParaRPr lang="pt-BR" sz="1800" noProof="0" dirty="0">
              <a:solidFill>
                <a:schemeClr val="tx1">
                  <a:lumMod val="95000"/>
                  <a:lumOff val="5000"/>
                </a:schemeClr>
              </a:solidFill>
              <a:latin typeface="Poppins" panose="00000500000000000000" pitchFamily="2" charset="0"/>
            </a:endParaRPr>
          </a:p>
          <a:p>
            <a:pPr marL="0" indent="0" algn="just">
              <a:spcAft>
                <a:spcPts val="400"/>
              </a:spcAft>
              <a:buNone/>
            </a:pPr>
            <a:endParaRPr lang="pt-BR" sz="18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1399356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3">
          <a:extLst>
            <a:ext uri="{FF2B5EF4-FFF2-40B4-BE49-F238E27FC236}">
              <a16:creationId xmlns:a16="http://schemas.microsoft.com/office/drawing/2014/main" id="{B0ED3EFD-1113-5479-B920-B495D2338B9A}"/>
            </a:ext>
          </a:extLst>
        </p:cNvPr>
        <p:cNvGrpSpPr/>
        <p:nvPr/>
      </p:nvGrpSpPr>
      <p:grpSpPr>
        <a:xfrm>
          <a:off x="0" y="0"/>
          <a:ext cx="0" cy="0"/>
          <a:chOff x="0" y="0"/>
          <a:chExt cx="0" cy="0"/>
        </a:xfrm>
      </p:grpSpPr>
      <p:sp>
        <p:nvSpPr>
          <p:cNvPr id="16" name="Espaço Reservado para Texto 15">
            <a:extLst>
              <a:ext uri="{FF2B5EF4-FFF2-40B4-BE49-F238E27FC236}">
                <a16:creationId xmlns:a16="http://schemas.microsoft.com/office/drawing/2014/main" id="{00C6552E-D30E-8BAC-4D0F-47FB1367E1F7}"/>
              </a:ext>
            </a:extLst>
          </p:cNvPr>
          <p:cNvSpPr>
            <a:spLocks noGrp="1"/>
          </p:cNvSpPr>
          <p:nvPr>
            <p:ph type="body" sz="quarter" idx="11"/>
          </p:nvPr>
        </p:nvSpPr>
        <p:spPr>
          <a:xfrm>
            <a:off x="3663702" y="2214332"/>
            <a:ext cx="7018812" cy="720942"/>
          </a:xfrm>
        </p:spPr>
        <p:txBody>
          <a:bodyPr/>
          <a:lstStyle/>
          <a:p>
            <a:r>
              <a:rPr lang="pt-BR" sz="1800" dirty="0"/>
              <a:t>O que são protocolos de rede e por que são importantes em uma empresa?</a:t>
            </a:r>
          </a:p>
        </p:txBody>
      </p:sp>
      <p:sp>
        <p:nvSpPr>
          <p:cNvPr id="17" name="Espaço Reservado para Texto 16">
            <a:extLst>
              <a:ext uri="{FF2B5EF4-FFF2-40B4-BE49-F238E27FC236}">
                <a16:creationId xmlns:a16="http://schemas.microsoft.com/office/drawing/2014/main" id="{3052A002-582A-B48B-33AB-1A8BBAE182FF}"/>
              </a:ext>
            </a:extLst>
          </p:cNvPr>
          <p:cNvSpPr>
            <a:spLocks noGrp="1"/>
          </p:cNvSpPr>
          <p:nvPr>
            <p:ph type="body" sz="quarter" idx="12"/>
          </p:nvPr>
        </p:nvSpPr>
        <p:spPr>
          <a:xfrm>
            <a:off x="3663702" y="3343104"/>
            <a:ext cx="7018812" cy="720942"/>
          </a:xfrm>
        </p:spPr>
        <p:txBody>
          <a:bodyPr/>
          <a:lstStyle/>
          <a:p>
            <a:r>
              <a:rPr lang="pt-BR" sz="1800" dirty="0"/>
              <a:t>Qual é a diferença entre TCP e UDP?</a:t>
            </a:r>
          </a:p>
        </p:txBody>
      </p:sp>
      <p:sp>
        <p:nvSpPr>
          <p:cNvPr id="19" name="Espaço Reservado para Texto 18">
            <a:extLst>
              <a:ext uri="{FF2B5EF4-FFF2-40B4-BE49-F238E27FC236}">
                <a16:creationId xmlns:a16="http://schemas.microsoft.com/office/drawing/2014/main" id="{C99953A8-46FB-C7FE-79F2-9FF1F0788A82}"/>
              </a:ext>
            </a:extLst>
          </p:cNvPr>
          <p:cNvSpPr>
            <a:spLocks noGrp="1"/>
          </p:cNvSpPr>
          <p:nvPr>
            <p:ph type="body" sz="quarter" idx="13"/>
          </p:nvPr>
        </p:nvSpPr>
        <p:spPr>
          <a:xfrm>
            <a:off x="3663702" y="4270204"/>
            <a:ext cx="7018812" cy="720942"/>
          </a:xfrm>
        </p:spPr>
        <p:txBody>
          <a:bodyPr/>
          <a:lstStyle/>
          <a:p>
            <a:r>
              <a:rPr lang="pt-BR" sz="1800" dirty="0"/>
              <a:t>Para que serve o DNS no dia a dia?</a:t>
            </a:r>
          </a:p>
        </p:txBody>
      </p:sp>
      <p:sp>
        <p:nvSpPr>
          <p:cNvPr id="21" name="Espaço Reservado para Texto 20">
            <a:extLst>
              <a:ext uri="{FF2B5EF4-FFF2-40B4-BE49-F238E27FC236}">
                <a16:creationId xmlns:a16="http://schemas.microsoft.com/office/drawing/2014/main" id="{8C9B622C-631F-960C-1C16-40535CF59103}"/>
              </a:ext>
            </a:extLst>
          </p:cNvPr>
          <p:cNvSpPr>
            <a:spLocks noGrp="1"/>
          </p:cNvSpPr>
          <p:nvPr>
            <p:ph type="body" sz="quarter" idx="15"/>
          </p:nvPr>
        </p:nvSpPr>
        <p:spPr>
          <a:xfrm>
            <a:off x="2913592" y="949685"/>
            <a:ext cx="4183894" cy="592667"/>
          </a:xfrm>
        </p:spPr>
        <p:txBody>
          <a:bodyPr/>
          <a:lstStyle/>
          <a:p>
            <a:r>
              <a:rPr lang="pt-BR" sz="3200" b="1" dirty="0">
                <a:solidFill>
                  <a:srgbClr val="FF0000"/>
                </a:solidFill>
              </a:rPr>
              <a:t>Protocolos de rede</a:t>
            </a:r>
          </a:p>
        </p:txBody>
      </p:sp>
      <p:sp>
        <p:nvSpPr>
          <p:cNvPr id="18" name="CaixaDeTexto 17">
            <a:extLst>
              <a:ext uri="{FF2B5EF4-FFF2-40B4-BE49-F238E27FC236}">
                <a16:creationId xmlns:a16="http://schemas.microsoft.com/office/drawing/2014/main" id="{A90EFE7C-6792-8B8A-1494-89E12689583B}"/>
              </a:ext>
            </a:extLst>
          </p:cNvPr>
          <p:cNvSpPr txBox="1"/>
          <p:nvPr/>
        </p:nvSpPr>
        <p:spPr>
          <a:xfrm>
            <a:off x="1838476" y="3347962"/>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6" name="Imagem 5">
            <a:extLst>
              <a:ext uri="{FF2B5EF4-FFF2-40B4-BE49-F238E27FC236}">
                <a16:creationId xmlns:a16="http://schemas.microsoft.com/office/drawing/2014/main" id="{0651C22C-5295-3BA5-42D0-328217281859}"/>
              </a:ext>
            </a:extLst>
          </p:cNvPr>
          <p:cNvPicPr>
            <a:picLocks noChangeAspect="1"/>
          </p:cNvPicPr>
          <p:nvPr/>
        </p:nvPicPr>
        <p:blipFill>
          <a:blip r:embed="rId3"/>
          <a:stretch>
            <a:fillRect/>
          </a:stretch>
        </p:blipFill>
        <p:spPr>
          <a:xfrm>
            <a:off x="3218392" y="2234063"/>
            <a:ext cx="296333" cy="592667"/>
          </a:xfrm>
          <a:prstGeom prst="rect">
            <a:avLst/>
          </a:prstGeom>
        </p:spPr>
      </p:pic>
      <p:pic>
        <p:nvPicPr>
          <p:cNvPr id="7" name="Imagem 6">
            <a:extLst>
              <a:ext uri="{FF2B5EF4-FFF2-40B4-BE49-F238E27FC236}">
                <a16:creationId xmlns:a16="http://schemas.microsoft.com/office/drawing/2014/main" id="{E9531386-B998-BA2D-998E-7115B5248ABC}"/>
              </a:ext>
            </a:extLst>
          </p:cNvPr>
          <p:cNvPicPr>
            <a:picLocks noChangeAspect="1"/>
          </p:cNvPicPr>
          <p:nvPr/>
        </p:nvPicPr>
        <p:blipFill>
          <a:blip r:embed="rId3"/>
          <a:stretch>
            <a:fillRect/>
          </a:stretch>
        </p:blipFill>
        <p:spPr>
          <a:xfrm>
            <a:off x="3218392" y="3183632"/>
            <a:ext cx="296333" cy="592667"/>
          </a:xfrm>
          <a:prstGeom prst="rect">
            <a:avLst/>
          </a:prstGeom>
        </p:spPr>
      </p:pic>
      <p:pic>
        <p:nvPicPr>
          <p:cNvPr id="8" name="Imagem 7">
            <a:extLst>
              <a:ext uri="{FF2B5EF4-FFF2-40B4-BE49-F238E27FC236}">
                <a16:creationId xmlns:a16="http://schemas.microsoft.com/office/drawing/2014/main" id="{91F92F86-498B-6D57-C05F-D7659AABD04F}"/>
              </a:ext>
            </a:extLst>
          </p:cNvPr>
          <p:cNvPicPr>
            <a:picLocks noChangeAspect="1"/>
          </p:cNvPicPr>
          <p:nvPr/>
        </p:nvPicPr>
        <p:blipFill>
          <a:blip r:embed="rId3"/>
          <a:stretch>
            <a:fillRect/>
          </a:stretch>
        </p:blipFill>
        <p:spPr>
          <a:xfrm>
            <a:off x="3218392" y="4121478"/>
            <a:ext cx="296333" cy="592667"/>
          </a:xfrm>
          <a:prstGeom prst="rect">
            <a:avLst/>
          </a:prstGeom>
        </p:spPr>
      </p:pic>
    </p:spTree>
    <p:extLst>
      <p:ext uri="{BB962C8B-B14F-4D97-AF65-F5344CB8AC3E}">
        <p14:creationId xmlns:p14="http://schemas.microsoft.com/office/powerpoint/2010/main" val="3282134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90F600D2-ACE4-DDA7-2E58-6D64C3D6F649}"/>
              </a:ext>
            </a:extLst>
          </p:cNvPr>
          <p:cNvSpPr>
            <a:spLocks noGrp="1"/>
          </p:cNvSpPr>
          <p:nvPr>
            <p:ph type="body" sz="quarter" idx="4294967295"/>
          </p:nvPr>
        </p:nvSpPr>
        <p:spPr>
          <a:xfrm>
            <a:off x="2690223" y="960743"/>
            <a:ext cx="8512278" cy="409905"/>
          </a:xfrm>
          <a:prstGeom prst="rect">
            <a:avLst/>
          </a:prstGeom>
        </p:spPr>
        <p:txBody>
          <a:bodyPr/>
          <a:lstStyle>
            <a:lvl1pPr>
              <a:defRPr sz="4400" b="1"/>
            </a:lvl1pPr>
          </a:lstStyle>
          <a:p>
            <a:pPr lvl="0"/>
            <a:r>
              <a:rPr lang="pt-BR" sz="3200" dirty="0">
                <a:solidFill>
                  <a:srgbClr val="FF161F"/>
                </a:solidFill>
                <a:latin typeface="Poppins" pitchFamily="2" charset="77"/>
                <a:cs typeface="Poppins" pitchFamily="2" charset="77"/>
              </a:rPr>
              <a:t>Detectando problemas na rede</a:t>
            </a:r>
          </a:p>
        </p:txBody>
      </p:sp>
      <p:sp>
        <p:nvSpPr>
          <p:cNvPr id="10" name="Rectangle 2">
            <a:extLst>
              <a:ext uri="{FF2B5EF4-FFF2-40B4-BE49-F238E27FC236}">
                <a16:creationId xmlns:a16="http://schemas.microsoft.com/office/drawing/2014/main" id="{2AE59836-B6CC-CBA3-7731-2A3905B0DEEF}"/>
              </a:ext>
            </a:extLst>
          </p:cNvPr>
          <p:cNvSpPr>
            <a:spLocks noGrp="1" noChangeArrowheads="1"/>
          </p:cNvSpPr>
          <p:nvPr>
            <p:ph type="body" sz="quarter" idx="4294967295"/>
          </p:nvPr>
        </p:nvSpPr>
        <p:spPr bwMode="auto">
          <a:xfrm>
            <a:off x="2690223" y="1926936"/>
            <a:ext cx="950177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ts val="1200"/>
              </a:spcAft>
              <a:buClrTx/>
              <a:buSzTx/>
              <a:tabLst/>
            </a:pP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Diagnóstico de rede </a:t>
            </a:r>
            <a:r>
              <a:rPr kumimoji="0" lang="pt-BR" altLang="pt-BR"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é o</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processo de verificar se os dispositivos estão conectados e se a comunicação está fluindo. É importante para:</a:t>
            </a:r>
            <a:endParaRPr lang="pt-BR" altLang="pt-BR" sz="1800" dirty="0">
              <a:solidFill>
                <a:schemeClr val="tx1"/>
              </a:solidFill>
              <a:latin typeface="Poppins" panose="00000500000000000000" pitchFamily="2" charset="0"/>
              <a:cs typeface="Poppins" panose="00000500000000000000" pitchFamily="2" charset="0"/>
            </a:endParaRPr>
          </a:p>
          <a:p>
            <a:pPr marL="285750" marR="0" lvl="0" indent="-285750"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lang="pt-BR" altLang="pt-BR" sz="1800" dirty="0">
                <a:latin typeface="Poppins" panose="00000500000000000000" pitchFamily="2" charset="0"/>
                <a:cs typeface="Poppins" panose="00000500000000000000" pitchFamily="2" charset="0"/>
              </a:rPr>
              <a:t>descobrir </a:t>
            </a:r>
            <a:r>
              <a:rPr lang="pt-BR" altLang="pt-BR" sz="1800" b="1" dirty="0">
                <a:latin typeface="Poppins" panose="00000500000000000000" pitchFamily="2" charset="0"/>
                <a:cs typeface="Poppins" panose="00000500000000000000" pitchFamily="2" charset="0"/>
              </a:rPr>
              <a:t>se o problema está no computador, no roteador ou na internet</a:t>
            </a:r>
            <a:r>
              <a:rPr lang="pt-BR" altLang="pt-BR" sz="1800" dirty="0">
                <a:latin typeface="Poppins" panose="00000500000000000000" pitchFamily="2" charset="0"/>
                <a:cs typeface="Poppins" panose="00000500000000000000" pitchFamily="2" charset="0"/>
              </a:rPr>
              <a:t>;</a:t>
            </a:r>
          </a:p>
          <a:p>
            <a:pPr marL="285750" lvl="0" indent="-285750" eaLnBrk="0" fontAlgn="base" hangingPunct="0">
              <a:spcBef>
                <a:spcPts val="1200"/>
              </a:spcBef>
              <a:spcAft>
                <a:spcPts val="1200"/>
              </a:spcAft>
              <a:buClrTx/>
              <a:buFont typeface="Arial" panose="020B0604020202020204" pitchFamily="34" charset="0"/>
              <a:buChar char="•"/>
              <a:defRPr/>
            </a:pPr>
            <a:r>
              <a:rPr lang="pt-BR" altLang="pt-BR" sz="1800" dirty="0">
                <a:latin typeface="Poppins" panose="00000500000000000000" pitchFamily="2" charset="0"/>
                <a:cs typeface="Poppins" panose="00000500000000000000" pitchFamily="2" charset="0"/>
              </a:rPr>
              <a:t>investigar onde está o problema da conexão e identificar rapidamente falhas, usando ferramentas simples como  </a:t>
            </a:r>
            <a:r>
              <a:rPr lang="pt-BR" altLang="pt-BR" sz="1800" b="1" dirty="0">
                <a:latin typeface="Poppins" panose="00000500000000000000" pitchFamily="2" charset="0"/>
                <a:cs typeface="Poppins" panose="00000500000000000000" pitchFamily="2" charset="0"/>
              </a:rPr>
              <a:t>ping, tracert, ipconfig e status de rede</a:t>
            </a:r>
            <a:r>
              <a:rPr lang="pt-BR" altLang="pt-BR" sz="1800" dirty="0">
                <a:latin typeface="Poppins" panose="00000500000000000000" pitchFamily="2" charset="0"/>
                <a:cs typeface="Poppins" panose="00000500000000000000" pitchFamily="2" charset="0"/>
              </a:rPr>
              <a:t>.</a:t>
            </a:r>
          </a:p>
          <a:p>
            <a:pPr eaLnBrk="0" fontAlgn="base" hangingPunct="0">
              <a:spcBef>
                <a:spcPts val="1200"/>
              </a:spcBef>
              <a:spcAft>
                <a:spcPts val="1200"/>
              </a:spcAft>
              <a:buClrTx/>
              <a:defRPr/>
            </a:pPr>
            <a:r>
              <a:rPr lang="pt-BR" sz="1800" b="1" dirty="0">
                <a:latin typeface="Poppins" panose="00000500000000000000" pitchFamily="2" charset="0"/>
                <a:cs typeface="Poppins" panose="00000500000000000000" pitchFamily="2" charset="0"/>
              </a:rPr>
              <a:t>Exemplo: </a:t>
            </a:r>
            <a:r>
              <a:rPr lang="pt-BR" sz="1800" dirty="0">
                <a:latin typeface="Poppins" panose="00000500000000000000" pitchFamily="2" charset="0"/>
                <a:cs typeface="Poppins" panose="00000500000000000000" pitchFamily="2" charset="0"/>
              </a:rPr>
              <a:t>se o YouTube não abre, o diagnóstico mostra se a falha está na sua máquina, no Wi-Fi ou no site.</a:t>
            </a:r>
            <a:endParaRPr lang="pt-BR" altLang="pt-BR" sz="1800" b="1" dirty="0">
              <a:latin typeface="Poppins" panose="00000500000000000000" pitchFamily="2" charset="0"/>
              <a:cs typeface="Poppins" panose="00000500000000000000" pitchFamily="2" charset="0"/>
            </a:endParaRPr>
          </a:p>
        </p:txBody>
      </p:sp>
      <p:sp>
        <p:nvSpPr>
          <p:cNvPr id="18" name="Triângulo 7">
            <a:extLst>
              <a:ext uri="{FF2B5EF4-FFF2-40B4-BE49-F238E27FC236}">
                <a16:creationId xmlns:a16="http://schemas.microsoft.com/office/drawing/2014/main" id="{92F69C1C-4B90-10F5-57A5-D75A9E11B7B1}"/>
              </a:ext>
            </a:extLst>
          </p:cNvPr>
          <p:cNvSpPr/>
          <p:nvPr/>
        </p:nvSpPr>
        <p:spPr>
          <a:xfrm rot="5400000">
            <a:off x="2775541" y="2747168"/>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9" name="Triângulo 7">
            <a:extLst>
              <a:ext uri="{FF2B5EF4-FFF2-40B4-BE49-F238E27FC236}">
                <a16:creationId xmlns:a16="http://schemas.microsoft.com/office/drawing/2014/main" id="{6389D733-3853-5DCB-BA5A-07DE8313EC7E}"/>
              </a:ext>
            </a:extLst>
          </p:cNvPr>
          <p:cNvSpPr/>
          <p:nvPr/>
        </p:nvSpPr>
        <p:spPr>
          <a:xfrm rot="5400000">
            <a:off x="2775540" y="331807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4" name="CaixaDeTexto 3">
            <a:extLst>
              <a:ext uri="{FF2B5EF4-FFF2-40B4-BE49-F238E27FC236}">
                <a16:creationId xmlns:a16="http://schemas.microsoft.com/office/drawing/2014/main" id="{CBB77668-9133-D170-150C-86B70C1C7344}"/>
              </a:ext>
            </a:extLst>
          </p:cNvPr>
          <p:cNvSpPr txBox="1"/>
          <p:nvPr/>
        </p:nvSpPr>
        <p:spPr>
          <a:xfrm>
            <a:off x="2690223" y="4874522"/>
            <a:ext cx="6093068" cy="261610"/>
          </a:xfrm>
          <a:prstGeom prst="rect">
            <a:avLst/>
          </a:prstGeom>
          <a:noFill/>
          <a:ln>
            <a:noFill/>
          </a:ln>
        </p:spPr>
        <p:txBody>
          <a:bodyPr wrap="square">
            <a:spAutoFit/>
          </a:bodyPr>
          <a:lstStyle/>
          <a:p>
            <a:pPr>
              <a:buNone/>
            </a:pPr>
            <a:r>
              <a:rPr lang="pt-BR" sz="1100" dirty="0">
                <a:effectLst/>
                <a:latin typeface="Poppins" panose="00000500000000000000" pitchFamily="2" charset="0"/>
                <a:cs typeface="Poppins" panose="00000500000000000000" pitchFamily="2" charset="0"/>
              </a:rPr>
              <a:t>Fonte: STALLINGS, 2017.</a:t>
            </a:r>
          </a:p>
        </p:txBody>
      </p:sp>
    </p:spTree>
    <p:extLst>
      <p:ext uri="{BB962C8B-B14F-4D97-AF65-F5344CB8AC3E}">
        <p14:creationId xmlns:p14="http://schemas.microsoft.com/office/powerpoint/2010/main" val="1078869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12" name="Espaço Reservado para Texto 11">
            <a:extLst>
              <a:ext uri="{FF2B5EF4-FFF2-40B4-BE49-F238E27FC236}">
                <a16:creationId xmlns:a16="http://schemas.microsoft.com/office/drawing/2014/main" id="{B0D59DBA-0E94-A4A0-0027-F9801003C519}"/>
              </a:ext>
            </a:extLst>
          </p:cNvPr>
          <p:cNvSpPr>
            <a:spLocks noGrp="1"/>
          </p:cNvSpPr>
          <p:nvPr>
            <p:ph type="body" sz="quarter" idx="10"/>
          </p:nvPr>
        </p:nvSpPr>
        <p:spPr>
          <a:xfrm>
            <a:off x="2708677" y="961589"/>
            <a:ext cx="8540120" cy="520699"/>
          </a:xfrm>
        </p:spPr>
        <p:txBody>
          <a:bodyPr>
            <a:normAutofit/>
          </a:bodyPr>
          <a:lstStyle/>
          <a:p>
            <a:pPr marL="0" indent="0">
              <a:lnSpc>
                <a:spcPct val="90000"/>
              </a:lnSpc>
              <a:spcAft>
                <a:spcPts val="600"/>
              </a:spcAft>
            </a:pPr>
            <a:r>
              <a:rPr lang="pt-BR" sz="3000" b="1" dirty="0">
                <a:solidFill>
                  <a:srgbClr val="FF161F"/>
                </a:solidFill>
              </a:rPr>
              <a:t>Ping: testando a conexão</a:t>
            </a:r>
          </a:p>
        </p:txBody>
      </p:sp>
      <p:sp>
        <p:nvSpPr>
          <p:cNvPr id="11" name="Espaço Reservado para Texto 10">
            <a:extLst>
              <a:ext uri="{FF2B5EF4-FFF2-40B4-BE49-F238E27FC236}">
                <a16:creationId xmlns:a16="http://schemas.microsoft.com/office/drawing/2014/main" id="{0A427A47-8E35-6F44-DD68-44AA29D75DEE}"/>
              </a:ext>
            </a:extLst>
          </p:cNvPr>
          <p:cNvSpPr>
            <a:spLocks noGrp="1"/>
          </p:cNvSpPr>
          <p:nvPr>
            <p:ph type="body" sz="quarter" idx="11"/>
          </p:nvPr>
        </p:nvSpPr>
        <p:spPr>
          <a:xfrm>
            <a:off x="2708677" y="1509000"/>
            <a:ext cx="8973250" cy="1263262"/>
          </a:xfrm>
        </p:spPr>
        <p:txBody>
          <a:bodyPr>
            <a:normAutofit/>
          </a:bodyPr>
          <a:lstStyle/>
          <a:p>
            <a:r>
              <a:rPr lang="pt-BR" sz="1800" b="1" dirty="0"/>
              <a:t>Ping (Packet Internet Groper) </a:t>
            </a:r>
            <a:r>
              <a:rPr lang="pt-BR" sz="1800" dirty="0"/>
              <a:t>é a ferramenta mais simples e acessível para checar se a internet está funcionando. Esse comando envia um pacote para outro dispositivo e verifica se ele responde, mostrando se há </a:t>
            </a:r>
            <a:r>
              <a:rPr lang="pt-BR" sz="1800" b="1" dirty="0"/>
              <a:t>conexão</a:t>
            </a:r>
            <a:r>
              <a:rPr lang="pt-BR" sz="1800" dirty="0"/>
              <a:t> e medindo o </a:t>
            </a:r>
            <a:r>
              <a:rPr lang="pt-BR" sz="1800" b="1" dirty="0"/>
              <a:t>tempo de resposta (latência)</a:t>
            </a:r>
            <a:r>
              <a:rPr lang="pt-BR" sz="1800" dirty="0"/>
              <a:t>.</a:t>
            </a:r>
          </a:p>
          <a:p>
            <a:pPr algn="just"/>
            <a:endParaRPr lang="pt-BR" sz="1800" dirty="0"/>
          </a:p>
          <a:p>
            <a:pPr algn="just"/>
            <a:endParaRPr lang="pt-BR" sz="1800" dirty="0"/>
          </a:p>
        </p:txBody>
      </p:sp>
      <p:pic>
        <p:nvPicPr>
          <p:cNvPr id="5" name="Imagem 4">
            <a:extLst>
              <a:ext uri="{FF2B5EF4-FFF2-40B4-BE49-F238E27FC236}">
                <a16:creationId xmlns:a16="http://schemas.microsoft.com/office/drawing/2014/main" id="{E9F7BCDD-7E55-9DDC-6FF3-C7A8AAEAC79A}"/>
              </a:ext>
            </a:extLst>
          </p:cNvPr>
          <p:cNvPicPr>
            <a:picLocks noChangeAspect="1"/>
          </p:cNvPicPr>
          <p:nvPr/>
        </p:nvPicPr>
        <p:blipFill>
          <a:blip r:embed="rId3"/>
          <a:stretch>
            <a:fillRect/>
          </a:stretch>
        </p:blipFill>
        <p:spPr>
          <a:xfrm>
            <a:off x="218727" y="2958191"/>
            <a:ext cx="5364044" cy="2793072"/>
          </a:xfrm>
          <a:prstGeom prst="rect">
            <a:avLst/>
          </a:prstGeom>
        </p:spPr>
      </p:pic>
      <p:sp>
        <p:nvSpPr>
          <p:cNvPr id="4" name="CaixaDeTexto 3">
            <a:extLst>
              <a:ext uri="{FF2B5EF4-FFF2-40B4-BE49-F238E27FC236}">
                <a16:creationId xmlns:a16="http://schemas.microsoft.com/office/drawing/2014/main" id="{4338C6B9-F921-BD6E-23C3-8FE0390CD712}"/>
              </a:ext>
            </a:extLst>
          </p:cNvPr>
          <p:cNvSpPr txBox="1"/>
          <p:nvPr/>
        </p:nvSpPr>
        <p:spPr>
          <a:xfrm>
            <a:off x="5688924" y="2972534"/>
            <a:ext cx="5655351" cy="2662267"/>
          </a:xfrm>
          <a:prstGeom prst="rect">
            <a:avLst/>
          </a:prstGeom>
          <a:noFill/>
          <a:ln>
            <a:noFill/>
          </a:ln>
        </p:spPr>
        <p:txBody>
          <a:bodyPr wrap="square">
            <a:spAutoFit/>
          </a:bodyPr>
          <a:lstStyle/>
          <a:p>
            <a:pPr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Como usar (Windows):</a:t>
            </a:r>
            <a:endPar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endParaRPr>
          </a:p>
          <a:p>
            <a:pPr marL="342900" marR="0" lvl="0" indent="-342900"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Abra o </a:t>
            </a:r>
            <a:r>
              <a:rPr kumimoji="0" lang="pt-BR" sz="1800" b="1"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Prompt de Comando</a:t>
            </a: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a:t>
            </a:r>
          </a:p>
          <a:p>
            <a:pPr marL="342900" marR="0" lvl="0" indent="-342900"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Digite: ping www.google.com</a:t>
            </a:r>
          </a:p>
          <a:p>
            <a:pPr marL="342900" marR="0" lvl="0" indent="-342900"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Se houver resposta, o PC está conectado.</a:t>
            </a:r>
          </a:p>
          <a:p>
            <a:pPr>
              <a:spcAft>
                <a:spcPts val="600"/>
              </a:spcAft>
              <a:defRPr/>
            </a:pPr>
            <a:r>
              <a:rPr lang="pt-BR" sz="1800" dirty="0">
                <a:latin typeface="Poppins" panose="00000500000000000000" pitchFamily="2" charset="0"/>
                <a:cs typeface="Poppins" panose="00000500000000000000" pitchFamily="2" charset="0"/>
              </a:rPr>
              <a:t>Nesse exemplo, o </a:t>
            </a:r>
            <a:r>
              <a:rPr lang="pt-BR" sz="1800" b="1" dirty="0">
                <a:latin typeface="Poppins" panose="00000500000000000000" pitchFamily="2" charset="0"/>
                <a:cs typeface="Poppins" panose="00000500000000000000" pitchFamily="2" charset="0"/>
              </a:rPr>
              <a:t>ping</a:t>
            </a:r>
            <a:r>
              <a:rPr lang="pt-BR" sz="1800" dirty="0">
                <a:latin typeface="Poppins" panose="00000500000000000000" pitchFamily="2" charset="0"/>
                <a:cs typeface="Poppins" panose="00000500000000000000" pitchFamily="2" charset="0"/>
              </a:rPr>
              <a:t> retornou a resposta em 17 ms de média, isso significa que a internet está ativa e estável.</a:t>
            </a: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eriod"/>
              <a:tabLst/>
              <a:defRPr/>
            </a:pPr>
            <a:endParaRPr kumimoji="0" lang="pt-BR" sz="16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endParaRPr>
          </a:p>
        </p:txBody>
      </p:sp>
      <p:sp>
        <p:nvSpPr>
          <p:cNvPr id="10" name="CaixaDeTexto 9">
            <a:extLst>
              <a:ext uri="{FF2B5EF4-FFF2-40B4-BE49-F238E27FC236}">
                <a16:creationId xmlns:a16="http://schemas.microsoft.com/office/drawing/2014/main" id="{C046641E-90BA-13A6-4AF2-D83C21F213D2}"/>
              </a:ext>
            </a:extLst>
          </p:cNvPr>
          <p:cNvSpPr txBox="1"/>
          <p:nvPr/>
        </p:nvSpPr>
        <p:spPr>
          <a:xfrm>
            <a:off x="117265" y="5835073"/>
            <a:ext cx="6097904" cy="261610"/>
          </a:xfrm>
          <a:prstGeom prst="rect">
            <a:avLst/>
          </a:prstGeom>
          <a:noFill/>
          <a:ln>
            <a:noFill/>
          </a:ln>
        </p:spPr>
        <p:txBody>
          <a:bodyPr wrap="square">
            <a:spAutoFit/>
          </a:bodyPr>
          <a:lstStyle/>
          <a:p>
            <a:r>
              <a:rPr lang="pt-BR" sz="1100" dirty="0">
                <a:latin typeface="Poppins" panose="00000500000000000000" pitchFamily="2" charset="0"/>
                <a:cs typeface="Poppins" panose="00000500000000000000" pitchFamily="2" charset="0"/>
              </a:rPr>
              <a:t>Produzido pela SEDUC-SP com a ferramenta Microsoft Windows.</a:t>
            </a:r>
          </a:p>
        </p:txBody>
      </p:sp>
      <p:sp>
        <p:nvSpPr>
          <p:cNvPr id="3" name="CaixaDeTexto 2">
            <a:extLst>
              <a:ext uri="{FF2B5EF4-FFF2-40B4-BE49-F238E27FC236}">
                <a16:creationId xmlns:a16="http://schemas.microsoft.com/office/drawing/2014/main" id="{BE2FCED5-E4D0-2C3E-1BEF-037BB1A0B441}"/>
              </a:ext>
            </a:extLst>
          </p:cNvPr>
          <p:cNvSpPr txBox="1"/>
          <p:nvPr/>
        </p:nvSpPr>
        <p:spPr>
          <a:xfrm>
            <a:off x="5688924" y="5303790"/>
            <a:ext cx="2294974" cy="261610"/>
          </a:xfrm>
          <a:prstGeom prst="rect">
            <a:avLst/>
          </a:prstGeom>
          <a:noFill/>
          <a:ln>
            <a:noFill/>
          </a:ln>
        </p:spPr>
        <p:txBody>
          <a:bodyPr wrap="square">
            <a:spAutoFit/>
          </a:bodyPr>
          <a:lstStyle/>
          <a:p>
            <a:pPr>
              <a:buNone/>
            </a:pPr>
            <a:r>
              <a:rPr lang="pt-BR" sz="1100" dirty="0">
                <a:effectLst/>
                <a:latin typeface="Poppins" panose="00000500000000000000" pitchFamily="2" charset="0"/>
                <a:cs typeface="Poppins" panose="00000500000000000000" pitchFamily="2" charset="0"/>
              </a:rPr>
              <a:t>Fonte: BROOKSHEAR, 2013.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2041D-A8F3-4937-C4C1-3989A7C524B0}"/>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39A9642C-B9CD-A8A9-340D-507955D18242}"/>
              </a:ext>
            </a:extLst>
          </p:cNvPr>
          <p:cNvSpPr>
            <a:spLocks noGrp="1"/>
          </p:cNvSpPr>
          <p:nvPr>
            <p:ph type="body" sz="quarter" idx="4294967295"/>
          </p:nvPr>
        </p:nvSpPr>
        <p:spPr>
          <a:xfrm>
            <a:off x="2544470" y="819888"/>
            <a:ext cx="8463897" cy="503141"/>
          </a:xfrm>
          <a:prstGeom prst="rect">
            <a:avLst/>
          </a:prstGeom>
        </p:spPr>
        <p:txBody>
          <a:bodyPr/>
          <a:lstStyle>
            <a:lvl1pPr>
              <a:defRPr sz="2400">
                <a:latin typeface="Poppins" pitchFamily="2" charset="77"/>
                <a:cs typeface="Poppins" pitchFamily="2" charset="77"/>
              </a:defRPr>
            </a:lvl1pPr>
          </a:lstStyle>
          <a:p>
            <a:pPr lvl="0"/>
            <a:r>
              <a:rPr lang="pt-BR" sz="3200" b="1" dirty="0">
                <a:solidFill>
                  <a:srgbClr val="FF161F"/>
                </a:solidFill>
              </a:rPr>
              <a:t>Tracert: o caminho dos dados</a:t>
            </a:r>
          </a:p>
        </p:txBody>
      </p:sp>
      <p:sp>
        <p:nvSpPr>
          <p:cNvPr id="5" name="CaixaDeTexto 4">
            <a:extLst>
              <a:ext uri="{FF2B5EF4-FFF2-40B4-BE49-F238E27FC236}">
                <a16:creationId xmlns:a16="http://schemas.microsoft.com/office/drawing/2014/main" id="{EA51DB39-6CAD-5088-EDAF-BD7185791535}"/>
              </a:ext>
            </a:extLst>
          </p:cNvPr>
          <p:cNvSpPr txBox="1"/>
          <p:nvPr/>
        </p:nvSpPr>
        <p:spPr>
          <a:xfrm>
            <a:off x="2527052" y="1444309"/>
            <a:ext cx="9733255" cy="1184940"/>
          </a:xfrm>
          <a:prstGeom prst="rect">
            <a:avLst/>
          </a:prstGeom>
          <a:noFill/>
          <a:ln>
            <a:noFill/>
          </a:ln>
        </p:spPr>
        <p:txBody>
          <a:bodyPr wrap="square">
            <a:spAutoFit/>
          </a:bodyPr>
          <a:lstStyle/>
          <a:p>
            <a:r>
              <a:rPr lang="pt-BR" sz="1800" b="1" dirty="0">
                <a:latin typeface="Poppins" panose="00000500000000000000" pitchFamily="2" charset="0"/>
                <a:cs typeface="Poppins" panose="00000500000000000000" pitchFamily="2" charset="0"/>
              </a:rPr>
              <a:t>Tracert (Traceroute em Linux/Mac) </a:t>
            </a:r>
            <a:r>
              <a:rPr lang="pt-BR" sz="1800" dirty="0">
                <a:latin typeface="Poppins" panose="00000500000000000000" pitchFamily="2" charset="0"/>
                <a:cs typeface="Poppins" panose="00000500000000000000" pitchFamily="2" charset="0"/>
              </a:rPr>
              <a:t>é o comando que mostra </a:t>
            </a:r>
            <a:r>
              <a:rPr lang="pt-BR" sz="1800" b="1" dirty="0">
                <a:latin typeface="Poppins" panose="00000500000000000000" pitchFamily="2" charset="0"/>
                <a:cs typeface="Poppins" panose="00000500000000000000" pitchFamily="2" charset="0"/>
              </a:rPr>
              <a:t>por onde os pacotes passam </a:t>
            </a:r>
            <a:r>
              <a:rPr lang="pt-BR" sz="1800" dirty="0">
                <a:latin typeface="Poppins" panose="00000500000000000000" pitchFamily="2" charset="0"/>
                <a:cs typeface="Poppins" panose="00000500000000000000" pitchFamily="2" charset="0"/>
              </a:rPr>
              <a:t>até chegarem </a:t>
            </a:r>
            <a:r>
              <a:rPr lang="pt-BR" sz="1800" b="1" dirty="0">
                <a:latin typeface="Poppins" panose="00000500000000000000" pitchFamily="2" charset="0"/>
                <a:cs typeface="Poppins" panose="00000500000000000000" pitchFamily="2" charset="0"/>
              </a:rPr>
              <a:t>ao destino</a:t>
            </a:r>
            <a:r>
              <a:rPr lang="pt-BR" sz="1800" dirty="0">
                <a:latin typeface="Poppins" panose="00000500000000000000" pitchFamily="2" charset="0"/>
                <a:cs typeface="Poppins" panose="00000500000000000000" pitchFamily="2" charset="0"/>
              </a:rPr>
              <a:t>. Ele lista todos os </a:t>
            </a:r>
            <a:r>
              <a:rPr lang="pt-BR" sz="1800" b="1" dirty="0">
                <a:latin typeface="Poppins" panose="00000500000000000000" pitchFamily="2" charset="0"/>
                <a:cs typeface="Poppins" panose="00000500000000000000" pitchFamily="2" charset="0"/>
              </a:rPr>
              <a:t>roteadores e servidores intermediários</a:t>
            </a:r>
            <a:r>
              <a:rPr lang="pt-BR" sz="1800" dirty="0">
                <a:latin typeface="Poppins" panose="00000500000000000000" pitchFamily="2" charset="0"/>
                <a:cs typeface="Poppins" panose="00000500000000000000" pitchFamily="2" charset="0"/>
              </a:rPr>
              <a:t>, ajudando</a:t>
            </a:r>
            <a:r>
              <a:rPr lang="pt-BR" sz="1800" b="1" dirty="0">
                <a:latin typeface="Poppins" panose="00000500000000000000" pitchFamily="2" charset="0"/>
                <a:cs typeface="Poppins" panose="00000500000000000000" pitchFamily="2" charset="0"/>
              </a:rPr>
              <a:t> </a:t>
            </a:r>
            <a:r>
              <a:rPr lang="pt-BR" sz="1800" dirty="0">
                <a:latin typeface="Poppins" panose="00000500000000000000" pitchFamily="2" charset="0"/>
                <a:cs typeface="Poppins" panose="00000500000000000000" pitchFamily="2" charset="0"/>
              </a:rPr>
              <a:t>a identificar onde há falha ou lentidão no caminho.</a:t>
            </a:r>
          </a:p>
          <a:p>
            <a:pPr algn="just"/>
            <a:endParaRPr lang="pt-BR" sz="1700" dirty="0">
              <a:latin typeface="Poppins" panose="00000500000000000000" pitchFamily="2" charset="0"/>
              <a:cs typeface="Poppins" panose="00000500000000000000" pitchFamily="2" charset="0"/>
            </a:endParaRPr>
          </a:p>
        </p:txBody>
      </p:sp>
      <p:pic>
        <p:nvPicPr>
          <p:cNvPr id="10" name="Imagem 9">
            <a:extLst>
              <a:ext uri="{FF2B5EF4-FFF2-40B4-BE49-F238E27FC236}">
                <a16:creationId xmlns:a16="http://schemas.microsoft.com/office/drawing/2014/main" id="{9197808E-8D14-D7F2-8E08-508E2964EC6F}"/>
              </a:ext>
            </a:extLst>
          </p:cNvPr>
          <p:cNvPicPr>
            <a:picLocks noChangeAspect="1"/>
          </p:cNvPicPr>
          <p:nvPr/>
        </p:nvPicPr>
        <p:blipFill>
          <a:blip r:embed="rId2"/>
          <a:stretch>
            <a:fillRect/>
          </a:stretch>
        </p:blipFill>
        <p:spPr>
          <a:xfrm>
            <a:off x="273206" y="2524125"/>
            <a:ext cx="5524172" cy="3395219"/>
          </a:xfrm>
          <a:prstGeom prst="rect">
            <a:avLst/>
          </a:prstGeom>
        </p:spPr>
      </p:pic>
      <p:sp>
        <p:nvSpPr>
          <p:cNvPr id="3" name="CaixaDeTexto 2">
            <a:extLst>
              <a:ext uri="{FF2B5EF4-FFF2-40B4-BE49-F238E27FC236}">
                <a16:creationId xmlns:a16="http://schemas.microsoft.com/office/drawing/2014/main" id="{EAB263A0-1A5C-1068-0A00-C9233DBB41ED}"/>
              </a:ext>
            </a:extLst>
          </p:cNvPr>
          <p:cNvSpPr txBox="1"/>
          <p:nvPr/>
        </p:nvSpPr>
        <p:spPr>
          <a:xfrm>
            <a:off x="5862692" y="2524125"/>
            <a:ext cx="6211120" cy="3170099"/>
          </a:xfrm>
          <a:prstGeom prst="rect">
            <a:avLst/>
          </a:prstGeom>
          <a:noFill/>
          <a:ln>
            <a:noFill/>
          </a:ln>
        </p:spPr>
        <p:txBody>
          <a:bodyPr wrap="square">
            <a:spAutoFit/>
          </a:bodyPr>
          <a:lstStyle/>
          <a:p>
            <a:pPr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Como usar (Windows):</a:t>
            </a:r>
            <a:endPar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a:p>
            <a:pPr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Abra o </a:t>
            </a:r>
            <a:r>
              <a:rPr kumimoji="0" 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Prompt de Comando</a:t>
            </a: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t>
            </a:r>
          </a:p>
          <a:p>
            <a:pPr marL="342900" marR="0" lvl="0" indent="-342900"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Digite: tracert www.youtube.com</a:t>
            </a:r>
          </a:p>
          <a:p>
            <a:pPr marL="342900" marR="0" lvl="0" indent="-342900"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Veja cada “salto” até o servidor.</a:t>
            </a:r>
          </a:p>
          <a:p>
            <a:pPr>
              <a:spcAft>
                <a:spcPts val="600"/>
              </a:spcAft>
              <a:defRPr/>
            </a:pPr>
            <a:r>
              <a:rPr lang="pt-BR" sz="1800" dirty="0">
                <a:latin typeface="Poppins" panose="00000500000000000000" pitchFamily="2" charset="0"/>
                <a:cs typeface="Poppins" panose="00000500000000000000" pitchFamily="2" charset="0"/>
              </a:rPr>
              <a:t>Se o </a:t>
            </a:r>
            <a:r>
              <a:rPr lang="pt-BR" sz="1800" b="1" dirty="0">
                <a:latin typeface="Poppins" panose="00000500000000000000" pitchFamily="2" charset="0"/>
                <a:cs typeface="Poppins" panose="00000500000000000000" pitchFamily="2" charset="0"/>
              </a:rPr>
              <a:t>tracert</a:t>
            </a:r>
            <a:r>
              <a:rPr lang="pt-BR" sz="1800" dirty="0">
                <a:latin typeface="Poppins" panose="00000500000000000000" pitchFamily="2" charset="0"/>
                <a:cs typeface="Poppins" panose="00000500000000000000" pitchFamily="2" charset="0"/>
              </a:rPr>
              <a:t> parar antes de chegar ao destino final, pode indicar falha no caminho. Mas se ele mostrar mensagens de tempo esgotado em alguns pontos e ainda assim alcançar o destino, significa que houve apenas bloqueio de resposta nesses trechos, não uma falha completa da conexão.</a:t>
            </a:r>
          </a:p>
        </p:txBody>
      </p:sp>
      <p:sp>
        <p:nvSpPr>
          <p:cNvPr id="4" name="CaixaDeTexto 3">
            <a:extLst>
              <a:ext uri="{FF2B5EF4-FFF2-40B4-BE49-F238E27FC236}">
                <a16:creationId xmlns:a16="http://schemas.microsoft.com/office/drawing/2014/main" id="{5AAA0ED4-26B6-7C5E-FEAC-2901D478406E}"/>
              </a:ext>
            </a:extLst>
          </p:cNvPr>
          <p:cNvSpPr txBox="1"/>
          <p:nvPr/>
        </p:nvSpPr>
        <p:spPr>
          <a:xfrm>
            <a:off x="236240" y="5928663"/>
            <a:ext cx="6097904" cy="261610"/>
          </a:xfrm>
          <a:prstGeom prst="rect">
            <a:avLst/>
          </a:prstGeom>
          <a:noFill/>
          <a:ln>
            <a:noFill/>
          </a:ln>
        </p:spPr>
        <p:txBody>
          <a:bodyPr wrap="square">
            <a:spAutoFit/>
          </a:bodyPr>
          <a:lstStyle/>
          <a:p>
            <a:r>
              <a:rPr lang="pt-BR" sz="1100" dirty="0">
                <a:latin typeface="Poppins" panose="00000500000000000000" pitchFamily="2" charset="0"/>
                <a:cs typeface="Poppins" panose="00000500000000000000" pitchFamily="2" charset="0"/>
              </a:rPr>
              <a:t>Produzido pela SEDUC-SP com a ferramenta Microsoft Windows.</a:t>
            </a:r>
          </a:p>
        </p:txBody>
      </p:sp>
      <p:sp>
        <p:nvSpPr>
          <p:cNvPr id="6" name="CaixaDeTexto 5">
            <a:extLst>
              <a:ext uri="{FF2B5EF4-FFF2-40B4-BE49-F238E27FC236}">
                <a16:creationId xmlns:a16="http://schemas.microsoft.com/office/drawing/2014/main" id="{B3BCE3ED-5701-8F09-69B4-00E7C6F01E72}"/>
              </a:ext>
            </a:extLst>
          </p:cNvPr>
          <p:cNvSpPr txBox="1"/>
          <p:nvPr/>
        </p:nvSpPr>
        <p:spPr>
          <a:xfrm>
            <a:off x="5862692" y="5667053"/>
            <a:ext cx="6093068" cy="261610"/>
          </a:xfrm>
          <a:prstGeom prst="rect">
            <a:avLst/>
          </a:prstGeom>
          <a:noFill/>
          <a:ln>
            <a:noFill/>
          </a:ln>
        </p:spPr>
        <p:txBody>
          <a:bodyPr wrap="square">
            <a:spAutoFit/>
          </a:bodyPr>
          <a:lstStyle/>
          <a:p>
            <a:r>
              <a:rPr lang="pt-BR" sz="1100" dirty="0">
                <a:effectLst/>
                <a:latin typeface="Poppins" panose="00000500000000000000" pitchFamily="2" charset="0"/>
                <a:cs typeface="Poppins" panose="00000500000000000000" pitchFamily="2" charset="0"/>
              </a:rPr>
              <a:t>Fonte: BROOKSHEAR, 2013.</a:t>
            </a:r>
            <a:endParaRPr lang="pt-BR"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34278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7ECF5A21-FC78-49A0-9E64-042BA48421C8}"/>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DD555ED7-D5CC-4DFC-1361-191B3983DD71}"/>
              </a:ext>
            </a:extLst>
          </p:cNvPr>
          <p:cNvSpPr>
            <a:spLocks noGrp="1"/>
          </p:cNvSpPr>
          <p:nvPr>
            <p:ph type="body" sz="quarter" idx="10"/>
          </p:nvPr>
        </p:nvSpPr>
        <p:spPr>
          <a:xfrm>
            <a:off x="2743601" y="890781"/>
            <a:ext cx="4795534" cy="520699"/>
          </a:xfrm>
        </p:spPr>
        <p:txBody>
          <a:bodyPr>
            <a:noAutofit/>
          </a:bodyPr>
          <a:lstStyle>
            <a:lvl1pPr>
              <a:defRPr sz="1800">
                <a:latin typeface="Poppins" pitchFamily="2" charset="77"/>
                <a:cs typeface="Poppins" pitchFamily="2" charset="77"/>
              </a:defRPr>
            </a:lvl1pPr>
          </a:lstStyle>
          <a:p>
            <a:pPr>
              <a:lnSpc>
                <a:spcPct val="90000"/>
              </a:lnSpc>
              <a:spcAft>
                <a:spcPts val="600"/>
              </a:spcAft>
            </a:pPr>
            <a:r>
              <a:rPr lang="pt-BR" sz="3200" b="1" dirty="0">
                <a:solidFill>
                  <a:srgbClr val="FF161F"/>
                </a:solidFill>
              </a:rPr>
              <a:t>Descobrindo o seu IP</a:t>
            </a:r>
          </a:p>
        </p:txBody>
      </p:sp>
      <p:sp>
        <p:nvSpPr>
          <p:cNvPr id="12" name="CaixaDeTexto 11">
            <a:extLst>
              <a:ext uri="{FF2B5EF4-FFF2-40B4-BE49-F238E27FC236}">
                <a16:creationId xmlns:a16="http://schemas.microsoft.com/office/drawing/2014/main" id="{B992574C-9B6C-72F1-7104-C8674BE43A5C}"/>
              </a:ext>
            </a:extLst>
          </p:cNvPr>
          <p:cNvSpPr txBox="1"/>
          <p:nvPr/>
        </p:nvSpPr>
        <p:spPr>
          <a:xfrm>
            <a:off x="12755593" y="5336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CaixaDeTexto 12">
            <a:extLst>
              <a:ext uri="{FF2B5EF4-FFF2-40B4-BE49-F238E27FC236}">
                <a16:creationId xmlns:a16="http://schemas.microsoft.com/office/drawing/2014/main" id="{C6FD123B-A56E-4755-3733-0534C3ED54CF}"/>
              </a:ext>
            </a:extLst>
          </p:cNvPr>
          <p:cNvSpPr txBox="1"/>
          <p:nvPr/>
        </p:nvSpPr>
        <p:spPr>
          <a:xfrm>
            <a:off x="13238672" y="45662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Rectangle 1">
            <a:extLst>
              <a:ext uri="{FF2B5EF4-FFF2-40B4-BE49-F238E27FC236}">
                <a16:creationId xmlns:a16="http://schemas.microsoft.com/office/drawing/2014/main" id="{8E1691E0-F5FB-3EDB-9F4F-E77490A022CC}"/>
              </a:ext>
            </a:extLst>
          </p:cNvPr>
          <p:cNvSpPr>
            <a:spLocks noGrp="1" noChangeArrowheads="1"/>
          </p:cNvSpPr>
          <p:nvPr>
            <p:ph type="body" sz="quarter" idx="11"/>
          </p:nvPr>
        </p:nvSpPr>
        <p:spPr bwMode="auto">
          <a:xfrm>
            <a:off x="2204958" y="1951672"/>
            <a:ext cx="503821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pt-BR" sz="1800" b="1" dirty="0"/>
              <a:t>IP (Internet Protocol) </a:t>
            </a:r>
            <a:r>
              <a:rPr lang="pt-BR" sz="1800" dirty="0"/>
              <a:t>é o número que identifica cada dispositivo em uma rede. Sem IP válido, o computador não consegue se comunicar.</a:t>
            </a:r>
          </a:p>
          <a:p>
            <a:pPr algn="just"/>
            <a:endParaRPr lang="pt-BR" sz="1800" dirty="0"/>
          </a:p>
        </p:txBody>
      </p:sp>
      <p:sp>
        <p:nvSpPr>
          <p:cNvPr id="6" name="Google Shape;136;p4">
            <a:extLst>
              <a:ext uri="{FF2B5EF4-FFF2-40B4-BE49-F238E27FC236}">
                <a16:creationId xmlns:a16="http://schemas.microsoft.com/office/drawing/2014/main" id="{D1E20F97-A38A-09AD-3793-F541D9291798}"/>
              </a:ext>
            </a:extLst>
          </p:cNvPr>
          <p:cNvSpPr txBox="1"/>
          <p:nvPr/>
        </p:nvSpPr>
        <p:spPr>
          <a:xfrm>
            <a:off x="7671986" y="1835146"/>
            <a:ext cx="4281316" cy="3601713"/>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1600" dirty="0">
              <a:latin typeface="Poppins" panose="00000500000000000000" pitchFamily="2" charset="0"/>
              <a:ea typeface="Lato"/>
              <a:cs typeface="Poppins" panose="00000500000000000000" pitchFamily="2" charset="0"/>
              <a:sym typeface="Lato"/>
            </a:endParaRPr>
          </a:p>
          <a:p>
            <a:pPr>
              <a:spcAft>
                <a:spcPts val="600"/>
              </a:spcAft>
            </a:pPr>
            <a:r>
              <a:rPr lang="pt-BR" sz="1600" b="1" dirty="0">
                <a:latin typeface="Poppins" panose="00000500000000000000" pitchFamily="2" charset="0"/>
                <a:cs typeface="Poppins" panose="00000500000000000000" pitchFamily="2" charset="0"/>
              </a:rPr>
              <a:t>Por que isso é importante para um cientista de dados?</a:t>
            </a:r>
            <a:endParaRPr lang="pt-BR" sz="1600" dirty="0">
              <a:latin typeface="Poppins" panose="00000500000000000000" pitchFamily="2" charset="0"/>
              <a:cs typeface="Poppins" panose="00000500000000000000" pitchFamily="2" charset="0"/>
            </a:endParaRPr>
          </a:p>
          <a:p>
            <a:pPr marL="285750" indent="-285750">
              <a:spcAft>
                <a:spcPts val="600"/>
              </a:spcAft>
              <a:buFont typeface="Wingdings" panose="05000000000000000000" pitchFamily="2" charset="2"/>
              <a:buChar char="ü"/>
            </a:pPr>
            <a:r>
              <a:rPr lang="pt-BR" sz="1600" dirty="0">
                <a:latin typeface="Poppins" panose="00000500000000000000" pitchFamily="2" charset="0"/>
                <a:cs typeface="Poppins" panose="00000500000000000000" pitchFamily="2" charset="0"/>
              </a:rPr>
              <a:t>Permite </a:t>
            </a:r>
            <a:r>
              <a:rPr lang="pt-BR" sz="1600" b="1" dirty="0">
                <a:latin typeface="Poppins" panose="00000500000000000000" pitchFamily="2" charset="0"/>
                <a:cs typeface="Poppins" panose="00000500000000000000" pitchFamily="2" charset="0"/>
              </a:rPr>
              <a:t>diagnosticar conexões</a:t>
            </a:r>
            <a:r>
              <a:rPr lang="pt-BR" sz="1600" dirty="0">
                <a:latin typeface="Poppins" panose="00000500000000000000" pitchFamily="2" charset="0"/>
                <a:cs typeface="Poppins" panose="00000500000000000000" pitchFamily="2" charset="0"/>
              </a:rPr>
              <a:t> em projetos que dependem da internet.</a:t>
            </a:r>
          </a:p>
          <a:p>
            <a:pPr marL="285750" indent="-285750">
              <a:spcAft>
                <a:spcPts val="600"/>
              </a:spcAft>
              <a:buFont typeface="Wingdings" panose="05000000000000000000" pitchFamily="2" charset="2"/>
              <a:buChar char="ü"/>
            </a:pPr>
            <a:r>
              <a:rPr lang="pt-BR" sz="1600" dirty="0">
                <a:latin typeface="Poppins" panose="00000500000000000000" pitchFamily="2" charset="0"/>
                <a:cs typeface="Poppins" panose="00000500000000000000" pitchFamily="2" charset="0"/>
              </a:rPr>
              <a:t>Ajuda a </a:t>
            </a:r>
            <a:r>
              <a:rPr lang="pt-BR" sz="1600" b="1" dirty="0">
                <a:latin typeface="Poppins" panose="00000500000000000000" pitchFamily="2" charset="0"/>
                <a:cs typeface="Poppins" panose="00000500000000000000" pitchFamily="2" charset="0"/>
              </a:rPr>
              <a:t>entender logs de sistemas e servidores</a:t>
            </a:r>
            <a:r>
              <a:rPr lang="pt-BR" sz="1600" dirty="0">
                <a:latin typeface="Poppins" panose="00000500000000000000" pitchFamily="2" charset="0"/>
                <a:cs typeface="Poppins" panose="00000500000000000000" pitchFamily="2" charset="0"/>
              </a:rPr>
              <a:t>, que registram endereços IP.</a:t>
            </a:r>
          </a:p>
          <a:p>
            <a:pPr marL="285750" indent="-285750">
              <a:spcAft>
                <a:spcPts val="600"/>
              </a:spcAft>
              <a:buFont typeface="Wingdings" panose="05000000000000000000" pitchFamily="2" charset="2"/>
              <a:buChar char="ü"/>
            </a:pPr>
            <a:r>
              <a:rPr lang="pt-BR" sz="1600" dirty="0">
                <a:latin typeface="Poppins" panose="00000500000000000000" pitchFamily="2" charset="0"/>
                <a:cs typeface="Poppins" panose="00000500000000000000" pitchFamily="2" charset="0"/>
              </a:rPr>
              <a:t>Viabiliza o </a:t>
            </a:r>
            <a:r>
              <a:rPr lang="pt-BR" sz="1600" b="1" dirty="0">
                <a:latin typeface="Poppins" panose="00000500000000000000" pitchFamily="2" charset="0"/>
                <a:cs typeface="Poppins" panose="00000500000000000000" pitchFamily="2" charset="0"/>
              </a:rPr>
              <a:t>trabalho com Big Data em redes</a:t>
            </a:r>
            <a:r>
              <a:rPr lang="pt-BR" sz="1600" dirty="0">
                <a:latin typeface="Poppins" panose="00000500000000000000" pitchFamily="2" charset="0"/>
                <a:cs typeface="Poppins" panose="00000500000000000000" pitchFamily="2" charset="0"/>
              </a:rPr>
              <a:t>, pois cada máquina conectada gera dados que precisam ser identificados.</a:t>
            </a:r>
          </a:p>
        </p:txBody>
      </p:sp>
      <p:grpSp>
        <p:nvGrpSpPr>
          <p:cNvPr id="3" name="Agrupar 2">
            <a:extLst>
              <a:ext uri="{FF2B5EF4-FFF2-40B4-BE49-F238E27FC236}">
                <a16:creationId xmlns:a16="http://schemas.microsoft.com/office/drawing/2014/main" id="{ED296629-AFB8-E020-7743-F033F2B79678}"/>
              </a:ext>
            </a:extLst>
          </p:cNvPr>
          <p:cNvGrpSpPr/>
          <p:nvPr/>
        </p:nvGrpSpPr>
        <p:grpSpPr>
          <a:xfrm>
            <a:off x="7347464" y="1471079"/>
            <a:ext cx="3471333" cy="728133"/>
            <a:chOff x="12496121" y="3940919"/>
            <a:chExt cx="5207000" cy="1092200"/>
          </a:xfrm>
        </p:grpSpPr>
        <p:pic>
          <p:nvPicPr>
            <p:cNvPr id="4" name="Imagem 3">
              <a:extLst>
                <a:ext uri="{FF2B5EF4-FFF2-40B4-BE49-F238E27FC236}">
                  <a16:creationId xmlns:a16="http://schemas.microsoft.com/office/drawing/2014/main" id="{03BF58B7-E55D-DD33-2113-F229815C3E3C}"/>
                </a:ext>
              </a:extLst>
            </p:cNvPr>
            <p:cNvPicPr>
              <a:picLocks noChangeAspect="1"/>
            </p:cNvPicPr>
            <p:nvPr/>
          </p:nvPicPr>
          <p:blipFill>
            <a:blip r:embed="rId3"/>
            <a:stretch>
              <a:fillRect/>
            </a:stretch>
          </p:blipFill>
          <p:spPr>
            <a:xfrm>
              <a:off x="12496121" y="3940919"/>
              <a:ext cx="5207000" cy="1092200"/>
            </a:xfrm>
            <a:prstGeom prst="rect">
              <a:avLst/>
            </a:prstGeom>
          </p:spPr>
        </p:pic>
        <p:pic>
          <p:nvPicPr>
            <p:cNvPr id="5" name="Gráfico 4">
              <a:extLst>
                <a:ext uri="{FF2B5EF4-FFF2-40B4-BE49-F238E27FC236}">
                  <a16:creationId xmlns:a16="http://schemas.microsoft.com/office/drawing/2014/main" id="{68D27620-F246-7E92-79DC-786DDD3D2C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609900" y="4059563"/>
              <a:ext cx="889000" cy="825500"/>
            </a:xfrm>
            <a:prstGeom prst="rect">
              <a:avLst/>
            </a:prstGeom>
          </p:spPr>
        </p:pic>
        <p:sp>
          <p:nvSpPr>
            <p:cNvPr id="14" name="CaixaDeTexto 13">
              <a:extLst>
                <a:ext uri="{FF2B5EF4-FFF2-40B4-BE49-F238E27FC236}">
                  <a16:creationId xmlns:a16="http://schemas.microsoft.com/office/drawing/2014/main" id="{F10190A1-6D24-1332-12FE-DB44AB02EFAF}"/>
                </a:ext>
              </a:extLst>
            </p:cNvPr>
            <p:cNvSpPr txBox="1"/>
            <p:nvPr/>
          </p:nvSpPr>
          <p:spPr>
            <a:xfrm>
              <a:off x="14251292" y="4288011"/>
              <a:ext cx="3250044" cy="347664"/>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PARA REFLETIR</a:t>
              </a:r>
            </a:p>
          </p:txBody>
        </p:sp>
      </p:grpSp>
      <p:sp>
        <p:nvSpPr>
          <p:cNvPr id="16" name="CaixaDeTexto 15">
            <a:extLst>
              <a:ext uri="{FF2B5EF4-FFF2-40B4-BE49-F238E27FC236}">
                <a16:creationId xmlns:a16="http://schemas.microsoft.com/office/drawing/2014/main" id="{1204408C-F655-5548-215E-19748C39FCAE}"/>
              </a:ext>
            </a:extLst>
          </p:cNvPr>
          <p:cNvSpPr txBox="1"/>
          <p:nvPr/>
        </p:nvSpPr>
        <p:spPr>
          <a:xfrm>
            <a:off x="2204958" y="3192324"/>
            <a:ext cx="5142506" cy="2339102"/>
          </a:xfrm>
          <a:prstGeom prst="rect">
            <a:avLst/>
          </a:prstGeom>
          <a:noFill/>
          <a:ln>
            <a:noFill/>
          </a:ln>
        </p:spPr>
        <p:txBody>
          <a:bodyPr wrap="square">
            <a:spAutoFit/>
          </a:bodyPr>
          <a:lstStyle/>
          <a:p>
            <a:pPr marL="0" marR="0" lvl="0" indent="0" defTabSz="914400" rtl="0" eaLnBrk="1" fontAlgn="auto" latinLnBrk="0" hangingPunct="1">
              <a:lnSpc>
                <a:spcPct val="100000"/>
              </a:lnSpc>
              <a:spcBef>
                <a:spcPts val="0"/>
              </a:spcBef>
              <a:spcAft>
                <a:spcPts val="60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Como descobrir o IP do seu dispositivo?</a:t>
            </a:r>
          </a:p>
          <a:p>
            <a:pPr marL="540000" marR="0" lvl="0" indent="-342900" defTabSz="914400" rtl="0" eaLnBrk="1" fontAlgn="auto" latinLnBrk="0" hangingPunct="1">
              <a:lnSpc>
                <a:spcPct val="100000"/>
              </a:lnSpc>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Windows: ipconfig</a:t>
            </a:r>
          </a:p>
          <a:p>
            <a:pPr marL="540000" marR="0" lvl="0" indent="-342900" defTabSz="914400" rtl="0" eaLnBrk="1" fontAlgn="auto" latinLnBrk="0" hangingPunct="1">
              <a:lnSpc>
                <a:spcPct val="100000"/>
              </a:lnSpc>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Linux/Mac: ifconfig ou ip addr</a:t>
            </a:r>
          </a:p>
          <a:p>
            <a:pPr marL="540000" marR="0" lvl="0" indent="-342900" defTabSz="914400" rtl="0" eaLnBrk="1" fontAlgn="auto" latinLnBrk="0" hangingPunct="1">
              <a:lnSpc>
                <a:spcPct val="100000"/>
              </a:lnSpc>
              <a:spcAft>
                <a:spcPts val="600"/>
              </a:spcAft>
              <a:buClr>
                <a:srgbClr val="000000"/>
              </a:buClr>
              <a:buSzTx/>
              <a:buFont typeface="+mj-lt"/>
              <a:buAutoNum type="arabicPeriod"/>
              <a:tabLst/>
              <a:defRPr/>
            </a:pPr>
            <a:r>
              <a:rPr kumimoji="0" lang="pt-BR" sz="1800" b="0" i="0" u="none" strike="noStrike" kern="0" cap="none" spc="0" normalizeH="0" baseline="0" noProof="0" dirty="0">
                <a:ln>
                  <a:noFill/>
                </a:ln>
                <a:solidFill>
                  <a:srgbClr val="000000"/>
                </a:solidFill>
                <a:effectLst/>
                <a:uLnTx/>
                <a:uFillTx/>
                <a:latin typeface="Poppins" pitchFamily="2" charset="77"/>
                <a:cs typeface="Poppins" pitchFamily="2" charset="77"/>
                <a:sym typeface="Arial"/>
              </a:rPr>
              <a:t>Celulares: Configurações &gt; Wi-Fi &gt; detalhes da rede</a:t>
            </a:r>
          </a:p>
          <a:p>
            <a:pPr marL="540000" marR="0" lvl="0" indent="-342900" defTabSz="914400" rtl="0" eaLnBrk="0" fontAlgn="base" latinLnBrk="0" hangingPunct="0">
              <a:lnSpc>
                <a:spcPct val="100000"/>
              </a:lnSpc>
              <a:spcAft>
                <a:spcPts val="600"/>
              </a:spcAft>
              <a:buClrTx/>
              <a:buSzTx/>
              <a:buFont typeface="+mj-lt"/>
              <a:buAutoNum type="arabicPeriod"/>
              <a:tabLst/>
              <a:defRPr/>
            </a:pP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Navegador: Pesquise no Google: </a:t>
            </a:r>
            <a:r>
              <a:rPr kumimoji="0" lang="pt-BR" altLang="pt-BR" sz="18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“qual é o meu IP”</a:t>
            </a: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t>
            </a:r>
          </a:p>
        </p:txBody>
      </p:sp>
      <p:sp>
        <p:nvSpPr>
          <p:cNvPr id="8" name="CaixaDeTexto 7">
            <a:extLst>
              <a:ext uri="{FF2B5EF4-FFF2-40B4-BE49-F238E27FC236}">
                <a16:creationId xmlns:a16="http://schemas.microsoft.com/office/drawing/2014/main" id="{B8CF254D-5E59-7BFF-65FD-118C4DE0BEFB}"/>
              </a:ext>
            </a:extLst>
          </p:cNvPr>
          <p:cNvSpPr txBox="1"/>
          <p:nvPr/>
        </p:nvSpPr>
        <p:spPr>
          <a:xfrm>
            <a:off x="2204958" y="5591025"/>
            <a:ext cx="6093068" cy="261610"/>
          </a:xfrm>
          <a:prstGeom prst="rect">
            <a:avLst/>
          </a:prstGeom>
          <a:noFill/>
          <a:ln>
            <a:noFill/>
          </a:ln>
        </p:spPr>
        <p:txBody>
          <a:bodyPr wrap="square" lIns="91440" tIns="45720" rIns="91440" bIns="45720" anchor="t">
            <a:spAutoFit/>
          </a:bodyPr>
          <a:lstStyle/>
          <a:p>
            <a:pPr>
              <a:buNone/>
            </a:pPr>
            <a:r>
              <a:rPr lang="pt-BR" sz="1100" dirty="0">
                <a:effectLst/>
                <a:latin typeface="Poppins" panose="00000500000000000000" pitchFamily="2" charset="0"/>
                <a:cs typeface="Poppins" panose="00000500000000000000" pitchFamily="2" charset="0"/>
              </a:rPr>
              <a:t>Fonte: MONTEIRO, </a:t>
            </a:r>
            <a:r>
              <a:rPr lang="pt-BR" sz="1100" dirty="0">
                <a:latin typeface="Poppins" panose="00000500000000000000" pitchFamily="2" charset="0"/>
                <a:cs typeface="Poppins" panose="00000500000000000000" pitchFamily="2" charset="0"/>
              </a:rPr>
              <a:t>2019</a:t>
            </a:r>
            <a:r>
              <a:rPr lang="pt-BR" sz="1100" dirty="0">
                <a:effectLst/>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111153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ço Reservado para Texto 19">
            <a:extLst>
              <a:ext uri="{FF2B5EF4-FFF2-40B4-BE49-F238E27FC236}">
                <a16:creationId xmlns:a16="http://schemas.microsoft.com/office/drawing/2014/main" id="{464B0914-82AB-2951-6348-1749ADC20372}"/>
              </a:ext>
            </a:extLst>
          </p:cNvPr>
          <p:cNvSpPr>
            <a:spLocks noGrp="1"/>
          </p:cNvSpPr>
          <p:nvPr>
            <p:ph type="body" sz="quarter" idx="14"/>
          </p:nvPr>
        </p:nvSpPr>
        <p:spPr>
          <a:xfrm>
            <a:off x="6095993" y="387141"/>
            <a:ext cx="5714598" cy="345436"/>
          </a:xfrm>
        </p:spPr>
        <p:txBody>
          <a:bodyPr/>
          <a:lstStyle/>
          <a:p>
            <a:r>
              <a:rPr lang="pt-BR" sz="1800" dirty="0"/>
              <a:t>Ícone normal de Wi-Fi</a:t>
            </a:r>
          </a:p>
        </p:txBody>
      </p:sp>
      <p:sp>
        <p:nvSpPr>
          <p:cNvPr id="19" name="Espaço Reservado para Texto 18">
            <a:extLst>
              <a:ext uri="{FF2B5EF4-FFF2-40B4-BE49-F238E27FC236}">
                <a16:creationId xmlns:a16="http://schemas.microsoft.com/office/drawing/2014/main" id="{E9559BB6-48A6-38E6-1EE7-DC0F7C406F14}"/>
              </a:ext>
            </a:extLst>
          </p:cNvPr>
          <p:cNvSpPr>
            <a:spLocks noGrp="1"/>
          </p:cNvSpPr>
          <p:nvPr>
            <p:ph type="body" sz="quarter" idx="13"/>
          </p:nvPr>
        </p:nvSpPr>
        <p:spPr>
          <a:xfrm>
            <a:off x="2984281" y="6258083"/>
            <a:ext cx="2628705" cy="199867"/>
          </a:xfrm>
        </p:spPr>
        <p:txBody>
          <a:bodyPr/>
          <a:lstStyle/>
          <a:p>
            <a:r>
              <a:rPr lang="pt-BR" sz="1100" dirty="0"/>
              <a:t>Imagens: © Getty Images</a:t>
            </a:r>
          </a:p>
        </p:txBody>
      </p:sp>
      <p:sp>
        <p:nvSpPr>
          <p:cNvPr id="21" name="Espaço Reservado para Texto 20">
            <a:extLst>
              <a:ext uri="{FF2B5EF4-FFF2-40B4-BE49-F238E27FC236}">
                <a16:creationId xmlns:a16="http://schemas.microsoft.com/office/drawing/2014/main" id="{E187F833-899B-8886-993E-59A214B8F866}"/>
              </a:ext>
            </a:extLst>
          </p:cNvPr>
          <p:cNvSpPr>
            <a:spLocks noGrp="1"/>
          </p:cNvSpPr>
          <p:nvPr>
            <p:ph type="body" sz="quarter" idx="15"/>
          </p:nvPr>
        </p:nvSpPr>
        <p:spPr/>
        <p:txBody>
          <a:bodyPr/>
          <a:lstStyle/>
          <a:p>
            <a:r>
              <a:rPr lang="pt-BR" altLang="pt-BR" sz="1800" dirty="0"/>
              <a:t>Ícone de Wi-Fi com um “!”</a:t>
            </a:r>
            <a:endParaRPr lang="pt-BR" sz="1800" dirty="0"/>
          </a:p>
        </p:txBody>
      </p:sp>
      <p:sp>
        <p:nvSpPr>
          <p:cNvPr id="22" name="Espaço Reservado para Texto 21">
            <a:extLst>
              <a:ext uri="{FF2B5EF4-FFF2-40B4-BE49-F238E27FC236}">
                <a16:creationId xmlns:a16="http://schemas.microsoft.com/office/drawing/2014/main" id="{1013177B-CA96-4419-A22D-C7A61323F10A}"/>
              </a:ext>
            </a:extLst>
          </p:cNvPr>
          <p:cNvSpPr>
            <a:spLocks noGrp="1"/>
          </p:cNvSpPr>
          <p:nvPr>
            <p:ph type="body" sz="quarter" idx="16"/>
          </p:nvPr>
        </p:nvSpPr>
        <p:spPr/>
        <p:txBody>
          <a:bodyPr/>
          <a:lstStyle/>
          <a:p>
            <a:r>
              <a:rPr lang="pt-BR" sz="1800" dirty="0"/>
              <a:t>Ícone de cabo com “X” ou Wi-Fi sem sinal</a:t>
            </a:r>
          </a:p>
        </p:txBody>
      </p:sp>
      <p:sp>
        <p:nvSpPr>
          <p:cNvPr id="23" name="Espaço Reservado para Texto 22">
            <a:extLst>
              <a:ext uri="{FF2B5EF4-FFF2-40B4-BE49-F238E27FC236}">
                <a16:creationId xmlns:a16="http://schemas.microsoft.com/office/drawing/2014/main" id="{0DCE899B-2975-058F-643E-C6A15918D48F}"/>
              </a:ext>
            </a:extLst>
          </p:cNvPr>
          <p:cNvSpPr>
            <a:spLocks noGrp="1"/>
          </p:cNvSpPr>
          <p:nvPr>
            <p:ph type="body" sz="quarter" idx="17"/>
          </p:nvPr>
        </p:nvSpPr>
        <p:spPr>
          <a:xfrm>
            <a:off x="6095994" y="813859"/>
            <a:ext cx="5714598" cy="1385358"/>
          </a:xfrm>
        </p:spPr>
        <p:txBody>
          <a:bodyPr/>
          <a:lstStyle/>
          <a:p>
            <a:pPr marL="285750" indent="-285750">
              <a:spcAft>
                <a:spcPts val="600"/>
              </a:spcAft>
              <a:buFont typeface="Arial" panose="020B0604020202020204" pitchFamily="34" charset="0"/>
              <a:buChar char="•"/>
            </a:pPr>
            <a:r>
              <a:rPr lang="pt-BR" sz="1500" dirty="0"/>
              <a:t>Significa que o dispositivo está conectado ao roteador e à internet.</a:t>
            </a:r>
          </a:p>
          <a:p>
            <a:pPr marL="285750" indent="-285750">
              <a:spcAft>
                <a:spcPts val="600"/>
              </a:spcAft>
              <a:buFont typeface="Arial" panose="020B0604020202020204" pitchFamily="34" charset="0"/>
              <a:buChar char="•"/>
            </a:pPr>
            <a:r>
              <a:rPr lang="pt-BR" sz="1500" dirty="0"/>
              <a:t>Permite acessar sites, assistir a vídeos e jogar on-line sem problemas.</a:t>
            </a:r>
          </a:p>
        </p:txBody>
      </p:sp>
      <p:sp>
        <p:nvSpPr>
          <p:cNvPr id="25" name="Espaço Reservado para Texto 24">
            <a:extLst>
              <a:ext uri="{FF2B5EF4-FFF2-40B4-BE49-F238E27FC236}">
                <a16:creationId xmlns:a16="http://schemas.microsoft.com/office/drawing/2014/main" id="{ECEEBE38-D09F-65E7-945F-8809822C24B3}"/>
              </a:ext>
            </a:extLst>
          </p:cNvPr>
          <p:cNvSpPr>
            <a:spLocks noGrp="1"/>
          </p:cNvSpPr>
          <p:nvPr>
            <p:ph type="body" sz="quarter" idx="19"/>
          </p:nvPr>
        </p:nvSpPr>
        <p:spPr>
          <a:xfrm>
            <a:off x="6095993" y="5072592"/>
            <a:ext cx="5949827" cy="1385358"/>
          </a:xfrm>
        </p:spPr>
        <p:txBody>
          <a:bodyPr/>
          <a:lstStyle/>
          <a:p>
            <a:pPr marL="285750" indent="-285750">
              <a:spcAft>
                <a:spcPts val="600"/>
              </a:spcAft>
              <a:buFont typeface="Arial" panose="020B0604020202020204" pitchFamily="34" charset="0"/>
              <a:buChar char="•"/>
            </a:pPr>
            <a:r>
              <a:rPr lang="pt-BR" sz="1500" dirty="0"/>
              <a:t>Significa que o dispositivo não tem conexão com a rede.</a:t>
            </a:r>
          </a:p>
          <a:p>
            <a:pPr marL="285750" indent="-285750">
              <a:spcAft>
                <a:spcPts val="600"/>
              </a:spcAft>
              <a:buFont typeface="Arial" panose="020B0604020202020204" pitchFamily="34" charset="0"/>
              <a:buChar char="•"/>
            </a:pPr>
            <a:r>
              <a:rPr lang="pt-BR" sz="1500" dirty="0"/>
              <a:t>É como se o cabo estivesse desconectado ou o Wi-Fi desligado.</a:t>
            </a:r>
          </a:p>
        </p:txBody>
      </p:sp>
      <p:sp>
        <p:nvSpPr>
          <p:cNvPr id="6" name="Google Shape;795;p59">
            <a:extLst>
              <a:ext uri="{FF2B5EF4-FFF2-40B4-BE49-F238E27FC236}">
                <a16:creationId xmlns:a16="http://schemas.microsoft.com/office/drawing/2014/main" id="{C2CB5080-2B58-4E65-9B35-45D2DA444A3B}"/>
              </a:ext>
            </a:extLst>
          </p:cNvPr>
          <p:cNvSpPr txBox="1">
            <a:spLocks/>
          </p:cNvSpPr>
          <p:nvPr/>
        </p:nvSpPr>
        <p:spPr>
          <a:xfrm>
            <a:off x="129709" y="3283296"/>
            <a:ext cx="2354668" cy="1303521"/>
          </a:xfrm>
          <a:prstGeom prst="rect">
            <a:avLst/>
          </a:prstGeom>
          <a:noFill/>
          <a:ln>
            <a:noFill/>
          </a:ln>
        </p:spPr>
        <p:txBody>
          <a:bodyPr spcFirstLastPara="1" wrap="square" lIns="60950" tIns="30467" rIns="60950" bIns="30467"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2800" b="1" dirty="0">
                <a:solidFill>
                  <a:schemeClr val="bg1"/>
                </a:solidFill>
                <a:latin typeface="Poppins" panose="00000500000000000000" pitchFamily="2" charset="0"/>
                <a:cs typeface="Poppins" panose="00000500000000000000" pitchFamily="2" charset="0"/>
              </a:rPr>
              <a:t>Status de rede</a:t>
            </a:r>
            <a:endParaRPr lang="pt-BR" sz="2500" b="1" dirty="0">
              <a:solidFill>
                <a:schemeClr val="bg1"/>
              </a:solidFill>
              <a:latin typeface="Poppins" panose="00000500000000000000" pitchFamily="2" charset="0"/>
              <a:cs typeface="Poppins" panose="00000500000000000000" pitchFamily="2" charset="0"/>
            </a:endParaRPr>
          </a:p>
        </p:txBody>
      </p:sp>
      <p:pic>
        <p:nvPicPr>
          <p:cNvPr id="7171" name="Picture 3">
            <a:extLst>
              <a:ext uri="{FF2B5EF4-FFF2-40B4-BE49-F238E27FC236}">
                <a16:creationId xmlns:a16="http://schemas.microsoft.com/office/drawing/2014/main" id="{22A96C5F-0929-A383-B801-5587681C6E9B}"/>
              </a:ext>
            </a:extLst>
          </p:cNvPr>
          <p:cNvPicPr>
            <a:picLocks noGrp="1" noChangeAspect="1" noChangeArrowheads="1"/>
          </p:cNvPicPr>
          <p:nvPr>
            <p:ph type="pic" sz="quarter" idx="4294967295"/>
          </p:nvPr>
        </p:nvPicPr>
        <p:blipFill>
          <a:blip r:embed="rId3"/>
          <a:srcRect t="18822" b="18822"/>
          <a:stretch/>
        </p:blipFill>
        <p:spPr bwMode="auto">
          <a:xfrm>
            <a:off x="2916238" y="300038"/>
            <a:ext cx="2614612" cy="1630362"/>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a:extLst>
              <a:ext uri="{FF2B5EF4-FFF2-40B4-BE49-F238E27FC236}">
                <a16:creationId xmlns:a16="http://schemas.microsoft.com/office/drawing/2014/main" id="{2CDFA4B1-B265-82D8-8CF0-5EB0C6180DF0}"/>
              </a:ext>
            </a:extLst>
          </p:cNvPr>
          <p:cNvPicPr>
            <a:picLocks noGrp="1" noChangeAspect="1" noChangeArrowheads="1"/>
          </p:cNvPicPr>
          <p:nvPr>
            <p:ph type="pic" sz="quarter" idx="4294967295"/>
          </p:nvPr>
        </p:nvPicPr>
        <p:blipFill>
          <a:blip r:embed="rId4"/>
          <a:srcRect t="18822" b="18822"/>
          <a:stretch/>
        </p:blipFill>
        <p:spPr bwMode="auto">
          <a:xfrm>
            <a:off x="2916238" y="2386013"/>
            <a:ext cx="2614612" cy="16303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6">
            <a:extLst>
              <a:ext uri="{FF2B5EF4-FFF2-40B4-BE49-F238E27FC236}">
                <a16:creationId xmlns:a16="http://schemas.microsoft.com/office/drawing/2014/main" id="{C6A0486D-9DDE-8A8E-643C-BB7340A1741E}"/>
              </a:ext>
            </a:extLst>
          </p:cNvPr>
          <p:cNvSpPr>
            <a:spLocks noGrp="1" noChangeArrowheads="1"/>
          </p:cNvSpPr>
          <p:nvPr>
            <p:ph type="body" sz="quarter" idx="18"/>
          </p:nvPr>
        </p:nvSpPr>
        <p:spPr bwMode="auto">
          <a:xfrm>
            <a:off x="6095993" y="2947459"/>
            <a:ext cx="5714598" cy="1068160"/>
          </a:xfrm>
          <a:prstGeom prst="rect">
            <a:avLst/>
          </a:prstGeom>
        </p:spPr>
        <p:txBody>
          <a:bodyPr/>
          <a:lstStyle/>
          <a:p>
            <a:pPr marL="285750" indent="-285750">
              <a:spcAft>
                <a:spcPts val="600"/>
              </a:spcAft>
              <a:buFont typeface="Arial" panose="020B0604020202020204" pitchFamily="34" charset="0"/>
              <a:buChar char="•"/>
            </a:pPr>
            <a:r>
              <a:rPr lang="pt-BR" altLang="pt-BR" sz="1500" dirty="0"/>
              <a:t>Mostra que o dispositivo se conecta ao roteador, mas não chega até a internet. </a:t>
            </a:r>
          </a:p>
          <a:p>
            <a:pPr marL="285750" indent="-285750">
              <a:spcAft>
                <a:spcPts val="600"/>
              </a:spcAft>
              <a:buFont typeface="Arial" panose="020B0604020202020204" pitchFamily="34" charset="0"/>
              <a:buChar char="•"/>
            </a:pPr>
            <a:r>
              <a:rPr lang="pt-BR" altLang="pt-BR" sz="1500" dirty="0"/>
              <a:t>É como falar com o porteiro do prédio, mas não conseguir sair para a rua.</a:t>
            </a:r>
          </a:p>
        </p:txBody>
      </p:sp>
      <p:pic>
        <p:nvPicPr>
          <p:cNvPr id="7176" name="Picture 8">
            <a:extLst>
              <a:ext uri="{FF2B5EF4-FFF2-40B4-BE49-F238E27FC236}">
                <a16:creationId xmlns:a16="http://schemas.microsoft.com/office/drawing/2014/main" id="{357B2EB2-339F-39E0-CFE1-CF32FCE9A41E}"/>
              </a:ext>
            </a:extLst>
          </p:cNvPr>
          <p:cNvPicPr>
            <a:picLocks noGrp="1" noChangeAspect="1" noChangeArrowheads="1"/>
          </p:cNvPicPr>
          <p:nvPr>
            <p:ph type="pic" sz="quarter" idx="4294967295"/>
          </p:nvPr>
        </p:nvPicPr>
        <p:blipFill>
          <a:blip r:embed="rId5"/>
          <a:srcRect t="14825" b="14825"/>
          <a:stretch/>
        </p:blipFill>
        <p:spPr bwMode="auto">
          <a:xfrm>
            <a:off x="2916238" y="4508500"/>
            <a:ext cx="2614612" cy="167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70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5" name="Google Shape;849;p64">
            <a:extLst>
              <a:ext uri="{FF2B5EF4-FFF2-40B4-BE49-F238E27FC236}">
                <a16:creationId xmlns:a16="http://schemas.microsoft.com/office/drawing/2014/main" id="{46EE678E-1124-3546-FCF5-F2B8247BF1C6}"/>
              </a:ext>
            </a:extLst>
          </p:cNvPr>
          <p:cNvSpPr/>
          <p:nvPr/>
        </p:nvSpPr>
        <p:spPr>
          <a:xfrm>
            <a:off x="2944092" y="381546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8" name="Google Shape;853;p64">
            <a:extLst>
              <a:ext uri="{FF2B5EF4-FFF2-40B4-BE49-F238E27FC236}">
                <a16:creationId xmlns:a16="http://schemas.microsoft.com/office/drawing/2014/main" id="{E4275C0F-D817-9AE1-C4F4-D9332B24FD78}"/>
              </a:ext>
            </a:extLst>
          </p:cNvPr>
          <p:cNvSpPr/>
          <p:nvPr/>
        </p:nvSpPr>
        <p:spPr>
          <a:xfrm>
            <a:off x="6731314" y="490477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9" name="Espaço Reservado para Texto 10">
            <a:extLst>
              <a:ext uri="{FF2B5EF4-FFF2-40B4-BE49-F238E27FC236}">
                <a16:creationId xmlns:a16="http://schemas.microsoft.com/office/drawing/2014/main" id="{21D513A7-1D3A-A997-4541-25BA2D6750D4}"/>
              </a:ext>
            </a:extLst>
          </p:cNvPr>
          <p:cNvSpPr txBox="1">
            <a:spLocks/>
          </p:cNvSpPr>
          <p:nvPr/>
        </p:nvSpPr>
        <p:spPr>
          <a:xfrm>
            <a:off x="2807549" y="1533096"/>
            <a:ext cx="7725027" cy="113662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800" b="1"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3800" b="1" i="0" u="none" strike="noStrike" cap="none">
                <a:solidFill>
                  <a:srgbClr val="000000"/>
                </a:solidFill>
                <a:latin typeface="Poppins" pitchFamily="2" charset="77"/>
                <a:ea typeface="Arial"/>
                <a:cs typeface="Poppins" pitchFamily="2" charset="77"/>
                <a:sym typeface="Arial"/>
              </a:defRPr>
            </a:lvl2pPr>
            <a:lvl3pPr marR="0" lvl="2" algn="l" rtl="0">
              <a:lnSpc>
                <a:spcPct val="100000"/>
              </a:lnSpc>
              <a:spcBef>
                <a:spcPts val="0"/>
              </a:spcBef>
              <a:spcAft>
                <a:spcPts val="0"/>
              </a:spcAft>
              <a:buClr>
                <a:srgbClr val="000000"/>
              </a:buClr>
              <a:buFont typeface="Arial"/>
              <a:defRPr sz="3800" b="1" i="0" u="none" strike="noStrike" cap="none">
                <a:solidFill>
                  <a:srgbClr val="000000"/>
                </a:solidFill>
                <a:latin typeface="Poppins" pitchFamily="2" charset="77"/>
                <a:ea typeface="Arial"/>
                <a:cs typeface="Poppins" pitchFamily="2" charset="77"/>
                <a:sym typeface="Arial"/>
              </a:defRPr>
            </a:lvl3pPr>
            <a:lvl4pPr marR="0" lvl="3" algn="l" rtl="0">
              <a:lnSpc>
                <a:spcPct val="100000"/>
              </a:lnSpc>
              <a:spcBef>
                <a:spcPts val="0"/>
              </a:spcBef>
              <a:spcAft>
                <a:spcPts val="0"/>
              </a:spcAft>
              <a:buClr>
                <a:srgbClr val="000000"/>
              </a:buClr>
              <a:buFont typeface="Arial"/>
              <a:defRPr sz="3800" b="1" i="0" u="none" strike="noStrike" cap="none">
                <a:solidFill>
                  <a:srgbClr val="000000"/>
                </a:solidFill>
                <a:latin typeface="Poppins" pitchFamily="2" charset="77"/>
                <a:ea typeface="Arial"/>
                <a:cs typeface="Poppins" pitchFamily="2" charset="77"/>
                <a:sym typeface="Arial"/>
              </a:defRPr>
            </a:lvl4pPr>
            <a:lvl5pPr marR="0" lvl="4" algn="l" rtl="0">
              <a:lnSpc>
                <a:spcPct val="100000"/>
              </a:lnSpc>
              <a:spcBef>
                <a:spcPts val="0"/>
              </a:spcBef>
              <a:spcAft>
                <a:spcPts val="0"/>
              </a:spcAft>
              <a:buClr>
                <a:srgbClr val="000000"/>
              </a:buClr>
              <a:buFont typeface="Arial"/>
              <a:defRPr sz="3800" b="1" i="0" u="none" strike="noStrike" cap="none">
                <a:solidFill>
                  <a:schemeClr val="bg1"/>
                </a:solidFill>
                <a:latin typeface="Poppins" pitchFamily="2" charset="77"/>
                <a:ea typeface="Arial"/>
                <a:cs typeface="Poppins" pitchFamily="2" charset="77"/>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lvl="4"/>
            <a:r>
              <a:rPr lang="pt-BR" sz="3200" dirty="0"/>
              <a:t>Você não consegue acessar um site no computador. Qual comando deve usar primeiro para verificar se há conexão básica com a internet?</a:t>
            </a:r>
            <a:endParaRPr lang="pt-BR" sz="3200" dirty="0">
              <a:latin typeface="Poppins" panose="00000500000000000000" pitchFamily="2" charset="0"/>
            </a:endParaRPr>
          </a:p>
        </p:txBody>
      </p:sp>
      <p:sp>
        <p:nvSpPr>
          <p:cNvPr id="10" name="Google Shape;850;p64">
            <a:extLst>
              <a:ext uri="{FF2B5EF4-FFF2-40B4-BE49-F238E27FC236}">
                <a16:creationId xmlns:a16="http://schemas.microsoft.com/office/drawing/2014/main" id="{CC53B5AE-5C66-1070-6283-CF486EACEC5E}"/>
              </a:ext>
            </a:extLst>
          </p:cNvPr>
          <p:cNvSpPr/>
          <p:nvPr/>
        </p:nvSpPr>
        <p:spPr>
          <a:xfrm>
            <a:off x="6715681" y="3791836"/>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0" name="Google Shape;855;p64">
            <a:extLst>
              <a:ext uri="{FF2B5EF4-FFF2-40B4-BE49-F238E27FC236}">
                <a16:creationId xmlns:a16="http://schemas.microsoft.com/office/drawing/2014/main" id="{4BF7B4B6-4D4A-6D14-0540-984D5B827049}"/>
              </a:ext>
            </a:extLst>
          </p:cNvPr>
          <p:cNvSpPr txBox="1"/>
          <p:nvPr/>
        </p:nvSpPr>
        <p:spPr>
          <a:xfrm>
            <a:off x="3067356" y="3987625"/>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status de rede</a:t>
            </a:r>
            <a:endParaRPr lang="pt-BR" dirty="0">
              <a:sym typeface="Poppins"/>
            </a:endParaRPr>
          </a:p>
        </p:txBody>
      </p:sp>
      <p:sp>
        <p:nvSpPr>
          <p:cNvPr id="21" name="Google Shape;856;p64">
            <a:extLst>
              <a:ext uri="{FF2B5EF4-FFF2-40B4-BE49-F238E27FC236}">
                <a16:creationId xmlns:a16="http://schemas.microsoft.com/office/drawing/2014/main" id="{454D79C7-718D-6464-3B55-DA5667799494}"/>
              </a:ext>
            </a:extLst>
          </p:cNvPr>
          <p:cNvSpPr txBox="1"/>
          <p:nvPr/>
        </p:nvSpPr>
        <p:spPr>
          <a:xfrm>
            <a:off x="6864453" y="399685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ipconfig</a:t>
            </a:r>
            <a:endParaRPr lang="pt-BR" dirty="0">
              <a:sym typeface="Poppins"/>
            </a:endParaRPr>
          </a:p>
        </p:txBody>
      </p:sp>
      <p:sp>
        <p:nvSpPr>
          <p:cNvPr id="23" name="Google Shape;854;p64">
            <a:extLst>
              <a:ext uri="{FF2B5EF4-FFF2-40B4-BE49-F238E27FC236}">
                <a16:creationId xmlns:a16="http://schemas.microsoft.com/office/drawing/2014/main" id="{E0990A27-C7B7-ACC6-2676-7C23F2C76CA9}"/>
              </a:ext>
            </a:extLst>
          </p:cNvPr>
          <p:cNvSpPr txBox="1"/>
          <p:nvPr/>
        </p:nvSpPr>
        <p:spPr>
          <a:xfrm>
            <a:off x="6836436" y="5061292"/>
            <a:ext cx="3020451"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tracert</a:t>
            </a:r>
            <a:endParaRPr lang="pt-BR" dirty="0">
              <a:sym typeface="Poppins"/>
            </a:endParaRPr>
          </a:p>
        </p:txBody>
      </p:sp>
      <p:sp>
        <p:nvSpPr>
          <p:cNvPr id="14" name="Google Shape;849;p64">
            <a:extLst>
              <a:ext uri="{FF2B5EF4-FFF2-40B4-BE49-F238E27FC236}">
                <a16:creationId xmlns:a16="http://schemas.microsoft.com/office/drawing/2014/main" id="{A3B6EFAF-7250-BF29-4569-8BDE85D6270F}"/>
              </a:ext>
            </a:extLst>
          </p:cNvPr>
          <p:cNvSpPr/>
          <p:nvPr/>
        </p:nvSpPr>
        <p:spPr>
          <a:xfrm>
            <a:off x="2944092" y="4910486"/>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1080EBAD-DACE-7477-978F-02CFFE1F6E77}"/>
              </a:ext>
            </a:extLst>
          </p:cNvPr>
          <p:cNvSpPr txBox="1"/>
          <p:nvPr/>
        </p:nvSpPr>
        <p:spPr>
          <a:xfrm>
            <a:off x="3092864" y="506129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50018"/>
              </a:lnSpc>
              <a:buSzPts val="2767"/>
              <a:defRPr sz="2000" b="1">
                <a:solidFill>
                  <a:srgbClr val="FFFFFF"/>
                </a:solidFill>
                <a:latin typeface="Poppins"/>
                <a:ea typeface="Poppins"/>
                <a:cs typeface="Poppins"/>
              </a:defRPr>
            </a:lvl1pPr>
          </a:lstStyle>
          <a:p>
            <a:r>
              <a:rPr lang="pt-BR" dirty="0">
                <a:sym typeface="Poppins"/>
              </a:rPr>
              <a:t>ping</a:t>
            </a:r>
          </a:p>
        </p:txBody>
      </p:sp>
    </p:spTree>
    <p:extLst>
      <p:ext uri="{BB962C8B-B14F-4D97-AF65-F5344CB8AC3E}">
        <p14:creationId xmlns:p14="http://schemas.microsoft.com/office/powerpoint/2010/main" val="3334619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FE40FC06-D3A3-1743-37AE-ABED4942E7B4}"/>
            </a:ext>
          </a:extLst>
        </p:cNvPr>
        <p:cNvGrpSpPr/>
        <p:nvPr/>
      </p:nvGrpSpPr>
      <p:grpSpPr>
        <a:xfrm>
          <a:off x="0" y="0"/>
          <a:ext cx="0" cy="0"/>
          <a:chOff x="0" y="0"/>
          <a:chExt cx="0" cy="0"/>
        </a:xfrm>
      </p:grpSpPr>
      <p:sp>
        <p:nvSpPr>
          <p:cNvPr id="4" name="Google Shape;812;p61">
            <a:extLst>
              <a:ext uri="{FF2B5EF4-FFF2-40B4-BE49-F238E27FC236}">
                <a16:creationId xmlns:a16="http://schemas.microsoft.com/office/drawing/2014/main" id="{CFD3DD94-A04A-A12B-5938-51F4671FBB3F}"/>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E99C85AC-4CFD-35D7-01F5-45536879AB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F5AE61C-E722-1A96-9ABA-3130A58B144F}"/>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CE60F02E-6746-BD81-8A76-E0DB07C3D471}"/>
              </a:ext>
            </a:extLst>
          </p:cNvPr>
          <p:cNvSpPr/>
          <p:nvPr/>
        </p:nvSpPr>
        <p:spPr>
          <a:xfrm>
            <a:off x="2310281" y="3971504"/>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82CB52B9-8F49-91D3-D7D5-BD5B48F79397}"/>
              </a:ext>
            </a:extLst>
          </p:cNvPr>
          <p:cNvSpPr/>
          <p:nvPr/>
        </p:nvSpPr>
        <p:spPr>
          <a:xfrm>
            <a:off x="10312309" y="4950705"/>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5" name="Google Shape;1437;p98">
            <a:extLst>
              <a:ext uri="{FF2B5EF4-FFF2-40B4-BE49-F238E27FC236}">
                <a16:creationId xmlns:a16="http://schemas.microsoft.com/office/drawing/2014/main" id="{77913399-2C5C-31EA-76B5-F07D3AAA3ED5}"/>
              </a:ext>
            </a:extLst>
          </p:cNvPr>
          <p:cNvSpPr/>
          <p:nvPr/>
        </p:nvSpPr>
        <p:spPr>
          <a:xfrm rot="-3043640">
            <a:off x="2389890" y="5084461"/>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18" name="Espaço Reservado para Texto 10">
            <a:extLst>
              <a:ext uri="{FF2B5EF4-FFF2-40B4-BE49-F238E27FC236}">
                <a16:creationId xmlns:a16="http://schemas.microsoft.com/office/drawing/2014/main" id="{ADE2502C-FC9B-FB33-2C28-01CFE1473A7A}"/>
              </a:ext>
            </a:extLst>
          </p:cNvPr>
          <p:cNvSpPr>
            <a:spLocks noGrp="1"/>
          </p:cNvSpPr>
          <p:nvPr>
            <p:ph type="body" sz="quarter" idx="10"/>
          </p:nvPr>
        </p:nvSpPr>
        <p:spPr>
          <a:xfrm>
            <a:off x="2807549" y="1533096"/>
            <a:ext cx="7725027" cy="113662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Você não consegue acessar um site no computador. Qual comando deve usar primeiro para verificar se há conexão básica com a internet?</a:t>
            </a:r>
            <a:endParaRPr lang="pt-BR" sz="3200" dirty="0">
              <a:latin typeface="Poppins" panose="00000500000000000000" pitchFamily="2" charset="0"/>
            </a:endParaRPr>
          </a:p>
        </p:txBody>
      </p:sp>
      <p:sp>
        <p:nvSpPr>
          <p:cNvPr id="24" name="Google Shape;1436;p98">
            <a:extLst>
              <a:ext uri="{FF2B5EF4-FFF2-40B4-BE49-F238E27FC236}">
                <a16:creationId xmlns:a16="http://schemas.microsoft.com/office/drawing/2014/main" id="{684FC197-7308-40DD-B359-18C636BD0E85}"/>
              </a:ext>
            </a:extLst>
          </p:cNvPr>
          <p:cNvSpPr/>
          <p:nvPr/>
        </p:nvSpPr>
        <p:spPr>
          <a:xfrm>
            <a:off x="10312309" y="3944895"/>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1" name="Google Shape;849;p64">
            <a:extLst>
              <a:ext uri="{FF2B5EF4-FFF2-40B4-BE49-F238E27FC236}">
                <a16:creationId xmlns:a16="http://schemas.microsoft.com/office/drawing/2014/main" id="{A3B6EFAF-7250-BF29-4569-8BDE85D6270F}"/>
              </a:ext>
            </a:extLst>
          </p:cNvPr>
          <p:cNvSpPr/>
          <p:nvPr/>
        </p:nvSpPr>
        <p:spPr>
          <a:xfrm>
            <a:off x="2944092" y="4910486"/>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6" name="Google Shape;849;p64">
            <a:extLst>
              <a:ext uri="{FF2B5EF4-FFF2-40B4-BE49-F238E27FC236}">
                <a16:creationId xmlns:a16="http://schemas.microsoft.com/office/drawing/2014/main" id="{46EE678E-1124-3546-FCF5-F2B8247BF1C6}"/>
              </a:ext>
            </a:extLst>
          </p:cNvPr>
          <p:cNvSpPr/>
          <p:nvPr/>
        </p:nvSpPr>
        <p:spPr>
          <a:xfrm>
            <a:off x="2944092" y="381546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7" name="Google Shape;853;p64">
            <a:extLst>
              <a:ext uri="{FF2B5EF4-FFF2-40B4-BE49-F238E27FC236}">
                <a16:creationId xmlns:a16="http://schemas.microsoft.com/office/drawing/2014/main" id="{E4275C0F-D817-9AE1-C4F4-D9332B24FD78}"/>
              </a:ext>
            </a:extLst>
          </p:cNvPr>
          <p:cNvSpPr/>
          <p:nvPr/>
        </p:nvSpPr>
        <p:spPr>
          <a:xfrm>
            <a:off x="6731314" y="490477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8" name="Google Shape;850;p64">
            <a:extLst>
              <a:ext uri="{FF2B5EF4-FFF2-40B4-BE49-F238E27FC236}">
                <a16:creationId xmlns:a16="http://schemas.microsoft.com/office/drawing/2014/main" id="{CC53B5AE-5C66-1070-6283-CF486EACEC5E}"/>
              </a:ext>
            </a:extLst>
          </p:cNvPr>
          <p:cNvSpPr/>
          <p:nvPr/>
        </p:nvSpPr>
        <p:spPr>
          <a:xfrm>
            <a:off x="6715681" y="3791836"/>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30" name="Google Shape;855;p64">
            <a:extLst>
              <a:ext uri="{FF2B5EF4-FFF2-40B4-BE49-F238E27FC236}">
                <a16:creationId xmlns:a16="http://schemas.microsoft.com/office/drawing/2014/main" id="{4BF7B4B6-4D4A-6D14-0540-984D5B827049}"/>
              </a:ext>
            </a:extLst>
          </p:cNvPr>
          <p:cNvSpPr txBox="1"/>
          <p:nvPr/>
        </p:nvSpPr>
        <p:spPr>
          <a:xfrm>
            <a:off x="3067356" y="3987625"/>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status de rede</a:t>
            </a:r>
            <a:endParaRPr lang="pt-BR" dirty="0">
              <a:sym typeface="Poppins"/>
            </a:endParaRPr>
          </a:p>
        </p:txBody>
      </p:sp>
      <p:sp>
        <p:nvSpPr>
          <p:cNvPr id="31" name="Google Shape;856;p64">
            <a:extLst>
              <a:ext uri="{FF2B5EF4-FFF2-40B4-BE49-F238E27FC236}">
                <a16:creationId xmlns:a16="http://schemas.microsoft.com/office/drawing/2014/main" id="{454D79C7-718D-6464-3B55-DA5667799494}"/>
              </a:ext>
            </a:extLst>
          </p:cNvPr>
          <p:cNvSpPr txBox="1"/>
          <p:nvPr/>
        </p:nvSpPr>
        <p:spPr>
          <a:xfrm>
            <a:off x="6864453" y="399685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ipconfig</a:t>
            </a:r>
            <a:endParaRPr lang="pt-BR" dirty="0">
              <a:sym typeface="Poppins"/>
            </a:endParaRPr>
          </a:p>
        </p:txBody>
      </p:sp>
      <p:sp>
        <p:nvSpPr>
          <p:cNvPr id="32" name="Google Shape;852;p64">
            <a:extLst>
              <a:ext uri="{FF2B5EF4-FFF2-40B4-BE49-F238E27FC236}">
                <a16:creationId xmlns:a16="http://schemas.microsoft.com/office/drawing/2014/main" id="{1080EBAD-DACE-7477-978F-02CFFE1F6E77}"/>
              </a:ext>
            </a:extLst>
          </p:cNvPr>
          <p:cNvSpPr txBox="1"/>
          <p:nvPr/>
        </p:nvSpPr>
        <p:spPr>
          <a:xfrm>
            <a:off x="3092864" y="506129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50018"/>
              </a:lnSpc>
              <a:buSzPts val="2767"/>
              <a:defRPr sz="2000" b="1">
                <a:solidFill>
                  <a:srgbClr val="FFFFFF"/>
                </a:solidFill>
                <a:latin typeface="Poppins"/>
                <a:ea typeface="Poppins"/>
                <a:cs typeface="Poppins"/>
              </a:defRPr>
            </a:lvl1pPr>
          </a:lstStyle>
          <a:p>
            <a:r>
              <a:rPr lang="pt-BR" dirty="0">
                <a:sym typeface="Poppins"/>
              </a:rPr>
              <a:t>ping</a:t>
            </a:r>
          </a:p>
        </p:txBody>
      </p:sp>
      <p:sp>
        <p:nvSpPr>
          <p:cNvPr id="33" name="Google Shape;854;p64">
            <a:extLst>
              <a:ext uri="{FF2B5EF4-FFF2-40B4-BE49-F238E27FC236}">
                <a16:creationId xmlns:a16="http://schemas.microsoft.com/office/drawing/2014/main" id="{E0990A27-C7B7-ACC6-2676-7C23F2C76CA9}"/>
              </a:ext>
            </a:extLst>
          </p:cNvPr>
          <p:cNvSpPr txBox="1"/>
          <p:nvPr/>
        </p:nvSpPr>
        <p:spPr>
          <a:xfrm>
            <a:off x="6836436" y="5061292"/>
            <a:ext cx="3020451"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tracert</a:t>
            </a:r>
            <a:endParaRPr lang="pt-BR" dirty="0">
              <a:sym typeface="Poppins"/>
            </a:endParaRPr>
          </a:p>
        </p:txBody>
      </p:sp>
    </p:spTree>
    <p:extLst>
      <p:ext uri="{BB962C8B-B14F-4D97-AF65-F5344CB8AC3E}">
        <p14:creationId xmlns:p14="http://schemas.microsoft.com/office/powerpoint/2010/main" val="3169970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8EA3-028A-3523-A387-FADC8AC77316}"/>
            </a:ext>
          </a:extLst>
        </p:cNvPr>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B3131E2-7F8D-4544-9420-C8BECE38C4DE}"/>
              </a:ext>
            </a:extLst>
          </p:cNvPr>
          <p:cNvSpPr>
            <a:spLocks noGrp="1"/>
          </p:cNvSpPr>
          <p:nvPr>
            <p:ph type="body" idx="4294967295"/>
          </p:nvPr>
        </p:nvSpPr>
        <p:spPr>
          <a:xfrm>
            <a:off x="3630391" y="603067"/>
            <a:ext cx="2465609" cy="522033"/>
          </a:xfrm>
          <a:prstGeom prst="rect">
            <a:avLst/>
          </a:prstGeom>
        </p:spPr>
        <p:txBody>
          <a:bodyPr>
            <a:noAutofit/>
          </a:bodyPr>
          <a:lstStyle/>
          <a:p>
            <a:r>
              <a:rPr lang="pt-BR" sz="3200" b="1" dirty="0">
                <a:solidFill>
                  <a:srgbClr val="FF161F"/>
                </a:solidFill>
                <a:latin typeface="Poppins" pitchFamily="2" charset="77"/>
                <a:cs typeface="Poppins" pitchFamily="2" charset="77"/>
              </a:rPr>
              <a:t>Situação</a:t>
            </a:r>
          </a:p>
        </p:txBody>
      </p:sp>
      <p:sp>
        <p:nvSpPr>
          <p:cNvPr id="12" name="Google Shape;675;p19">
            <a:extLst>
              <a:ext uri="{FF2B5EF4-FFF2-40B4-BE49-F238E27FC236}">
                <a16:creationId xmlns:a16="http://schemas.microsoft.com/office/drawing/2014/main" id="{477F85F4-BA96-B87A-9B32-15DC6DC1425C}"/>
              </a:ext>
            </a:extLst>
          </p:cNvPr>
          <p:cNvSpPr txBox="1"/>
          <p:nvPr/>
        </p:nvSpPr>
        <p:spPr>
          <a:xfrm>
            <a:off x="620994" y="663544"/>
            <a:ext cx="1742531" cy="923112"/>
          </a:xfrm>
          <a:prstGeom prst="rect">
            <a:avLst/>
          </a:prstGeom>
          <a:noFill/>
          <a:ln>
            <a:noFill/>
          </a:ln>
        </p:spPr>
        <p:txBody>
          <a:bodyPr spcFirstLastPara="1" wrap="square" lIns="60950" tIns="30467" rIns="60950" bIns="30467" anchor="t" anchorCtr="0">
            <a:spAutoFit/>
          </a:bodyPr>
          <a:lstStyle/>
          <a:p>
            <a:pPr>
              <a:buSzPts val="4400"/>
            </a:pPr>
            <a:r>
              <a:rPr lang="pt-BR" sz="2333" dirty="0">
                <a:solidFill>
                  <a:schemeClr val="lt1"/>
                </a:solidFill>
                <a:latin typeface="Poppins Light" pitchFamily="2" charset="77"/>
                <a:ea typeface="Poppins"/>
                <a:cs typeface="Poppins Light" pitchFamily="2" charset="77"/>
                <a:sym typeface="Poppins"/>
              </a:rPr>
              <a:t>Ser </a:t>
            </a:r>
            <a:endParaRPr sz="2333" dirty="0">
              <a:latin typeface="Poppins Light" pitchFamily="2" charset="77"/>
              <a:cs typeface="Poppins Light" pitchFamily="2" charset="77"/>
            </a:endParaRPr>
          </a:p>
          <a:p>
            <a:pPr>
              <a:buSzPts val="4400"/>
            </a:pPr>
            <a:r>
              <a:rPr lang="pt-BR" sz="2333" b="1" dirty="0">
                <a:solidFill>
                  <a:schemeClr val="lt1"/>
                </a:solidFill>
                <a:latin typeface="Poppins"/>
                <a:ea typeface="Poppins"/>
                <a:cs typeface="Poppins"/>
                <a:sym typeface="Poppins"/>
              </a:rPr>
              <a:t>sempre +</a:t>
            </a:r>
            <a:endParaRPr sz="2333" dirty="0"/>
          </a:p>
          <a:p>
            <a:pPr>
              <a:buSzPts val="1400"/>
            </a:pPr>
            <a:endParaRPr dirty="0">
              <a:solidFill>
                <a:schemeClr val="lt1"/>
              </a:solidFill>
            </a:endParaRPr>
          </a:p>
        </p:txBody>
      </p:sp>
      <p:sp>
        <p:nvSpPr>
          <p:cNvPr id="4" name="Espaço Reservado para Texto 18">
            <a:extLst>
              <a:ext uri="{FF2B5EF4-FFF2-40B4-BE49-F238E27FC236}">
                <a16:creationId xmlns:a16="http://schemas.microsoft.com/office/drawing/2014/main" id="{ED460CE9-DBB3-7029-BD10-667BE425312F}"/>
              </a:ext>
            </a:extLst>
          </p:cNvPr>
          <p:cNvSpPr>
            <a:spLocks noGrp="1"/>
          </p:cNvSpPr>
          <p:nvPr>
            <p:ph type="body" sz="quarter" idx="4294967295"/>
          </p:nvPr>
        </p:nvSpPr>
        <p:spPr>
          <a:xfrm>
            <a:off x="3630391" y="1849562"/>
            <a:ext cx="3761197" cy="2652190"/>
          </a:xfrm>
          <a:prstGeom prst="rect">
            <a:avLst/>
          </a:prstGeom>
        </p:spPr>
        <p:txBody>
          <a:bodyPr lIns="91440" tIns="45720" rIns="91440" bIns="45720" anchor="t"/>
          <a:lstStyle>
            <a:lvl1pPr>
              <a:defRPr sz="2400">
                <a:latin typeface="Poppins" pitchFamily="2" charset="77"/>
                <a:cs typeface="Poppins" pitchFamily="2" charset="77"/>
              </a:defRPr>
            </a:lvl1pPr>
          </a:lstStyle>
          <a:p>
            <a:pPr>
              <a:spcAft>
                <a:spcPts val="1200"/>
              </a:spcAft>
            </a:pPr>
            <a:r>
              <a:rPr lang="pt-BR" sz="1800" dirty="0">
                <a:latin typeface="Poppins"/>
                <a:cs typeface="Poppins"/>
              </a:rPr>
              <a:t>Durante a manhã, o laboratório de informática da escola apresenta lentidão na conexão com a internet. </a:t>
            </a:r>
          </a:p>
          <a:p>
            <a:pPr>
              <a:spcAft>
                <a:spcPts val="1200"/>
              </a:spcAft>
            </a:pPr>
            <a:r>
              <a:rPr lang="pt-BR" sz="1800" dirty="0">
                <a:latin typeface="Poppins"/>
                <a:cs typeface="Poppins"/>
              </a:rPr>
              <a:t>Alguns computadores navegam normalmente, mas outros não conseguem acessar nenhuma página.</a:t>
            </a:r>
            <a:endParaRPr lang="pt-BR" sz="1800" dirty="0"/>
          </a:p>
          <a:p>
            <a:pPr>
              <a:spcAft>
                <a:spcPts val="1200"/>
              </a:spcAft>
            </a:pPr>
            <a:endParaRPr lang="pt-BR" sz="1800" dirty="0">
              <a:latin typeface="Poppins"/>
              <a:cs typeface="Poppins"/>
            </a:endParaRPr>
          </a:p>
          <a:p>
            <a:pPr algn="just"/>
            <a:endParaRPr lang="pt-BR" sz="1800" dirty="0"/>
          </a:p>
        </p:txBody>
      </p:sp>
      <p:pic>
        <p:nvPicPr>
          <p:cNvPr id="6" name="Imagem 5">
            <a:extLst>
              <a:ext uri="{FF2B5EF4-FFF2-40B4-BE49-F238E27FC236}">
                <a16:creationId xmlns:a16="http://schemas.microsoft.com/office/drawing/2014/main" id="{9090E198-30C6-B10C-6EA8-24A8DEB2CD28}"/>
              </a:ext>
            </a:extLst>
          </p:cNvPr>
          <p:cNvPicPr>
            <a:picLocks noChangeAspect="1"/>
          </p:cNvPicPr>
          <p:nvPr/>
        </p:nvPicPr>
        <p:blipFill>
          <a:blip r:embed="rId3"/>
          <a:srcRect/>
          <a:stretch/>
        </p:blipFill>
        <p:spPr>
          <a:xfrm>
            <a:off x="7279377" y="1297412"/>
            <a:ext cx="4713155" cy="3144274"/>
          </a:xfrm>
          <a:prstGeom prst="rect">
            <a:avLst/>
          </a:prstGeom>
        </p:spPr>
      </p:pic>
      <p:sp>
        <p:nvSpPr>
          <p:cNvPr id="8" name="CaixaDeTexto 7">
            <a:extLst>
              <a:ext uri="{FF2B5EF4-FFF2-40B4-BE49-F238E27FC236}">
                <a16:creationId xmlns:a16="http://schemas.microsoft.com/office/drawing/2014/main" id="{257AA4BC-7D59-1795-7653-7E67D73D69D9}"/>
              </a:ext>
            </a:extLst>
          </p:cNvPr>
          <p:cNvSpPr txBox="1"/>
          <p:nvPr/>
        </p:nvSpPr>
        <p:spPr>
          <a:xfrm>
            <a:off x="3630391" y="5008438"/>
            <a:ext cx="8182164" cy="1246495"/>
          </a:xfrm>
          <a:prstGeom prst="rect">
            <a:avLst/>
          </a:prstGeom>
          <a:noFill/>
          <a:ln>
            <a:noFill/>
          </a:ln>
        </p:spPr>
        <p:txBody>
          <a:bodyPr wrap="square">
            <a:spAutoFit/>
          </a:bodyPr>
          <a:lstStyle/>
          <a:p>
            <a:pPr marL="0" marR="0" lvl="0" indent="0" defTabSz="914400" rtl="0" eaLnBrk="1" fontAlgn="auto" latinLnBrk="0" hangingPunct="1">
              <a:lnSpc>
                <a:spcPct val="100000"/>
              </a:lnSpc>
              <a:spcBef>
                <a:spcPts val="0"/>
              </a:spcBef>
              <a:spcAft>
                <a:spcPts val="1200"/>
              </a:spcAft>
              <a:buClr>
                <a:srgbClr val="000000"/>
              </a:buClr>
              <a:buSzTx/>
              <a:buFont typeface="Arial"/>
              <a:buNone/>
              <a:tabLst/>
              <a:defRPr/>
            </a:pPr>
            <a:r>
              <a:rPr kumimoji="0" lang="pt-BR" sz="1800" b="0" i="0" u="none" strike="noStrike" kern="0" cap="none" spc="0" normalizeH="0" baseline="0" noProof="0" dirty="0">
                <a:ln>
                  <a:noFill/>
                </a:ln>
                <a:solidFill>
                  <a:srgbClr val="000000"/>
                </a:solidFill>
                <a:effectLst/>
                <a:uLnTx/>
                <a:uFillTx/>
                <a:latin typeface="Poppins"/>
                <a:cs typeface="Poppins"/>
                <a:sym typeface="Arial"/>
              </a:rPr>
              <a:t>A equipe precisa </a:t>
            </a:r>
            <a:r>
              <a:rPr kumimoji="0" lang="pt-BR" sz="1800" b="1" i="0" u="none" strike="noStrike" kern="0" cap="none" spc="0" normalizeH="0" baseline="0" noProof="0" dirty="0">
                <a:ln>
                  <a:noFill/>
                </a:ln>
                <a:solidFill>
                  <a:srgbClr val="000000"/>
                </a:solidFill>
                <a:effectLst/>
                <a:uLnTx/>
                <a:uFillTx/>
                <a:latin typeface="Poppins"/>
                <a:cs typeface="Poppins"/>
                <a:sym typeface="Arial"/>
              </a:rPr>
              <a:t>analisar o problema em conjunto</a:t>
            </a:r>
            <a:r>
              <a:rPr kumimoji="0" lang="pt-BR" sz="1800" b="0" i="0" u="none" strike="noStrike" kern="0" cap="none" spc="0" normalizeH="0" baseline="0" noProof="0" dirty="0">
                <a:ln>
                  <a:noFill/>
                </a:ln>
                <a:solidFill>
                  <a:srgbClr val="000000"/>
                </a:solidFill>
                <a:effectLst/>
                <a:uLnTx/>
                <a:uFillTx/>
                <a:latin typeface="Poppins"/>
                <a:cs typeface="Poppins"/>
                <a:sym typeface="Arial"/>
              </a:rPr>
              <a:t>, mantendo uma postura colaborativa e investigativa para identificar onde pode estar a causa da falha.</a:t>
            </a:r>
            <a:endParaRPr lang="pt-BR" sz="1800" dirty="0">
              <a:latin typeface="Poppins"/>
              <a:cs typeface="Poppins"/>
            </a:endParaRPr>
          </a:p>
          <a:p>
            <a:pPr lvl="0" algn="just">
              <a:spcAft>
                <a:spcPts val="1200"/>
              </a:spcAft>
              <a:defRPr/>
            </a:pPr>
            <a:r>
              <a:rPr lang="pt-BR" sz="1100" dirty="0">
                <a:latin typeface="Poppins" panose="00000500000000000000" pitchFamily="2" charset="0"/>
                <a:cs typeface="Poppins" panose="00000500000000000000" pitchFamily="2" charset="0"/>
              </a:rPr>
              <a:t>Situação fictícia produzida pela SEDUC-SP.</a:t>
            </a:r>
            <a:endParaRPr kumimoji="0" lang="pt-BR" sz="11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10" name="CaixaDeTexto 9">
            <a:extLst>
              <a:ext uri="{FF2B5EF4-FFF2-40B4-BE49-F238E27FC236}">
                <a16:creationId xmlns:a16="http://schemas.microsoft.com/office/drawing/2014/main" id="{834CA2B8-2316-0720-3B57-4A5DD748F6F7}"/>
              </a:ext>
            </a:extLst>
          </p:cNvPr>
          <p:cNvSpPr txBox="1"/>
          <p:nvPr/>
        </p:nvSpPr>
        <p:spPr>
          <a:xfrm>
            <a:off x="10779760" y="4441648"/>
            <a:ext cx="1492705" cy="261610"/>
          </a:xfrm>
          <a:prstGeom prst="rect">
            <a:avLst/>
          </a:prstGeom>
          <a:noFill/>
          <a:ln>
            <a:noFill/>
          </a:ln>
        </p:spPr>
        <p:txBody>
          <a:bodyPr wrap="square">
            <a:spAutoFit/>
          </a:bodyPr>
          <a:lstStyle/>
          <a:p>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1936638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35784D91-7807-B12E-D278-EF1B1345D3FA}"/>
              </a:ext>
            </a:extLst>
          </p:cNvPr>
          <p:cNvSpPr>
            <a:spLocks noGrp="1"/>
          </p:cNvSpPr>
          <p:nvPr>
            <p:ph type="body" sz="quarter" idx="4294967295" hasCustomPrompt="1"/>
          </p:nvPr>
        </p:nvSpPr>
        <p:spPr>
          <a:xfrm>
            <a:off x="3623734" y="800984"/>
            <a:ext cx="2097617" cy="486833"/>
          </a:xfrm>
          <a:prstGeom prst="rect">
            <a:avLst/>
          </a:prstGeom>
        </p:spPr>
        <p:txBody>
          <a:bodyPr/>
          <a:lstStyle>
            <a:lvl1pPr>
              <a:defRPr sz="4000" b="1" i="0">
                <a:solidFill>
                  <a:srgbClr val="FF161F"/>
                </a:solidFill>
                <a:latin typeface="Poppins" pitchFamily="2" charset="77"/>
                <a:cs typeface="Poppins" pitchFamily="2" charset="77"/>
              </a:defRPr>
            </a:lvl1pPr>
          </a:lstStyle>
          <a:p>
            <a:pPr lvl="0"/>
            <a:r>
              <a:rPr lang="pt-BR" sz="3200" dirty="0"/>
              <a:t>Ação</a:t>
            </a:r>
          </a:p>
        </p:txBody>
      </p:sp>
      <p:sp>
        <p:nvSpPr>
          <p:cNvPr id="6" name="CaixaDeTexto 5">
            <a:extLst>
              <a:ext uri="{FF2B5EF4-FFF2-40B4-BE49-F238E27FC236}">
                <a16:creationId xmlns:a16="http://schemas.microsoft.com/office/drawing/2014/main" id="{3CFBC48D-8334-39FB-347C-6BDB53E3F754}"/>
              </a:ext>
            </a:extLst>
          </p:cNvPr>
          <p:cNvSpPr txBox="1"/>
          <p:nvPr/>
        </p:nvSpPr>
        <p:spPr>
          <a:xfrm>
            <a:off x="12921129" y="389665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7" name="Google Shape;675;p19">
            <a:extLst>
              <a:ext uri="{FF2B5EF4-FFF2-40B4-BE49-F238E27FC236}">
                <a16:creationId xmlns:a16="http://schemas.microsoft.com/office/drawing/2014/main" id="{88B8F3B9-1846-6948-10F8-CA41A43EFABD}"/>
              </a:ext>
            </a:extLst>
          </p:cNvPr>
          <p:cNvSpPr txBox="1"/>
          <p:nvPr/>
        </p:nvSpPr>
        <p:spPr>
          <a:xfrm>
            <a:off x="620994" y="663544"/>
            <a:ext cx="1742531" cy="923112"/>
          </a:xfrm>
          <a:prstGeom prst="rect">
            <a:avLst/>
          </a:prstGeom>
          <a:noFill/>
          <a:ln>
            <a:noFill/>
          </a:ln>
        </p:spPr>
        <p:txBody>
          <a:bodyPr spcFirstLastPara="1" wrap="square" lIns="60950" tIns="30467" rIns="60950" bIns="30467" anchor="t" anchorCtr="0">
            <a:spAutoFit/>
          </a:bodyPr>
          <a:lstStyle/>
          <a:p>
            <a:pPr>
              <a:buSzPts val="4400"/>
            </a:pPr>
            <a:r>
              <a:rPr lang="pt-BR" sz="2333" dirty="0">
                <a:solidFill>
                  <a:schemeClr val="lt1"/>
                </a:solidFill>
                <a:latin typeface="Poppins Light" pitchFamily="2" charset="77"/>
                <a:ea typeface="Poppins"/>
                <a:cs typeface="Poppins Light" pitchFamily="2" charset="77"/>
                <a:sym typeface="Poppins"/>
              </a:rPr>
              <a:t>Ser </a:t>
            </a:r>
            <a:endParaRPr sz="2333" dirty="0">
              <a:latin typeface="Poppins Light" pitchFamily="2" charset="77"/>
              <a:cs typeface="Poppins Light" pitchFamily="2" charset="77"/>
            </a:endParaRPr>
          </a:p>
          <a:p>
            <a:pPr>
              <a:buSzPts val="4400"/>
            </a:pPr>
            <a:r>
              <a:rPr lang="pt-BR" sz="2333" b="1" dirty="0">
                <a:solidFill>
                  <a:schemeClr val="lt1"/>
                </a:solidFill>
                <a:latin typeface="Poppins"/>
                <a:ea typeface="Poppins"/>
                <a:cs typeface="Poppins"/>
                <a:sym typeface="Poppins"/>
              </a:rPr>
              <a:t>sempre +</a:t>
            </a:r>
            <a:endParaRPr sz="2333" dirty="0"/>
          </a:p>
          <a:p>
            <a:pPr>
              <a:buSzPts val="1400"/>
            </a:pPr>
            <a:endParaRPr dirty="0">
              <a:solidFill>
                <a:schemeClr val="lt1"/>
              </a:solidFill>
            </a:endParaRPr>
          </a:p>
        </p:txBody>
      </p:sp>
      <p:sp>
        <p:nvSpPr>
          <p:cNvPr id="8" name="Triângulo 7">
            <a:extLst>
              <a:ext uri="{FF2B5EF4-FFF2-40B4-BE49-F238E27FC236}">
                <a16:creationId xmlns:a16="http://schemas.microsoft.com/office/drawing/2014/main" id="{6C12A622-2BCB-A1B5-F5C7-ECD8691798F4}"/>
              </a:ext>
            </a:extLst>
          </p:cNvPr>
          <p:cNvSpPr/>
          <p:nvPr/>
        </p:nvSpPr>
        <p:spPr>
          <a:xfrm rot="5400000">
            <a:off x="3738445" y="2961317"/>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1" name="Espaço Reservado para Texto 4">
            <a:extLst>
              <a:ext uri="{FF2B5EF4-FFF2-40B4-BE49-F238E27FC236}">
                <a16:creationId xmlns:a16="http://schemas.microsoft.com/office/drawing/2014/main" id="{E736F7F1-627D-3DC3-FFBB-EC3B89CAE8DB}"/>
              </a:ext>
            </a:extLst>
          </p:cNvPr>
          <p:cNvSpPr>
            <a:spLocks noGrp="1"/>
          </p:cNvSpPr>
          <p:nvPr>
            <p:ph type="body" sz="quarter" idx="4294967295"/>
          </p:nvPr>
        </p:nvSpPr>
        <p:spPr>
          <a:xfrm>
            <a:off x="3984072" y="2874521"/>
            <a:ext cx="7091209" cy="1977840"/>
          </a:xfrm>
          <a:prstGeom prst="rect">
            <a:avLst/>
          </a:prstGeom>
        </p:spPr>
        <p:txBody>
          <a:bodyPr lIns="91440" tIns="45720" rIns="91440" bIns="45720" anchor="t"/>
          <a:lstStyle>
            <a:lvl1pPr>
              <a:defRPr sz="2000">
                <a:latin typeface="Poppins" pitchFamily="2" charset="77"/>
                <a:cs typeface="Poppins" pitchFamily="2" charset="77"/>
              </a:defRPr>
            </a:lvl1pPr>
          </a:lstStyle>
          <a:p>
            <a:r>
              <a:rPr lang="pt-BR" sz="1800" dirty="0">
                <a:latin typeface="Poppins"/>
                <a:cs typeface="Poppins"/>
              </a:rPr>
              <a:t>Quais </a:t>
            </a:r>
            <a:r>
              <a:rPr lang="pt-BR" sz="1800" b="1" dirty="0">
                <a:latin typeface="Poppins"/>
                <a:cs typeface="Poppins"/>
              </a:rPr>
              <a:t>evidências vocês buscariam</a:t>
            </a:r>
            <a:r>
              <a:rPr lang="pt-BR" sz="1800" dirty="0">
                <a:latin typeface="Poppins"/>
                <a:cs typeface="Poppins"/>
              </a:rPr>
              <a:t> para identificar a origem do problema?</a:t>
            </a:r>
            <a:endParaRPr lang="pt-BR" sz="1800" dirty="0"/>
          </a:p>
          <a:p>
            <a:endParaRPr lang="pt-BR" sz="1800" dirty="0">
              <a:latin typeface="Poppins"/>
              <a:cs typeface="Poppins"/>
            </a:endParaRPr>
          </a:p>
          <a:p>
            <a:r>
              <a:rPr lang="pt-BR" sz="1800" dirty="0">
                <a:latin typeface="Poppins"/>
                <a:cs typeface="Poppins"/>
              </a:rPr>
              <a:t>Como poderiam </a:t>
            </a:r>
            <a:r>
              <a:rPr lang="pt-BR" sz="1800" b="1" dirty="0">
                <a:latin typeface="Poppins"/>
                <a:cs typeface="Poppins"/>
              </a:rPr>
              <a:t>trabalhar em equipe</a:t>
            </a:r>
            <a:r>
              <a:rPr lang="pt-BR" sz="1800" dirty="0">
                <a:latin typeface="Poppins"/>
                <a:cs typeface="Poppins"/>
              </a:rPr>
              <a:t>, distribuindo as tarefas e comunicando os resultados de forma organizada?</a:t>
            </a:r>
          </a:p>
        </p:txBody>
      </p:sp>
      <p:pic>
        <p:nvPicPr>
          <p:cNvPr id="2" name="Imagem 1">
            <a:extLst>
              <a:ext uri="{FF2B5EF4-FFF2-40B4-BE49-F238E27FC236}">
                <a16:creationId xmlns:a16="http://schemas.microsoft.com/office/drawing/2014/main" id="{52E84AC4-C04D-DDAC-9487-A972DA87585D}"/>
              </a:ext>
            </a:extLst>
          </p:cNvPr>
          <p:cNvPicPr>
            <a:picLocks noChangeAspect="1"/>
          </p:cNvPicPr>
          <p:nvPr/>
        </p:nvPicPr>
        <p:blipFill>
          <a:blip r:embed="rId2"/>
          <a:stretch>
            <a:fillRect/>
          </a:stretch>
        </p:blipFill>
        <p:spPr>
          <a:xfrm>
            <a:off x="8269078" y="348891"/>
            <a:ext cx="3496733" cy="728133"/>
          </a:xfrm>
          <a:prstGeom prst="rect">
            <a:avLst/>
          </a:prstGeom>
        </p:spPr>
      </p:pic>
      <p:sp>
        <p:nvSpPr>
          <p:cNvPr id="4" name="CaixaDeTexto 3">
            <a:extLst>
              <a:ext uri="{FF2B5EF4-FFF2-40B4-BE49-F238E27FC236}">
                <a16:creationId xmlns:a16="http://schemas.microsoft.com/office/drawing/2014/main" id="{D624AEA5-C146-2FA6-5BE7-9ED021099DD8}"/>
              </a:ext>
            </a:extLst>
          </p:cNvPr>
          <p:cNvSpPr txBox="1"/>
          <p:nvPr/>
        </p:nvSpPr>
        <p:spPr>
          <a:xfrm>
            <a:off x="9239068" y="592271"/>
            <a:ext cx="2522013" cy="208713"/>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VIREM E CONVERSEM</a:t>
            </a:r>
          </a:p>
        </p:txBody>
      </p:sp>
      <p:sp>
        <p:nvSpPr>
          <p:cNvPr id="10" name="Forma Livre 43">
            <a:extLst>
              <a:ext uri="{FF2B5EF4-FFF2-40B4-BE49-F238E27FC236}">
                <a16:creationId xmlns:a16="http://schemas.microsoft.com/office/drawing/2014/main" id="{84D11146-C8A4-5A95-AA37-C38C537490AF}"/>
              </a:ext>
            </a:extLst>
          </p:cNvPr>
          <p:cNvSpPr/>
          <p:nvPr/>
        </p:nvSpPr>
        <p:spPr>
          <a:xfrm>
            <a:off x="8631577" y="822890"/>
            <a:ext cx="1385" cy="11651"/>
          </a:xfrm>
          <a:custGeom>
            <a:avLst/>
            <a:gdLst>
              <a:gd name="connsiteX0" fmla="*/ 1044 w 2078"/>
              <a:gd name="connsiteY0" fmla="*/ 0 h 17477"/>
              <a:gd name="connsiteX1" fmla="*/ 1044 w 2078"/>
              <a:gd name="connsiteY1" fmla="*/ 17477 h 17477"/>
              <a:gd name="connsiteX2" fmla="*/ 1044 w 2078"/>
              <a:gd name="connsiteY2" fmla="*/ 0 h 17477"/>
            </a:gdLst>
            <a:ahLst/>
            <a:cxnLst>
              <a:cxn ang="0">
                <a:pos x="connsiteX0" y="connsiteY0"/>
              </a:cxn>
              <a:cxn ang="0">
                <a:pos x="connsiteX1" y="connsiteY1"/>
              </a:cxn>
              <a:cxn ang="0">
                <a:pos x="connsiteX2" y="connsiteY2"/>
              </a:cxn>
            </a:cxnLst>
            <a:rect l="l" t="t" r="r" b="b"/>
            <a:pathLst>
              <a:path w="2078" h="17477">
                <a:moveTo>
                  <a:pt x="1044" y="0"/>
                </a:moveTo>
                <a:cubicBezTo>
                  <a:pt x="16" y="5826"/>
                  <a:pt x="-670" y="11651"/>
                  <a:pt x="1044" y="17477"/>
                </a:cubicBezTo>
                <a:cubicBezTo>
                  <a:pt x="2186" y="11651"/>
                  <a:pt x="2643" y="5826"/>
                  <a:pt x="1044" y="0"/>
                </a:cubicBezTo>
                <a:close/>
              </a:path>
            </a:pathLst>
          </a:custGeom>
          <a:solidFill>
            <a:srgbClr val="E76058"/>
          </a:solidFill>
          <a:ln w="0" cap="flat">
            <a:noFill/>
            <a:prstDash val="solid"/>
            <a:miter/>
          </a:ln>
        </p:spPr>
        <p:txBody>
          <a:bodyPr rtlCol="0" anchor="ctr"/>
          <a:lstStyle/>
          <a:p>
            <a:endParaRPr lang="pt-BR" sz="622" dirty="0"/>
          </a:p>
        </p:txBody>
      </p:sp>
      <p:sp>
        <p:nvSpPr>
          <p:cNvPr id="12" name="Forma Livre 44">
            <a:extLst>
              <a:ext uri="{FF2B5EF4-FFF2-40B4-BE49-F238E27FC236}">
                <a16:creationId xmlns:a16="http://schemas.microsoft.com/office/drawing/2014/main" id="{26B2677D-3463-8203-D027-F182345F5D9D}"/>
              </a:ext>
            </a:extLst>
          </p:cNvPr>
          <p:cNvSpPr/>
          <p:nvPr/>
        </p:nvSpPr>
        <p:spPr>
          <a:xfrm>
            <a:off x="8447334" y="831114"/>
            <a:ext cx="1489" cy="2284"/>
          </a:xfrm>
          <a:custGeom>
            <a:avLst/>
            <a:gdLst>
              <a:gd name="connsiteX0" fmla="*/ 1085 w 2233"/>
              <a:gd name="connsiteY0" fmla="*/ 3427 h 3426"/>
              <a:gd name="connsiteX1" fmla="*/ 971 w 2233"/>
              <a:gd name="connsiteY1" fmla="*/ 0 h 3426"/>
              <a:gd name="connsiteX2" fmla="*/ 1085 w 2233"/>
              <a:gd name="connsiteY2" fmla="*/ 3427 h 3426"/>
            </a:gdLst>
            <a:ahLst/>
            <a:cxnLst>
              <a:cxn ang="0">
                <a:pos x="connsiteX0" y="connsiteY0"/>
              </a:cxn>
              <a:cxn ang="0">
                <a:pos x="connsiteX1" y="connsiteY1"/>
              </a:cxn>
              <a:cxn ang="0">
                <a:pos x="connsiteX2" y="connsiteY2"/>
              </a:cxn>
            </a:cxnLst>
            <a:rect l="l" t="t" r="r" b="b"/>
            <a:pathLst>
              <a:path w="2233" h="3426">
                <a:moveTo>
                  <a:pt x="1085" y="3427"/>
                </a:moveTo>
                <a:cubicBezTo>
                  <a:pt x="2799" y="2170"/>
                  <a:pt x="2456" y="1028"/>
                  <a:pt x="971" y="0"/>
                </a:cubicBezTo>
                <a:cubicBezTo>
                  <a:pt x="-286" y="1257"/>
                  <a:pt x="-400" y="2285"/>
                  <a:pt x="1085" y="3427"/>
                </a:cubicBezTo>
                <a:close/>
              </a:path>
            </a:pathLst>
          </a:custGeom>
          <a:solidFill>
            <a:srgbClr val="E76058"/>
          </a:solidFill>
          <a:ln w="0" cap="flat">
            <a:noFill/>
            <a:prstDash val="solid"/>
            <a:miter/>
          </a:ln>
        </p:spPr>
        <p:txBody>
          <a:bodyPr rtlCol="0" anchor="ctr"/>
          <a:lstStyle/>
          <a:p>
            <a:endParaRPr lang="pt-BR" sz="622" dirty="0"/>
          </a:p>
        </p:txBody>
      </p:sp>
      <p:sp>
        <p:nvSpPr>
          <p:cNvPr id="13" name="Forma Livre 45">
            <a:extLst>
              <a:ext uri="{FF2B5EF4-FFF2-40B4-BE49-F238E27FC236}">
                <a16:creationId xmlns:a16="http://schemas.microsoft.com/office/drawing/2014/main" id="{E508095D-8D2F-DD1A-D7E1-1D608C343A8C}"/>
              </a:ext>
            </a:extLst>
          </p:cNvPr>
          <p:cNvSpPr/>
          <p:nvPr/>
        </p:nvSpPr>
        <p:spPr>
          <a:xfrm>
            <a:off x="8630369" y="841814"/>
            <a:ext cx="1327" cy="1247"/>
          </a:xfrm>
          <a:custGeom>
            <a:avLst/>
            <a:gdLst>
              <a:gd name="connsiteX0" fmla="*/ 1942 w 1990"/>
              <a:gd name="connsiteY0" fmla="*/ 56 h 1871"/>
              <a:gd name="connsiteX1" fmla="*/ 0 w 1990"/>
              <a:gd name="connsiteY1" fmla="*/ 1655 h 1871"/>
              <a:gd name="connsiteX2" fmla="*/ 1942 w 1990"/>
              <a:gd name="connsiteY2" fmla="*/ 56 h 1871"/>
            </a:gdLst>
            <a:ahLst/>
            <a:cxnLst>
              <a:cxn ang="0">
                <a:pos x="connsiteX0" y="connsiteY0"/>
              </a:cxn>
              <a:cxn ang="0">
                <a:pos x="connsiteX1" y="connsiteY1"/>
              </a:cxn>
              <a:cxn ang="0">
                <a:pos x="connsiteX2" y="connsiteY2"/>
              </a:cxn>
            </a:cxnLst>
            <a:rect l="l" t="t" r="r" b="b"/>
            <a:pathLst>
              <a:path w="1990" h="1871">
                <a:moveTo>
                  <a:pt x="1942" y="56"/>
                </a:moveTo>
                <a:cubicBezTo>
                  <a:pt x="685" y="-172"/>
                  <a:pt x="0" y="285"/>
                  <a:pt x="0" y="1655"/>
                </a:cubicBezTo>
                <a:cubicBezTo>
                  <a:pt x="1599" y="2226"/>
                  <a:pt x="2170" y="1655"/>
                  <a:pt x="1942" y="56"/>
                </a:cubicBezTo>
                <a:close/>
              </a:path>
            </a:pathLst>
          </a:custGeom>
          <a:solidFill>
            <a:srgbClr val="E76058"/>
          </a:solidFill>
          <a:ln w="0" cap="flat">
            <a:noFill/>
            <a:prstDash val="solid"/>
            <a:miter/>
          </a:ln>
        </p:spPr>
        <p:txBody>
          <a:bodyPr rtlCol="0" anchor="ctr"/>
          <a:lstStyle/>
          <a:p>
            <a:endParaRPr lang="pt-BR" sz="622" dirty="0"/>
          </a:p>
        </p:txBody>
      </p:sp>
      <p:pic>
        <p:nvPicPr>
          <p:cNvPr id="14" name="Imagem 13">
            <a:extLst>
              <a:ext uri="{FF2B5EF4-FFF2-40B4-BE49-F238E27FC236}">
                <a16:creationId xmlns:a16="http://schemas.microsoft.com/office/drawing/2014/main" id="{191C7648-9CEE-8CB2-9CED-E78D40C3C0D0}"/>
              </a:ext>
            </a:extLst>
          </p:cNvPr>
          <p:cNvPicPr>
            <a:picLocks noChangeAspect="1"/>
          </p:cNvPicPr>
          <p:nvPr/>
        </p:nvPicPr>
        <p:blipFill>
          <a:blip r:embed="rId3"/>
          <a:stretch>
            <a:fillRect/>
          </a:stretch>
        </p:blipFill>
        <p:spPr>
          <a:xfrm>
            <a:off x="8329958" y="420601"/>
            <a:ext cx="635000" cy="601133"/>
          </a:xfrm>
          <a:prstGeom prst="rect">
            <a:avLst/>
          </a:prstGeom>
        </p:spPr>
      </p:pic>
      <p:sp>
        <p:nvSpPr>
          <p:cNvPr id="15" name="Espaço Reservado para Texto 2">
            <a:extLst>
              <a:ext uri="{FF2B5EF4-FFF2-40B4-BE49-F238E27FC236}">
                <a16:creationId xmlns:a16="http://schemas.microsoft.com/office/drawing/2014/main" id="{04B4E758-7B65-1297-EB4D-4F46A3FE21EF}"/>
              </a:ext>
            </a:extLst>
          </p:cNvPr>
          <p:cNvSpPr txBox="1">
            <a:spLocks/>
          </p:cNvSpPr>
          <p:nvPr/>
        </p:nvSpPr>
        <p:spPr>
          <a:xfrm>
            <a:off x="3623734" y="2387687"/>
            <a:ext cx="1506050" cy="486834"/>
          </a:xfrm>
          <a:prstGeom prst="rect">
            <a:avLst/>
          </a:prstGeom>
        </p:spPr>
        <p:txBody>
          <a:bodyPr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dirty="0">
                <a:solidFill>
                  <a:srgbClr val="1F1F1F"/>
                </a:solidFill>
                <a:latin typeface="Poppins"/>
                <a:cs typeface="Poppins"/>
              </a:rPr>
              <a:t>Em duplas:</a:t>
            </a:r>
            <a:endParaRPr lang="pt-BR" dirty="0">
              <a:latin typeface="Poppins"/>
              <a:cs typeface="Poppins"/>
            </a:endParaRPr>
          </a:p>
          <a:p>
            <a:endParaRPr lang="pt-BR" sz="1800" dirty="0">
              <a:latin typeface="Poppins" pitchFamily="2" charset="77"/>
              <a:cs typeface="Poppins" pitchFamily="2" charset="77"/>
            </a:endParaRPr>
          </a:p>
        </p:txBody>
      </p:sp>
      <p:sp>
        <p:nvSpPr>
          <p:cNvPr id="9" name="Triângulo 7">
            <a:extLst>
              <a:ext uri="{FF2B5EF4-FFF2-40B4-BE49-F238E27FC236}">
                <a16:creationId xmlns:a16="http://schemas.microsoft.com/office/drawing/2014/main" id="{FD62C2D3-3616-F0C1-402D-2581A0C68967}"/>
              </a:ext>
            </a:extLst>
          </p:cNvPr>
          <p:cNvSpPr/>
          <p:nvPr/>
        </p:nvSpPr>
        <p:spPr>
          <a:xfrm rot="5400000">
            <a:off x="3738445" y="381123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Tree>
    <p:extLst>
      <p:ext uri="{BB962C8B-B14F-4D97-AF65-F5344CB8AC3E}">
        <p14:creationId xmlns:p14="http://schemas.microsoft.com/office/powerpoint/2010/main" val="623608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67933" y="1781092"/>
            <a:ext cx="6972614" cy="934833"/>
          </a:xfrm>
          <a:noFill/>
          <a:ln>
            <a:noFill/>
          </a:ln>
        </p:spPr>
        <p:txBody>
          <a:bodyPr spcFirstLastPara="1" wrap="square" lIns="91425" tIns="45700" rIns="91425" bIns="45700" anchor="t" anchorCtr="0">
            <a:noAutofit/>
          </a:bodyPr>
          <a:lstStyle/>
          <a:p>
            <a:pPr marL="0" indent="0"/>
            <a:r>
              <a:rPr lang="pt-BR" sz="1800" dirty="0"/>
              <a:t>Diagnosticar redes significa identificar onde está a falha: no dispositivo, no roteador ou na internet.</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67933" y="3014754"/>
            <a:ext cx="6972614" cy="957600"/>
          </a:xfrm>
          <a:noFill/>
          <a:ln>
            <a:noFill/>
          </a:ln>
        </p:spPr>
        <p:txBody>
          <a:bodyPr spcFirstLastPara="1" wrap="square" lIns="91425" tIns="45700" rIns="91425" bIns="45700" anchor="t" anchorCtr="0">
            <a:noAutofit/>
          </a:bodyPr>
          <a:lstStyle/>
          <a:p>
            <a:pPr marL="0" indent="0"/>
            <a:r>
              <a:rPr lang="pt-BR" sz="1800" dirty="0"/>
              <a:t>Ferramentas como ping, tracert e a verificação de IP ajudam a testar e a localizar problemas de conexão.</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67933" y="4199618"/>
            <a:ext cx="6972614" cy="1813047"/>
          </a:xfrm>
          <a:noFill/>
          <a:ln>
            <a:noFill/>
          </a:ln>
        </p:spPr>
        <p:txBody>
          <a:bodyPr spcFirstLastPara="1" wrap="square" lIns="91425" tIns="45700" rIns="91425" bIns="45700" anchor="t" anchorCtr="0">
            <a:noAutofit/>
          </a:bodyPr>
          <a:lstStyle/>
          <a:p>
            <a:pPr marL="0" indent="0"/>
            <a:r>
              <a:rPr lang="pt-BR" sz="1800" dirty="0"/>
              <a:t>Os ícones de status da rede oferecem sinais visuais que permitem interpretar rapidamente a situação da conexão.</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822114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5369417" y="1148262"/>
            <a:ext cx="6009782" cy="2507516"/>
          </a:xfrm>
          <a:prstGeom prst="rect">
            <a:avLst/>
          </a:prstGeom>
          <a:noFill/>
          <a:ln>
            <a:noFill/>
          </a:ln>
        </p:spPr>
        <p:txBody>
          <a:bodyPr spcFirstLastPara="1" wrap="square" lIns="60950" tIns="30467" rIns="60950" bIns="30467" anchor="t" anchorCtr="0">
            <a:noAutofit/>
          </a:bodyPr>
          <a:lstStyle/>
          <a:p>
            <a:pPr marL="0" indent="0">
              <a:spcBef>
                <a:spcPts val="0"/>
              </a:spcBef>
              <a:spcAft>
                <a:spcPts val="1200"/>
              </a:spcAft>
              <a:buClr>
                <a:schemeClr val="lt1"/>
              </a:buClr>
            </a:pPr>
            <a:r>
              <a:rPr lang="pt-BR" sz="1800" dirty="0"/>
              <a:t>Quer entender mais sobre </a:t>
            </a:r>
            <a:r>
              <a:rPr lang="pt-BR" sz="1800" dirty="0">
                <a:sym typeface="Poppins"/>
              </a:rPr>
              <a:t>diagnóstico de rede</a:t>
            </a:r>
            <a:r>
              <a:rPr lang="pt-BR" sz="1800" dirty="0"/>
              <a:t>?</a:t>
            </a:r>
          </a:p>
          <a:p>
            <a:pPr marL="0" indent="0">
              <a:spcBef>
                <a:spcPts val="0"/>
              </a:spcBef>
              <a:spcAft>
                <a:spcPts val="1200"/>
              </a:spcAft>
            </a:pPr>
            <a:r>
              <a:rPr lang="pt-BR" sz="1800" dirty="0"/>
              <a:t>Recomendamos que assista ao vídeo:</a:t>
            </a:r>
          </a:p>
          <a:p>
            <a:pPr marL="0" indent="0">
              <a:spcBef>
                <a:spcPts val="0"/>
              </a:spcBef>
              <a:spcAft>
                <a:spcPts val="1200"/>
              </a:spcAft>
            </a:pPr>
            <a:r>
              <a:rPr lang="pt-BR" sz="1800" dirty="0">
                <a:latin typeface="Poppins"/>
                <a:cs typeface="Poppins"/>
              </a:rPr>
              <a:t>THE TELECOM. Teste de ping, ipconfig e tracert verificando sua conexão. YouTube, 6 abr. 2021. Disponível em: </a:t>
            </a:r>
            <a:r>
              <a:rPr lang="pt-BR" sz="1800" dirty="0">
                <a:latin typeface="Poppins"/>
                <a:cs typeface="Poppins"/>
                <a:hlinkClick r:id="rId3"/>
              </a:rPr>
              <a:t>https://www.youtube.com/watch?v=MhXnEhvgtf4</a:t>
            </a:r>
            <a:r>
              <a:rPr lang="pt-BR" sz="1800" dirty="0">
                <a:latin typeface="Poppins"/>
                <a:cs typeface="Poppins"/>
              </a:rPr>
              <a:t>. Acesso em: 14 out. 2025.</a:t>
            </a: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dirty="0">
                <a:solidFill>
                  <a:schemeClr val="bg1"/>
                </a:solidFill>
                <a:latin typeface="Poppins"/>
                <a:ea typeface="Poppins"/>
                <a:cs typeface="Poppins"/>
                <a:sym typeface="Poppins"/>
              </a:rPr>
              <a:t>Saiba mais</a:t>
            </a:r>
            <a:endParaRPr lang="pt-BR" sz="4000" dirty="0">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3819781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5FA7FE17-1B51-A703-C60C-82294C88914A}"/>
              </a:ext>
            </a:extLst>
          </p:cNvPr>
          <p:cNvSpPr>
            <a:spLocks noGrp="1"/>
          </p:cNvSpPr>
          <p:nvPr>
            <p:ph type="body" idx="5"/>
          </p:nvPr>
        </p:nvSpPr>
        <p:spPr>
          <a:xfrm>
            <a:off x="1402080" y="2054225"/>
            <a:ext cx="10633166" cy="2155825"/>
          </a:xfrm>
        </p:spPr>
        <p:txBody>
          <a:bodyPr>
            <a:noAutofit/>
          </a:bodyPr>
          <a:lstStyle/>
          <a:p>
            <a:pPr>
              <a:spcBef>
                <a:spcPts val="0"/>
              </a:spcBef>
              <a:spcAft>
                <a:spcPts val="1200"/>
              </a:spcAft>
            </a:pPr>
            <a:r>
              <a:rPr lang="pt-BR" i="0" u="none" strike="noStrike" dirty="0">
                <a:effectLst/>
                <a:latin typeface="Poppins"/>
                <a:cs typeface="Poppins"/>
              </a:rPr>
              <a:t>BROOKSHEAR, J. G. </a:t>
            </a:r>
            <a:r>
              <a:rPr lang="pt-BR" b="1" i="0" u="none" strike="noStrike" dirty="0">
                <a:effectLst/>
                <a:latin typeface="Poppins"/>
                <a:cs typeface="Poppins"/>
              </a:rPr>
              <a:t>Ciência da </a:t>
            </a:r>
            <a:r>
              <a:rPr lang="pt-BR" b="1" dirty="0">
                <a:latin typeface="Poppins"/>
                <a:cs typeface="Poppins"/>
              </a:rPr>
              <a:t>computação</a:t>
            </a:r>
            <a:r>
              <a:rPr lang="pt-BR" i="0" u="none" strike="noStrike" dirty="0">
                <a:effectLst/>
                <a:latin typeface="Poppins"/>
                <a:cs typeface="Poppins"/>
              </a:rPr>
              <a:t>: uma visão abrangente. Porto Alegre: Bookman, 2013.</a:t>
            </a:r>
            <a:r>
              <a:rPr lang="pt-BR" dirty="0">
                <a:latin typeface="Poppins"/>
                <a:cs typeface="Poppins"/>
              </a:rPr>
              <a:t> </a:t>
            </a:r>
            <a:endParaRPr lang="pt-BR" dirty="0"/>
          </a:p>
          <a:p>
            <a:pPr>
              <a:spcBef>
                <a:spcPts val="0"/>
              </a:spcBef>
              <a:spcAft>
                <a:spcPts val="1200"/>
              </a:spcAft>
            </a:pPr>
            <a:r>
              <a:rPr lang="pt-BR" i="0" u="none" strike="noStrike" dirty="0">
                <a:effectLst/>
                <a:latin typeface="Poppins"/>
                <a:cs typeface="Poppins"/>
              </a:rPr>
              <a:t>MONTEIRO, M. A. </a:t>
            </a:r>
            <a:r>
              <a:rPr lang="pt-BR" b="1" i="0" u="none" strike="noStrike" dirty="0">
                <a:effectLst/>
                <a:latin typeface="Poppins"/>
                <a:cs typeface="Poppins"/>
              </a:rPr>
              <a:t>Introdução à </a:t>
            </a:r>
            <a:r>
              <a:rPr lang="pt-BR" b="1" dirty="0">
                <a:latin typeface="Poppins"/>
                <a:cs typeface="Poppins"/>
              </a:rPr>
              <a:t>organização </a:t>
            </a:r>
            <a:r>
              <a:rPr lang="pt-BR" b="1" i="0" u="none" strike="noStrike" dirty="0">
                <a:effectLst/>
                <a:latin typeface="Poppins"/>
                <a:cs typeface="Poppins"/>
              </a:rPr>
              <a:t>de </a:t>
            </a:r>
            <a:r>
              <a:rPr lang="pt-BR" b="1" dirty="0">
                <a:latin typeface="Poppins"/>
                <a:cs typeface="Poppins"/>
              </a:rPr>
              <a:t>computadores</a:t>
            </a:r>
            <a:r>
              <a:rPr lang="pt-BR" i="0" u="none" strike="noStrike" dirty="0">
                <a:effectLst/>
                <a:latin typeface="Poppins"/>
                <a:cs typeface="Poppins"/>
              </a:rPr>
              <a:t>. Rio de Janeiro: LTC, </a:t>
            </a:r>
            <a:r>
              <a:rPr lang="pt-BR" dirty="0">
                <a:latin typeface="Poppins"/>
                <a:cs typeface="Poppins"/>
              </a:rPr>
              <a:t>2019</a:t>
            </a:r>
            <a:r>
              <a:rPr lang="pt-BR" i="0" u="none" strike="noStrike" dirty="0">
                <a:effectLst/>
                <a:latin typeface="Poppins"/>
                <a:cs typeface="Poppins"/>
              </a:rPr>
              <a:t>.</a:t>
            </a:r>
            <a:r>
              <a:rPr lang="pt-BR" dirty="0">
                <a:latin typeface="Poppins"/>
                <a:cs typeface="Poppins"/>
              </a:rPr>
              <a:t> </a:t>
            </a:r>
            <a:endParaRPr lang="pt-BR" dirty="0"/>
          </a:p>
          <a:p>
            <a:pPr>
              <a:spcBef>
                <a:spcPts val="0"/>
              </a:spcBef>
              <a:spcAft>
                <a:spcPts val="1200"/>
              </a:spcAft>
            </a:pPr>
            <a:r>
              <a:rPr lang="pt-BR" i="0" u="none" strike="noStrike" dirty="0">
                <a:effectLst/>
                <a:latin typeface="Poppins"/>
                <a:cs typeface="Poppins"/>
              </a:rPr>
              <a:t>STALLINGS, W. </a:t>
            </a:r>
            <a:r>
              <a:rPr lang="pt-BR" b="1" i="0" u="none" strike="noStrike" dirty="0">
                <a:effectLst/>
                <a:latin typeface="Poppins"/>
                <a:cs typeface="Poppins"/>
              </a:rPr>
              <a:t>Arquitetura e </a:t>
            </a:r>
            <a:r>
              <a:rPr lang="pt-BR" b="1" dirty="0">
                <a:latin typeface="Poppins"/>
                <a:cs typeface="Poppins"/>
              </a:rPr>
              <a:t>organização </a:t>
            </a:r>
            <a:r>
              <a:rPr lang="pt-BR" b="1" i="0" u="none" strike="noStrike" dirty="0">
                <a:effectLst/>
                <a:latin typeface="Poppins"/>
                <a:cs typeface="Poppins"/>
              </a:rPr>
              <a:t>de </a:t>
            </a:r>
            <a:r>
              <a:rPr lang="pt-BR" b="1" dirty="0">
                <a:latin typeface="Poppins"/>
                <a:cs typeface="Poppins"/>
              </a:rPr>
              <a:t>computadores</a:t>
            </a:r>
            <a:r>
              <a:rPr lang="pt-BR" i="0" u="none" strike="noStrike" dirty="0">
                <a:effectLst/>
                <a:latin typeface="Poppins"/>
                <a:cs typeface="Poppins"/>
              </a:rPr>
              <a:t>. São Paulo: Pearson</a:t>
            </a:r>
            <a:r>
              <a:rPr lang="pt-BR" dirty="0">
                <a:latin typeface="Poppins"/>
                <a:cs typeface="Poppins"/>
              </a:rPr>
              <a:t> Education do Brasil</a:t>
            </a:r>
            <a:r>
              <a:rPr lang="pt-BR" i="0" u="none" strike="noStrike" dirty="0">
                <a:effectLst/>
                <a:latin typeface="Poppins"/>
                <a:cs typeface="Poppins"/>
              </a:rPr>
              <a:t>, 2017.</a:t>
            </a:r>
            <a:r>
              <a:rPr lang="pt-BR" dirty="0">
                <a:latin typeface="Poppins"/>
                <a:cs typeface="Poppins"/>
              </a:rPr>
              <a:t> </a:t>
            </a:r>
            <a:endParaRPr lang="pt-BR" dirty="0"/>
          </a:p>
          <a:p>
            <a:pPr>
              <a:spcBef>
                <a:spcPts val="0"/>
              </a:spcBef>
              <a:spcAft>
                <a:spcPts val="1200"/>
              </a:spcAft>
            </a:pPr>
            <a:r>
              <a:rPr lang="pt-BR" i="0" u="none" strike="noStrike" dirty="0">
                <a:effectLst/>
                <a:latin typeface="Poppins"/>
                <a:cs typeface="Poppins"/>
              </a:rPr>
              <a:t>TANENBAUM, A. S.; AUSTIN, T. </a:t>
            </a:r>
            <a:r>
              <a:rPr lang="pt-BR" b="1" i="0" u="none" strike="noStrike" dirty="0">
                <a:effectLst/>
                <a:latin typeface="Poppins"/>
                <a:cs typeface="Poppins"/>
              </a:rPr>
              <a:t>Organização estruturada de computadores</a:t>
            </a:r>
            <a:r>
              <a:rPr lang="pt-BR" i="0" u="none" strike="noStrike" dirty="0">
                <a:effectLst/>
                <a:latin typeface="Poppins"/>
                <a:cs typeface="Poppins"/>
              </a:rPr>
              <a:t>. São Paulo: Pearson</a:t>
            </a:r>
            <a:r>
              <a:rPr lang="pt-BR" dirty="0">
                <a:latin typeface="Poppins"/>
                <a:cs typeface="Poppins"/>
              </a:rPr>
              <a:t> Prentice Hall</a:t>
            </a:r>
            <a:r>
              <a:rPr lang="pt-BR" i="0" u="none" strike="noStrike" dirty="0">
                <a:effectLst/>
                <a:latin typeface="Poppins"/>
                <a:cs typeface="Poppins"/>
              </a:rPr>
              <a:t>, 2013.</a:t>
            </a:r>
            <a:r>
              <a:rPr lang="pt-BR" dirty="0">
                <a:latin typeface="Poppins"/>
                <a:cs typeface="Poppins"/>
              </a:rPr>
              <a:t> </a:t>
            </a:r>
            <a:endParaRPr lang="pt-BR" dirty="0"/>
          </a:p>
          <a:p>
            <a:pPr>
              <a:spcBef>
                <a:spcPts val="0"/>
              </a:spcBef>
              <a:spcAft>
                <a:spcPts val="1200"/>
              </a:spcAft>
            </a:pPr>
            <a:r>
              <a:rPr lang="pt-BR" i="0" u="none" strike="noStrike" dirty="0">
                <a:effectLst/>
                <a:latin typeface="Poppins"/>
                <a:cs typeface="Poppins"/>
              </a:rPr>
              <a:t>Identidade visual: imagens ©</a:t>
            </a:r>
            <a:r>
              <a:rPr lang="pt-BR" dirty="0">
                <a:latin typeface="Poppins"/>
                <a:cs typeface="Poppins"/>
              </a:rPr>
              <a:t> </a:t>
            </a:r>
            <a:r>
              <a:rPr lang="pt-BR" i="0" u="none" strike="noStrike" dirty="0">
                <a:effectLst/>
                <a:latin typeface="Poppins"/>
                <a:cs typeface="Poppins"/>
              </a:rPr>
              <a:t>Getty Images</a:t>
            </a:r>
            <a:endParaRPr lang="pt-BR" dirty="0"/>
          </a:p>
          <a:p>
            <a:pPr>
              <a:spcBef>
                <a:spcPts val="0"/>
              </a:spcBef>
            </a:pPr>
            <a:br>
              <a:rPr lang="pt-BR" dirty="0">
                <a:latin typeface="Poppins" panose="00000500000000000000" pitchFamily="2" charset="0"/>
                <a:cs typeface="Poppins" panose="00000500000000000000" pitchFamily="2" charset="0"/>
              </a:rPr>
            </a:br>
            <a:endParaRPr lang="pt-BR" dirty="0">
              <a:latin typeface="Poppins" panose="00000500000000000000" pitchFamily="2" charset="0"/>
              <a:cs typeface="Poppins" panose="00000500000000000000" pitchFamily="2" charset="0"/>
            </a:endParaRPr>
          </a:p>
        </p:txBody>
      </p:sp>
      <p:sp>
        <p:nvSpPr>
          <p:cNvPr id="2" name="CaixaDeTexto 1">
            <a:extLst>
              <a:ext uri="{FF2B5EF4-FFF2-40B4-BE49-F238E27FC236}">
                <a16:creationId xmlns:a16="http://schemas.microsoft.com/office/drawing/2014/main" id="{7262BEEF-0307-48FF-6E67-C6CA173D0375}"/>
              </a:ext>
            </a:extLst>
          </p:cNvPr>
          <p:cNvSpPr txBox="1"/>
          <p:nvPr/>
        </p:nvSpPr>
        <p:spPr>
          <a:xfrm>
            <a:off x="3245708" y="139219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4044125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750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9F7B49-D15F-9FA5-A12F-9AB737C5653A}"/>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1820267-49C3-8508-3D3D-CBB2241A2359}"/>
              </a:ext>
            </a:extLst>
          </p:cNvPr>
          <p:cNvSpPr txBox="1"/>
          <p:nvPr/>
        </p:nvSpPr>
        <p:spPr>
          <a:xfrm>
            <a:off x="941452" y="2501740"/>
            <a:ext cx="10251440" cy="2831544"/>
          </a:xfrm>
          <a:prstGeom prst="rect">
            <a:avLst/>
          </a:prstGeom>
          <a:noFill/>
          <a:ln>
            <a:noFill/>
          </a:ln>
        </p:spPr>
        <p:txBody>
          <a:bodyPr wrap="square" lIns="60960" tIns="30480" rIns="60960" bIns="30480" anchor="t">
            <a:spAutoFit/>
          </a:bodyPr>
          <a:lstStyle/>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 Mantenha um ambiente de respeito, no qual todas as opiniões sejam valorizadas, garantindo que todos se sintam confortáveis para expressar seus pontos de vista. </a:t>
            </a:r>
          </a:p>
          <a:p>
            <a:pPr rtl="0" fontAlgn="base"/>
            <a:endParaRPr lang="pt-BR" sz="1000" b="1" dirty="0">
              <a:latin typeface="Poppins" panose="00000500000000000000" pitchFamily="2" charset="0"/>
              <a:cs typeface="Poppins" panose="00000500000000000000" pitchFamily="2" charset="0"/>
            </a:endParaRPr>
          </a:p>
          <a:p>
            <a:pPr rtl="0" fontAlgn="base"/>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Condução da dinâmica: </a:t>
            </a:r>
            <a:r>
              <a:rPr lang="pt-BR" sz="1000" kern="100" dirty="0">
                <a:latin typeface="Poppins" panose="00000500000000000000" pitchFamily="2" charset="0"/>
                <a:ea typeface="Aptos" panose="020B0004020202020204" pitchFamily="34" charset="0"/>
                <a:cs typeface="Poppins" panose="00000500000000000000" pitchFamily="2" charset="0"/>
              </a:rPr>
              <a:t>faça as perguntas da seção </a:t>
            </a:r>
            <a:r>
              <a:rPr lang="pt-BR" sz="1000" b="1" kern="100" dirty="0">
                <a:latin typeface="Poppins" panose="00000500000000000000" pitchFamily="2" charset="0"/>
                <a:ea typeface="Aptos" panose="020B0004020202020204" pitchFamily="34" charset="0"/>
                <a:cs typeface="Poppins" panose="00000500000000000000" pitchFamily="2" charset="0"/>
              </a:rPr>
              <a:t>Relembre</a:t>
            </a:r>
            <a:r>
              <a:rPr lang="pt-BR" sz="1000" kern="100" dirty="0">
                <a:latin typeface="Poppins" panose="00000500000000000000" pitchFamily="2" charset="0"/>
                <a:ea typeface="Aptos" panose="020B0004020202020204" pitchFamily="34" charset="0"/>
                <a:cs typeface="Poppins" panose="00000500000000000000" pitchFamily="2" charset="0"/>
              </a:rPr>
              <a:t> para os alunos e incentive-os a participar e a relembrar os conceitos apresentados nas aulas anteriores. É importante reforçar bem os conceitos aprendidos, pois os alunos precisarão estar com eles bem fixados para as demais aulas. </a:t>
            </a: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de respostas: </a:t>
            </a:r>
          </a:p>
          <a:p>
            <a:r>
              <a:rPr lang="pt-BR" sz="1000" b="1" kern="100" dirty="0">
                <a:latin typeface="Poppins" panose="00000500000000000000" pitchFamily="2" charset="0"/>
                <a:ea typeface="Aptos" panose="020B0004020202020204" pitchFamily="34" charset="0"/>
                <a:cs typeface="Poppins" panose="00000500000000000000" pitchFamily="2" charset="0"/>
              </a:rPr>
              <a:t>Resposta 1: </a:t>
            </a:r>
            <a:r>
              <a:rPr lang="pt-BR" sz="1000" b="1" dirty="0">
                <a:latin typeface="Poppins" panose="00000500000000000000" pitchFamily="2" charset="0"/>
                <a:cs typeface="Poppins" panose="00000500000000000000" pitchFamily="2" charset="0"/>
              </a:rPr>
              <a:t>Protocolos de rede</a:t>
            </a:r>
            <a:r>
              <a:rPr lang="pt-BR" sz="1000" dirty="0">
                <a:latin typeface="Poppins" panose="00000500000000000000" pitchFamily="2" charset="0"/>
                <a:cs typeface="Poppins" panose="00000500000000000000" pitchFamily="2" charset="0"/>
              </a:rPr>
              <a:t> são regras que permitem que diferentes dispositivos conversem de forma organizada, garantindo comunicação segura e eficiente em qualquer ambiente corporativo.</a:t>
            </a:r>
          </a:p>
          <a:p>
            <a:pPr lvl="1"/>
            <a:r>
              <a:rPr lang="pt-BR" sz="1000" b="1" dirty="0">
                <a:latin typeface="Poppins" panose="00000500000000000000" pitchFamily="2" charset="0"/>
                <a:cs typeface="Poppins" panose="00000500000000000000" pitchFamily="2" charset="0"/>
              </a:rPr>
              <a:t>Resposta 2: TCP</a:t>
            </a:r>
            <a:r>
              <a:rPr lang="pt-BR" sz="1000" dirty="0">
                <a:latin typeface="Poppins" panose="00000500000000000000" pitchFamily="2" charset="0"/>
                <a:cs typeface="Poppins" panose="00000500000000000000" pitchFamily="2" charset="0"/>
              </a:rPr>
              <a:t> prioriza confiabilidade e entrega completa (ex.: envio de arquivos e documentos importantes). </a:t>
            </a:r>
            <a:r>
              <a:rPr lang="pt-BR" sz="1000" b="1" dirty="0">
                <a:latin typeface="Poppins" panose="00000500000000000000" pitchFamily="2" charset="0"/>
                <a:cs typeface="Poppins" panose="00000500000000000000" pitchFamily="2" charset="0"/>
              </a:rPr>
              <a:t>UDP</a:t>
            </a:r>
            <a:r>
              <a:rPr lang="pt-BR" sz="1000" dirty="0">
                <a:latin typeface="Poppins" panose="00000500000000000000" pitchFamily="2" charset="0"/>
                <a:cs typeface="Poppins" panose="00000500000000000000" pitchFamily="2" charset="0"/>
              </a:rPr>
              <a:t> prioriza velocidade e fluidez (ex.: reuniões on-line ou transmissões em tempo real).</a:t>
            </a:r>
          </a:p>
          <a:p>
            <a:r>
              <a:rPr lang="pt-BR" sz="1000" b="1" dirty="0">
                <a:latin typeface="Poppins" panose="00000500000000000000" pitchFamily="2" charset="0"/>
                <a:cs typeface="Poppins" panose="00000500000000000000" pitchFamily="2" charset="0"/>
              </a:rPr>
              <a:t>Resposta 3: </a:t>
            </a:r>
            <a:r>
              <a:rPr lang="pt-BR" sz="1000" dirty="0">
                <a:latin typeface="Poppins" panose="00000500000000000000" pitchFamily="2" charset="0"/>
                <a:cs typeface="Poppins" panose="00000500000000000000" pitchFamily="2" charset="0"/>
              </a:rPr>
              <a:t>O </a:t>
            </a:r>
            <a:r>
              <a:rPr lang="pt-BR" sz="1000" b="1" dirty="0">
                <a:latin typeface="Poppins" panose="00000500000000000000" pitchFamily="2" charset="0"/>
                <a:cs typeface="Poppins" panose="00000500000000000000" pitchFamily="2" charset="0"/>
              </a:rPr>
              <a:t>DNS</a:t>
            </a:r>
            <a:r>
              <a:rPr lang="pt-BR" sz="1000" dirty="0">
                <a:latin typeface="Poppins" panose="00000500000000000000" pitchFamily="2" charset="0"/>
                <a:cs typeface="Poppins" panose="00000500000000000000" pitchFamily="2" charset="0"/>
              </a:rPr>
              <a:t> funciona como um tradutor que transforma nomes fáceis em endereços IP, tornando prático acessar sistemas ou sites corporativos sem precisar memorizar números.</a:t>
            </a:r>
          </a:p>
        </p:txBody>
      </p:sp>
      <p:sp>
        <p:nvSpPr>
          <p:cNvPr id="5" name="Retângulo 4">
            <a:extLst>
              <a:ext uri="{FF2B5EF4-FFF2-40B4-BE49-F238E27FC236}">
                <a16:creationId xmlns:a16="http://schemas.microsoft.com/office/drawing/2014/main" id="{17534613-F639-D997-E3CE-1152098BA6A6}"/>
              </a:ext>
            </a:extLst>
          </p:cNvPr>
          <p:cNvSpPr/>
          <p:nvPr/>
        </p:nvSpPr>
        <p:spPr>
          <a:xfrm>
            <a:off x="0" y="1946151"/>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6" name="CaixaDeTexto 5">
            <a:extLst>
              <a:ext uri="{FF2B5EF4-FFF2-40B4-BE49-F238E27FC236}">
                <a16:creationId xmlns:a16="http://schemas.microsoft.com/office/drawing/2014/main" id="{C17FE0F1-F676-1B37-DC52-E5136751DB67}"/>
              </a:ext>
            </a:extLst>
          </p:cNvPr>
          <p:cNvSpPr txBox="1"/>
          <p:nvPr/>
        </p:nvSpPr>
        <p:spPr>
          <a:xfrm>
            <a:off x="985520" y="1956311"/>
            <a:ext cx="5923280" cy="479327"/>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cxnSp>
        <p:nvCxnSpPr>
          <p:cNvPr id="7" name="Conector Reto 6">
            <a:extLst>
              <a:ext uri="{FF2B5EF4-FFF2-40B4-BE49-F238E27FC236}">
                <a16:creationId xmlns:a16="http://schemas.microsoft.com/office/drawing/2014/main" id="{6EE37402-777A-065E-B8F8-7CD5B24C71A4}"/>
              </a:ext>
            </a:extLst>
          </p:cNvPr>
          <p:cNvCxnSpPr>
            <a:cxnSpLocks/>
          </p:cNvCxnSpPr>
          <p:nvPr/>
        </p:nvCxnSpPr>
        <p:spPr>
          <a:xfrm flipH="1" flipV="1">
            <a:off x="690880" y="2118976"/>
            <a:ext cx="26670" cy="345949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A96113BB-680F-B387-A3F5-1E333B541080}"/>
              </a:ext>
            </a:extLst>
          </p:cNvPr>
          <p:cNvSpPr/>
          <p:nvPr/>
        </p:nvSpPr>
        <p:spPr>
          <a:xfrm>
            <a:off x="518878" y="411832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1" name="Oval 10">
            <a:extLst>
              <a:ext uri="{FF2B5EF4-FFF2-40B4-BE49-F238E27FC236}">
                <a16:creationId xmlns:a16="http://schemas.microsoft.com/office/drawing/2014/main" id="{E7D8788B-5948-60A5-C02F-8320B29FE8AF}"/>
              </a:ext>
            </a:extLst>
          </p:cNvPr>
          <p:cNvSpPr/>
          <p:nvPr/>
        </p:nvSpPr>
        <p:spPr>
          <a:xfrm>
            <a:off x="497840" y="28653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2" name="Oval 11">
            <a:extLst>
              <a:ext uri="{FF2B5EF4-FFF2-40B4-BE49-F238E27FC236}">
                <a16:creationId xmlns:a16="http://schemas.microsoft.com/office/drawing/2014/main" id="{4A42B717-6333-1E39-AE74-6B96412E2F07}"/>
              </a:ext>
            </a:extLst>
          </p:cNvPr>
          <p:cNvSpPr/>
          <p:nvPr/>
        </p:nvSpPr>
        <p:spPr>
          <a:xfrm>
            <a:off x="495426" y="24610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15" name="Imagem 14">
            <a:extLst>
              <a:ext uri="{FF2B5EF4-FFF2-40B4-BE49-F238E27FC236}">
                <a16:creationId xmlns:a16="http://schemas.microsoft.com/office/drawing/2014/main" id="{69ACF21B-0F26-A39C-7F71-9BFAA2F230DB}"/>
              </a:ext>
            </a:extLst>
          </p:cNvPr>
          <p:cNvPicPr>
            <a:picLocks noChangeAspect="1"/>
          </p:cNvPicPr>
          <p:nvPr/>
        </p:nvPicPr>
        <p:blipFill>
          <a:blip r:embed="rId3"/>
          <a:srcRect/>
          <a:stretch/>
        </p:blipFill>
        <p:spPr>
          <a:xfrm>
            <a:off x="613657" y="2554730"/>
            <a:ext cx="154445" cy="193056"/>
          </a:xfrm>
          <a:prstGeom prst="rect">
            <a:avLst/>
          </a:prstGeom>
        </p:spPr>
      </p:pic>
      <p:sp>
        <p:nvSpPr>
          <p:cNvPr id="16" name="Google Shape;2223;p100">
            <a:extLst>
              <a:ext uri="{FF2B5EF4-FFF2-40B4-BE49-F238E27FC236}">
                <a16:creationId xmlns:a16="http://schemas.microsoft.com/office/drawing/2014/main" id="{A6067BDD-DAD2-8512-FA31-A05294B131DB}"/>
              </a:ext>
            </a:extLst>
          </p:cNvPr>
          <p:cNvSpPr>
            <a:spLocks/>
          </p:cNvSpPr>
          <p:nvPr/>
        </p:nvSpPr>
        <p:spPr>
          <a:xfrm>
            <a:off x="566851" y="2943734"/>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8" name="Gráfico 17">
            <a:extLst>
              <a:ext uri="{FF2B5EF4-FFF2-40B4-BE49-F238E27FC236}">
                <a16:creationId xmlns:a16="http://schemas.microsoft.com/office/drawing/2014/main" id="{BA59CD91-5C09-F5E1-9BAD-964D1F777C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2819" y="4172446"/>
            <a:ext cx="208026" cy="266700"/>
          </a:xfrm>
          <a:prstGeom prst="rect">
            <a:avLst/>
          </a:prstGeom>
        </p:spPr>
      </p:pic>
      <p:sp>
        <p:nvSpPr>
          <p:cNvPr id="17" name="Oval 9">
            <a:extLst>
              <a:ext uri="{FF2B5EF4-FFF2-40B4-BE49-F238E27FC236}">
                <a16:creationId xmlns:a16="http://schemas.microsoft.com/office/drawing/2014/main" id="{C477113A-41D7-E8D8-8D80-158BB2BD67F1}"/>
              </a:ext>
            </a:extLst>
          </p:cNvPr>
          <p:cNvSpPr/>
          <p:nvPr/>
        </p:nvSpPr>
        <p:spPr>
          <a:xfrm>
            <a:off x="497840" y="351887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19" name="Gráfico 18">
            <a:extLst>
              <a:ext uri="{FF2B5EF4-FFF2-40B4-BE49-F238E27FC236}">
                <a16:creationId xmlns:a16="http://schemas.microsoft.com/office/drawing/2014/main" id="{762CF377-A5D5-1A9C-3560-F2757FAF58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905" y="3589330"/>
            <a:ext cx="235296" cy="240643"/>
          </a:xfrm>
          <a:prstGeom prst="rect">
            <a:avLst/>
          </a:prstGeom>
        </p:spPr>
      </p:pic>
      <p:sp>
        <p:nvSpPr>
          <p:cNvPr id="2" name="Retângulo 1">
            <a:extLst>
              <a:ext uri="{FF2B5EF4-FFF2-40B4-BE49-F238E27FC236}">
                <a16:creationId xmlns:a16="http://schemas.microsoft.com/office/drawing/2014/main" id="{5851A45A-C0BD-44D1-9855-F9639E843981}"/>
              </a:ext>
            </a:extLst>
          </p:cNvPr>
          <p:cNvSpPr/>
          <p:nvPr/>
        </p:nvSpPr>
        <p:spPr>
          <a:xfrm>
            <a:off x="0" y="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13" name="CaixaDeTexto 12">
            <a:extLst>
              <a:ext uri="{FF2B5EF4-FFF2-40B4-BE49-F238E27FC236}">
                <a16:creationId xmlns:a16="http://schemas.microsoft.com/office/drawing/2014/main" id="{992A5E6F-3751-B669-A86E-51C8289FAB38}"/>
              </a:ext>
            </a:extLst>
          </p:cNvPr>
          <p:cNvSpPr txBox="1"/>
          <p:nvPr/>
        </p:nvSpPr>
        <p:spPr>
          <a:xfrm>
            <a:off x="985520" y="0"/>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5</a:t>
            </a:r>
            <a:endParaRPr lang="pt-BR" sz="3000" b="1" dirty="0">
              <a:solidFill>
                <a:schemeClr val="bg1"/>
              </a:solidFill>
              <a:latin typeface="Poppins" pitchFamily="2" charset="77"/>
              <a:cs typeface="Poppins" pitchFamily="2" charset="77"/>
            </a:endParaRPr>
          </a:p>
        </p:txBody>
      </p:sp>
      <p:cxnSp>
        <p:nvCxnSpPr>
          <p:cNvPr id="14" name="Conector Reto 7">
            <a:extLst>
              <a:ext uri="{FF2B5EF4-FFF2-40B4-BE49-F238E27FC236}">
                <a16:creationId xmlns:a16="http://schemas.microsoft.com/office/drawing/2014/main" id="{6F6F0988-5692-7DA2-3F36-D15B86EFFEF7}"/>
              </a:ext>
            </a:extLst>
          </p:cNvPr>
          <p:cNvCxnSpPr>
            <a:cxnSpLocks/>
          </p:cNvCxnSpPr>
          <p:nvPr/>
        </p:nvCxnSpPr>
        <p:spPr>
          <a:xfrm flipV="1">
            <a:off x="680042" y="276969"/>
            <a:ext cx="0" cy="1539796"/>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6" name="CaixaDeTexto 25">
            <a:extLst>
              <a:ext uri="{FF2B5EF4-FFF2-40B4-BE49-F238E27FC236}">
                <a16:creationId xmlns:a16="http://schemas.microsoft.com/office/drawing/2014/main" id="{D74A130F-C97D-DCAA-47BC-47815F2C54A9}"/>
              </a:ext>
            </a:extLst>
          </p:cNvPr>
          <p:cNvSpPr txBox="1"/>
          <p:nvPr/>
        </p:nvSpPr>
        <p:spPr>
          <a:xfrm>
            <a:off x="1045462" y="570270"/>
            <a:ext cx="10958576" cy="1138773"/>
          </a:xfrm>
          <a:prstGeom prst="rect">
            <a:avLst/>
          </a:prstGeom>
          <a:noFill/>
          <a:ln>
            <a:noFill/>
          </a:ln>
        </p:spPr>
        <p:txBody>
          <a:bodyPr wrap="square" lIns="60960" tIns="30480" rIns="60960" bIns="30480" anchor="t">
            <a:spAutoFit/>
          </a:bodyPr>
          <a:lstStyle/>
          <a:p>
            <a:pPr fontAlgn="base"/>
            <a:r>
              <a:rPr lang="pt-BR" sz="1000" b="1" dirty="0">
                <a:latin typeface="Poppins" panose="00000500000000000000" pitchFamily="2" charset="0"/>
                <a:cs typeface="Poppins" panose="00000500000000000000" pitchFamily="2" charset="0"/>
              </a:rPr>
              <a:t>Tempo previsto: </a:t>
            </a:r>
          </a:p>
          <a:p>
            <a:pPr fontAlgn="base"/>
            <a:r>
              <a:rPr lang="pt-BR" sz="1000" b="1" dirty="0">
                <a:latin typeface="Poppins" panose="00000500000000000000" pitchFamily="2" charset="0"/>
                <a:cs typeface="Poppins" panose="00000500000000000000" pitchFamily="2" charset="0"/>
              </a:rPr>
              <a:t>Relembre: </a:t>
            </a:r>
            <a:r>
              <a:rPr lang="pt-BR" sz="1000" dirty="0">
                <a:latin typeface="Poppins" panose="00000500000000000000" pitchFamily="2" charset="0"/>
                <a:cs typeface="Poppins" panose="00000500000000000000" pitchFamily="2" charset="0"/>
              </a:rPr>
              <a:t>8 minutos</a:t>
            </a:r>
          </a:p>
          <a:p>
            <a:pPr fontAlgn="base"/>
            <a:r>
              <a:rPr lang="pt-BR" sz="1000" b="1" dirty="0">
                <a:latin typeface="Poppins" panose="00000500000000000000" pitchFamily="2" charset="0"/>
                <a:cs typeface="Poppins" panose="00000500000000000000" pitchFamily="2" charset="0"/>
              </a:rPr>
              <a:t>Construindo o conceito:</a:t>
            </a:r>
            <a:r>
              <a:rPr lang="pt-BR" sz="1000" dirty="0">
                <a:latin typeface="Poppins" panose="00000500000000000000" pitchFamily="2" charset="0"/>
                <a:cs typeface="Poppins" panose="00000500000000000000" pitchFamily="2" charset="0"/>
              </a:rPr>
              <a:t> 20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Pause e responda: </a:t>
            </a:r>
            <a:r>
              <a:rPr lang="pt-BR" sz="1000" dirty="0">
                <a:latin typeface="Poppins" panose="00000500000000000000" pitchFamily="2" charset="0"/>
                <a:cs typeface="Poppins" panose="00000500000000000000" pitchFamily="2" charset="0"/>
              </a:rPr>
              <a:t>2 minutos</a:t>
            </a:r>
          </a:p>
          <a:p>
            <a:pPr fontAlgn="base"/>
            <a:r>
              <a:rPr lang="pt-BR" sz="1000" b="1" dirty="0">
                <a:latin typeface="Poppins" panose="00000500000000000000" pitchFamily="2" charset="0"/>
                <a:cs typeface="Poppins" panose="00000500000000000000" pitchFamily="2" charset="0"/>
              </a:rPr>
              <a:t>Ser sempre +: </a:t>
            </a:r>
            <a:r>
              <a:rPr lang="pt-BR" sz="1000" dirty="0">
                <a:latin typeface="Poppins" panose="00000500000000000000" pitchFamily="2" charset="0"/>
                <a:cs typeface="Poppins" panose="00000500000000000000" pitchFamily="2" charset="0"/>
              </a:rPr>
              <a:t>18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O que nós aprendemos hoje?: </a:t>
            </a:r>
            <a:r>
              <a:rPr lang="pt-BR" sz="1000" dirty="0">
                <a:latin typeface="Poppins" panose="00000500000000000000" pitchFamily="2" charset="0"/>
                <a:cs typeface="Poppins" panose="00000500000000000000" pitchFamily="2" charset="0"/>
              </a:rPr>
              <a:t>1 minuto</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Saiba mais: </a:t>
            </a:r>
            <a:r>
              <a:rPr lang="pt-BR" sz="1000" dirty="0">
                <a:latin typeface="Poppins" panose="00000500000000000000" pitchFamily="2" charset="0"/>
                <a:cs typeface="Poppins" panose="00000500000000000000" pitchFamily="2" charset="0"/>
              </a:rPr>
              <a:t>1 minuto</a:t>
            </a:r>
          </a:p>
        </p:txBody>
      </p:sp>
      <p:sp>
        <p:nvSpPr>
          <p:cNvPr id="30" name="Oval 20">
            <a:extLst>
              <a:ext uri="{FF2B5EF4-FFF2-40B4-BE49-F238E27FC236}">
                <a16:creationId xmlns:a16="http://schemas.microsoft.com/office/drawing/2014/main" id="{6C461488-60A0-03D5-8E77-26A62366C5E4}"/>
              </a:ext>
            </a:extLst>
          </p:cNvPr>
          <p:cNvSpPr/>
          <p:nvPr/>
        </p:nvSpPr>
        <p:spPr>
          <a:xfrm>
            <a:off x="481436" y="54041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32" name="Imagem 31">
            <a:extLst>
              <a:ext uri="{FF2B5EF4-FFF2-40B4-BE49-F238E27FC236}">
                <a16:creationId xmlns:a16="http://schemas.microsoft.com/office/drawing/2014/main" id="{F31AFBD2-A458-A1E9-A08E-0B48D5E2A94B}"/>
              </a:ext>
            </a:extLst>
          </p:cNvPr>
          <p:cNvPicPr>
            <a:picLocks noChangeAspect="1"/>
          </p:cNvPicPr>
          <p:nvPr/>
        </p:nvPicPr>
        <p:blipFill>
          <a:blip r:embed="rId3"/>
          <a:srcRect/>
          <a:stretch/>
        </p:blipFill>
        <p:spPr>
          <a:xfrm>
            <a:off x="602819" y="630047"/>
            <a:ext cx="154445" cy="193056"/>
          </a:xfrm>
          <a:prstGeom prst="rect">
            <a:avLst/>
          </a:prstGeom>
        </p:spPr>
      </p:pic>
    </p:spTree>
    <p:extLst>
      <p:ext uri="{BB962C8B-B14F-4D97-AF65-F5344CB8AC3E}">
        <p14:creationId xmlns:p14="http://schemas.microsoft.com/office/powerpoint/2010/main" val="1253335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8300B6-2C2B-B881-0395-7F0BA5254FA8}"/>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B191591A-F905-3B0C-494C-FF9712474F80}"/>
              </a:ext>
            </a:extLst>
          </p:cNvPr>
          <p:cNvSpPr/>
          <p:nvPr/>
        </p:nvSpPr>
        <p:spPr>
          <a:xfrm>
            <a:off x="0" y="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cxnSp>
        <p:nvCxnSpPr>
          <p:cNvPr id="8" name="Conector Reto 7">
            <a:extLst>
              <a:ext uri="{FF2B5EF4-FFF2-40B4-BE49-F238E27FC236}">
                <a16:creationId xmlns:a16="http://schemas.microsoft.com/office/drawing/2014/main" id="{F72DBC9B-405B-762C-4294-E7518FC65FA0}"/>
              </a:ext>
            </a:extLst>
          </p:cNvPr>
          <p:cNvCxnSpPr>
            <a:cxnSpLocks/>
          </p:cNvCxnSpPr>
          <p:nvPr/>
        </p:nvCxnSpPr>
        <p:spPr>
          <a:xfrm flipV="1">
            <a:off x="675640" y="220248"/>
            <a:ext cx="0" cy="3192796"/>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19">
            <a:extLst>
              <a:ext uri="{FF2B5EF4-FFF2-40B4-BE49-F238E27FC236}">
                <a16:creationId xmlns:a16="http://schemas.microsoft.com/office/drawing/2014/main" id="{A00CB8B7-5BC4-3027-08A5-8FE2D6DB00A4}"/>
              </a:ext>
            </a:extLst>
          </p:cNvPr>
          <p:cNvSpPr txBox="1"/>
          <p:nvPr/>
        </p:nvSpPr>
        <p:spPr>
          <a:xfrm>
            <a:off x="970280" y="18652"/>
            <a:ext cx="5923280" cy="474406"/>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7 a 11</a:t>
            </a:r>
            <a:r>
              <a:rPr lang="pt-BR" sz="3200" b="1" dirty="0">
                <a:solidFill>
                  <a:schemeClr val="bg1"/>
                </a:solidFill>
                <a:latin typeface="Poppins" pitchFamily="2" charset="77"/>
                <a:cs typeface="Poppins" pitchFamily="2" charset="77"/>
              </a:rPr>
              <a:t> </a:t>
            </a:r>
          </a:p>
        </p:txBody>
      </p:sp>
      <p:sp>
        <p:nvSpPr>
          <p:cNvPr id="21" name="CaixaDeTexto 20">
            <a:extLst>
              <a:ext uri="{FF2B5EF4-FFF2-40B4-BE49-F238E27FC236}">
                <a16:creationId xmlns:a16="http://schemas.microsoft.com/office/drawing/2014/main" id="{C4311E7A-B303-757D-F9C2-061E2E0C447C}"/>
              </a:ext>
            </a:extLst>
          </p:cNvPr>
          <p:cNvSpPr txBox="1"/>
          <p:nvPr/>
        </p:nvSpPr>
        <p:spPr>
          <a:xfrm>
            <a:off x="919947" y="581500"/>
            <a:ext cx="11018519" cy="2677656"/>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20 minutos.</a:t>
            </a:r>
          </a:p>
          <a:p>
            <a:pPr defTabSz="609630">
              <a:buClrTx/>
              <a:defRPr/>
            </a:pPr>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 </a:t>
            </a:r>
            <a:r>
              <a:rPr lang="pt-BR" sz="1000" dirty="0">
                <a:latin typeface="Poppins" panose="00000500000000000000" pitchFamily="2" charset="0"/>
                <a:cs typeface="Poppins" panose="00000500000000000000" pitchFamily="2" charset="0"/>
              </a:rPr>
              <a:t>inicie a seção </a:t>
            </a:r>
            <a:r>
              <a:rPr lang="pt-BR" sz="1000" b="1" dirty="0">
                <a:latin typeface="Poppins" panose="00000500000000000000" pitchFamily="2" charset="0"/>
                <a:cs typeface="Poppins" panose="00000500000000000000" pitchFamily="2" charset="0"/>
              </a:rPr>
              <a:t>Construindo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conceito</a:t>
            </a:r>
            <a:r>
              <a:rPr lang="pt-BR" sz="1000" dirty="0">
                <a:latin typeface="Poppins" panose="00000500000000000000" pitchFamily="2" charset="0"/>
                <a:cs typeface="Poppins" panose="00000500000000000000" pitchFamily="2" charset="0"/>
              </a:rPr>
              <a:t> criando um ambiente relaxado e convidativo para um diálogo aberto. Encoraje a participação de todos os estudantes, garantindo que cada voz possa ser ouvida. Caso surjam respostas longas ou debates paralelos, delicadamente redirecione a conversa para o tópico original.</a:t>
            </a:r>
          </a:p>
          <a:p>
            <a:pPr defTabSz="609630">
              <a:buClrTx/>
              <a:defRPr/>
            </a:pPr>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Aprofundamento: </a:t>
            </a:r>
            <a:r>
              <a:rPr lang="pt-BR" sz="1000" dirty="0">
                <a:latin typeface="Poppins" panose="00000500000000000000" pitchFamily="2" charset="0"/>
                <a:cs typeface="Poppins" panose="00000500000000000000" pitchFamily="2" charset="0"/>
              </a:rPr>
              <a:t>o objetivo desta aula é mostrar que, antes de resolver um problema de rede, é preciso </a:t>
            </a:r>
            <a:r>
              <a:rPr lang="pt-BR" sz="1000" b="1" dirty="0">
                <a:latin typeface="Poppins" panose="00000500000000000000" pitchFamily="2" charset="0"/>
                <a:cs typeface="Poppins" panose="00000500000000000000" pitchFamily="2" charset="0"/>
              </a:rPr>
              <a:t>diagnosticar onde está a falha</a:t>
            </a:r>
            <a:r>
              <a:rPr lang="pt-BR" sz="1000" dirty="0">
                <a:latin typeface="Poppins" panose="00000500000000000000" pitchFamily="2" charset="0"/>
                <a:cs typeface="Poppins" panose="00000500000000000000" pitchFamily="2" charset="0"/>
              </a:rPr>
              <a:t>. A intenção pedagógica é fazer o aluno perceber que existem ferramentas simples, acessíveis e já disponíveis em qualquer sistema operacional, que permitem identificar se o problema está no próprio dispositivo, no roteador ou na internet.</a:t>
            </a:r>
          </a:p>
          <a:p>
            <a:r>
              <a:rPr lang="pt-BR" sz="1000" dirty="0">
                <a:latin typeface="Poppins" panose="00000500000000000000" pitchFamily="2" charset="0"/>
                <a:cs typeface="Poppins" panose="00000500000000000000" pitchFamily="2" charset="0"/>
              </a:rPr>
              <a:t>O </a:t>
            </a:r>
            <a:r>
              <a:rPr lang="pt-BR" sz="1000" b="1" dirty="0">
                <a:latin typeface="Poppins" panose="00000500000000000000" pitchFamily="2" charset="0"/>
                <a:cs typeface="Poppins" panose="00000500000000000000" pitchFamily="2" charset="0"/>
              </a:rPr>
              <a:t>ping</a:t>
            </a:r>
            <a:r>
              <a:rPr lang="pt-BR" sz="1000" dirty="0">
                <a:latin typeface="Poppins" panose="00000500000000000000" pitchFamily="2" charset="0"/>
                <a:cs typeface="Poppins" panose="00000500000000000000" pitchFamily="2" charset="0"/>
              </a:rPr>
              <a:t> é apresentado como o primeiro teste: envia uma pequena mensagem e aguarda resposta, permitindo verificar se outro dispositivo está ativo. O </a:t>
            </a:r>
            <a:r>
              <a:rPr lang="pt-BR" sz="1000" b="1" dirty="0">
                <a:latin typeface="Poppins" panose="00000500000000000000" pitchFamily="2" charset="0"/>
                <a:cs typeface="Poppins" panose="00000500000000000000" pitchFamily="2" charset="0"/>
              </a:rPr>
              <a:t>tracert (ou traceroute)</a:t>
            </a:r>
            <a:r>
              <a:rPr lang="pt-BR" sz="1000" dirty="0">
                <a:latin typeface="Poppins" panose="00000500000000000000" pitchFamily="2" charset="0"/>
                <a:cs typeface="Poppins" panose="00000500000000000000" pitchFamily="2" charset="0"/>
              </a:rPr>
              <a:t> aprofunda essa análise, revelando o caminho que os pacotes percorrem até o destino e ajudando a identificar onde pode estar a lentidão ou a perda de conexão. A verificação do </a:t>
            </a:r>
            <a:r>
              <a:rPr lang="pt-BR" sz="1000" b="1" dirty="0">
                <a:latin typeface="Poppins" panose="00000500000000000000" pitchFamily="2" charset="0"/>
                <a:cs typeface="Poppins" panose="00000500000000000000" pitchFamily="2" charset="0"/>
              </a:rPr>
              <a:t>endereço IP</a:t>
            </a:r>
            <a:r>
              <a:rPr lang="pt-BR" sz="1000" dirty="0">
                <a:latin typeface="Poppins" panose="00000500000000000000" pitchFamily="2" charset="0"/>
                <a:cs typeface="Poppins" panose="00000500000000000000" pitchFamily="2" charset="0"/>
              </a:rPr>
              <a:t> mostra se o computador recebeu um número válido na rede, reforçando a importância do endereçamento para a comunicação. Os </a:t>
            </a:r>
            <a:r>
              <a:rPr lang="pt-BR" sz="1000" b="1" dirty="0">
                <a:latin typeface="Poppins" panose="00000500000000000000" pitchFamily="2" charset="0"/>
                <a:cs typeface="Poppins" panose="00000500000000000000" pitchFamily="2" charset="0"/>
              </a:rPr>
              <a:t>ícones de status da rede</a:t>
            </a:r>
            <a:r>
              <a:rPr lang="pt-BR" sz="1000" dirty="0">
                <a:latin typeface="Poppins" panose="00000500000000000000" pitchFamily="2" charset="0"/>
                <a:cs typeface="Poppins" panose="00000500000000000000" pitchFamily="2" charset="0"/>
              </a:rPr>
              <a:t> aproximam ainda mais o conteúdo da realidade do aluno, pois são sinais visuais que ele já encontra no dia a dia, mas que agora aprende a interpretar de forma técnica.</a:t>
            </a:r>
          </a:p>
          <a:p>
            <a:r>
              <a:rPr lang="pt-BR" sz="1000" dirty="0">
                <a:latin typeface="Poppins" panose="00000500000000000000" pitchFamily="2" charset="0"/>
                <a:cs typeface="Poppins" panose="00000500000000000000" pitchFamily="2" charset="0"/>
              </a:rPr>
              <a:t>Com isso, os estudantes compreendem que </a:t>
            </a:r>
            <a:r>
              <a:rPr lang="pt-BR" sz="1000" b="1" dirty="0">
                <a:latin typeface="Poppins" panose="00000500000000000000" pitchFamily="2" charset="0"/>
                <a:cs typeface="Poppins" panose="00000500000000000000" pitchFamily="2" charset="0"/>
              </a:rPr>
              <a:t>diagnosticar redes é mais do que “tentar reconectar”</a:t>
            </a:r>
            <a:r>
              <a:rPr lang="pt-BR" sz="1000" dirty="0">
                <a:latin typeface="Poppins" panose="00000500000000000000" pitchFamily="2" charset="0"/>
                <a:cs typeface="Poppins" panose="00000500000000000000" pitchFamily="2" charset="0"/>
              </a:rPr>
              <a:t>: é seguir um raciocínio lógico, utilizando ferramentas básicas para localizar e entender os problemas. A aula fortalece o pensamento crítico e prepara para situações práticas que encontrarão tanto em casa quanto em ambientes profissionais.</a:t>
            </a:r>
          </a:p>
        </p:txBody>
      </p:sp>
      <p:sp>
        <p:nvSpPr>
          <p:cNvPr id="22" name="CaixaDeTexto 21">
            <a:extLst>
              <a:ext uri="{FF2B5EF4-FFF2-40B4-BE49-F238E27FC236}">
                <a16:creationId xmlns:a16="http://schemas.microsoft.com/office/drawing/2014/main" id="{90062318-694D-EE77-829D-50582A68E01E}"/>
              </a:ext>
            </a:extLst>
          </p:cNvPr>
          <p:cNvSpPr txBox="1"/>
          <p:nvPr/>
        </p:nvSpPr>
        <p:spPr>
          <a:xfrm>
            <a:off x="20320" y="112448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3" name="Oval 15">
            <a:extLst>
              <a:ext uri="{FF2B5EF4-FFF2-40B4-BE49-F238E27FC236}">
                <a16:creationId xmlns:a16="http://schemas.microsoft.com/office/drawing/2014/main" id="{C3F0DE6B-4A8D-94A6-38B7-06C086CFC61C}"/>
              </a:ext>
            </a:extLst>
          </p:cNvPr>
          <p:cNvSpPr/>
          <p:nvPr/>
        </p:nvSpPr>
        <p:spPr>
          <a:xfrm>
            <a:off x="488938" y="52725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25" name="Oval 16">
            <a:extLst>
              <a:ext uri="{FF2B5EF4-FFF2-40B4-BE49-F238E27FC236}">
                <a16:creationId xmlns:a16="http://schemas.microsoft.com/office/drawing/2014/main" id="{8A9C5B96-EFA5-A3EA-B66F-1289CCA0B404}"/>
              </a:ext>
            </a:extLst>
          </p:cNvPr>
          <p:cNvSpPr/>
          <p:nvPr/>
        </p:nvSpPr>
        <p:spPr>
          <a:xfrm>
            <a:off x="492761" y="94391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28" name="Imagem 27">
            <a:extLst>
              <a:ext uri="{FF2B5EF4-FFF2-40B4-BE49-F238E27FC236}">
                <a16:creationId xmlns:a16="http://schemas.microsoft.com/office/drawing/2014/main" id="{2DB25EEC-CDB9-E814-6546-73D7F72AA38E}"/>
              </a:ext>
            </a:extLst>
          </p:cNvPr>
          <p:cNvPicPr>
            <a:picLocks noChangeAspect="1"/>
          </p:cNvPicPr>
          <p:nvPr/>
        </p:nvPicPr>
        <p:blipFill>
          <a:blip r:embed="rId3"/>
          <a:srcRect/>
          <a:stretch/>
        </p:blipFill>
        <p:spPr>
          <a:xfrm>
            <a:off x="604755" y="615356"/>
            <a:ext cx="154445" cy="193056"/>
          </a:xfrm>
          <a:prstGeom prst="rect">
            <a:avLst/>
          </a:prstGeom>
        </p:spPr>
      </p:pic>
      <p:sp>
        <p:nvSpPr>
          <p:cNvPr id="31" name="Google Shape;2223;p100">
            <a:extLst>
              <a:ext uri="{FF2B5EF4-FFF2-40B4-BE49-F238E27FC236}">
                <a16:creationId xmlns:a16="http://schemas.microsoft.com/office/drawing/2014/main" id="{86C5BBD8-A917-215B-01A7-9013D13DE667}"/>
              </a:ext>
            </a:extLst>
          </p:cNvPr>
          <p:cNvSpPr>
            <a:spLocks/>
          </p:cNvSpPr>
          <p:nvPr/>
        </p:nvSpPr>
        <p:spPr>
          <a:xfrm>
            <a:off x="558385" y="1027649"/>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 name="Retângulo 1">
            <a:extLst>
              <a:ext uri="{FF2B5EF4-FFF2-40B4-BE49-F238E27FC236}">
                <a16:creationId xmlns:a16="http://schemas.microsoft.com/office/drawing/2014/main" id="{43934530-2E7E-C865-398D-FE814151796D}"/>
              </a:ext>
            </a:extLst>
          </p:cNvPr>
          <p:cNvSpPr/>
          <p:nvPr/>
        </p:nvSpPr>
        <p:spPr>
          <a:xfrm>
            <a:off x="0" y="39767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13" name="CaixaDeTexto 12">
            <a:extLst>
              <a:ext uri="{FF2B5EF4-FFF2-40B4-BE49-F238E27FC236}">
                <a16:creationId xmlns:a16="http://schemas.microsoft.com/office/drawing/2014/main" id="{9A557CC3-196F-3CA3-BD68-30143A8CA442}"/>
              </a:ext>
            </a:extLst>
          </p:cNvPr>
          <p:cNvSpPr txBox="1"/>
          <p:nvPr/>
        </p:nvSpPr>
        <p:spPr>
          <a:xfrm>
            <a:off x="951468" y="4616538"/>
            <a:ext cx="11005551" cy="1769715"/>
          </a:xfrm>
          <a:prstGeom prst="rect">
            <a:avLst/>
          </a:prstGeom>
          <a:noFill/>
          <a:ln>
            <a:noFill/>
          </a:ln>
        </p:spPr>
        <p:txBody>
          <a:bodyPr wrap="square" lIns="60960" tIns="30480" rIns="60960" bIns="30480" anchor="t">
            <a:spAutoFit/>
          </a:bodyPr>
          <a:lstStyle/>
          <a:p>
            <a:r>
              <a:rPr lang="pt-BR" sz="1000" b="1" dirty="0">
                <a:latin typeface="Poppins" panose="00000500000000000000" pitchFamily="2" charset="0"/>
                <a:cs typeface="Poppins" panose="00000500000000000000" pitchFamily="2" charset="0"/>
              </a:rPr>
              <a:t>Orientações: </a:t>
            </a:r>
            <a:r>
              <a:rPr lang="pt-BR" sz="1000" dirty="0">
                <a:latin typeface="Poppins" panose="00000500000000000000" pitchFamily="2" charset="0"/>
                <a:cs typeface="Poppins" panose="00000500000000000000" pitchFamily="2" charset="0"/>
              </a:rPr>
              <a:t>responder ao quiz. Há apenas uma alternativa correta.</a:t>
            </a:r>
          </a:p>
          <a:p>
            <a:pPr>
              <a:buClrTx/>
              <a:defRPr/>
            </a:pPr>
            <a:endParaRPr lang="pt-BR" sz="1000" b="1" dirty="0">
              <a:latin typeface="Poppins" panose="00000500000000000000" pitchFamily="2" charset="0"/>
              <a:cs typeface="Poppins" panose="00000500000000000000" pitchFamily="2" charset="0"/>
            </a:endParaRP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2 minutos.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r>
              <a:rPr lang="pt-BR" sz="1000" b="1" dirty="0">
                <a:solidFill>
                  <a:schemeClr val="tx1"/>
                </a:solidFill>
                <a:latin typeface="Poppins" panose="00000500000000000000" pitchFamily="2" charset="0"/>
                <a:cs typeface="Poppins" panose="00000500000000000000" pitchFamily="2" charset="0"/>
              </a:rPr>
              <a:t>Pergunta: </a:t>
            </a:r>
            <a:r>
              <a:rPr lang="pt-BR" sz="1000" dirty="0">
                <a:solidFill>
                  <a:schemeClr val="tx1"/>
                </a:solidFill>
                <a:latin typeface="Poppins" panose="00000500000000000000" pitchFamily="2" charset="0"/>
                <a:cs typeface="Poppins" panose="00000500000000000000" pitchFamily="2" charset="0"/>
              </a:rPr>
              <a:t>Você não consegue acessar um site no computador. Qual comando deve usar primeiro para verificar se há conexão básica com a internet?</a:t>
            </a:r>
          </a:p>
          <a:p>
            <a:pPr defTabSz="609630">
              <a:buClrTx/>
              <a:defRPr/>
            </a:pPr>
            <a:r>
              <a:rPr lang="pt-BR" sz="1000" b="1" dirty="0">
                <a:solidFill>
                  <a:schemeClr val="tx1"/>
                </a:solidFill>
                <a:latin typeface="Poppins" panose="00000500000000000000" pitchFamily="2" charset="0"/>
                <a:cs typeface="Poppins" panose="00000500000000000000" pitchFamily="2" charset="0"/>
              </a:rPr>
              <a:t>Resposta correta: </a:t>
            </a:r>
            <a:r>
              <a:rPr lang="pt-BR" sz="1000" dirty="0">
                <a:solidFill>
                  <a:schemeClr val="tx1"/>
                </a:solidFill>
                <a:latin typeface="Poppins" panose="00000500000000000000" pitchFamily="2" charset="0"/>
                <a:cs typeface="Poppins" panose="00000500000000000000" pitchFamily="2" charset="0"/>
              </a:rPr>
              <a:t>ping</a:t>
            </a:r>
          </a:p>
          <a:p>
            <a:pPr defTabSz="609630">
              <a:buClrTx/>
              <a:defRPr/>
            </a:pPr>
            <a:r>
              <a:rPr lang="pt-BR" sz="1000" b="1" dirty="0">
                <a:solidFill>
                  <a:schemeClr val="tx1"/>
                </a:solidFill>
                <a:latin typeface="Poppins" panose="00000500000000000000" pitchFamily="2" charset="0"/>
                <a:cs typeface="Poppins" panose="00000500000000000000" pitchFamily="2" charset="0"/>
              </a:rPr>
              <a:t>Feedback: </a:t>
            </a:r>
            <a:r>
              <a:rPr lang="pt-BR" sz="1000" dirty="0">
                <a:latin typeface="Poppins" panose="00000500000000000000" pitchFamily="2" charset="0"/>
                <a:cs typeface="Poppins" panose="00000500000000000000" pitchFamily="2" charset="0"/>
              </a:rPr>
              <a:t>o comando </a:t>
            </a:r>
            <a:r>
              <a:rPr lang="pt-BR" sz="1000" b="1" dirty="0">
                <a:latin typeface="Poppins" panose="00000500000000000000" pitchFamily="2" charset="0"/>
                <a:cs typeface="Poppins" panose="00000500000000000000" pitchFamily="2" charset="0"/>
              </a:rPr>
              <a:t>ping</a:t>
            </a:r>
            <a:r>
              <a:rPr lang="pt-BR" sz="1000" dirty="0">
                <a:latin typeface="Poppins" panose="00000500000000000000" pitchFamily="2" charset="0"/>
                <a:cs typeface="Poppins" panose="00000500000000000000" pitchFamily="2" charset="0"/>
              </a:rPr>
              <a:t> é o primeiro teste para verificar se existe conexão. O </a:t>
            </a:r>
            <a:r>
              <a:rPr lang="pt-BR" sz="1000" b="1" dirty="0">
                <a:latin typeface="Poppins" panose="00000500000000000000" pitchFamily="2" charset="0"/>
                <a:cs typeface="Poppins" panose="00000500000000000000" pitchFamily="2" charset="0"/>
              </a:rPr>
              <a:t>ipconfig</a:t>
            </a:r>
            <a:r>
              <a:rPr lang="pt-BR" sz="1000" dirty="0">
                <a:latin typeface="Poppins" panose="00000500000000000000" pitchFamily="2" charset="0"/>
                <a:cs typeface="Poppins" panose="00000500000000000000" pitchFamily="2" charset="0"/>
              </a:rPr>
              <a:t> mostra o IP do dispositivo, o </a:t>
            </a:r>
            <a:r>
              <a:rPr lang="pt-BR" sz="1000" b="1" dirty="0">
                <a:latin typeface="Poppins" panose="00000500000000000000" pitchFamily="2" charset="0"/>
                <a:cs typeface="Poppins" panose="00000500000000000000" pitchFamily="2" charset="0"/>
              </a:rPr>
              <a:t>tracert</a:t>
            </a:r>
            <a:r>
              <a:rPr lang="pt-BR" sz="1000" dirty="0">
                <a:latin typeface="Poppins" panose="00000500000000000000" pitchFamily="2" charset="0"/>
                <a:cs typeface="Poppins" panose="00000500000000000000" pitchFamily="2" charset="0"/>
              </a:rPr>
              <a:t> revela o caminho dos pacotes e o </a:t>
            </a:r>
            <a:r>
              <a:rPr lang="pt-BR" sz="1000" b="1" dirty="0">
                <a:latin typeface="Poppins" panose="00000500000000000000" pitchFamily="2" charset="0"/>
                <a:cs typeface="Poppins" panose="00000500000000000000" pitchFamily="2" charset="0"/>
              </a:rPr>
              <a:t>status</a:t>
            </a:r>
            <a:r>
              <a:rPr lang="pt-BR" sz="1000" dirty="0">
                <a:latin typeface="Poppins" panose="00000500000000000000" pitchFamily="2" charset="0"/>
                <a:cs typeface="Poppins" panose="00000500000000000000" pitchFamily="2" charset="0"/>
              </a:rPr>
              <a:t> indica apenas sinais visuais da rede.</a:t>
            </a:r>
          </a:p>
          <a:p>
            <a:pPr defTabSz="609630">
              <a:buClrTx/>
              <a:defRPr/>
            </a:pPr>
            <a:endParaRPr lang="pt-BR" sz="1100" dirty="0">
              <a:latin typeface="Poppins" panose="00000500000000000000" pitchFamily="2" charset="0"/>
              <a:cs typeface="Poppins" panose="00000500000000000000" pitchFamily="2" charset="0"/>
            </a:endParaRPr>
          </a:p>
        </p:txBody>
      </p:sp>
      <p:sp>
        <p:nvSpPr>
          <p:cNvPr id="14" name="CaixaDeTexto 13">
            <a:extLst>
              <a:ext uri="{FF2B5EF4-FFF2-40B4-BE49-F238E27FC236}">
                <a16:creationId xmlns:a16="http://schemas.microsoft.com/office/drawing/2014/main" id="{70DE0D25-819A-C5F1-90A6-B344161AABAC}"/>
              </a:ext>
            </a:extLst>
          </p:cNvPr>
          <p:cNvSpPr txBox="1"/>
          <p:nvPr/>
        </p:nvSpPr>
        <p:spPr>
          <a:xfrm>
            <a:off x="970280" y="3979041"/>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12 e 13</a:t>
            </a:r>
          </a:p>
        </p:txBody>
      </p:sp>
      <p:cxnSp>
        <p:nvCxnSpPr>
          <p:cNvPr id="26" name="Conector Reto 18">
            <a:extLst>
              <a:ext uri="{FF2B5EF4-FFF2-40B4-BE49-F238E27FC236}">
                <a16:creationId xmlns:a16="http://schemas.microsoft.com/office/drawing/2014/main" id="{321397BF-C1D3-8A87-6420-0AA723F8B753}"/>
              </a:ext>
            </a:extLst>
          </p:cNvPr>
          <p:cNvCxnSpPr>
            <a:cxnSpLocks/>
          </p:cNvCxnSpPr>
          <p:nvPr/>
        </p:nvCxnSpPr>
        <p:spPr>
          <a:xfrm flipV="1">
            <a:off x="675640" y="4225538"/>
            <a:ext cx="0" cy="2015417"/>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7" name="Oval 19">
            <a:extLst>
              <a:ext uri="{FF2B5EF4-FFF2-40B4-BE49-F238E27FC236}">
                <a16:creationId xmlns:a16="http://schemas.microsoft.com/office/drawing/2014/main" id="{81ABC28A-BD41-CA89-1019-E13DA306EFD2}"/>
              </a:ext>
            </a:extLst>
          </p:cNvPr>
          <p:cNvSpPr/>
          <p:nvPr/>
        </p:nvSpPr>
        <p:spPr>
          <a:xfrm>
            <a:off x="492761" y="451944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30" name="Oval 20">
            <a:extLst>
              <a:ext uri="{FF2B5EF4-FFF2-40B4-BE49-F238E27FC236}">
                <a16:creationId xmlns:a16="http://schemas.microsoft.com/office/drawing/2014/main" id="{F8854306-BAF0-40DF-F01C-A5A2BA8456B3}"/>
              </a:ext>
            </a:extLst>
          </p:cNvPr>
          <p:cNvSpPr/>
          <p:nvPr/>
        </p:nvSpPr>
        <p:spPr>
          <a:xfrm>
            <a:off x="499132" y="496449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33" name="Google Shape;2216;p100">
            <a:extLst>
              <a:ext uri="{FF2B5EF4-FFF2-40B4-BE49-F238E27FC236}">
                <a16:creationId xmlns:a16="http://schemas.microsoft.com/office/drawing/2014/main" id="{2514BFA2-4B68-4753-5842-64DF59522982}"/>
              </a:ext>
            </a:extLst>
          </p:cNvPr>
          <p:cNvSpPr/>
          <p:nvPr/>
        </p:nvSpPr>
        <p:spPr>
          <a:xfrm>
            <a:off x="569897" y="4616538"/>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35" name="Imagem 34">
            <a:extLst>
              <a:ext uri="{FF2B5EF4-FFF2-40B4-BE49-F238E27FC236}">
                <a16:creationId xmlns:a16="http://schemas.microsoft.com/office/drawing/2014/main" id="{B88B6775-AE3C-2B41-3797-A177B6BC88C8}"/>
              </a:ext>
            </a:extLst>
          </p:cNvPr>
          <p:cNvPicPr>
            <a:picLocks noChangeAspect="1"/>
          </p:cNvPicPr>
          <p:nvPr/>
        </p:nvPicPr>
        <p:blipFill>
          <a:blip r:embed="rId3"/>
          <a:srcRect/>
          <a:stretch/>
        </p:blipFill>
        <p:spPr>
          <a:xfrm>
            <a:off x="620515" y="5054127"/>
            <a:ext cx="154445" cy="193056"/>
          </a:xfrm>
          <a:prstGeom prst="rect">
            <a:avLst/>
          </a:prstGeom>
        </p:spPr>
      </p:pic>
      <p:sp>
        <p:nvSpPr>
          <p:cNvPr id="5" name="Oval 16">
            <a:extLst>
              <a:ext uri="{FF2B5EF4-FFF2-40B4-BE49-F238E27FC236}">
                <a16:creationId xmlns:a16="http://schemas.microsoft.com/office/drawing/2014/main" id="{66F17669-1ADF-84BB-F2D7-AF5372B3A513}"/>
              </a:ext>
            </a:extLst>
          </p:cNvPr>
          <p:cNvSpPr/>
          <p:nvPr/>
        </p:nvSpPr>
        <p:spPr>
          <a:xfrm>
            <a:off x="482600" y="150323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6" name="Google Shape;2237;p100">
            <a:extLst>
              <a:ext uri="{FF2B5EF4-FFF2-40B4-BE49-F238E27FC236}">
                <a16:creationId xmlns:a16="http://schemas.microsoft.com/office/drawing/2014/main" id="{7CA957F1-332E-8C49-D9BA-980A1F3436D0}"/>
              </a:ext>
            </a:extLst>
          </p:cNvPr>
          <p:cNvSpPr/>
          <p:nvPr/>
        </p:nvSpPr>
        <p:spPr>
          <a:xfrm>
            <a:off x="507285" y="1547718"/>
            <a:ext cx="281565" cy="305087"/>
          </a:xfrm>
          <a:custGeom>
            <a:avLst/>
            <a:gdLst/>
            <a:ahLst/>
            <a:cxnLst/>
            <a:rect l="l" t="t" r="r" b="b"/>
            <a:pathLst>
              <a:path w="457200" h="495395" extrusionOk="0">
                <a:moveTo>
                  <a:pt x="266700" y="95"/>
                </a:moveTo>
                <a:cubicBezTo>
                  <a:pt x="162973" y="95"/>
                  <a:pt x="78391" y="83439"/>
                  <a:pt x="76200" y="186690"/>
                </a:cubicBezTo>
                <a:cubicBezTo>
                  <a:pt x="65532" y="197453"/>
                  <a:pt x="25241" y="238220"/>
                  <a:pt x="8573" y="254984"/>
                </a:cubicBezTo>
                <a:cubicBezTo>
                  <a:pt x="95" y="263557"/>
                  <a:pt x="-2286" y="275749"/>
                  <a:pt x="2286" y="286893"/>
                </a:cubicBezTo>
                <a:cubicBezTo>
                  <a:pt x="6858" y="297942"/>
                  <a:pt x="17145" y="304895"/>
                  <a:pt x="29147" y="304895"/>
                </a:cubicBezTo>
                <a:lnTo>
                  <a:pt x="57055" y="304895"/>
                </a:lnTo>
                <a:lnTo>
                  <a:pt x="57055" y="390620"/>
                </a:lnTo>
                <a:cubicBezTo>
                  <a:pt x="57055" y="416909"/>
                  <a:pt x="78391" y="438245"/>
                  <a:pt x="104680" y="438245"/>
                </a:cubicBezTo>
                <a:lnTo>
                  <a:pt x="171355" y="438245"/>
                </a:lnTo>
                <a:lnTo>
                  <a:pt x="171355" y="485870"/>
                </a:lnTo>
                <a:cubicBezTo>
                  <a:pt x="171355" y="491109"/>
                  <a:pt x="175641" y="495395"/>
                  <a:pt x="180880" y="495395"/>
                </a:cubicBezTo>
                <a:cubicBezTo>
                  <a:pt x="186119" y="495395"/>
                  <a:pt x="190405" y="491109"/>
                  <a:pt x="190405" y="485870"/>
                </a:cubicBezTo>
                <a:lnTo>
                  <a:pt x="190405" y="428720"/>
                </a:lnTo>
                <a:cubicBezTo>
                  <a:pt x="190405" y="423481"/>
                  <a:pt x="186119" y="419195"/>
                  <a:pt x="180880" y="419195"/>
                </a:cubicBezTo>
                <a:lnTo>
                  <a:pt x="104680" y="419195"/>
                </a:lnTo>
                <a:cubicBezTo>
                  <a:pt x="88964" y="419195"/>
                  <a:pt x="76105" y="406336"/>
                  <a:pt x="76105" y="390620"/>
                </a:cubicBezTo>
                <a:lnTo>
                  <a:pt x="76105" y="295370"/>
                </a:lnTo>
                <a:cubicBezTo>
                  <a:pt x="76105" y="290131"/>
                  <a:pt x="71819" y="285845"/>
                  <a:pt x="66580" y="285845"/>
                </a:cubicBezTo>
                <a:lnTo>
                  <a:pt x="29147" y="285845"/>
                </a:lnTo>
                <a:cubicBezTo>
                  <a:pt x="22955" y="285845"/>
                  <a:pt x="20479" y="281083"/>
                  <a:pt x="19907" y="279559"/>
                </a:cubicBezTo>
                <a:cubicBezTo>
                  <a:pt x="19336" y="278035"/>
                  <a:pt x="17621" y="272891"/>
                  <a:pt x="22098" y="268319"/>
                </a:cubicBezTo>
                <a:cubicBezTo>
                  <a:pt x="70866" y="219103"/>
                  <a:pt x="95250" y="193167"/>
                  <a:pt x="95250" y="190500"/>
                </a:cubicBezTo>
                <a:cubicBezTo>
                  <a:pt x="95250" y="96012"/>
                  <a:pt x="172117" y="19050"/>
                  <a:pt x="266700" y="19050"/>
                </a:cubicBezTo>
                <a:cubicBezTo>
                  <a:pt x="361283" y="19050"/>
                  <a:pt x="438150" y="96012"/>
                  <a:pt x="438150" y="190500"/>
                </a:cubicBezTo>
                <a:cubicBezTo>
                  <a:pt x="438150" y="233267"/>
                  <a:pt x="422243" y="274225"/>
                  <a:pt x="393287" y="305848"/>
                </a:cubicBezTo>
                <a:cubicBezTo>
                  <a:pt x="385382" y="314515"/>
                  <a:pt x="381000" y="325850"/>
                  <a:pt x="381000" y="337661"/>
                </a:cubicBezTo>
                <a:lnTo>
                  <a:pt x="381000" y="485680"/>
                </a:lnTo>
                <a:cubicBezTo>
                  <a:pt x="381000" y="490918"/>
                  <a:pt x="385286" y="495205"/>
                  <a:pt x="390525" y="495205"/>
                </a:cubicBezTo>
                <a:cubicBezTo>
                  <a:pt x="395764" y="495205"/>
                  <a:pt x="400050" y="490918"/>
                  <a:pt x="400050" y="485680"/>
                </a:cubicBezTo>
                <a:lnTo>
                  <a:pt x="400050" y="337661"/>
                </a:lnTo>
                <a:cubicBezTo>
                  <a:pt x="400050" y="330613"/>
                  <a:pt x="402622" y="323850"/>
                  <a:pt x="407384" y="318706"/>
                </a:cubicBezTo>
                <a:cubicBezTo>
                  <a:pt x="439484" y="283464"/>
                  <a:pt x="457200" y="237934"/>
                  <a:pt x="457200" y="190500"/>
                </a:cubicBezTo>
                <a:cubicBezTo>
                  <a:pt x="457200" y="85439"/>
                  <a:pt x="371761" y="0"/>
                  <a:pt x="266700" y="0"/>
                </a:cubicBezTo>
                <a:close/>
                <a:moveTo>
                  <a:pt x="266700" y="95345"/>
                </a:moveTo>
                <a:cubicBezTo>
                  <a:pt x="214217" y="95345"/>
                  <a:pt x="171450" y="138113"/>
                  <a:pt x="171450" y="190595"/>
                </a:cubicBezTo>
                <a:cubicBezTo>
                  <a:pt x="171450" y="217360"/>
                  <a:pt x="182880" y="243078"/>
                  <a:pt x="202692" y="261080"/>
                </a:cubicBezTo>
                <a:cubicBezTo>
                  <a:pt x="207074" y="265081"/>
                  <a:pt x="209550" y="270224"/>
                  <a:pt x="209550" y="275653"/>
                </a:cubicBezTo>
                <a:lnTo>
                  <a:pt x="209550" y="323850"/>
                </a:lnTo>
                <a:cubicBezTo>
                  <a:pt x="209550" y="344900"/>
                  <a:pt x="226600" y="361950"/>
                  <a:pt x="247650" y="361950"/>
                </a:cubicBezTo>
                <a:lnTo>
                  <a:pt x="285750" y="361950"/>
                </a:lnTo>
                <a:cubicBezTo>
                  <a:pt x="306800" y="361950"/>
                  <a:pt x="323850" y="344900"/>
                  <a:pt x="323850" y="323850"/>
                </a:cubicBezTo>
                <a:lnTo>
                  <a:pt x="323850" y="275653"/>
                </a:lnTo>
                <a:cubicBezTo>
                  <a:pt x="323850" y="270224"/>
                  <a:pt x="326327" y="265081"/>
                  <a:pt x="330708" y="261080"/>
                </a:cubicBezTo>
                <a:cubicBezTo>
                  <a:pt x="350520" y="243078"/>
                  <a:pt x="361950" y="217360"/>
                  <a:pt x="361950" y="190595"/>
                </a:cubicBezTo>
                <a:cubicBezTo>
                  <a:pt x="361950" y="138113"/>
                  <a:pt x="319183" y="95345"/>
                  <a:pt x="266700" y="95345"/>
                </a:cubicBezTo>
                <a:close/>
                <a:moveTo>
                  <a:pt x="304800" y="323945"/>
                </a:moveTo>
                <a:cubicBezTo>
                  <a:pt x="304800" y="334423"/>
                  <a:pt x="296228" y="342995"/>
                  <a:pt x="285750" y="342995"/>
                </a:cubicBezTo>
                <a:lnTo>
                  <a:pt x="247650" y="342995"/>
                </a:lnTo>
                <a:cubicBezTo>
                  <a:pt x="237173" y="342995"/>
                  <a:pt x="228600" y="334423"/>
                  <a:pt x="228600" y="323945"/>
                </a:cubicBezTo>
                <a:lnTo>
                  <a:pt x="228600" y="304895"/>
                </a:lnTo>
                <a:lnTo>
                  <a:pt x="304800" y="304895"/>
                </a:lnTo>
                <a:lnTo>
                  <a:pt x="304800" y="323945"/>
                </a:lnTo>
                <a:close/>
                <a:moveTo>
                  <a:pt x="317849" y="246983"/>
                </a:moveTo>
                <a:cubicBezTo>
                  <a:pt x="309563" y="254508"/>
                  <a:pt x="304800" y="264985"/>
                  <a:pt x="304800" y="275653"/>
                </a:cubicBezTo>
                <a:lnTo>
                  <a:pt x="304800" y="285750"/>
                </a:lnTo>
                <a:lnTo>
                  <a:pt x="276225" y="285750"/>
                </a:lnTo>
                <a:lnTo>
                  <a:pt x="276225" y="203930"/>
                </a:lnTo>
                <a:lnTo>
                  <a:pt x="285750" y="194405"/>
                </a:lnTo>
                <a:lnTo>
                  <a:pt x="298037" y="206692"/>
                </a:lnTo>
                <a:cubicBezTo>
                  <a:pt x="299942" y="208597"/>
                  <a:pt x="302324" y="209455"/>
                  <a:pt x="304800" y="209455"/>
                </a:cubicBezTo>
                <a:cubicBezTo>
                  <a:pt x="307277" y="209455"/>
                  <a:pt x="309658" y="208502"/>
                  <a:pt x="311563" y="206692"/>
                </a:cubicBezTo>
                <a:cubicBezTo>
                  <a:pt x="315278" y="202978"/>
                  <a:pt x="315278" y="196977"/>
                  <a:pt x="311563" y="193262"/>
                </a:cubicBezTo>
                <a:lnTo>
                  <a:pt x="292513" y="174212"/>
                </a:lnTo>
                <a:cubicBezTo>
                  <a:pt x="288798" y="170497"/>
                  <a:pt x="282797" y="170497"/>
                  <a:pt x="279083" y="174212"/>
                </a:cubicBezTo>
                <a:lnTo>
                  <a:pt x="266795" y="186500"/>
                </a:lnTo>
                <a:lnTo>
                  <a:pt x="254508" y="174212"/>
                </a:lnTo>
                <a:cubicBezTo>
                  <a:pt x="250793" y="170497"/>
                  <a:pt x="244793" y="170497"/>
                  <a:pt x="241078" y="174212"/>
                </a:cubicBezTo>
                <a:lnTo>
                  <a:pt x="222028" y="193262"/>
                </a:lnTo>
                <a:cubicBezTo>
                  <a:pt x="218313" y="196977"/>
                  <a:pt x="218313" y="202978"/>
                  <a:pt x="222028" y="206692"/>
                </a:cubicBezTo>
                <a:cubicBezTo>
                  <a:pt x="225743" y="210407"/>
                  <a:pt x="231743" y="210407"/>
                  <a:pt x="235458" y="206692"/>
                </a:cubicBezTo>
                <a:lnTo>
                  <a:pt x="247745" y="194405"/>
                </a:lnTo>
                <a:lnTo>
                  <a:pt x="257270" y="203930"/>
                </a:lnTo>
                <a:lnTo>
                  <a:pt x="257270" y="285750"/>
                </a:lnTo>
                <a:lnTo>
                  <a:pt x="228695" y="285750"/>
                </a:lnTo>
                <a:lnTo>
                  <a:pt x="228695" y="275653"/>
                </a:lnTo>
                <a:cubicBezTo>
                  <a:pt x="228695" y="264985"/>
                  <a:pt x="223933" y="254508"/>
                  <a:pt x="215551" y="246983"/>
                </a:cubicBezTo>
                <a:cubicBezTo>
                  <a:pt x="199644" y="232600"/>
                  <a:pt x="190595" y="212026"/>
                  <a:pt x="190595" y="190595"/>
                </a:cubicBezTo>
                <a:cubicBezTo>
                  <a:pt x="190595" y="148590"/>
                  <a:pt x="224790" y="114395"/>
                  <a:pt x="266795" y="114395"/>
                </a:cubicBezTo>
                <a:cubicBezTo>
                  <a:pt x="308801" y="114395"/>
                  <a:pt x="342995" y="148590"/>
                  <a:pt x="342995" y="190595"/>
                </a:cubicBezTo>
                <a:cubicBezTo>
                  <a:pt x="342995" y="212026"/>
                  <a:pt x="333851" y="232600"/>
                  <a:pt x="317945" y="246983"/>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 name="Oval 8">
            <a:extLst>
              <a:ext uri="{FF2B5EF4-FFF2-40B4-BE49-F238E27FC236}">
                <a16:creationId xmlns:a16="http://schemas.microsoft.com/office/drawing/2014/main" id="{B53A8BBD-C4DB-580F-F0CB-CF9C9CE73A93}"/>
              </a:ext>
            </a:extLst>
          </p:cNvPr>
          <p:cNvSpPr/>
          <p:nvPr/>
        </p:nvSpPr>
        <p:spPr>
          <a:xfrm>
            <a:off x="482600" y="549592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7" name="Gráfico 6">
            <a:extLst>
              <a:ext uri="{FF2B5EF4-FFF2-40B4-BE49-F238E27FC236}">
                <a16:creationId xmlns:a16="http://schemas.microsoft.com/office/drawing/2014/main" id="{FC3F60EE-09EC-4DF9-BAFB-54BFBA08CF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6541" y="5550050"/>
            <a:ext cx="208026" cy="266700"/>
          </a:xfrm>
          <a:prstGeom prst="rect">
            <a:avLst/>
          </a:prstGeom>
        </p:spPr>
      </p:pic>
    </p:spTree>
    <p:extLst>
      <p:ext uri="{BB962C8B-B14F-4D97-AF65-F5344CB8AC3E}">
        <p14:creationId xmlns:p14="http://schemas.microsoft.com/office/powerpoint/2010/main" val="31435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BDA601-1135-DC3B-5059-7049D9C9D29C}"/>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B9873B0A-062E-D685-0819-62025E09B602}"/>
              </a:ext>
            </a:extLst>
          </p:cNvPr>
          <p:cNvSpPr txBox="1"/>
          <p:nvPr/>
        </p:nvSpPr>
        <p:spPr>
          <a:xfrm>
            <a:off x="949570" y="1409126"/>
            <a:ext cx="10718377" cy="3699987"/>
          </a:xfrm>
          <a:prstGeom prst="rect">
            <a:avLst/>
          </a:prstGeom>
          <a:noFill/>
          <a:ln>
            <a:noFill/>
          </a:ln>
        </p:spPr>
        <p:txBody>
          <a:bodyPr wrap="square" lIns="60960" tIns="30480" rIns="60960" bIns="30480" anchor="t">
            <a:spAutoFit/>
          </a:bodyPr>
          <a:lstStyle/>
          <a:p>
            <a:pPr>
              <a:lnSpc>
                <a:spcPct val="107000"/>
              </a:lnSpc>
              <a:spcAft>
                <a:spcPts val="800"/>
              </a:spcAft>
            </a:pPr>
            <a:r>
              <a:rPr lang="pt-BR" sz="1000" b="1" dirty="0">
                <a:latin typeface="Poppins"/>
                <a:cs typeface="Poppins"/>
              </a:rPr>
              <a:t>Orientações: </a:t>
            </a:r>
            <a:r>
              <a:rPr lang="pt-BR" sz="1000" kern="100" dirty="0">
                <a:latin typeface="Poppins"/>
                <a:ea typeface="Aptos" panose="020B0004020202020204" pitchFamily="34" charset="0"/>
                <a:cs typeface="Poppins"/>
              </a:rPr>
              <a:t>a seção</a:t>
            </a:r>
            <a:r>
              <a:rPr lang="pt-BR" sz="1000" b="1" kern="100" dirty="0">
                <a:latin typeface="Poppins"/>
                <a:ea typeface="Aptos" panose="020B0004020202020204" pitchFamily="34" charset="0"/>
                <a:cs typeface="Poppins"/>
              </a:rPr>
              <a:t> Ser sempre +</a:t>
            </a:r>
            <a:r>
              <a:rPr lang="pt-BR" sz="1000" kern="100" dirty="0">
                <a:latin typeface="Poppins"/>
                <a:ea typeface="Aptos" panose="020B0004020202020204" pitchFamily="34" charset="0"/>
                <a:cs typeface="Poppins"/>
              </a:rPr>
              <a:t> tem como objetivos desenvolver e aprimorar as competências socioemocionais dos estudantes, focando especificamente nas situações desafiadoras que podem surgir no ambiente profissional.  </a:t>
            </a:r>
          </a:p>
          <a:p>
            <a:pPr fontAlgn="base"/>
            <a:r>
              <a:rPr lang="pt-BR" sz="1000" b="1" dirty="0">
                <a:latin typeface="Poppins"/>
                <a:cs typeface="Poppins"/>
              </a:rPr>
              <a:t>Tempo previsto:</a:t>
            </a:r>
            <a:r>
              <a:rPr lang="pt-BR" sz="1000" dirty="0">
                <a:latin typeface="Poppins"/>
                <a:cs typeface="Poppins"/>
              </a:rPr>
              <a:t> 18 minutos.</a:t>
            </a:r>
          </a:p>
          <a:p>
            <a:pPr marL="229870">
              <a:lnSpc>
                <a:spcPct val="107000"/>
              </a:lnSpc>
              <a:spcAft>
                <a:spcPts val="800"/>
              </a:spcAft>
            </a:pPr>
            <a:endParaRPr lang="pt-BR" sz="1000" dirty="0">
              <a:latin typeface="Poppins"/>
              <a:cs typeface="Poppins"/>
            </a:endParaRPr>
          </a:p>
          <a:p>
            <a:r>
              <a:rPr lang="pt-BR" sz="1000" b="1" dirty="0">
                <a:latin typeface="Poppins"/>
                <a:cs typeface="Poppins"/>
              </a:rPr>
              <a:t>Gestão de sala de aula:</a:t>
            </a:r>
            <a:r>
              <a:rPr lang="pt-BR" sz="1000" dirty="0">
                <a:latin typeface="Poppins"/>
                <a:cs typeface="Poppins"/>
              </a:rPr>
              <a:t> </a:t>
            </a:r>
            <a:r>
              <a:rPr lang="pt-BR" sz="1000" b="1" dirty="0">
                <a:latin typeface="Poppins"/>
                <a:cs typeface="Poppins"/>
              </a:rPr>
              <a:t>Introdução (3 minutos): </a:t>
            </a:r>
            <a:r>
              <a:rPr lang="pt-BR" sz="1000" dirty="0">
                <a:latin typeface="Poppins"/>
                <a:cs typeface="Poppins"/>
              </a:rPr>
              <a:t>apresente a situação de maneira simples e direta. Após apresentar, organize os estudantes em duplas.</a:t>
            </a:r>
          </a:p>
          <a:p>
            <a:pPr rtl="0" fontAlgn="base"/>
            <a:endParaRPr lang="pt-BR" sz="1000" b="1" dirty="0">
              <a:latin typeface="Poppins"/>
              <a:cs typeface="Poppins"/>
            </a:endParaRPr>
          </a:p>
          <a:p>
            <a:pPr rtl="0" fontAlgn="base"/>
            <a:endParaRPr lang="pt-BR" sz="1000" b="1" dirty="0">
              <a:latin typeface="Poppins"/>
              <a:cs typeface="Poppins"/>
            </a:endParaRPr>
          </a:p>
          <a:p>
            <a:pPr rtl="0" fontAlgn="base"/>
            <a:r>
              <a:rPr lang="pt-BR" sz="1000" b="1" dirty="0">
                <a:latin typeface="Poppins"/>
                <a:cs typeface="Poppins"/>
              </a:rPr>
              <a:t>Condução da dinâmica: </a:t>
            </a:r>
          </a:p>
          <a:p>
            <a:r>
              <a:rPr lang="pt-BR" sz="1000" b="1" dirty="0">
                <a:latin typeface="Poppins"/>
                <a:cs typeface="Poppins"/>
              </a:rPr>
              <a:t>Atividade em duplas:</a:t>
            </a:r>
          </a:p>
          <a:p>
            <a:pPr lvl="2"/>
            <a:r>
              <a:rPr lang="pt-BR" sz="1000" b="1" dirty="0">
                <a:latin typeface="Poppins"/>
                <a:cs typeface="Poppins"/>
              </a:rPr>
              <a:t>Planejamento inicial (10 minutos):</a:t>
            </a:r>
          </a:p>
          <a:p>
            <a:pPr lvl="2"/>
            <a:r>
              <a:rPr lang="pt-BR" sz="1000" b="1" dirty="0">
                <a:latin typeface="Poppins"/>
                <a:cs typeface="Poppins"/>
              </a:rPr>
              <a:t>Instruções: </a:t>
            </a:r>
            <a:r>
              <a:rPr lang="pt-BR" sz="1000" dirty="0">
                <a:latin typeface="Poppins"/>
                <a:cs typeface="Poppins"/>
              </a:rPr>
              <a:t>em duplas, discutam como podem lidar com essa situação.</a:t>
            </a:r>
          </a:p>
          <a:p>
            <a:pPr lvl="2"/>
            <a:endParaRPr lang="pt-BR" sz="1000" dirty="0">
              <a:latin typeface="Poppins"/>
              <a:cs typeface="Poppins"/>
            </a:endParaRPr>
          </a:p>
          <a:p>
            <a:pPr lvl="2"/>
            <a:r>
              <a:rPr lang="pt-BR" sz="1000" b="1" dirty="0">
                <a:latin typeface="Poppins"/>
                <a:cs typeface="Poppins"/>
              </a:rPr>
              <a:t>Apresentação e discussão (5 minutos):</a:t>
            </a:r>
          </a:p>
          <a:p>
            <a:pPr lvl="2"/>
            <a:r>
              <a:rPr lang="pt-BR" sz="1000" b="1" dirty="0">
                <a:latin typeface="Poppins"/>
                <a:cs typeface="Poppins"/>
              </a:rPr>
              <a:t>Apresentação rápida:</a:t>
            </a:r>
            <a:r>
              <a:rPr lang="pt-BR" sz="1000" dirty="0">
                <a:latin typeface="Poppins"/>
                <a:cs typeface="Poppins"/>
              </a:rPr>
              <a:t> sortear algumas duplas para apresentar suas principais ideias e soluções para a turma. Cada dupla tem 2 minutos para compartilhar suas sugestões de como lidar com a situação.</a:t>
            </a:r>
          </a:p>
          <a:p>
            <a:endParaRPr lang="pt-BR" sz="1000" kern="100" dirty="0">
              <a:latin typeface="Poppins"/>
              <a:cs typeface="Poppins"/>
            </a:endParaRPr>
          </a:p>
          <a:p>
            <a:r>
              <a:rPr lang="pt-BR" sz="1000" b="1" dirty="0">
                <a:latin typeface="Poppins"/>
                <a:cs typeface="Poppins"/>
              </a:rPr>
              <a:t>Expectativas de respostas: </a:t>
            </a:r>
            <a:r>
              <a:rPr lang="pt-BR" sz="1000" dirty="0">
                <a:latin typeface="Poppins"/>
                <a:cs typeface="Poppins"/>
              </a:rPr>
              <a:t>sugerir verificações como conflitos de IP, configuração de gateway, teste de ping, ou falhas no DHCP.</a:t>
            </a:r>
          </a:p>
          <a:p>
            <a:endParaRPr lang="pt-BR" sz="1000" dirty="0">
              <a:latin typeface="Poppins"/>
              <a:cs typeface="Poppins"/>
            </a:endParaRPr>
          </a:p>
          <a:p>
            <a:r>
              <a:rPr lang="pt-BR" sz="1000" dirty="0">
                <a:latin typeface="Poppins"/>
                <a:cs typeface="Poppins"/>
              </a:rPr>
              <a:t>Propor uma </a:t>
            </a:r>
            <a:r>
              <a:rPr lang="pt-BR" sz="1000" b="1" dirty="0">
                <a:latin typeface="Poppins"/>
                <a:cs typeface="Poppins"/>
              </a:rPr>
              <a:t>comunicação estruturada entre colegas</a:t>
            </a:r>
            <a:r>
              <a:rPr lang="pt-BR" sz="1000" dirty="0">
                <a:latin typeface="Poppins"/>
                <a:cs typeface="Poppins"/>
              </a:rPr>
              <a:t>: respeitar opiniões divergentes e organizar o raciocínio conjunto. Compreender que tanto o domínio técnico quanto a </a:t>
            </a:r>
            <a:r>
              <a:rPr lang="pt-BR" sz="1000" b="1" dirty="0">
                <a:latin typeface="Poppins"/>
                <a:cs typeface="Poppins"/>
              </a:rPr>
              <a:t>cooperação entre profissionais</a:t>
            </a:r>
            <a:r>
              <a:rPr lang="pt-BR" sz="1000" dirty="0">
                <a:latin typeface="Poppins"/>
                <a:cs typeface="Poppins"/>
              </a:rPr>
              <a:t> são fundamentais para solucionar problemas em redes de computadores.</a:t>
            </a:r>
          </a:p>
          <a:p>
            <a:endParaRPr lang="pt-BR" sz="1000" dirty="0">
              <a:latin typeface="Poppins"/>
              <a:cs typeface="Poppins"/>
            </a:endParaRPr>
          </a:p>
          <a:p>
            <a:pPr marL="228600" indent="-228600" algn="just">
              <a:buAutoNum type="arabicPeriod"/>
            </a:pPr>
            <a:endParaRPr lang="pt-BR" sz="1100" dirty="0">
              <a:latin typeface="Poppins"/>
              <a:cs typeface="Poppins"/>
            </a:endParaRPr>
          </a:p>
        </p:txBody>
      </p:sp>
      <p:sp>
        <p:nvSpPr>
          <p:cNvPr id="5" name="Retângulo 4">
            <a:extLst>
              <a:ext uri="{FF2B5EF4-FFF2-40B4-BE49-F238E27FC236}">
                <a16:creationId xmlns:a16="http://schemas.microsoft.com/office/drawing/2014/main" id="{14EA9C1F-9D16-413B-5F85-DB9C21279F1A}"/>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6" name="CaixaDeTexto 5">
            <a:extLst>
              <a:ext uri="{FF2B5EF4-FFF2-40B4-BE49-F238E27FC236}">
                <a16:creationId xmlns:a16="http://schemas.microsoft.com/office/drawing/2014/main" id="{38DAC4D4-CA43-017A-B274-7CBAAC6282B9}"/>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14 e 15</a:t>
            </a:r>
          </a:p>
        </p:txBody>
      </p:sp>
      <p:cxnSp>
        <p:nvCxnSpPr>
          <p:cNvPr id="7" name="Conector Reto 6">
            <a:extLst>
              <a:ext uri="{FF2B5EF4-FFF2-40B4-BE49-F238E27FC236}">
                <a16:creationId xmlns:a16="http://schemas.microsoft.com/office/drawing/2014/main" id="{A7A11258-4F92-F99E-F164-72B029F45767}"/>
              </a:ext>
            </a:extLst>
          </p:cNvPr>
          <p:cNvCxnSpPr>
            <a:cxnSpLocks/>
          </p:cNvCxnSpPr>
          <p:nvPr/>
        </p:nvCxnSpPr>
        <p:spPr>
          <a:xfrm flipV="1">
            <a:off x="690880" y="1036320"/>
            <a:ext cx="0" cy="3974592"/>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3DDD9A1E-53E3-707E-560B-C4F0FE6170B9}"/>
              </a:ext>
            </a:extLst>
          </p:cNvPr>
          <p:cNvSpPr/>
          <p:nvPr/>
        </p:nvSpPr>
        <p:spPr>
          <a:xfrm>
            <a:off x="497840" y="405758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1" name="Oval 10">
            <a:extLst>
              <a:ext uri="{FF2B5EF4-FFF2-40B4-BE49-F238E27FC236}">
                <a16:creationId xmlns:a16="http://schemas.microsoft.com/office/drawing/2014/main" id="{EDE8813C-E619-9113-388F-E304DA128A4C}"/>
              </a:ext>
            </a:extLst>
          </p:cNvPr>
          <p:cNvSpPr/>
          <p:nvPr/>
        </p:nvSpPr>
        <p:spPr>
          <a:xfrm>
            <a:off x="497840" y="225130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2" name="Oval 11">
            <a:extLst>
              <a:ext uri="{FF2B5EF4-FFF2-40B4-BE49-F238E27FC236}">
                <a16:creationId xmlns:a16="http://schemas.microsoft.com/office/drawing/2014/main" id="{EC199AE5-630B-9974-5477-0325687DEA1E}"/>
              </a:ext>
            </a:extLst>
          </p:cNvPr>
          <p:cNvSpPr/>
          <p:nvPr/>
        </p:nvSpPr>
        <p:spPr>
          <a:xfrm>
            <a:off x="495426" y="177513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3" name="Oval 12">
            <a:extLst>
              <a:ext uri="{FF2B5EF4-FFF2-40B4-BE49-F238E27FC236}">
                <a16:creationId xmlns:a16="http://schemas.microsoft.com/office/drawing/2014/main" id="{9FE5B509-FA3E-3AF6-EF50-C67399F5DC6E}"/>
              </a:ext>
            </a:extLst>
          </p:cNvPr>
          <p:cNvSpPr/>
          <p:nvPr/>
        </p:nvSpPr>
        <p:spPr>
          <a:xfrm>
            <a:off x="497841" y="13389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4" name="Google Shape;2216;p100">
            <a:extLst>
              <a:ext uri="{FF2B5EF4-FFF2-40B4-BE49-F238E27FC236}">
                <a16:creationId xmlns:a16="http://schemas.microsoft.com/office/drawing/2014/main" id="{52542349-B871-6030-311D-2873DE49D1A3}"/>
              </a:ext>
            </a:extLst>
          </p:cNvPr>
          <p:cNvSpPr/>
          <p:nvPr/>
        </p:nvSpPr>
        <p:spPr>
          <a:xfrm>
            <a:off x="569897" y="14374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98F1D8D9-8875-2CA9-441E-2F1E6CCA3D0C}"/>
              </a:ext>
            </a:extLst>
          </p:cNvPr>
          <p:cNvPicPr>
            <a:picLocks noChangeAspect="1"/>
          </p:cNvPicPr>
          <p:nvPr/>
        </p:nvPicPr>
        <p:blipFill>
          <a:blip r:embed="rId3"/>
          <a:srcRect/>
          <a:stretch/>
        </p:blipFill>
        <p:spPr>
          <a:xfrm>
            <a:off x="613657" y="1868844"/>
            <a:ext cx="154445" cy="193056"/>
          </a:xfrm>
          <a:prstGeom prst="rect">
            <a:avLst/>
          </a:prstGeom>
        </p:spPr>
      </p:pic>
      <p:sp>
        <p:nvSpPr>
          <p:cNvPr id="16" name="Google Shape;2223;p100">
            <a:extLst>
              <a:ext uri="{FF2B5EF4-FFF2-40B4-BE49-F238E27FC236}">
                <a16:creationId xmlns:a16="http://schemas.microsoft.com/office/drawing/2014/main" id="{0CFA57A2-A62A-D34E-0BF1-2AF0E94C2953}"/>
              </a:ext>
            </a:extLst>
          </p:cNvPr>
          <p:cNvSpPr>
            <a:spLocks/>
          </p:cNvSpPr>
          <p:nvPr/>
        </p:nvSpPr>
        <p:spPr>
          <a:xfrm>
            <a:off x="566851" y="2329738"/>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8" name="Gráfico 17">
            <a:extLst>
              <a:ext uri="{FF2B5EF4-FFF2-40B4-BE49-F238E27FC236}">
                <a16:creationId xmlns:a16="http://schemas.microsoft.com/office/drawing/2014/main" id="{155FE220-C5EA-E7AE-A3DF-D555E9625A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1781" y="4111701"/>
            <a:ext cx="208026" cy="266700"/>
          </a:xfrm>
          <a:prstGeom prst="rect">
            <a:avLst/>
          </a:prstGeom>
        </p:spPr>
      </p:pic>
      <p:sp>
        <p:nvSpPr>
          <p:cNvPr id="2" name="Oval 9">
            <a:extLst>
              <a:ext uri="{FF2B5EF4-FFF2-40B4-BE49-F238E27FC236}">
                <a16:creationId xmlns:a16="http://schemas.microsoft.com/office/drawing/2014/main" id="{46B8499D-1EE0-2E8C-4607-41CA5E4CF627}"/>
              </a:ext>
            </a:extLst>
          </p:cNvPr>
          <p:cNvSpPr/>
          <p:nvPr/>
        </p:nvSpPr>
        <p:spPr>
          <a:xfrm>
            <a:off x="497670" y="272747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3" name="Gráfico 2">
            <a:extLst>
              <a:ext uri="{FF2B5EF4-FFF2-40B4-BE49-F238E27FC236}">
                <a16:creationId xmlns:a16="http://schemas.microsoft.com/office/drawing/2014/main" id="{34FF4120-941D-FD6F-99BF-ADE74BFD83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735" y="2797933"/>
            <a:ext cx="235296" cy="240643"/>
          </a:xfrm>
          <a:prstGeom prst="rect">
            <a:avLst/>
          </a:prstGeom>
        </p:spPr>
      </p:pic>
    </p:spTree>
    <p:extLst>
      <p:ext uri="{BB962C8B-B14F-4D97-AF65-F5344CB8AC3E}">
        <p14:creationId xmlns:p14="http://schemas.microsoft.com/office/powerpoint/2010/main" val="4150892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D068A1-F253-0A29-D3C8-8B351647C102}"/>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EC4CF500-3560-0836-52B9-CDEBC67A6EED}"/>
              </a:ext>
            </a:extLst>
          </p:cNvPr>
          <p:cNvSpPr txBox="1"/>
          <p:nvPr/>
        </p:nvSpPr>
        <p:spPr>
          <a:xfrm>
            <a:off x="897383" y="1375965"/>
            <a:ext cx="10990661" cy="4231928"/>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O que nós aprendemos hoje?</a:t>
            </a:r>
            <a:r>
              <a:rPr lang="pt-BR" sz="1000" kern="100" dirty="0">
                <a:latin typeface="Poppins" panose="00000500000000000000" pitchFamily="2" charset="0"/>
                <a:ea typeface="Aptos" panose="020B0004020202020204" pitchFamily="34" charset="0"/>
                <a:cs typeface="Poppins" panose="00000500000000000000" pitchFamily="2" charset="0"/>
              </a:rPr>
              <a:t> tem como objetivos reforçar e esclarecer os conceitos principais discutidos na aula. Essa revisão pode ser uma ferramenta de avaliação informal do aprendizado dos estudantes, identificando áreas que possam precisar de mais atenção em aulas futuras. </a:t>
            </a:r>
            <a:endParaRPr lang="pt-BR" sz="1000" dirty="0">
              <a:latin typeface="Poppins" panose="00000500000000000000" pitchFamily="2" charset="0"/>
              <a:cs typeface="Poppins" panose="00000500000000000000" pitchFamily="2" charset="0"/>
            </a:endParaRPr>
          </a:p>
          <a:p>
            <a:pPr>
              <a:buClrTx/>
              <a:buFontTx/>
            </a:pPr>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1 minuto.</a:t>
            </a:r>
          </a:p>
          <a:p>
            <a:pPr marL="153254" fontAlgn="base"/>
            <a:endParaRPr lang="pt-BR" sz="1000" dirty="0">
              <a:latin typeface="Poppins" panose="00000500000000000000" pitchFamily="2" charset="0"/>
              <a:cs typeface="Poppins" panose="00000500000000000000" pitchFamily="2" charset="0"/>
            </a:endParaRPr>
          </a:p>
          <a:p>
            <a:pPr rtl="0" fontAlgn="base"/>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r>
              <a:rPr lang="pt-BR" sz="1000" kern="100" dirty="0">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r>
              <a:rPr lang="pt-BR" sz="1000" kern="100" dirty="0">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r>
              <a:rPr lang="pt-BR" sz="1000" kern="100" dirty="0">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Condução da dinâmica: </a:t>
            </a:r>
          </a:p>
          <a:p>
            <a:r>
              <a:rPr lang="pt-BR" sz="1000" kern="100" dirty="0">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de esclarecimento sobre os conceitos abordados na aula. </a:t>
            </a:r>
          </a:p>
          <a:p>
            <a:r>
              <a:rPr lang="pt-BR" sz="1000" kern="100" dirty="0">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estejam alinhados com as definições corretas dos conceitos. </a:t>
            </a:r>
          </a:p>
          <a:p>
            <a:r>
              <a:rPr lang="pt-BR" sz="1000" kern="100" dirty="0">
                <a:latin typeface="Poppins" panose="00000500000000000000" pitchFamily="2" charset="0"/>
                <a:ea typeface="Aptos" panose="020B0004020202020204" pitchFamily="34" charset="0"/>
                <a:cs typeface="Poppins" panose="00000500000000000000" pitchFamily="2" charset="0"/>
              </a:rPr>
              <a:t>Apresente o slide com a definição sintética de cada conceito principal discutido na aula, ampliando-o em forma de frases completas. </a:t>
            </a:r>
          </a:p>
          <a:p>
            <a:r>
              <a:rPr lang="pt-BR" sz="1000" kern="100" dirty="0">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os conceitos e ofereça esclarecimentos rápidos caso haja discrepâncias ou mal-entendidos. </a:t>
            </a:r>
          </a:p>
          <a:p>
            <a:r>
              <a:rPr lang="pt-BR" sz="1000" kern="100" dirty="0">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r>
              <a:rPr lang="pt-BR" sz="1000" kern="100" dirty="0">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a prepará-los para aplicar esses conceitos em situações práticas.</a:t>
            </a:r>
          </a:p>
          <a:p>
            <a:r>
              <a:rPr lang="pt-BR" sz="1000" kern="100" dirty="0">
                <a:latin typeface="Poppins" panose="00000500000000000000" pitchFamily="2" charset="0"/>
                <a:ea typeface="Aptos" panose="020B0004020202020204" pitchFamily="34" charset="0"/>
                <a:cs typeface="Poppins" panose="00000500000000000000" pitchFamily="2" charset="0"/>
              </a:rPr>
              <a:t> </a:t>
            </a:r>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da atividade: </a:t>
            </a:r>
            <a:endParaRPr lang="pt-BR" sz="1000" dirty="0">
              <a:latin typeface="Poppins" panose="00000500000000000000" pitchFamily="2" charset="0"/>
              <a:cs typeface="Poppins" panose="00000500000000000000" pitchFamily="2" charset="0"/>
            </a:endParaRPr>
          </a:p>
          <a:p>
            <a:r>
              <a:rPr lang="pt-BR" sz="1000" kern="100" dirty="0">
                <a:latin typeface="Poppins" panose="00000500000000000000" pitchFamily="2" charset="0"/>
                <a:ea typeface="Aptos" panose="020B0004020202020204" pitchFamily="34" charset="0"/>
                <a:cs typeface="Poppins" panose="00000500000000000000" pitchFamily="2" charset="0"/>
              </a:rPr>
              <a:t>Os estudantes devem sair da aula com um entendimento claro e preciso dos conceitos principais. </a:t>
            </a:r>
          </a:p>
          <a:p>
            <a:r>
              <a:rPr lang="pt-BR" sz="1000" kern="100" dirty="0">
                <a:latin typeface="Poppins" panose="00000500000000000000" pitchFamily="2" charset="0"/>
                <a:ea typeface="Aptos" panose="020B0004020202020204" pitchFamily="34" charset="0"/>
                <a:cs typeface="Poppins" panose="00000500000000000000" pitchFamily="2" charset="0"/>
              </a:rPr>
              <a:t>A atividade serve como uma verificação rápida do entendimento dos estudantes e uma oportunidade para corrigir quaisquer mal-entendidos.</a:t>
            </a: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pPr algn="l" rtl="0" fontAlgn="base"/>
            <a:endParaRPr lang="pt-BR" sz="1100" b="1" dirty="0">
              <a:latin typeface="Poppins" panose="00000500000000000000" pitchFamily="2" charset="0"/>
              <a:cs typeface="Poppins" panose="00000500000000000000" pitchFamily="2" charset="0"/>
            </a:endParaRPr>
          </a:p>
        </p:txBody>
      </p:sp>
      <p:sp>
        <p:nvSpPr>
          <p:cNvPr id="5" name="Retângulo 4">
            <a:extLst>
              <a:ext uri="{FF2B5EF4-FFF2-40B4-BE49-F238E27FC236}">
                <a16:creationId xmlns:a16="http://schemas.microsoft.com/office/drawing/2014/main" id="{3C296A01-EB10-7ED7-9F8B-D20A8156C764}"/>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6" name="CaixaDeTexto 5">
            <a:extLst>
              <a:ext uri="{FF2B5EF4-FFF2-40B4-BE49-F238E27FC236}">
                <a16:creationId xmlns:a16="http://schemas.microsoft.com/office/drawing/2014/main" id="{B5B1D39B-F2D2-BC60-DD7B-1153587B5B65}"/>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16</a:t>
            </a:r>
            <a:endParaRPr lang="pt-BR" sz="3000" b="1" dirty="0">
              <a:solidFill>
                <a:schemeClr val="bg1"/>
              </a:solidFill>
              <a:latin typeface="Poppins" pitchFamily="2" charset="77"/>
              <a:cs typeface="Poppins" pitchFamily="2" charset="77"/>
            </a:endParaRPr>
          </a:p>
        </p:txBody>
      </p:sp>
      <p:cxnSp>
        <p:nvCxnSpPr>
          <p:cNvPr id="7" name="Conector Reto 6">
            <a:extLst>
              <a:ext uri="{FF2B5EF4-FFF2-40B4-BE49-F238E27FC236}">
                <a16:creationId xmlns:a16="http://schemas.microsoft.com/office/drawing/2014/main" id="{B028EA99-8142-37DD-3341-D1856F1CA513}"/>
              </a:ext>
            </a:extLst>
          </p:cNvPr>
          <p:cNvCxnSpPr>
            <a:cxnSpLocks/>
          </p:cNvCxnSpPr>
          <p:nvPr/>
        </p:nvCxnSpPr>
        <p:spPr>
          <a:xfrm flipV="1">
            <a:off x="690880" y="1036320"/>
            <a:ext cx="0" cy="385953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E103A6EA-591F-AF76-ECAB-07CAE9C6BA76}"/>
              </a:ext>
            </a:extLst>
          </p:cNvPr>
          <p:cNvSpPr/>
          <p:nvPr/>
        </p:nvSpPr>
        <p:spPr>
          <a:xfrm>
            <a:off x="495426" y="423030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0" name="Oval 9">
            <a:extLst>
              <a:ext uri="{FF2B5EF4-FFF2-40B4-BE49-F238E27FC236}">
                <a16:creationId xmlns:a16="http://schemas.microsoft.com/office/drawing/2014/main" id="{6B019A36-50ED-AAA2-E450-545145C443C8}"/>
              </a:ext>
            </a:extLst>
          </p:cNvPr>
          <p:cNvSpPr/>
          <p:nvPr/>
        </p:nvSpPr>
        <p:spPr>
          <a:xfrm>
            <a:off x="497840" y="299118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1" name="Oval 10">
            <a:extLst>
              <a:ext uri="{FF2B5EF4-FFF2-40B4-BE49-F238E27FC236}">
                <a16:creationId xmlns:a16="http://schemas.microsoft.com/office/drawing/2014/main" id="{43EFCCAC-8778-9CC5-745E-2744679690A4}"/>
              </a:ext>
            </a:extLst>
          </p:cNvPr>
          <p:cNvSpPr/>
          <p:nvPr/>
        </p:nvSpPr>
        <p:spPr>
          <a:xfrm>
            <a:off x="497840" y="224523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2" name="Oval 11">
            <a:extLst>
              <a:ext uri="{FF2B5EF4-FFF2-40B4-BE49-F238E27FC236}">
                <a16:creationId xmlns:a16="http://schemas.microsoft.com/office/drawing/2014/main" id="{340C426D-22B6-9843-A49C-3F771C18E87E}"/>
              </a:ext>
            </a:extLst>
          </p:cNvPr>
          <p:cNvSpPr/>
          <p:nvPr/>
        </p:nvSpPr>
        <p:spPr>
          <a:xfrm>
            <a:off x="495426" y="176372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2">
            <a:extLst>
              <a:ext uri="{FF2B5EF4-FFF2-40B4-BE49-F238E27FC236}">
                <a16:creationId xmlns:a16="http://schemas.microsoft.com/office/drawing/2014/main" id="{48D06C34-8791-CF45-E8CC-FD211AECBFC0}"/>
              </a:ext>
            </a:extLst>
          </p:cNvPr>
          <p:cNvSpPr/>
          <p:nvPr/>
        </p:nvSpPr>
        <p:spPr>
          <a:xfrm>
            <a:off x="497841" y="13389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4" name="Google Shape;2216;p100">
            <a:extLst>
              <a:ext uri="{FF2B5EF4-FFF2-40B4-BE49-F238E27FC236}">
                <a16:creationId xmlns:a16="http://schemas.microsoft.com/office/drawing/2014/main" id="{B7C59AB4-C7D3-869F-C785-74C52B06C00A}"/>
              </a:ext>
            </a:extLst>
          </p:cNvPr>
          <p:cNvSpPr/>
          <p:nvPr/>
        </p:nvSpPr>
        <p:spPr>
          <a:xfrm>
            <a:off x="569897" y="14374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BE9A696B-CBF0-FCBE-F640-E311A1E10B6B}"/>
              </a:ext>
            </a:extLst>
          </p:cNvPr>
          <p:cNvPicPr>
            <a:picLocks noChangeAspect="1"/>
          </p:cNvPicPr>
          <p:nvPr/>
        </p:nvPicPr>
        <p:blipFill>
          <a:blip r:embed="rId3"/>
          <a:srcRect/>
          <a:stretch/>
        </p:blipFill>
        <p:spPr>
          <a:xfrm>
            <a:off x="613657" y="1857433"/>
            <a:ext cx="154445" cy="193056"/>
          </a:xfrm>
          <a:prstGeom prst="rect">
            <a:avLst/>
          </a:prstGeom>
        </p:spPr>
      </p:pic>
      <p:sp>
        <p:nvSpPr>
          <p:cNvPr id="16" name="Google Shape;2223;p100">
            <a:extLst>
              <a:ext uri="{FF2B5EF4-FFF2-40B4-BE49-F238E27FC236}">
                <a16:creationId xmlns:a16="http://schemas.microsoft.com/office/drawing/2014/main" id="{A449534D-D9EA-C215-9F48-8337BFC469BB}"/>
              </a:ext>
            </a:extLst>
          </p:cNvPr>
          <p:cNvSpPr>
            <a:spLocks/>
          </p:cNvSpPr>
          <p:nvPr/>
        </p:nvSpPr>
        <p:spPr>
          <a:xfrm>
            <a:off x="566851" y="2323662"/>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7D4C3B9C-4476-3478-6657-E986D61394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5905" y="3061641"/>
            <a:ext cx="235296" cy="240643"/>
          </a:xfrm>
          <a:prstGeom prst="rect">
            <a:avLst/>
          </a:prstGeom>
        </p:spPr>
      </p:pic>
      <p:pic>
        <p:nvPicPr>
          <p:cNvPr id="18" name="Gráfico 17">
            <a:extLst>
              <a:ext uri="{FF2B5EF4-FFF2-40B4-BE49-F238E27FC236}">
                <a16:creationId xmlns:a16="http://schemas.microsoft.com/office/drawing/2014/main" id="{8CC1FB98-A843-DD19-140E-DD84F842DA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9367" y="4284426"/>
            <a:ext cx="208026" cy="266700"/>
          </a:xfrm>
          <a:prstGeom prst="rect">
            <a:avLst/>
          </a:prstGeom>
        </p:spPr>
      </p:pic>
    </p:spTree>
    <p:extLst>
      <p:ext uri="{BB962C8B-B14F-4D97-AF65-F5344CB8AC3E}">
        <p14:creationId xmlns:p14="http://schemas.microsoft.com/office/powerpoint/2010/main" val="2179997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94182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9" ma:contentTypeDescription="Create a new document." ma:contentTypeScope="" ma:versionID="1bf68d50405d7ac8e7a341beaf8d368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3d2dbf1d52f40b25fbf955356123121"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661F7A-1649-4A39-91A5-A3893F5678E5}">
  <ds:schemaRefs>
    <ds:schemaRef ds:uri="http://purl.org/dc/dcmitype/"/>
    <ds:schemaRef ds:uri="http://purl.org/dc/terms/"/>
    <ds:schemaRef ds:uri="http://schemas.microsoft.com/office/2006/metadata/properties"/>
    <ds:schemaRef ds:uri="http://purl.org/dc/elements/1.1/"/>
    <ds:schemaRef ds:uri="aacb3b2f-5927-4b98-82b1-fea2b4072a87"/>
    <ds:schemaRef ds:uri="http://schemas.microsoft.com/office/2006/documentManagement/types"/>
    <ds:schemaRef ds:uri="a45d3e5f-3e31-4187-b998-c44ee850df36"/>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3.xml><?xml version="1.0" encoding="utf-8"?>
<ds:datastoreItem xmlns:ds="http://schemas.openxmlformats.org/officeDocument/2006/customXml" ds:itemID="{AC07DF19-A254-460B-9F0E-0FE36DDCB7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cb3b2f-5927-4b98-82b1-fea2b4072a87"/>
    <ds:schemaRef ds:uri="a45d3e5f-3e31-4187-b998-c44ee850df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4756</TotalTime>
  <Words>2346</Words>
  <Application>Microsoft Office PowerPoint</Application>
  <PresentationFormat>Widescreen</PresentationFormat>
  <Paragraphs>220</Paragraphs>
  <Slides>24</Slides>
  <Notes>19</Notes>
  <HiddenSlides>6</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24</vt:i4>
      </vt:variant>
    </vt:vector>
  </HeadingPairs>
  <TitlesOfParts>
    <vt:vector size="32" baseType="lpstr">
      <vt:lpstr>Poppins Medium</vt:lpstr>
      <vt:lpstr>Poppins</vt:lpstr>
      <vt:lpstr>Poppins Light</vt:lpstr>
      <vt:lpstr>Wingdings</vt:lpstr>
      <vt:lpstr>Calibri</vt:lpstr>
      <vt:lpstr>Poppins Bold</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Alessandra Reis de Souza</cp:lastModifiedBy>
  <cp:revision>180</cp:revision>
  <dcterms:modified xsi:type="dcterms:W3CDTF">2026-01-28T13:19:20Z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