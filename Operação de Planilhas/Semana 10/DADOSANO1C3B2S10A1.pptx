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4"/>
  </p:sldMasterIdLst>
  <p:notesMasterIdLst>
    <p:notesMasterId r:id="rId30"/>
  </p:notesMasterIdLst>
  <p:handoutMasterIdLst>
    <p:handoutMasterId r:id="rId31"/>
  </p:handoutMasterIdLst>
  <p:sldIdLst>
    <p:sldId id="498" r:id="rId5"/>
    <p:sldId id="256" r:id="rId6"/>
    <p:sldId id="1427" r:id="rId7"/>
    <p:sldId id="1428" r:id="rId8"/>
    <p:sldId id="258" r:id="rId9"/>
    <p:sldId id="696" r:id="rId10"/>
    <p:sldId id="1382" r:id="rId11"/>
    <p:sldId id="1319" r:id="rId12"/>
    <p:sldId id="1446" r:id="rId13"/>
    <p:sldId id="1482" r:id="rId14"/>
    <p:sldId id="1431" r:id="rId15"/>
    <p:sldId id="1483" r:id="rId16"/>
    <p:sldId id="1469" r:id="rId17"/>
    <p:sldId id="1455" r:id="rId18"/>
    <p:sldId id="530" r:id="rId19"/>
    <p:sldId id="529" r:id="rId20"/>
    <p:sldId id="527" r:id="rId21"/>
    <p:sldId id="266" r:id="rId22"/>
    <p:sldId id="519" r:id="rId23"/>
    <p:sldId id="576" r:id="rId24"/>
    <p:sldId id="1359" r:id="rId25"/>
    <p:sldId id="1468" r:id="rId26"/>
    <p:sldId id="1349" r:id="rId27"/>
    <p:sldId id="1350" r:id="rId28"/>
    <p:sldId id="550" r:id="rId29"/>
  </p:sldIdLst>
  <p:sldSz cx="12192000" cy="6858000"/>
  <p:notesSz cx="6858000" cy="9144000"/>
  <p:embeddedFontLs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Poppins Bold" panose="00000800000000000000" pitchFamily="2" charset="0"/>
      <p:regular r:id="rId36"/>
      <p:bold r:id="rId37"/>
      <p:italic r:id="rId38"/>
      <p:boldItalic r:id="rId39"/>
    </p:embeddedFont>
    <p:embeddedFont>
      <p:font typeface="Poppins Light" panose="00000400000000000000" pitchFamily="2" charset="0"/>
      <p:regular r:id="rId40"/>
      <p:bold r:id="rId41"/>
      <p:italic r:id="rId42"/>
      <p:boldItalic r:id="rId43"/>
    </p:embeddedFont>
    <p:embeddedFont>
      <p:font typeface="Poppins Medium" panose="000006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66" userDrawn="1">
          <p15:clr>
            <a:srgbClr val="A4A3A4"/>
          </p15:clr>
        </p15:guide>
        <p15:guide id="2" pos="657" userDrawn="1">
          <p15:clr>
            <a:srgbClr val="A4A3A4"/>
          </p15:clr>
        </p15:guide>
        <p15:guide id="3" orient="horz" pos="406" userDrawn="1">
          <p15:clr>
            <a:srgbClr val="A4A3A4"/>
          </p15:clr>
        </p15:guide>
        <p15:guide id="4" orient="horz" pos="7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B5AF908-30E5-6776-98DA-924C49E373C5}" name="Luiza " initials="LEL" userId="Luiza " providerId="None"/>
  <p188:author id="{36E6B411-79F2-2BA9-D2E5-195CC60EC4EB}" name="Vanessa Leite Rios" initials="VL" userId="S::vrios@vanzolini-ead.org.br::0d7f6d10-7524-4913-bb54-b4a9cca6091b" providerId="AD"/>
  <p188:author id="{98B10514-320B-D9F8-DBA8-7EDDE8F7059D}" name="Surya Bueno" initials="SB" userId="6e21e9d7a184f473" providerId="Windows Live"/>
  <p188:author id="{5D93F123-A5E2-A62B-D9E3-D9303D1BB86B}" name="Gustavo Cruz dos Reis" initials="GC" userId="S::greis@vanzolini-ead.org.br::837664e1-438f-44d7-9e01-7f6012fe004f" providerId="AD"/>
  <p188:author id="{C6975768-E079-2129-EF66-8C7D8D20589C}" name="Usuário Convidado" initials="UC" userId="S::urn:spo:anon#9c1a6640c4cf430e37b8e52984f4ed92aa1896e2c9d3b1637fd5ce4c8fd5c9d5::" providerId="AD"/>
  <p188:author id="{AD57CE6A-2AF0-F017-E589-0472A9DBE06A}" name="Amanda Barbosa" initials="AB" userId="6c5fbaa3aabbfad2" providerId="Windows Live"/>
  <p188:author id="{8DD8E787-7B43-E508-6891-C6122D24A71C}" name="Douglas José Mendonça" initials="DM" userId="4153c5f748151241" providerId="Windows Live"/>
  <p188:author id="{359923D3-91D8-2A84-C320-E37824E7A0A2}" name="Sandra Alves Menezes" initials="SAM" userId="c70d3e3594991db2" providerId="Windows Live"/>
  <p188:author id="{E0388DF7-5B9F-86E5-E6C5-3F344187204B}" name="Eloisa Dalbem" initials="ED" userId="S::eldalbem@vanzolini-ead.org.br::9ae0c03a-8642-493e-97df-c9fd93e6c398" providerId="AD"/>
  <p188:author id="{E06AE5F7-C4FB-8FC1-0379-16158CB16B4E}" name="Michelle Mirabile Barbosa" initials="MM" userId="S::michelle_barbosa@vanzolini-ead.org.br::514663f0-91cb-4e5c-876a-7189c1f198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00"/>
    <a:srgbClr val="FF0000"/>
    <a:srgbClr val="3E3593"/>
    <a:srgbClr val="AAA6D3"/>
    <a:srgbClr val="312F67"/>
    <a:srgbClr val="EC4E58"/>
    <a:srgbClr val="E83D68"/>
    <a:srgbClr val="FB932D"/>
    <a:srgbClr val="D9D9D9"/>
    <a:srgbClr val="D8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522B1E-8D6C-3D58-407E-8713271079C5}" v="15" dt="2025-11-17T14:25:27.418"/>
  </p1510:revLst>
</p1510:revInfo>
</file>

<file path=ppt/tableStyles.xml><?xml version="1.0" encoding="utf-8"?>
<a:tblStyleLst xmlns:a="http://schemas.openxmlformats.org/drawingml/2006/main" def="{58B62AC2-CBFF-4FEF-A790-FB120B6FE34D}">
  <a:tblStyle styleId="{58B62AC2-CBFF-4FEF-A790-FB120B6FE3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310" autoAdjust="0"/>
  </p:normalViewPr>
  <p:slideViewPr>
    <p:cSldViewPr snapToGrid="0">
      <p:cViewPr varScale="1">
        <p:scale>
          <a:sx n="77" d="100"/>
          <a:sy n="77" d="100"/>
        </p:scale>
        <p:origin x="797" y="62"/>
      </p:cViewPr>
      <p:guideLst>
        <p:guide orient="horz" pos="466"/>
        <p:guide pos="657"/>
        <p:guide orient="horz" pos="406"/>
        <p:guide orient="horz" pos="71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6.xml"/><Relationship Id="rId4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4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0016A-23B3-8332-53D6-57FE04C28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ABBCA-ED84-8C3A-7D17-F6393BAD02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E6816-8789-481E-B2F2-61889E0E8584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40203C-C3C0-C509-C3D9-F91275DBAE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7A17361-C8A0-CABB-2146-B5B19E39C2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44F6E5-A54A-42CC-B250-9D06C7C52C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438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9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		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65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1" name="Google Shape;6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355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2" name="Google Shape;6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1" name="Google Shape;38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7351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7B7453D5-FE37-90F7-0117-6A1069A4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E55E856E-71F6-FFFC-27FF-C20FE327B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C790690E-A198-1BF4-E669-670C98910B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425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173FAAB7-2D9B-4391-A14F-D2F130ED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5138C6D7-BB53-A0BD-1568-1AEFFF5B8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53CAB155-B18A-EFBE-D7EC-B50984A9A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1578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30400"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Poppins" pitchFamily="2" charset="77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3971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65F4DAEE-9901-3731-8F08-D283C215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e5198b4dfb_0_1:notes">
            <a:extLst>
              <a:ext uri="{FF2B5EF4-FFF2-40B4-BE49-F238E27FC236}">
                <a16:creationId xmlns:a16="http://schemas.microsoft.com/office/drawing/2014/main" id="{74B7CBA6-3C74-A542-6503-85E3ED027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pt-BR" dirty="0"/>
          </a:p>
        </p:txBody>
      </p:sp>
      <p:sp>
        <p:nvSpPr>
          <p:cNvPr id="724" name="Google Shape;724;g1e5198b4dfb_0_1:notes">
            <a:extLst>
              <a:ext uri="{FF2B5EF4-FFF2-40B4-BE49-F238E27FC236}">
                <a16:creationId xmlns:a16="http://schemas.microsoft.com/office/drawing/2014/main" id="{D3DB5D40-7473-12E9-B92C-1A646EAD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0448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9448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     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034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8BA4-19C3-9F30-58CC-FF9B1F11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2E36CD-B480-33FE-01D2-EEABE824F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A338E7-82EB-E08D-9119-85453E0B7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54B966-8207-A36D-8BF8-E94C5D9814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04140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B028-C831-A7B1-E3B6-25C04AE0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F2FB19-8B0D-E07B-375F-88A75953E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0C47E3-B675-2705-36D7-66763D2E0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B5A734-6B1E-C35C-4A7A-A34C6DD0EC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3456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E112-663C-5DE5-D340-6DD720FB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45E8D2-D792-AE13-143D-39A32FBFE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75C2D2-1226-3A0A-1C8F-35E178ECE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     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9CCD4F-D407-0113-3923-BB342E073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54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3433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0F2ED3E9-3B0B-E370-C738-4D436A14D4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2" name="Retângulo: Cantos Arredondados 3">
            <a:extLst>
              <a:ext uri="{FF2B5EF4-FFF2-40B4-BE49-F238E27FC236}">
                <a16:creationId xmlns:a16="http://schemas.microsoft.com/office/drawing/2014/main" id="{F4A7405A-08C5-3223-3313-947924B1AC09}"/>
              </a:ext>
            </a:extLst>
          </p:cNvPr>
          <p:cNvSpPr/>
          <p:nvPr userDrawn="1"/>
        </p:nvSpPr>
        <p:spPr>
          <a:xfrm>
            <a:off x="5802699" y="1543035"/>
            <a:ext cx="4205858" cy="3044205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53135480-6E46-6CE2-352E-FEAC0F07A8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566" t="26436" r="13369" b="26176"/>
          <a:stretch>
            <a:fillRect/>
          </a:stretch>
        </p:blipFill>
        <p:spPr>
          <a:xfrm>
            <a:off x="4828111" y="5385674"/>
            <a:ext cx="2535779" cy="1147457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CF524BA5-8A5B-145B-7D69-2189A7ECA0A4}"/>
              </a:ext>
            </a:extLst>
          </p:cNvPr>
          <p:cNvSpPr txBox="1"/>
          <p:nvPr userDrawn="1"/>
        </p:nvSpPr>
        <p:spPr>
          <a:xfrm>
            <a:off x="2149362" y="2398780"/>
            <a:ext cx="3401671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10"/>
              </a:lnSpc>
            </a:pPr>
            <a:r>
              <a:rPr lang="pt-BR" sz="4266" noProof="0">
                <a:solidFill>
                  <a:srgbClr val="000000"/>
                </a:solidFill>
                <a:latin typeface="Poppins Bold"/>
              </a:rPr>
              <a:t>Educação Profissional Paulista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98280850-023D-A739-FC0C-EF20B5B8E50C}"/>
              </a:ext>
            </a:extLst>
          </p:cNvPr>
          <p:cNvSpPr txBox="1"/>
          <p:nvPr userDrawn="1"/>
        </p:nvSpPr>
        <p:spPr>
          <a:xfrm>
            <a:off x="6069602" y="2317274"/>
            <a:ext cx="3578455" cy="570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64"/>
              </a:lnSpc>
            </a:pPr>
            <a:r>
              <a:rPr lang="pt-BR" sz="3334" noProof="0">
                <a:solidFill>
                  <a:srgbClr val="FFFFFF"/>
                </a:solidFill>
                <a:latin typeface="Poppins Light"/>
              </a:rPr>
              <a:t>Técnico em 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D347C05-9ADD-70B2-6601-E4FADB3DAC99}"/>
              </a:ext>
            </a:extLst>
          </p:cNvPr>
          <p:cNvSpPr txBox="1"/>
          <p:nvPr userDrawn="1"/>
        </p:nvSpPr>
        <p:spPr>
          <a:xfrm>
            <a:off x="6116401" y="2879829"/>
            <a:ext cx="3578455" cy="102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Ciência de</a:t>
            </a:r>
          </a:p>
          <a:p>
            <a:pPr>
              <a:lnSpc>
                <a:spcPct val="100000"/>
              </a:lnSpc>
            </a:pPr>
            <a:r>
              <a:rPr lang="pt-BR" sz="3334" noProof="0">
                <a:solidFill>
                  <a:srgbClr val="FFFFFF"/>
                </a:solidFill>
                <a:latin typeface="Poppins Bold"/>
              </a:rPr>
              <a:t>Dados</a:t>
            </a:r>
          </a:p>
        </p:txBody>
      </p:sp>
    </p:spTree>
    <p:extLst>
      <p:ext uri="{BB962C8B-B14F-4D97-AF65-F5344CB8AC3E}">
        <p14:creationId xmlns:p14="http://schemas.microsoft.com/office/powerpoint/2010/main" val="177496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userDrawn="1">
  <p:cSld name="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;p2">
            <a:extLst>
              <a:ext uri="{FF2B5EF4-FFF2-40B4-BE49-F238E27FC236}">
                <a16:creationId xmlns:a16="http://schemas.microsoft.com/office/drawing/2014/main" id="{ECCB835E-A92E-1E72-1AFA-B8363F23E5A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12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7E8B65A-87AE-86A5-340D-2FBE25D6B577}"/>
              </a:ext>
            </a:extLst>
          </p:cNvPr>
          <p:cNvGrpSpPr/>
          <p:nvPr userDrawn="1"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10" name="Retângulo: Cantos Superiores Arredondados 9">
              <a:extLst>
                <a:ext uri="{FF2B5EF4-FFF2-40B4-BE49-F238E27FC236}">
                  <a16:creationId xmlns:a16="http://schemas.microsoft.com/office/drawing/2014/main" id="{12EC2C88-7ABA-C1BC-D23B-FCB9EB5A3E72}"/>
                </a:ext>
              </a:extLst>
            </p:cNvPr>
            <p:cNvSpPr/>
            <p:nvPr userDrawn="1"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BA4F216-17A4-7D86-8A56-1B824D28B84E}"/>
                </a:ext>
              </a:extLst>
            </p:cNvPr>
            <p:cNvSpPr/>
            <p:nvPr userDrawn="1"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2" name="Imagem 11" descr="Logotipo&#10;&#10;O conteúdo gerado por IA pode estar incorreto.">
            <a:extLst>
              <a:ext uri="{FF2B5EF4-FFF2-40B4-BE49-F238E27FC236}">
                <a16:creationId xmlns:a16="http://schemas.microsoft.com/office/drawing/2014/main" id="{183F2224-EAB0-650F-2FF6-DAA2F8C65D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566" t="26436" r="13369" b="26176"/>
          <a:stretch>
            <a:fillRect/>
          </a:stretch>
        </p:blipFill>
        <p:spPr>
          <a:xfrm>
            <a:off x="10534930" y="6126882"/>
            <a:ext cx="1539046" cy="69642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602C917-E802-D030-2E07-692B8420E6AE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D97C50F3-DF50-339D-2FB6-0E22FFDE0589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E4D2871-F9D6-3120-7AAC-351E16D49778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4688A2E2-0B80-5EB2-D3D4-8636BD2659D4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 preserve="1" userDrawn="1">
  <p:cSld name="2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p2">
            <a:extLst>
              <a:ext uri="{FF2B5EF4-FFF2-40B4-BE49-F238E27FC236}">
                <a16:creationId xmlns:a16="http://schemas.microsoft.com/office/drawing/2014/main" id="{B1FADC0B-1941-A0A5-16A0-A6F876CF44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5BAF0A12-409E-C05E-F07E-E3A1DE9C8BEC}"/>
              </a:ext>
            </a:extLst>
          </p:cNvPr>
          <p:cNvGrpSpPr/>
          <p:nvPr userDrawn="1"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B014E7D-823B-5CAD-1B7B-808954DA09AD}"/>
                </a:ext>
              </a:extLst>
            </p:cNvPr>
            <p:cNvSpPr/>
            <p:nvPr userDrawn="1"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6F1A2599-4910-4C99-9E26-CD29DBD86883}"/>
                </a:ext>
              </a:extLst>
            </p:cNvPr>
            <p:cNvSpPr/>
            <p:nvPr userDrawn="1"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97A9F40C-B69E-0C05-3A7A-8E7A96994DF3}"/>
                </a:ext>
              </a:extLst>
            </p:cNvPr>
            <p:cNvSpPr/>
            <p:nvPr userDrawn="1"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753BE2-99F0-4892-173B-5CB027D775FC}"/>
              </a:ext>
            </a:extLst>
          </p:cNvPr>
          <p:cNvSpPr txBox="1"/>
          <p:nvPr userDrawn="1"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2" name="Google Shape;643;p43">
            <a:extLst>
              <a:ext uri="{FF2B5EF4-FFF2-40B4-BE49-F238E27FC236}">
                <a16:creationId xmlns:a16="http://schemas.microsoft.com/office/drawing/2014/main" id="{C48BB9E0-E4E1-D9BE-BCF0-CCC4171FA07E}"/>
              </a:ext>
            </a:extLst>
          </p:cNvPr>
          <p:cNvSpPr txBox="1">
            <a:spLocks/>
          </p:cNvSpPr>
          <p:nvPr userDrawn="1"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3000" dirty="0">
                <a:solidFill>
                  <a:srgbClr val="FF161F"/>
                </a:solidFill>
              </a:rPr>
              <a:t>Orientações ao professor</a:t>
            </a:r>
          </a:p>
        </p:txBody>
      </p:sp>
    </p:spTree>
    <p:extLst>
      <p:ext uri="{BB962C8B-B14F-4D97-AF65-F5344CB8AC3E}">
        <p14:creationId xmlns:p14="http://schemas.microsoft.com/office/powerpoint/2010/main" val="419141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Construindo o conceit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203;p21">
            <a:extLst>
              <a:ext uri="{FF2B5EF4-FFF2-40B4-BE49-F238E27FC236}">
                <a16:creationId xmlns:a16="http://schemas.microsoft.com/office/drawing/2014/main" id="{9DDC5778-3EED-652F-B839-CCA84D3C4B2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3252" t="14556" r="41611" b="16115"/>
          <a:stretch/>
        </p:blipFill>
        <p:spPr>
          <a:xfrm rot="10800000">
            <a:off x="-7" y="-9602"/>
            <a:ext cx="3426937" cy="68958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EF9377-0BC9-8D48-6EB4-411B8F209D6B}"/>
              </a:ext>
            </a:extLst>
          </p:cNvPr>
          <p:cNvSpPr txBox="1"/>
          <p:nvPr userDrawn="1"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6" name="Espaço Reservado para Texto 47">
            <a:extLst>
              <a:ext uri="{FF2B5EF4-FFF2-40B4-BE49-F238E27FC236}">
                <a16:creationId xmlns:a16="http://schemas.microsoft.com/office/drawing/2014/main" id="{755FA726-716F-3542-967C-F40E41D892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43">
            <a:extLst>
              <a:ext uri="{FF2B5EF4-FFF2-40B4-BE49-F238E27FC236}">
                <a16:creationId xmlns:a16="http://schemas.microsoft.com/office/drawing/2014/main" id="{6DD254E5-84C4-DE1C-878B-C1F0C6EF46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cxnSp>
        <p:nvCxnSpPr>
          <p:cNvPr id="19" name="Google Shape;88;p34">
            <a:extLst>
              <a:ext uri="{FF2B5EF4-FFF2-40B4-BE49-F238E27FC236}">
                <a16:creationId xmlns:a16="http://schemas.microsoft.com/office/drawing/2014/main" id="{FE1D9FC3-6D9B-B93D-3FC4-EED1DE367639}"/>
              </a:ext>
            </a:extLst>
          </p:cNvPr>
          <p:cNvCxnSpPr/>
          <p:nvPr userDrawn="1"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1" name="Espaço Reservado para Imagem 19">
            <a:extLst>
              <a:ext uri="{FF2B5EF4-FFF2-40B4-BE49-F238E27FC236}">
                <a16:creationId xmlns:a16="http://schemas.microsoft.com/office/drawing/2014/main" id="{48C9A844-3232-91D6-F1BE-08A05DAF5A99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2" name="Espaço Reservado para Imagem 19">
            <a:extLst>
              <a:ext uri="{FF2B5EF4-FFF2-40B4-BE49-F238E27FC236}">
                <a16:creationId xmlns:a16="http://schemas.microsoft.com/office/drawing/2014/main" id="{52DA6ED4-41B5-4B53-F858-DAE25D5EF81D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33" name="Espaço Reservado para Texto 39">
            <a:extLst>
              <a:ext uri="{FF2B5EF4-FFF2-40B4-BE49-F238E27FC236}">
                <a16:creationId xmlns:a16="http://schemas.microsoft.com/office/drawing/2014/main" id="{2FE83759-B294-5EDA-9E23-31B986610B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4" name="Espaço Reservado para Texto 39">
            <a:extLst>
              <a:ext uri="{FF2B5EF4-FFF2-40B4-BE49-F238E27FC236}">
                <a16:creationId xmlns:a16="http://schemas.microsoft.com/office/drawing/2014/main" id="{5D113CEF-E91F-7BB5-0DA4-3F865EFA80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5" name="Espaço Reservado para Texto 39">
            <a:extLst>
              <a:ext uri="{FF2B5EF4-FFF2-40B4-BE49-F238E27FC236}">
                <a16:creationId xmlns:a16="http://schemas.microsoft.com/office/drawing/2014/main" id="{81D97A29-A43A-170D-D98B-E1396C280A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latin typeface="Poppins" pitchFamily="2" charset="77"/>
                <a:cs typeface="Poppins" pitchFamily="2" charset="77"/>
              </a:defRPr>
            </a:lvl1pPr>
            <a:lvl2pPr>
              <a:defRPr sz="800" b="0" i="0">
                <a:latin typeface="Poppins" pitchFamily="2" charset="77"/>
                <a:cs typeface="Poppins" pitchFamily="2" charset="77"/>
              </a:defRPr>
            </a:lvl2pPr>
            <a:lvl3pPr>
              <a:defRPr sz="800" b="0" i="0">
                <a:latin typeface="Poppins" pitchFamily="2" charset="77"/>
                <a:cs typeface="Poppins" pitchFamily="2" charset="77"/>
              </a:defRPr>
            </a:lvl3pPr>
            <a:lvl4pPr>
              <a:defRPr sz="800" b="0" i="0">
                <a:latin typeface="Poppins" pitchFamily="2" charset="77"/>
                <a:cs typeface="Poppins" pitchFamily="2" charset="77"/>
              </a:defRPr>
            </a:lvl4pPr>
            <a:lvl5pPr>
              <a:defRPr sz="8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endParaRPr lang="pt-BR"/>
          </a:p>
        </p:txBody>
      </p:sp>
      <p:sp>
        <p:nvSpPr>
          <p:cNvPr id="36" name="Espaço Reservado para Texto 43">
            <a:extLst>
              <a:ext uri="{FF2B5EF4-FFF2-40B4-BE49-F238E27FC236}">
                <a16:creationId xmlns:a16="http://schemas.microsoft.com/office/drawing/2014/main" id="{5D05F607-E546-6AD2-FF93-2136D2F7DD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7" name="Espaço Reservado para Texto 43">
            <a:extLst>
              <a:ext uri="{FF2B5EF4-FFF2-40B4-BE49-F238E27FC236}">
                <a16:creationId xmlns:a16="http://schemas.microsoft.com/office/drawing/2014/main" id="{BA3CB418-19BF-ECFB-4717-B021F57B43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</p:spPr>
        <p:txBody>
          <a:bodyPr/>
          <a:lstStyle>
            <a:lvl1pPr>
              <a:defRPr sz="1600" b="1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8" name="Espaço Reservado para Texto 47">
            <a:extLst>
              <a:ext uri="{FF2B5EF4-FFF2-40B4-BE49-F238E27FC236}">
                <a16:creationId xmlns:a16="http://schemas.microsoft.com/office/drawing/2014/main" id="{9C3691FD-77E0-0118-DDDB-AB5B29DDED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39" name="Espaço Reservado para Texto 47">
            <a:extLst>
              <a:ext uri="{FF2B5EF4-FFF2-40B4-BE49-F238E27FC236}">
                <a16:creationId xmlns:a16="http://schemas.microsoft.com/office/drawing/2014/main" id="{BE35D090-5B46-6B7E-65CC-038E7D55EC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</p:spPr>
        <p:txBody>
          <a:bodyPr/>
          <a:lstStyle>
            <a:lvl1pPr>
              <a:defRPr sz="1333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40" name="Espaço Reservado para Imagem 19">
            <a:extLst>
              <a:ext uri="{FF2B5EF4-FFF2-40B4-BE49-F238E27FC236}">
                <a16:creationId xmlns:a16="http://schemas.microsoft.com/office/drawing/2014/main" id="{319C1E82-707A-75C5-9E1C-C580DB68724F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 sz="800">
              <a:latin typeface="Poppins Light" pitchFamily="2" charset="77"/>
              <a:cs typeface="Poppins Light" pitchFamily="2" charset="77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21DB738-C39B-524C-4D53-7964BB29E068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101;p34">
            <a:extLst>
              <a:ext uri="{FF2B5EF4-FFF2-40B4-BE49-F238E27FC236}">
                <a16:creationId xmlns:a16="http://schemas.microsoft.com/office/drawing/2014/main" id="{B6F54763-1AF3-C03E-A278-BF8F7406A01E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98271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 preserve="1" userDrawn="1">
  <p:cSld name="2_1. Conteud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2;p4">
            <a:extLst>
              <a:ext uri="{FF2B5EF4-FFF2-40B4-BE49-F238E27FC236}">
                <a16:creationId xmlns:a16="http://schemas.microsoft.com/office/drawing/2014/main" id="{0441BF1F-C7EE-076D-0E64-5ADFC9612C2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3;p4">
            <a:extLst>
              <a:ext uri="{FF2B5EF4-FFF2-40B4-BE49-F238E27FC236}">
                <a16:creationId xmlns:a16="http://schemas.microsoft.com/office/drawing/2014/main" id="{9951514B-0229-7045-2962-7AE28BD6721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Conector reto 136">
            <a:extLst>
              <a:ext uri="{FF2B5EF4-FFF2-40B4-BE49-F238E27FC236}">
                <a16:creationId xmlns:a16="http://schemas.microsoft.com/office/drawing/2014/main" id="{28ED8E59-867A-4118-491D-688DDC058D38}"/>
              </a:ext>
            </a:extLst>
          </p:cNvPr>
          <p:cNvCxnSpPr/>
          <p:nvPr userDrawn="1"/>
        </p:nvCxnSpPr>
        <p:spPr>
          <a:xfrm>
            <a:off x="6090044" y="840916"/>
            <a:ext cx="0" cy="5101049"/>
          </a:xfrm>
          <a:prstGeom prst="line">
            <a:avLst/>
          </a:prstGeom>
          <a:ln w="381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0;p31">
            <a:extLst>
              <a:ext uri="{FF2B5EF4-FFF2-40B4-BE49-F238E27FC236}">
                <a16:creationId xmlns:a16="http://schemas.microsoft.com/office/drawing/2014/main" id="{FB7070B6-E757-A6E0-8016-A32842AE691E}"/>
              </a:ext>
            </a:extLst>
          </p:cNvPr>
          <p:cNvSpPr txBox="1"/>
          <p:nvPr userDrawn="1"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29;p31">
            <a:extLst>
              <a:ext uri="{FF2B5EF4-FFF2-40B4-BE49-F238E27FC236}">
                <a16:creationId xmlns:a16="http://schemas.microsoft.com/office/drawing/2014/main" id="{741C94F6-1F01-E259-385F-4E743D12E89E}"/>
              </a:ext>
            </a:extLst>
          </p:cNvPr>
          <p:cNvSpPr txBox="1"/>
          <p:nvPr userDrawn="1"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27;p31">
            <a:extLst>
              <a:ext uri="{FF2B5EF4-FFF2-40B4-BE49-F238E27FC236}">
                <a16:creationId xmlns:a16="http://schemas.microsoft.com/office/drawing/2014/main" id="{D3A1B340-B3C1-6E5A-098C-780E2B17C68B}"/>
              </a:ext>
            </a:extLst>
          </p:cNvPr>
          <p:cNvSpPr txBox="1"/>
          <p:nvPr userDrawn="1"/>
        </p:nvSpPr>
        <p:spPr>
          <a:xfrm>
            <a:off x="1433188" y="2836870"/>
            <a:ext cx="3369028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28;p31">
            <a:extLst>
              <a:ext uri="{FF2B5EF4-FFF2-40B4-BE49-F238E27FC236}">
                <a16:creationId xmlns:a16="http://schemas.microsoft.com/office/drawing/2014/main" id="{5B559A0E-AD04-115A-BF39-7DBA374B9335}"/>
              </a:ext>
            </a:extLst>
          </p:cNvPr>
          <p:cNvSpPr txBox="1"/>
          <p:nvPr userDrawn="1"/>
        </p:nvSpPr>
        <p:spPr>
          <a:xfrm>
            <a:off x="1445466" y="4991389"/>
            <a:ext cx="3267249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29;p31">
            <a:extLst>
              <a:ext uri="{FF2B5EF4-FFF2-40B4-BE49-F238E27FC236}">
                <a16:creationId xmlns:a16="http://schemas.microsoft.com/office/drawing/2014/main" id="{EE47DDFB-5B6D-7333-B980-89821CD5C453}"/>
              </a:ext>
            </a:extLst>
          </p:cNvPr>
          <p:cNvSpPr txBox="1"/>
          <p:nvPr userDrawn="1"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lang="pt-BR"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40945717-DA64-748C-A1D1-9DD06F304E75}"/>
              </a:ext>
            </a:extLst>
          </p:cNvPr>
          <p:cNvSpPr txBox="1"/>
          <p:nvPr userDrawn="1"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6" name="Google Shape;359;p5">
            <a:extLst>
              <a:ext uri="{FF2B5EF4-FFF2-40B4-BE49-F238E27FC236}">
                <a16:creationId xmlns:a16="http://schemas.microsoft.com/office/drawing/2014/main" id="{0B37A977-D54F-7CA4-065E-4F5646195719}"/>
              </a:ext>
            </a:extLst>
          </p:cNvPr>
          <p:cNvSpPr txBox="1"/>
          <p:nvPr userDrawn="1"/>
        </p:nvSpPr>
        <p:spPr>
          <a:xfrm>
            <a:off x="1395562" y="5421233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rPr>
              <a:t>50 minutos.</a:t>
            </a:r>
          </a:p>
        </p:txBody>
      </p:sp>
      <p:sp>
        <p:nvSpPr>
          <p:cNvPr id="57" name="Espaço Reservado para Texto 7">
            <a:extLst>
              <a:ext uri="{FF2B5EF4-FFF2-40B4-BE49-F238E27FC236}">
                <a16:creationId xmlns:a16="http://schemas.microsoft.com/office/drawing/2014/main" id="{9D3B3D7B-3AB2-D2E0-42C8-BEE1A273FF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/>
          <a:lstStyle>
            <a:lvl1pPr marL="228611" indent="-228611">
              <a:buClr>
                <a:schemeClr val="tx1"/>
              </a:buClr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8" name="Espaço Reservado para Texto 7">
            <a:extLst>
              <a:ext uri="{FF2B5EF4-FFF2-40B4-BE49-F238E27FC236}">
                <a16:creationId xmlns:a16="http://schemas.microsoft.com/office/drawing/2014/main" id="{2B4474D7-F7C1-8A04-F7F3-06AE90E020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59" name="Espaço Reservado para Texto 7">
            <a:extLst>
              <a:ext uri="{FF2B5EF4-FFF2-40B4-BE49-F238E27FC236}">
                <a16:creationId xmlns:a16="http://schemas.microsoft.com/office/drawing/2014/main" id="{750A0485-F79D-BB58-9F3F-FA9A892659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0" name="Espaço Reservado para Texto 7">
            <a:extLst>
              <a:ext uri="{FF2B5EF4-FFF2-40B4-BE49-F238E27FC236}">
                <a16:creationId xmlns:a16="http://schemas.microsoft.com/office/drawing/2014/main" id="{E690A38C-21A5-1DD3-8FD9-05A05F954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3515" y="3415678"/>
            <a:ext cx="4044985" cy="1045573"/>
          </a:xfrm>
          <a:prstGeom prst="rect">
            <a:avLst/>
          </a:prstGeom>
        </p:spPr>
        <p:txBody>
          <a:bodyPr/>
          <a:lstStyle>
            <a:lvl1pPr marL="228611" indent="-228611">
              <a:buFont typeface="Arial" panose="020B0604020202020204" pitchFamily="34" charset="0"/>
              <a:buChar char="•"/>
              <a:defRPr sz="15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61" name="Google Shape;26;p31">
            <a:extLst>
              <a:ext uri="{FF2B5EF4-FFF2-40B4-BE49-F238E27FC236}">
                <a16:creationId xmlns:a16="http://schemas.microsoft.com/office/drawing/2014/main" id="{94671E74-5053-0B75-2554-2EC14FBC543F}"/>
              </a:ext>
            </a:extLst>
          </p:cNvPr>
          <p:cNvSpPr/>
          <p:nvPr userDrawn="1"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42;p31">
            <a:extLst>
              <a:ext uri="{FF2B5EF4-FFF2-40B4-BE49-F238E27FC236}">
                <a16:creationId xmlns:a16="http://schemas.microsoft.com/office/drawing/2014/main" id="{9872EE60-7A4F-1BA5-6C65-F74323570E69}"/>
              </a:ext>
            </a:extLst>
          </p:cNvPr>
          <p:cNvSpPr/>
          <p:nvPr userDrawn="1"/>
        </p:nvSpPr>
        <p:spPr>
          <a:xfrm>
            <a:off x="514540" y="289194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44;p31">
            <a:extLst>
              <a:ext uri="{FF2B5EF4-FFF2-40B4-BE49-F238E27FC236}">
                <a16:creationId xmlns:a16="http://schemas.microsoft.com/office/drawing/2014/main" id="{E7AF0D48-4EAB-4341-56B9-E5180E18D687}"/>
              </a:ext>
            </a:extLst>
          </p:cNvPr>
          <p:cNvGrpSpPr/>
          <p:nvPr userDrawn="1"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71" name="Google Shape;45;p31">
              <a:extLst>
                <a:ext uri="{FF2B5EF4-FFF2-40B4-BE49-F238E27FC236}">
                  <a16:creationId xmlns:a16="http://schemas.microsoft.com/office/drawing/2014/main" id="{25EE43B4-55D5-638C-B8E0-7683EE07DEFE}"/>
                </a:ext>
              </a:extLst>
            </p:cNvPr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5" name="Google Shape;46;p31">
                <a:extLst>
                  <a:ext uri="{FF2B5EF4-FFF2-40B4-BE49-F238E27FC236}">
                    <a16:creationId xmlns:a16="http://schemas.microsoft.com/office/drawing/2014/main" id="{D06AC268-D753-3703-84A7-70B8CEE1953D}"/>
                  </a:ext>
                </a:extLst>
              </p:cNvPr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47;p31">
                <a:extLst>
                  <a:ext uri="{FF2B5EF4-FFF2-40B4-BE49-F238E27FC236}">
                    <a16:creationId xmlns:a16="http://schemas.microsoft.com/office/drawing/2014/main" id="{3CA9B3D1-6574-F459-2D19-20757E9DA548}"/>
                  </a:ext>
                </a:extLst>
              </p:cNvPr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48;p31">
              <a:extLst>
                <a:ext uri="{FF2B5EF4-FFF2-40B4-BE49-F238E27FC236}">
                  <a16:creationId xmlns:a16="http://schemas.microsoft.com/office/drawing/2014/main" id="{9C48133A-5E44-59D4-D07A-9F4DA1DB4FB6}"/>
                </a:ext>
              </a:extLst>
            </p:cNvPr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49;p31">
              <a:extLst>
                <a:ext uri="{FF2B5EF4-FFF2-40B4-BE49-F238E27FC236}">
                  <a16:creationId xmlns:a16="http://schemas.microsoft.com/office/drawing/2014/main" id="{52692079-AC69-2A35-9041-6474957E1B76}"/>
                </a:ext>
              </a:extLst>
            </p:cNvPr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0;p31">
              <a:extLst>
                <a:ext uri="{FF2B5EF4-FFF2-40B4-BE49-F238E27FC236}">
                  <a16:creationId xmlns:a16="http://schemas.microsoft.com/office/drawing/2014/main" id="{DF1F27D0-EFFF-7207-95F6-31380C6AD755}"/>
                </a:ext>
              </a:extLst>
            </p:cNvPr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43;p31">
            <a:extLst>
              <a:ext uri="{FF2B5EF4-FFF2-40B4-BE49-F238E27FC236}">
                <a16:creationId xmlns:a16="http://schemas.microsoft.com/office/drawing/2014/main" id="{6105EC4C-2897-6550-3658-7F87FDA2E46D}"/>
              </a:ext>
            </a:extLst>
          </p:cNvPr>
          <p:cNvSpPr/>
          <p:nvPr userDrawn="1"/>
        </p:nvSpPr>
        <p:spPr>
          <a:xfrm>
            <a:off x="516205" y="5041837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51;p31">
            <a:extLst>
              <a:ext uri="{FF2B5EF4-FFF2-40B4-BE49-F238E27FC236}">
                <a16:creationId xmlns:a16="http://schemas.microsoft.com/office/drawing/2014/main" id="{73A799AF-B157-40EC-DCBE-B8FCFBE7F3C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58917" y="5200319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41;p31">
            <a:extLst>
              <a:ext uri="{FF2B5EF4-FFF2-40B4-BE49-F238E27FC236}">
                <a16:creationId xmlns:a16="http://schemas.microsoft.com/office/drawing/2014/main" id="{B3B56EED-70D4-931C-A420-FE71A037A5B3}"/>
              </a:ext>
            </a:extLst>
          </p:cNvPr>
          <p:cNvSpPr/>
          <p:nvPr userDrawn="1"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52;p31">
            <a:extLst>
              <a:ext uri="{FF2B5EF4-FFF2-40B4-BE49-F238E27FC236}">
                <a16:creationId xmlns:a16="http://schemas.microsoft.com/office/drawing/2014/main" id="{150405F6-AD92-3E93-A0F2-62123F63C231}"/>
              </a:ext>
            </a:extLst>
          </p:cNvPr>
          <p:cNvGrpSpPr/>
          <p:nvPr userDrawn="1"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81" name="Google Shape;53;p31">
              <a:extLst>
                <a:ext uri="{FF2B5EF4-FFF2-40B4-BE49-F238E27FC236}">
                  <a16:creationId xmlns:a16="http://schemas.microsoft.com/office/drawing/2014/main" id="{E89D22AA-CDF5-F8EF-533A-455BBF7ED376}"/>
                </a:ext>
              </a:extLst>
            </p:cNvPr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54;p31">
              <a:extLst>
                <a:ext uri="{FF2B5EF4-FFF2-40B4-BE49-F238E27FC236}">
                  <a16:creationId xmlns:a16="http://schemas.microsoft.com/office/drawing/2014/main" id="{34CAB52C-B8E8-A6A1-22C9-58CFDA6BF939}"/>
                </a:ext>
              </a:extLst>
            </p:cNvPr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83" name="Google Shape;55;p31">
                <a:extLst>
                  <a:ext uri="{FF2B5EF4-FFF2-40B4-BE49-F238E27FC236}">
                    <a16:creationId xmlns:a16="http://schemas.microsoft.com/office/drawing/2014/main" id="{0380A354-0C36-FBBD-5A99-BEB6A92922F2}"/>
                  </a:ext>
                </a:extLst>
              </p:cNvPr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;p31">
                <a:extLst>
                  <a:ext uri="{FF2B5EF4-FFF2-40B4-BE49-F238E27FC236}">
                    <a16:creationId xmlns:a16="http://schemas.microsoft.com/office/drawing/2014/main" id="{B3EF03DC-1D7C-1510-0CD0-0F69395B797F}"/>
                  </a:ext>
                </a:extLst>
              </p:cNvPr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7;p31">
                <a:extLst>
                  <a:ext uri="{FF2B5EF4-FFF2-40B4-BE49-F238E27FC236}">
                    <a16:creationId xmlns:a16="http://schemas.microsoft.com/office/drawing/2014/main" id="{42F9CEE5-E68B-076C-BB6F-7A025F686840}"/>
                  </a:ext>
                </a:extLst>
              </p:cNvPr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8;p31">
                <a:extLst>
                  <a:ext uri="{FF2B5EF4-FFF2-40B4-BE49-F238E27FC236}">
                    <a16:creationId xmlns:a16="http://schemas.microsoft.com/office/drawing/2014/main" id="{99B7DFE5-0CDE-9C9C-3FD3-49285C4CFB39}"/>
                  </a:ext>
                </a:extLst>
              </p:cNvPr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9;p31">
                <a:extLst>
                  <a:ext uri="{FF2B5EF4-FFF2-40B4-BE49-F238E27FC236}">
                    <a16:creationId xmlns:a16="http://schemas.microsoft.com/office/drawing/2014/main" id="{0F963431-0407-0C32-190B-BA13628B3689}"/>
                  </a:ext>
                </a:extLst>
              </p:cNvPr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0;p31">
                <a:extLst>
                  <a:ext uri="{FF2B5EF4-FFF2-40B4-BE49-F238E27FC236}">
                    <a16:creationId xmlns:a16="http://schemas.microsoft.com/office/drawing/2014/main" id="{F439FC39-5565-97D2-9A14-46058DB5EF62}"/>
                  </a:ext>
                </a:extLst>
              </p:cNvPr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" name="Google Shape;41;p31">
            <a:extLst>
              <a:ext uri="{FF2B5EF4-FFF2-40B4-BE49-F238E27FC236}">
                <a16:creationId xmlns:a16="http://schemas.microsoft.com/office/drawing/2014/main" id="{4FB79224-C783-AB92-7785-7C018D12A249}"/>
              </a:ext>
            </a:extLst>
          </p:cNvPr>
          <p:cNvSpPr/>
          <p:nvPr userDrawn="1"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3E3593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2215;p100">
            <a:extLst>
              <a:ext uri="{FF2B5EF4-FFF2-40B4-BE49-F238E27FC236}">
                <a16:creationId xmlns:a16="http://schemas.microsoft.com/office/drawing/2014/main" id="{0E0D728E-3A33-4EF4-5212-177932EB7D37}"/>
              </a:ext>
            </a:extLst>
          </p:cNvPr>
          <p:cNvSpPr/>
          <p:nvPr userDrawn="1"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C464C-51C2-DB3D-4C1D-F67CB5B688F7}"/>
              </a:ext>
            </a:extLst>
          </p:cNvPr>
          <p:cNvSpPr txBox="1"/>
          <p:nvPr userDrawn="1"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grpSp>
        <p:nvGrpSpPr>
          <p:cNvPr id="7" name="Google Shape;34;p31">
            <a:extLst>
              <a:ext uri="{FF2B5EF4-FFF2-40B4-BE49-F238E27FC236}">
                <a16:creationId xmlns:a16="http://schemas.microsoft.com/office/drawing/2014/main" id="{C430FFE2-579C-F0FF-C290-CF4D2EB9FE97}"/>
              </a:ext>
            </a:extLst>
          </p:cNvPr>
          <p:cNvGrpSpPr/>
          <p:nvPr userDrawn="1"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9" name="Google Shape;35;p31">
              <a:extLst>
                <a:ext uri="{FF2B5EF4-FFF2-40B4-BE49-F238E27FC236}">
                  <a16:creationId xmlns:a16="http://schemas.microsoft.com/office/drawing/2014/main" id="{75DCD9A7-81F9-4D17-9997-5B22594BE3C9}"/>
                </a:ext>
              </a:extLst>
            </p:cNvPr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4" name="Google Shape;36;p31">
                <a:extLst>
                  <a:ext uri="{FF2B5EF4-FFF2-40B4-BE49-F238E27FC236}">
                    <a16:creationId xmlns:a16="http://schemas.microsoft.com/office/drawing/2014/main" id="{90EABD33-493E-E54A-1A23-1BA99D60F8B0}"/>
                  </a:ext>
                </a:extLst>
              </p:cNvPr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7;p31">
                <a:extLst>
                  <a:ext uri="{FF2B5EF4-FFF2-40B4-BE49-F238E27FC236}">
                    <a16:creationId xmlns:a16="http://schemas.microsoft.com/office/drawing/2014/main" id="{A8D933AC-72DA-D72F-77D3-A7207C548944}"/>
                  </a:ext>
                </a:extLst>
              </p:cNvPr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8;p31">
                <a:extLst>
                  <a:ext uri="{FF2B5EF4-FFF2-40B4-BE49-F238E27FC236}">
                    <a16:creationId xmlns:a16="http://schemas.microsoft.com/office/drawing/2014/main" id="{4A4515EE-AAD5-6566-FB77-56CD51465C34}"/>
                  </a:ext>
                </a:extLst>
              </p:cNvPr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" name="Google Shape;39;p31">
              <a:extLst>
                <a:ext uri="{FF2B5EF4-FFF2-40B4-BE49-F238E27FC236}">
                  <a16:creationId xmlns:a16="http://schemas.microsoft.com/office/drawing/2014/main" id="{C178D74F-1BD9-301F-4848-BDD92A8BD252}"/>
                </a:ext>
              </a:extLst>
            </p:cNvPr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40;p31">
              <a:extLst>
                <a:ext uri="{FF2B5EF4-FFF2-40B4-BE49-F238E27FC236}">
                  <a16:creationId xmlns:a16="http://schemas.microsoft.com/office/drawing/2014/main" id="{2FB8305B-313B-9DA6-397B-FD10C2E02AD9}"/>
                </a:ext>
              </a:extLst>
            </p:cNvPr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278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 preserve="1" userDrawn="1">
  <p:cSld name="2_3. Conteud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3;p10">
            <a:extLst>
              <a:ext uri="{FF2B5EF4-FFF2-40B4-BE49-F238E27FC236}">
                <a16:creationId xmlns:a16="http://schemas.microsoft.com/office/drawing/2014/main" id="{26C887E2-6D51-2B98-F59D-D1CE876C9BA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2786"/>
          <a:stretch/>
        </p:blipFill>
        <p:spPr>
          <a:xfrm>
            <a:off x="2" y="0"/>
            <a:ext cx="30956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629DCF7-1539-BE5D-0ABA-0CD8677BB09A}"/>
              </a:ext>
            </a:extLst>
          </p:cNvPr>
          <p:cNvSpPr txBox="1"/>
          <p:nvPr userDrawn="1"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4065A3E7-CBB3-DD59-24FC-B5AAEBB7F49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sz="16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Espaço Reservado para Texto 9">
            <a:extLst>
              <a:ext uri="{FF2B5EF4-FFF2-40B4-BE49-F238E27FC236}">
                <a16:creationId xmlns:a16="http://schemas.microsoft.com/office/drawing/2014/main" id="{F4FE14C4-C438-D68E-A10E-2CC8A26ACD0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pt-BR" sz="16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etângulo: Cantos Arredondados 4">
            <a:extLst>
              <a:ext uri="{FF2B5EF4-FFF2-40B4-BE49-F238E27FC236}">
                <a16:creationId xmlns:a16="http://schemas.microsoft.com/office/drawing/2014/main" id="{AEA8D7DF-FADB-AA76-FDD0-1FEB1B5CDAE4}"/>
              </a:ext>
            </a:extLst>
          </p:cNvPr>
          <p:cNvSpPr/>
          <p:nvPr userDrawn="1"/>
        </p:nvSpPr>
        <p:spPr>
          <a:xfrm>
            <a:off x="200185" y="269162"/>
            <a:ext cx="2290073" cy="167139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oogle Shape;82;p33">
            <a:extLst>
              <a:ext uri="{FF2B5EF4-FFF2-40B4-BE49-F238E27FC236}">
                <a16:creationId xmlns:a16="http://schemas.microsoft.com/office/drawing/2014/main" id="{40A011D1-4F31-569F-395E-3E797DEA1A92}"/>
              </a:ext>
            </a:extLst>
          </p:cNvPr>
          <p:cNvSpPr txBox="1"/>
          <p:nvPr userDrawn="1"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614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95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preserve="1" userDrawn="1">
  <p:cSld name="3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3;p21">
            <a:extLst>
              <a:ext uri="{FF2B5EF4-FFF2-40B4-BE49-F238E27FC236}">
                <a16:creationId xmlns:a16="http://schemas.microsoft.com/office/drawing/2014/main" id="{04070031-126A-1C18-A638-9AC483966A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E3EABF6E-626A-0802-C919-B97335045E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24C57C54-2E58-E7B5-ECF5-2C905E340D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4" name="Retângulo: Cantos Arredondados 5">
            <a:extLst>
              <a:ext uri="{FF2B5EF4-FFF2-40B4-BE49-F238E27FC236}">
                <a16:creationId xmlns:a16="http://schemas.microsoft.com/office/drawing/2014/main" id="{E54A40AD-AEB9-7954-A784-4D35F4C8EF53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231;p21">
            <a:extLst>
              <a:ext uri="{FF2B5EF4-FFF2-40B4-BE49-F238E27FC236}">
                <a16:creationId xmlns:a16="http://schemas.microsoft.com/office/drawing/2014/main" id="{D2575EE3-ED62-564F-A662-EE119EE1CE2B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74130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 preserve="1" userDrawn="1">
  <p:cSld name="2_Atividade_embranco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0416F6-09BD-9981-848C-F13A11B9AE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4" name="Espaço Reservado para Mídia 3">
            <a:extLst>
              <a:ext uri="{FF2B5EF4-FFF2-40B4-BE49-F238E27FC236}">
                <a16:creationId xmlns:a16="http://schemas.microsoft.com/office/drawing/2014/main" id="{93F045AC-FA97-1D94-5C54-6BC8931024B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8226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03;p21">
            <a:extLst>
              <a:ext uri="{FF2B5EF4-FFF2-40B4-BE49-F238E27FC236}">
                <a16:creationId xmlns:a16="http://schemas.microsoft.com/office/drawing/2014/main" id="{C2D53C5C-653B-C871-5FD5-4980C285D2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29" t="12285" r="30240" b="18386"/>
          <a:stretch/>
        </p:blipFill>
        <p:spPr>
          <a:xfrm rot="10800000">
            <a:off x="0" y="12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E59468D-1BD9-BE75-3019-E5F5611E1086}"/>
              </a:ext>
            </a:extLst>
          </p:cNvPr>
          <p:cNvSpPr/>
          <p:nvPr userDrawn="1"/>
        </p:nvSpPr>
        <p:spPr>
          <a:xfrm>
            <a:off x="5260792" y="304269"/>
            <a:ext cx="6553729" cy="556821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Google Shape;146;p12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4A24CA4-AA45-E069-3331-6863E624A858}"/>
              </a:ext>
            </a:extLst>
          </p:cNvPr>
          <p:cNvSpPr txBox="1"/>
          <p:nvPr userDrawn="1"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 userDrawn="1">
  <p:cSld name="5_OqueAprendemo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316;p32">
            <a:extLst>
              <a:ext uri="{FF2B5EF4-FFF2-40B4-BE49-F238E27FC236}">
                <a16:creationId xmlns:a16="http://schemas.microsoft.com/office/drawing/2014/main" id="{7C738FF4-2E01-8DDD-6839-4D26CF39941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961" t="437" r="51208"/>
          <a:stretch/>
        </p:blipFill>
        <p:spPr>
          <a:xfrm>
            <a:off x="0" y="0"/>
            <a:ext cx="37752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2" name="Google Shape;345;p32">
            <a:extLst>
              <a:ext uri="{FF2B5EF4-FFF2-40B4-BE49-F238E27FC236}">
                <a16:creationId xmlns:a16="http://schemas.microsoft.com/office/drawing/2014/main" id="{D958A6C2-8B71-D5A0-1C68-95723A4C4FE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347;p32">
            <a:extLst>
              <a:ext uri="{FF2B5EF4-FFF2-40B4-BE49-F238E27FC236}">
                <a16:creationId xmlns:a16="http://schemas.microsoft.com/office/drawing/2014/main" id="{D60E57C9-84D4-8D99-0D6C-C59B32F7C6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" name="Google Shape;349;p32">
            <a:extLst>
              <a:ext uri="{FF2B5EF4-FFF2-40B4-BE49-F238E27FC236}">
                <a16:creationId xmlns:a16="http://schemas.microsoft.com/office/drawing/2014/main" id="{142C7AEA-387E-A052-1D08-8A416B8497BB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152408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233;p39">
            <a:extLst>
              <a:ext uri="{FF2B5EF4-FFF2-40B4-BE49-F238E27FC236}">
                <a16:creationId xmlns:a16="http://schemas.microsoft.com/office/drawing/2014/main" id="{23D223AE-6B47-5244-85DA-E25526DF3862}"/>
              </a:ext>
            </a:extLst>
          </p:cNvPr>
          <p:cNvSpPr txBox="1"/>
          <p:nvPr userDrawn="1"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35;p39">
            <a:extLst>
              <a:ext uri="{FF2B5EF4-FFF2-40B4-BE49-F238E27FC236}">
                <a16:creationId xmlns:a16="http://schemas.microsoft.com/office/drawing/2014/main" id="{607A1E13-022D-D9F1-086C-636AF8EAE3BA}"/>
              </a:ext>
            </a:extLst>
          </p:cNvPr>
          <p:cNvSpPr txBox="1"/>
          <p:nvPr userDrawn="1"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37;p39">
            <a:extLst>
              <a:ext uri="{FF2B5EF4-FFF2-40B4-BE49-F238E27FC236}">
                <a16:creationId xmlns:a16="http://schemas.microsoft.com/office/drawing/2014/main" id="{2E8F90B6-2731-530A-A552-FC88DAE9F7F9}"/>
              </a:ext>
            </a:extLst>
          </p:cNvPr>
          <p:cNvSpPr txBox="1"/>
          <p:nvPr userDrawn="1"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BE2669-C701-CF93-6C9B-1A151924C387}"/>
              </a:ext>
            </a:extLst>
          </p:cNvPr>
          <p:cNvSpPr txBox="1"/>
          <p:nvPr userDrawn="1"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3" name="Google Shape;689;p48">
            <a:extLst>
              <a:ext uri="{FF2B5EF4-FFF2-40B4-BE49-F238E27FC236}">
                <a16:creationId xmlns:a16="http://schemas.microsoft.com/office/drawing/2014/main" id="{220F0828-C5F9-6326-9F63-5557E153B4D2}"/>
              </a:ext>
            </a:extLst>
          </p:cNvPr>
          <p:cNvSpPr txBox="1">
            <a:spLocks/>
          </p:cNvSpPr>
          <p:nvPr userDrawn="1"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40"/>
              </a:spcBef>
              <a:buSzPts val="1200"/>
              <a:buFont typeface="Arial" pitchFamily="34" charset="0"/>
              <a:buNone/>
            </a:pPr>
            <a:r>
              <a:rPr lang="pt-BR" sz="8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© Getty </a:t>
            </a:r>
            <a:r>
              <a:rPr lang="pt-BR" sz="800" err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Images</a:t>
            </a:r>
            <a:endParaRPr lang="pt-BR" sz="80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0" name="Retângulo: Cantos Arredondados 2">
            <a:extLst>
              <a:ext uri="{FF2B5EF4-FFF2-40B4-BE49-F238E27FC236}">
                <a16:creationId xmlns:a16="http://schemas.microsoft.com/office/drawing/2014/main" id="{E52BCB1E-2264-C18C-DC71-5427E6E08C6F}"/>
              </a:ext>
            </a:extLst>
          </p:cNvPr>
          <p:cNvSpPr/>
          <p:nvPr userDrawn="1"/>
        </p:nvSpPr>
        <p:spPr>
          <a:xfrm>
            <a:off x="1827147" y="369589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Google Shape;353;p32">
            <a:extLst>
              <a:ext uri="{FF2B5EF4-FFF2-40B4-BE49-F238E27FC236}">
                <a16:creationId xmlns:a16="http://schemas.microsoft.com/office/drawing/2014/main" id="{E634C2A7-8792-1681-7060-6F0CA17E9BE2}"/>
              </a:ext>
            </a:extLst>
          </p:cNvPr>
          <p:cNvSpPr txBox="1"/>
          <p:nvPr userDrawn="1"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lang="pt-BR" sz="2333" b="0" i="0" u="none" strike="noStrike" cap="none" noProof="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5588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 userDrawn="1">
  <p:cSld name="4_Atividade_Seminario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;p4">
            <a:extLst>
              <a:ext uri="{FF2B5EF4-FFF2-40B4-BE49-F238E27FC236}">
                <a16:creationId xmlns:a16="http://schemas.microsoft.com/office/drawing/2014/main" id="{96D0DE7F-92AF-A646-0FF2-A77FC5D2471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79131217-7207-B376-583C-711407C3744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>
            <a:spLocks noGrp="1"/>
          </p:cNvSpPr>
          <p:nvPr>
            <p:ph type="body" idx="5"/>
          </p:nvPr>
        </p:nvSpPr>
        <p:spPr>
          <a:xfrm>
            <a:off x="1450528" y="1854200"/>
            <a:ext cx="8305873" cy="382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609630" marR="0" lvl="1" indent="-270947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914446" marR="0" lvl="2" indent="-254013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219261" marR="0" lvl="3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1524076" marR="0" lvl="4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1828891" marR="0" lvl="5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2133707" marR="0" lvl="6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2438522" marR="0" lvl="7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2743337" marR="0" lvl="8" indent="-237079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" name="Google Shape;624;p42">
            <a:extLst>
              <a:ext uri="{FF2B5EF4-FFF2-40B4-BE49-F238E27FC236}">
                <a16:creationId xmlns:a16="http://schemas.microsoft.com/office/drawing/2014/main" id="{690D8EE8-5EA4-845E-6984-D0C986969508}"/>
              </a:ext>
            </a:extLst>
          </p:cNvPr>
          <p:cNvSpPr txBox="1"/>
          <p:nvPr userDrawn="1"/>
        </p:nvSpPr>
        <p:spPr>
          <a:xfrm>
            <a:off x="1450528" y="1180890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noProof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  <a:r>
              <a:rPr lang="en-US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9309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preserve="1" userDrawn="1">
  <p:cSld name="1_Título e Conteú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;p4">
            <a:extLst>
              <a:ext uri="{FF2B5EF4-FFF2-40B4-BE49-F238E27FC236}">
                <a16:creationId xmlns:a16="http://schemas.microsoft.com/office/drawing/2014/main" id="{5E705E55-01E4-945B-7072-330DFCE9FFC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3;p4">
            <a:extLst>
              <a:ext uri="{FF2B5EF4-FFF2-40B4-BE49-F238E27FC236}">
                <a16:creationId xmlns:a16="http://schemas.microsoft.com/office/drawing/2014/main" id="{F49E36B5-2934-9CA4-7B2E-4F438B27C5E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77D9E9D2-505F-0E7C-E845-C5678130B47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endParaRPr lang="pt-BR"/>
          </a:p>
        </p:txBody>
      </p:sp>
      <p:sp>
        <p:nvSpPr>
          <p:cNvPr id="7" name="Espaço Reservado para Texto 8">
            <a:extLst>
              <a:ext uri="{FF2B5EF4-FFF2-40B4-BE49-F238E27FC236}">
                <a16:creationId xmlns:a16="http://schemas.microsoft.com/office/drawing/2014/main" id="{B79890C7-E0F3-5660-10F8-DFF87BDAC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8" name="Espaço Reservado para Texto 8">
            <a:extLst>
              <a:ext uri="{FF2B5EF4-FFF2-40B4-BE49-F238E27FC236}">
                <a16:creationId xmlns:a16="http://schemas.microsoft.com/office/drawing/2014/main" id="{54D85AE8-3082-9CC0-AA41-526BEEC898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</p:spPr>
        <p:txBody>
          <a:bodyPr/>
          <a:lstStyle>
            <a:lvl1pPr>
              <a:defRPr sz="16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pt-BR"/>
          </a:p>
        </p:txBody>
      </p:sp>
      <p:sp>
        <p:nvSpPr>
          <p:cNvPr id="4" name="Retângulo: Cantos Arredondados 6">
            <a:extLst>
              <a:ext uri="{FF2B5EF4-FFF2-40B4-BE49-F238E27FC236}">
                <a16:creationId xmlns:a16="http://schemas.microsoft.com/office/drawing/2014/main" id="{310621BB-84BB-3C24-B622-D3878FFFB1CA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101;p34">
            <a:extLst>
              <a:ext uri="{FF2B5EF4-FFF2-40B4-BE49-F238E27FC236}">
                <a16:creationId xmlns:a16="http://schemas.microsoft.com/office/drawing/2014/main" id="{5471BAFF-99FE-0107-8356-AD55BC8BC71F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2104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 preserve="1" userDrawn="1">
  <p:cSld name="2_4. Exposição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7E4D5C0-2DFD-930A-8F66-D0EE5037040E}"/>
              </a:ext>
            </a:extLst>
          </p:cNvPr>
          <p:cNvSpPr txBox="1"/>
          <p:nvPr userDrawn="1"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358944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userDrawn="1">
  <p:cSld name="1_Título e Conteúd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2;p4">
            <a:extLst>
              <a:ext uri="{FF2B5EF4-FFF2-40B4-BE49-F238E27FC236}">
                <a16:creationId xmlns:a16="http://schemas.microsoft.com/office/drawing/2014/main" id="{4774E8B0-98E0-7A0D-DD6A-31206E95DE3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91713"/>
          <a:stretch/>
        </p:blipFill>
        <p:spPr>
          <a:xfrm>
            <a:off x="0" y="0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3;p4">
            <a:extLst>
              <a:ext uri="{FF2B5EF4-FFF2-40B4-BE49-F238E27FC236}">
                <a16:creationId xmlns:a16="http://schemas.microsoft.com/office/drawing/2014/main" id="{54770894-68D4-3162-22A1-63B498C9AC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69153" b="22164"/>
          <a:stretch/>
        </p:blipFill>
        <p:spPr>
          <a:xfrm>
            <a:off x="0" y="6262650"/>
            <a:ext cx="12192000" cy="5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1C904D48-A0F9-60D5-EB49-9DF7624491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</p:spPr>
        <p:txBody>
          <a:bodyPr/>
          <a:lstStyle/>
          <a:p>
            <a:pPr lvl="0"/>
            <a:endParaRPr lang="pt-BR"/>
          </a:p>
        </p:txBody>
      </p:sp>
      <p:sp>
        <p:nvSpPr>
          <p:cNvPr id="3" name="Retângulo: Cantos Arredondados 6">
            <a:extLst>
              <a:ext uri="{FF2B5EF4-FFF2-40B4-BE49-F238E27FC236}">
                <a16:creationId xmlns:a16="http://schemas.microsoft.com/office/drawing/2014/main" id="{73EC376A-872D-3A32-7A38-9687E6CC3D67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101;p34">
            <a:extLst>
              <a:ext uri="{FF2B5EF4-FFF2-40B4-BE49-F238E27FC236}">
                <a16:creationId xmlns:a16="http://schemas.microsoft.com/office/drawing/2014/main" id="{44382A05-440F-D7AF-15A1-3E9E3C9731A2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 pitchFamily="2" charset="77"/>
                <a:ea typeface="Poppins Medium"/>
                <a:cs typeface="Poppins Light" pitchFamily="2" charset="77"/>
                <a:sym typeface="Poppins Medium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7298997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 userDrawn="1">
  <p:cSld name="3_EstudoCaso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3;p10">
            <a:extLst>
              <a:ext uri="{FF2B5EF4-FFF2-40B4-BE49-F238E27FC236}">
                <a16:creationId xmlns:a16="http://schemas.microsoft.com/office/drawing/2014/main" id="{6DB00E26-BCDE-0E55-ED92-7563396D697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822" r="41781"/>
          <a:stretch/>
        </p:blipFill>
        <p:spPr>
          <a:xfrm>
            <a:off x="0" y="0"/>
            <a:ext cx="32181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7D9BE86-9078-4427-9656-B39826D967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085" y="1210734"/>
            <a:ext cx="7610475" cy="2825557"/>
          </a:xfrm>
          <a:prstGeom prst="rect">
            <a:avLst/>
          </a:prstGeom>
          <a:solidFill>
            <a:srgbClr val="D9D9D9"/>
          </a:solidFill>
        </p:spPr>
        <p:txBody>
          <a:bodyPr/>
          <a:lstStyle>
            <a:lvl1pPr>
              <a:defRPr sz="12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/>
              <a:t>Inserir &gt; Mídia &gt; Vídeo &gt; Vídeos online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5469AD-51F8-FC13-26BB-CEAB108EE398}"/>
              </a:ext>
            </a:extLst>
          </p:cNvPr>
          <p:cNvSpPr txBox="1"/>
          <p:nvPr userDrawn="1"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D229D38-0E2E-BAC5-85D4-E4DB94459391}"/>
              </a:ext>
            </a:extLst>
          </p:cNvPr>
          <p:cNvSpPr/>
          <p:nvPr userDrawn="1"/>
        </p:nvSpPr>
        <p:spPr>
          <a:xfrm>
            <a:off x="214209" y="231883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947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48" r:id="rId2"/>
    <p:sldLayoutId id="2147483731" r:id="rId3"/>
    <p:sldLayoutId id="2147483709" r:id="rId4"/>
    <p:sldLayoutId id="2147483710" r:id="rId5"/>
    <p:sldLayoutId id="2147483737" r:id="rId6"/>
    <p:sldLayoutId id="2147483713" r:id="rId7"/>
    <p:sldLayoutId id="2147483701" r:id="rId8"/>
    <p:sldLayoutId id="2147483658" r:id="rId9"/>
    <p:sldLayoutId id="2147483705" r:id="rId10"/>
    <p:sldLayoutId id="2147483707" r:id="rId11"/>
    <p:sldLayoutId id="2147483757" r:id="rId12"/>
    <p:sldLayoutId id="2147483730" r:id="rId13"/>
    <p:sldLayoutId id="2147483765" r:id="rId14"/>
    <p:sldLayoutId id="21474837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3_wemF02tA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31.sv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32.sv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07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43;p43">
            <a:extLst>
              <a:ext uri="{FF2B5EF4-FFF2-40B4-BE49-F238E27FC236}">
                <a16:creationId xmlns:a16="http://schemas.microsoft.com/office/drawing/2014/main" id="{7894E3BE-B414-0F09-61B0-337BC78F1418}"/>
              </a:ext>
            </a:extLst>
          </p:cNvPr>
          <p:cNvSpPr txBox="1">
            <a:spLocks/>
          </p:cNvSpPr>
          <p:nvPr/>
        </p:nvSpPr>
        <p:spPr>
          <a:xfrm>
            <a:off x="613181" y="2135339"/>
            <a:ext cx="6814747" cy="46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2600" b="1" dirty="0">
                <a:solidFill>
                  <a:schemeClr val="tx1"/>
                </a:solidFill>
                <a:latin typeface="Poppins" panose="00000500000000000000" pitchFamily="2" charset="0"/>
                <a:cs typeface="Poppins"/>
              </a:rPr>
              <a:t>Direcionando a atenção</a:t>
            </a:r>
          </a:p>
        </p:txBody>
      </p:sp>
      <p:sp>
        <p:nvSpPr>
          <p:cNvPr id="8" name="Google Shape;644;p43">
            <a:extLst>
              <a:ext uri="{FF2B5EF4-FFF2-40B4-BE49-F238E27FC236}">
                <a16:creationId xmlns:a16="http://schemas.microsoft.com/office/drawing/2014/main" id="{38B14DE2-B36E-A166-7418-0BCC262D9727}"/>
              </a:ext>
            </a:extLst>
          </p:cNvPr>
          <p:cNvSpPr txBox="1">
            <a:spLocks/>
          </p:cNvSpPr>
          <p:nvPr/>
        </p:nvSpPr>
        <p:spPr>
          <a:xfrm>
            <a:off x="613179" y="3554305"/>
            <a:ext cx="6814747" cy="699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2500"/>
            </a:pPr>
            <a:r>
              <a:rPr lang="pt-BR" sz="1800" dirty="0">
                <a:latin typeface="Poppins" panose="00000500000000000000" pitchFamily="2" charset="0"/>
                <a:cs typeface="Poppins"/>
              </a:rPr>
              <a:t>Código da aula: DADOSANO1C3B2S10A1</a:t>
            </a:r>
            <a:r>
              <a:rPr lang="pt-BR" sz="1650" dirty="0">
                <a:latin typeface="Poppins" panose="00000500000000000000" pitchFamily="2" charset="0"/>
                <a:cs typeface="Poppins"/>
              </a:rPr>
              <a:t>	</a:t>
            </a:r>
          </a:p>
        </p:txBody>
      </p:sp>
      <p:sp>
        <p:nvSpPr>
          <p:cNvPr id="9" name="Google Shape;643;p43">
            <a:extLst>
              <a:ext uri="{FF2B5EF4-FFF2-40B4-BE49-F238E27FC236}">
                <a16:creationId xmlns:a16="http://schemas.microsoft.com/office/drawing/2014/main" id="{44C24A69-BA95-9909-516F-994C0772D844}"/>
              </a:ext>
            </a:extLst>
          </p:cNvPr>
          <p:cNvSpPr txBox="1">
            <a:spLocks/>
          </p:cNvSpPr>
          <p:nvPr/>
        </p:nvSpPr>
        <p:spPr>
          <a:xfrm>
            <a:off x="613180" y="1250419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sz="3200" dirty="0">
                <a:solidFill>
                  <a:srgbClr val="FF161F"/>
                </a:solidFill>
                <a:latin typeface="Poppins" panose="00000500000000000000" pitchFamily="2" charset="0"/>
              </a:rPr>
              <a:t>Storytelling de dados</a:t>
            </a:r>
            <a:endParaRPr lang="en-US" sz="3200" b="1" i="0" u="none" strike="noStrike" cap="none" dirty="0">
              <a:solidFill>
                <a:srgbClr val="FF161F"/>
              </a:solidFill>
              <a:latin typeface="Poppins" panose="00000500000000000000" pitchFamily="2" charset="0"/>
              <a:ea typeface="Poppins"/>
              <a:cs typeface="Poppins"/>
            </a:endParaRPr>
          </a:p>
          <a:p>
            <a:pPr marL="0" indent="0">
              <a:spcBef>
                <a:spcPts val="0"/>
              </a:spcBef>
            </a:pPr>
            <a:endParaRPr lang="pt-BR" sz="3200" dirty="0">
              <a:solidFill>
                <a:srgbClr val="FF161F"/>
              </a:solidFill>
            </a:endParaRPr>
          </a:p>
        </p:txBody>
      </p:sp>
      <p:sp>
        <p:nvSpPr>
          <p:cNvPr id="10" name="Google Shape;644;p43">
            <a:extLst>
              <a:ext uri="{FF2B5EF4-FFF2-40B4-BE49-F238E27FC236}">
                <a16:creationId xmlns:a16="http://schemas.microsoft.com/office/drawing/2014/main" id="{9D103B63-758A-7270-9691-88696E89FE79}"/>
              </a:ext>
            </a:extLst>
          </p:cNvPr>
          <p:cNvSpPr txBox="1">
            <a:spLocks/>
          </p:cNvSpPr>
          <p:nvPr/>
        </p:nvSpPr>
        <p:spPr>
          <a:xfrm>
            <a:off x="613180" y="2953947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sz="1800" b="0" dirty="0">
                <a:solidFill>
                  <a:srgbClr val="BFBFBF"/>
                </a:solidFill>
                <a:latin typeface="Poppins Medium"/>
                <a:cs typeface="Poppins Medium"/>
              </a:rPr>
              <a:t>Aula 1: Uso estratégico de cores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B3B2DD2F-C7D4-B104-C5F2-761B52C9EF01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F382F93-D0E0-2336-1A74-284DE4D5F4A3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D7D75E9-0F4B-DBE3-CC79-711BCF1FE0C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99" r="949"/>
          <a:stretch/>
        </p:blipFill>
        <p:spPr>
          <a:xfrm>
            <a:off x="-5171" y="1383424"/>
            <a:ext cx="12197171" cy="4987270"/>
          </a:xfrm>
          <a:prstGeom prst="rect">
            <a:avLst/>
          </a:prstGeom>
        </p:spPr>
      </p:pic>
      <p:sp>
        <p:nvSpPr>
          <p:cNvPr id="6" name="Google Shape;293;p3">
            <a:extLst>
              <a:ext uri="{FF2B5EF4-FFF2-40B4-BE49-F238E27FC236}">
                <a16:creationId xmlns:a16="http://schemas.microsoft.com/office/drawing/2014/main" id="{EA53E5E4-D3ED-749E-28C3-DEE2A2835353}"/>
              </a:ext>
            </a:extLst>
          </p:cNvPr>
          <p:cNvSpPr/>
          <p:nvPr/>
        </p:nvSpPr>
        <p:spPr>
          <a:xfrm rot="-3438299">
            <a:off x="3101898" y="46871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8;p3">
            <a:extLst>
              <a:ext uri="{FF2B5EF4-FFF2-40B4-BE49-F238E27FC236}">
                <a16:creationId xmlns:a16="http://schemas.microsoft.com/office/drawing/2014/main" id="{4A2899B7-3121-4E75-668A-D6819BA310CC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302;p3">
            <a:extLst>
              <a:ext uri="{FF2B5EF4-FFF2-40B4-BE49-F238E27FC236}">
                <a16:creationId xmlns:a16="http://schemas.microsoft.com/office/drawing/2014/main" id="{B526F078-F664-0138-7558-AC45725A848F}"/>
              </a:ext>
            </a:extLst>
          </p:cNvPr>
          <p:cNvSpPr/>
          <p:nvPr/>
        </p:nvSpPr>
        <p:spPr>
          <a:xfrm rot="-4951757">
            <a:off x="7428646" y="2359254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03;p3">
            <a:extLst>
              <a:ext uri="{FF2B5EF4-FFF2-40B4-BE49-F238E27FC236}">
                <a16:creationId xmlns:a16="http://schemas.microsoft.com/office/drawing/2014/main" id="{F56660FF-75DD-636F-27CC-F8F675E987DE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08;p3">
            <a:extLst>
              <a:ext uri="{FF2B5EF4-FFF2-40B4-BE49-F238E27FC236}">
                <a16:creationId xmlns:a16="http://schemas.microsoft.com/office/drawing/2014/main" id="{4808A2D2-A4FC-3D56-47CE-166BBAB51C4E}"/>
              </a:ext>
            </a:extLst>
          </p:cNvPr>
          <p:cNvSpPr/>
          <p:nvPr/>
        </p:nvSpPr>
        <p:spPr>
          <a:xfrm rot="4160691">
            <a:off x="9504311" y="4023267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2ADF4355-9ECC-B4E2-9FBC-DA12643DF645}"/>
              </a:ext>
            </a:extLst>
          </p:cNvPr>
          <p:cNvGrpSpPr/>
          <p:nvPr/>
        </p:nvGrpSpPr>
        <p:grpSpPr>
          <a:xfrm>
            <a:off x="573194" y="1716495"/>
            <a:ext cx="11429063" cy="4353397"/>
            <a:chOff x="880938" y="2486044"/>
            <a:chExt cx="17143595" cy="6530095"/>
          </a:xfrm>
          <a:solidFill>
            <a:srgbClr val="3E3593"/>
          </a:solidFill>
        </p:grpSpPr>
        <p:sp>
          <p:nvSpPr>
            <p:cNvPr id="3" name="Google Shape;290;p3">
              <a:extLst>
                <a:ext uri="{FF2B5EF4-FFF2-40B4-BE49-F238E27FC236}">
                  <a16:creationId xmlns:a16="http://schemas.microsoft.com/office/drawing/2014/main" id="{AE89209E-AD43-F36B-EC55-50B97549360D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91;p3">
              <a:extLst>
                <a:ext uri="{FF2B5EF4-FFF2-40B4-BE49-F238E27FC236}">
                  <a16:creationId xmlns:a16="http://schemas.microsoft.com/office/drawing/2014/main" id="{EB71AE8F-D310-98D6-CA71-79035040DEC1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92;p3">
              <a:extLst>
                <a:ext uri="{FF2B5EF4-FFF2-40B4-BE49-F238E27FC236}">
                  <a16:creationId xmlns:a16="http://schemas.microsoft.com/office/drawing/2014/main" id="{6C307A4F-094A-23FC-557D-912DF9A29E01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94;p3">
              <a:extLst>
                <a:ext uri="{FF2B5EF4-FFF2-40B4-BE49-F238E27FC236}">
                  <a16:creationId xmlns:a16="http://schemas.microsoft.com/office/drawing/2014/main" id="{916F17AB-B0F5-C1FB-97C4-50122119F3CA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95;p3">
              <a:extLst>
                <a:ext uri="{FF2B5EF4-FFF2-40B4-BE49-F238E27FC236}">
                  <a16:creationId xmlns:a16="http://schemas.microsoft.com/office/drawing/2014/main" id="{0A8D9351-46FD-D23A-3037-C46C45F92D91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6;p3">
              <a:extLst>
                <a:ext uri="{FF2B5EF4-FFF2-40B4-BE49-F238E27FC236}">
                  <a16:creationId xmlns:a16="http://schemas.microsoft.com/office/drawing/2014/main" id="{22631971-8A49-57CD-7FBA-7BE977CEAB6E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7;p3">
              <a:extLst>
                <a:ext uri="{FF2B5EF4-FFF2-40B4-BE49-F238E27FC236}">
                  <a16:creationId xmlns:a16="http://schemas.microsoft.com/office/drawing/2014/main" id="{50D90645-AF57-FEAD-2749-2B51069E1233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9;p3">
              <a:extLst>
                <a:ext uri="{FF2B5EF4-FFF2-40B4-BE49-F238E27FC236}">
                  <a16:creationId xmlns:a16="http://schemas.microsoft.com/office/drawing/2014/main" id="{9B89F5CA-3CF3-066E-9671-313FE3DA7DD3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00;p3">
              <a:extLst>
                <a:ext uri="{FF2B5EF4-FFF2-40B4-BE49-F238E27FC236}">
                  <a16:creationId xmlns:a16="http://schemas.microsoft.com/office/drawing/2014/main" id="{99644665-3712-5F2D-5826-629ED5D6892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01;p3">
              <a:extLst>
                <a:ext uri="{FF2B5EF4-FFF2-40B4-BE49-F238E27FC236}">
                  <a16:creationId xmlns:a16="http://schemas.microsoft.com/office/drawing/2014/main" id="{28D0CE33-4442-076D-969F-E0A34D86FAF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4;p3">
              <a:extLst>
                <a:ext uri="{FF2B5EF4-FFF2-40B4-BE49-F238E27FC236}">
                  <a16:creationId xmlns:a16="http://schemas.microsoft.com/office/drawing/2014/main" id="{29001061-2B4E-2A97-25E1-E7EF16B56B34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5;p3">
              <a:extLst>
                <a:ext uri="{FF2B5EF4-FFF2-40B4-BE49-F238E27FC236}">
                  <a16:creationId xmlns:a16="http://schemas.microsoft.com/office/drawing/2014/main" id="{1F0E5483-CD99-2945-FC23-E3806E0A67D1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6;p3">
              <a:extLst>
                <a:ext uri="{FF2B5EF4-FFF2-40B4-BE49-F238E27FC236}">
                  <a16:creationId xmlns:a16="http://schemas.microsoft.com/office/drawing/2014/main" id="{04211789-F56F-C23C-C247-0FAC2D857D69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7;p3">
              <a:extLst>
                <a:ext uri="{FF2B5EF4-FFF2-40B4-BE49-F238E27FC236}">
                  <a16:creationId xmlns:a16="http://schemas.microsoft.com/office/drawing/2014/main" id="{52CFE4AB-8A58-6560-93BB-FE230AD3F22F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09;p3">
              <a:extLst>
                <a:ext uri="{FF2B5EF4-FFF2-40B4-BE49-F238E27FC236}">
                  <a16:creationId xmlns:a16="http://schemas.microsoft.com/office/drawing/2014/main" id="{5126F024-2398-EBCB-6024-73271DC2FCE8}"/>
                </a:ext>
              </a:extLst>
            </p:cNvPr>
            <p:cNvSpPr/>
            <p:nvPr/>
          </p:nvSpPr>
          <p:spPr>
            <a:xfrm rot="-9744855">
              <a:off x="17708747" y="4757012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310;p3">
              <a:extLst>
                <a:ext uri="{FF2B5EF4-FFF2-40B4-BE49-F238E27FC236}">
                  <a16:creationId xmlns:a16="http://schemas.microsoft.com/office/drawing/2014/main" id="{3DAC69B2-F4BA-1C4E-B6AB-7423C4FE510B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311;p3">
            <a:extLst>
              <a:ext uri="{FF2B5EF4-FFF2-40B4-BE49-F238E27FC236}">
                <a16:creationId xmlns:a16="http://schemas.microsoft.com/office/drawing/2014/main" id="{C009BA89-22BC-CFB4-3C0E-83100D24268B}"/>
              </a:ext>
            </a:extLst>
          </p:cNvPr>
          <p:cNvSpPr/>
          <p:nvPr/>
        </p:nvSpPr>
        <p:spPr>
          <a:xfrm>
            <a:off x="2933526" y="2830191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9</a:t>
            </a:r>
            <a:endParaRPr lang="pt-BR" sz="20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25" name="Google Shape;312;p3">
            <a:extLst>
              <a:ext uri="{FF2B5EF4-FFF2-40B4-BE49-F238E27FC236}">
                <a16:creationId xmlns:a16="http://schemas.microsoft.com/office/drawing/2014/main" id="{D8F92167-29C2-CA3E-0AD6-79D50CFE9919}"/>
              </a:ext>
            </a:extLst>
          </p:cNvPr>
          <p:cNvCxnSpPr>
            <a:cxnSpLocks/>
            <a:stCxn id="24" idx="4"/>
          </p:cNvCxnSpPr>
          <p:nvPr/>
        </p:nvCxnSpPr>
        <p:spPr>
          <a:xfrm>
            <a:off x="3201572" y="3366284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" name="Google Shape;315;p3">
            <a:extLst>
              <a:ext uri="{FF2B5EF4-FFF2-40B4-BE49-F238E27FC236}">
                <a16:creationId xmlns:a16="http://schemas.microsoft.com/office/drawing/2014/main" id="{AE113DAB-1467-3300-D48F-76A846FDA5DB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17;p3">
            <a:extLst>
              <a:ext uri="{FF2B5EF4-FFF2-40B4-BE49-F238E27FC236}">
                <a16:creationId xmlns:a16="http://schemas.microsoft.com/office/drawing/2014/main" id="{BC591161-98D6-0211-EA98-799357E38698}"/>
              </a:ext>
            </a:extLst>
          </p:cNvPr>
          <p:cNvSpPr/>
          <p:nvPr/>
        </p:nvSpPr>
        <p:spPr>
          <a:xfrm>
            <a:off x="5874417" y="612475"/>
            <a:ext cx="536093" cy="536093"/>
          </a:xfrm>
          <a:prstGeom prst="ellipse">
            <a:avLst/>
          </a:prstGeom>
          <a:solidFill>
            <a:srgbClr val="FF0000"/>
          </a:solidFill>
          <a:ln>
            <a:solidFill>
              <a:srgbClr val="EE0000"/>
            </a:solidFill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2000" b="1" dirty="0">
              <a:solidFill>
                <a:srgbClr val="FF0000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31" name="Google Shape;318;p3">
            <a:extLst>
              <a:ext uri="{FF2B5EF4-FFF2-40B4-BE49-F238E27FC236}">
                <a16:creationId xmlns:a16="http://schemas.microsoft.com/office/drawing/2014/main" id="{1E1ABABF-EEF2-4B32-8408-6EC59AAD3800}"/>
              </a:ext>
            </a:extLst>
          </p:cNvPr>
          <p:cNvCxnSpPr>
            <a:cxnSpLocks/>
            <a:stCxn id="30" idx="4"/>
            <a:endCxn id="11" idx="7"/>
          </p:cNvCxnSpPr>
          <p:nvPr/>
        </p:nvCxnSpPr>
        <p:spPr>
          <a:xfrm flipH="1">
            <a:off x="6117556" y="1148568"/>
            <a:ext cx="24908" cy="558492"/>
          </a:xfrm>
          <a:prstGeom prst="straightConnector1">
            <a:avLst/>
          </a:prstGeom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Google Shape;320;p3">
            <a:extLst>
              <a:ext uri="{FF2B5EF4-FFF2-40B4-BE49-F238E27FC236}">
                <a16:creationId xmlns:a16="http://schemas.microsoft.com/office/drawing/2014/main" id="{9B8FDE68-E380-EB27-40EA-3B826FED28DE}"/>
              </a:ext>
            </a:extLst>
          </p:cNvPr>
          <p:cNvSpPr/>
          <p:nvPr/>
        </p:nvSpPr>
        <p:spPr>
          <a:xfrm>
            <a:off x="8025148" y="168813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</a:rPr>
              <a:t>11</a:t>
            </a:r>
          </a:p>
        </p:txBody>
      </p:sp>
      <p:cxnSp>
        <p:nvCxnSpPr>
          <p:cNvPr id="34" name="Google Shape;321;p3">
            <a:extLst>
              <a:ext uri="{FF2B5EF4-FFF2-40B4-BE49-F238E27FC236}">
                <a16:creationId xmlns:a16="http://schemas.microsoft.com/office/drawing/2014/main" id="{C0E391BB-50C3-FED4-8AA1-8F92A5936C6B}"/>
              </a:ext>
            </a:extLst>
          </p:cNvPr>
          <p:cNvCxnSpPr>
            <a:cxnSpLocks/>
            <a:stCxn id="33" idx="3"/>
            <a:endCxn id="15" idx="5"/>
          </p:cNvCxnSpPr>
          <p:nvPr/>
        </p:nvCxnSpPr>
        <p:spPr>
          <a:xfrm flipH="1">
            <a:off x="7617385" y="2145716"/>
            <a:ext cx="486272" cy="2546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" name="Google Shape;324;p3">
            <a:extLst>
              <a:ext uri="{FF2B5EF4-FFF2-40B4-BE49-F238E27FC236}">
                <a16:creationId xmlns:a16="http://schemas.microsoft.com/office/drawing/2014/main" id="{2AC5785F-8AC1-DC32-1160-39BF253736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8855734">
            <a:off x="5780948" y="43414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25;p3">
            <a:extLst>
              <a:ext uri="{FF2B5EF4-FFF2-40B4-BE49-F238E27FC236}">
                <a16:creationId xmlns:a16="http://schemas.microsoft.com/office/drawing/2014/main" id="{9B875051-FE9F-A696-248F-67EFDD495C1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26;p3">
            <a:extLst>
              <a:ext uri="{FF2B5EF4-FFF2-40B4-BE49-F238E27FC236}">
                <a16:creationId xmlns:a16="http://schemas.microsoft.com/office/drawing/2014/main" id="{47D50267-A1B5-AD3D-95BD-9B822B9D82D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2791828" y="2650419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327;p3">
            <a:extLst>
              <a:ext uri="{FF2B5EF4-FFF2-40B4-BE49-F238E27FC236}">
                <a16:creationId xmlns:a16="http://schemas.microsoft.com/office/drawing/2014/main" id="{14D81371-99D7-4FAA-B842-A3B7E1B4A64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20D05082-7FE0-9C08-E511-E5ABF433E1FA}"/>
              </a:ext>
            </a:extLst>
          </p:cNvPr>
          <p:cNvSpPr/>
          <p:nvPr/>
        </p:nvSpPr>
        <p:spPr>
          <a:xfrm>
            <a:off x="10174052" y="3851166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13</a:t>
            </a:r>
            <a:endParaRPr lang="pt-BR" sz="20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0DF76807-11D9-D815-F260-1D7E45733370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579615" y="4119213"/>
            <a:ext cx="594436" cy="12271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20EC3BFE-71C1-D908-43AB-2A57C44FA72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8855734">
            <a:off x="10075204" y="3681848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13;p3">
            <a:extLst>
              <a:ext uri="{FF2B5EF4-FFF2-40B4-BE49-F238E27FC236}">
                <a16:creationId xmlns:a16="http://schemas.microsoft.com/office/drawing/2014/main" id="{2534AD05-DEC5-F97B-ADD8-DA0028DFF764}"/>
              </a:ext>
            </a:extLst>
          </p:cNvPr>
          <p:cNvSpPr txBox="1"/>
          <p:nvPr/>
        </p:nvSpPr>
        <p:spPr>
          <a:xfrm>
            <a:off x="772403" y="3963595"/>
            <a:ext cx="283256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Escolha do visual adequado</a:t>
            </a:r>
            <a:endParaRPr lang="pt-BR" sz="1700" dirty="0"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1" name="Google Shape;316;p3">
            <a:extLst>
              <a:ext uri="{FF2B5EF4-FFF2-40B4-BE49-F238E27FC236}">
                <a16:creationId xmlns:a16="http://schemas.microsoft.com/office/drawing/2014/main" id="{0E40C7D1-B07D-7607-3919-E959E42D9AE8}"/>
              </a:ext>
            </a:extLst>
          </p:cNvPr>
          <p:cNvSpPr txBox="1"/>
          <p:nvPr/>
        </p:nvSpPr>
        <p:spPr>
          <a:xfrm>
            <a:off x="4413751" y="5830396"/>
            <a:ext cx="224745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Interpretando e explicando dados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2" name="Google Shape;319;p3">
            <a:extLst>
              <a:ext uri="{FF2B5EF4-FFF2-40B4-BE49-F238E27FC236}">
                <a16:creationId xmlns:a16="http://schemas.microsoft.com/office/drawing/2014/main" id="{C7EBBC61-12C1-8FD9-FE3E-95B596546E94}"/>
              </a:ext>
            </a:extLst>
          </p:cNvPr>
          <p:cNvSpPr txBox="1"/>
          <p:nvPr/>
        </p:nvSpPr>
        <p:spPr>
          <a:xfrm>
            <a:off x="6578462" y="739775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Direcionando a atenção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3" name="Google Shape;322;p3">
            <a:extLst>
              <a:ext uri="{FF2B5EF4-FFF2-40B4-BE49-F238E27FC236}">
                <a16:creationId xmlns:a16="http://schemas.microsoft.com/office/drawing/2014/main" id="{E937EEE7-8AD5-0965-AFEF-7972D3B0E0C6}"/>
              </a:ext>
            </a:extLst>
          </p:cNvPr>
          <p:cNvSpPr txBox="1"/>
          <p:nvPr/>
        </p:nvSpPr>
        <p:spPr>
          <a:xfrm>
            <a:off x="8673545" y="1652519"/>
            <a:ext cx="2756455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Construindo a narrativa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4" name="Google Shape;329;p3">
            <a:extLst>
              <a:ext uri="{FF2B5EF4-FFF2-40B4-BE49-F238E27FC236}">
                <a16:creationId xmlns:a16="http://schemas.microsoft.com/office/drawing/2014/main" id="{AEB6AFAD-779E-B2E0-98E1-FBB111B33912}"/>
              </a:ext>
            </a:extLst>
          </p:cNvPr>
          <p:cNvSpPr txBox="1"/>
          <p:nvPr/>
        </p:nvSpPr>
        <p:spPr>
          <a:xfrm>
            <a:off x="154176" y="1445953"/>
            <a:ext cx="1865581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pt-BR" sz="1300" b="1" dirty="0" err="1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 de dados</a:t>
            </a:r>
            <a:endParaRPr lang="pt-BR" sz="1300" b="1" dirty="0">
              <a:solidFill>
                <a:srgbClr val="FFFFFF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57" name="Google Shape;335;p3">
            <a:extLst>
              <a:ext uri="{FF2B5EF4-FFF2-40B4-BE49-F238E27FC236}">
                <a16:creationId xmlns:a16="http://schemas.microsoft.com/office/drawing/2014/main" id="{27DF6EEE-ABB9-F21D-DC51-574CA07674FA}"/>
              </a:ext>
            </a:extLst>
          </p:cNvPr>
          <p:cNvSpPr txBox="1"/>
          <p:nvPr/>
        </p:nvSpPr>
        <p:spPr>
          <a:xfrm>
            <a:off x="9949272" y="4530800"/>
            <a:ext cx="2093345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Refinando a comunicação visual</a:t>
            </a:r>
            <a:endParaRPr lang="pt-BR" sz="1700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26" name="Google Shape;331;p3">
            <a:extLst>
              <a:ext uri="{FF2B5EF4-FFF2-40B4-BE49-F238E27FC236}">
                <a16:creationId xmlns:a16="http://schemas.microsoft.com/office/drawing/2014/main" id="{63BA6607-9D8E-31C1-3A2E-36D5A6BD2C5B}"/>
              </a:ext>
            </a:extLst>
          </p:cNvPr>
          <p:cNvSpPr txBox="1"/>
          <p:nvPr/>
        </p:nvSpPr>
        <p:spPr>
          <a:xfrm>
            <a:off x="2135841" y="905380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Mapa da Unidade 2   Componente 3</a:t>
            </a:r>
            <a:endParaRPr lang="pt-BR" sz="2100" dirty="0">
              <a:latin typeface="Poppins" panose="00000500000000000000" pitchFamily="2" charset="0"/>
            </a:endParaRPr>
          </a:p>
        </p:txBody>
      </p:sp>
      <p:sp>
        <p:nvSpPr>
          <p:cNvPr id="27" name="Google Shape;314;p3">
            <a:extLst>
              <a:ext uri="{FF2B5EF4-FFF2-40B4-BE49-F238E27FC236}">
                <a16:creationId xmlns:a16="http://schemas.microsoft.com/office/drawing/2014/main" id="{4001D8D6-34F2-D9E9-BFE3-F0D9953EABE5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</a:rPr>
              <a:t>12</a:t>
            </a:r>
          </a:p>
        </p:txBody>
      </p:sp>
      <p:sp>
        <p:nvSpPr>
          <p:cNvPr id="56" name="Google Shape;323;p3">
            <a:extLst>
              <a:ext uri="{FF2B5EF4-FFF2-40B4-BE49-F238E27FC236}">
                <a16:creationId xmlns:a16="http://schemas.microsoft.com/office/drawing/2014/main" id="{EF2346E8-5E5D-43A7-8B83-86269C77EBDA}"/>
              </a:ext>
            </a:extLst>
          </p:cNvPr>
          <p:cNvSpPr txBox="1"/>
          <p:nvPr/>
        </p:nvSpPr>
        <p:spPr>
          <a:xfrm>
            <a:off x="6585959" y="513601"/>
            <a:ext cx="1728649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14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24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B2669C60-1B2E-CB26-6D65-F137874BF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396" t="30197" r="53546" b="6024"/>
          <a:stretch/>
        </p:blipFill>
        <p:spPr>
          <a:xfrm rot="21026348">
            <a:off x="5678584" y="2638764"/>
            <a:ext cx="8603297" cy="4647676"/>
          </a:xfrm>
          <a:prstGeom prst="rect">
            <a:avLst/>
          </a:prstGeom>
        </p:spPr>
      </p:pic>
      <p:sp>
        <p:nvSpPr>
          <p:cNvPr id="7" name="Google Shape;341;p4">
            <a:extLst>
              <a:ext uri="{FF2B5EF4-FFF2-40B4-BE49-F238E27FC236}">
                <a16:creationId xmlns:a16="http://schemas.microsoft.com/office/drawing/2014/main" id="{454BE3FB-DBF5-B9B9-2C32-D91EB68E7728}"/>
              </a:ext>
            </a:extLst>
          </p:cNvPr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2;p4">
            <a:extLst>
              <a:ext uri="{FF2B5EF4-FFF2-40B4-BE49-F238E27FC236}">
                <a16:creationId xmlns:a16="http://schemas.microsoft.com/office/drawing/2014/main" id="{11417446-22F7-018A-FD17-8BE6870376DA}"/>
              </a:ext>
            </a:extLst>
          </p:cNvPr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36000" tIns="36000" rIns="36000" bIns="36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buSzPts val="6000"/>
            </a:pPr>
            <a:r>
              <a:rPr lang="pt-BR" sz="4200" b="1" dirty="0">
                <a:solidFill>
                  <a:srgbClr val="FFFFFF"/>
                </a:solidFill>
                <a:latin typeface="Poppins" panose="00000500000000000000" pitchFamily="2" charset="0"/>
                <a:ea typeface="Calibri"/>
                <a:cs typeface="Poppins"/>
                <a:sym typeface="Poppins"/>
              </a:rPr>
              <a:t>10</a:t>
            </a:r>
            <a:endParaRPr lang="pt-BR" sz="4200" b="1" dirty="0">
              <a:solidFill>
                <a:srgbClr val="FFFFFF"/>
              </a:solidFill>
              <a:latin typeface="Poppins" panose="00000500000000000000" pitchFamily="2" charset="0"/>
              <a:ea typeface="Calibri"/>
              <a:cs typeface="Poppins"/>
            </a:endParaRPr>
          </a:p>
        </p:txBody>
      </p:sp>
      <p:cxnSp>
        <p:nvCxnSpPr>
          <p:cNvPr id="9" name="Google Shape;343;p4">
            <a:extLst>
              <a:ext uri="{FF2B5EF4-FFF2-40B4-BE49-F238E27FC236}">
                <a16:creationId xmlns:a16="http://schemas.microsoft.com/office/drawing/2014/main" id="{38C1C8A1-D576-D03F-ABAB-56823E51B9F2}"/>
              </a:ext>
            </a:extLst>
          </p:cNvPr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344;p4">
            <a:extLst>
              <a:ext uri="{FF2B5EF4-FFF2-40B4-BE49-F238E27FC236}">
                <a16:creationId xmlns:a16="http://schemas.microsoft.com/office/drawing/2014/main" id="{5EB2AABC-411A-4DB1-754E-398B32A01EC9}"/>
              </a:ext>
            </a:extLst>
          </p:cNvPr>
          <p:cNvSpPr txBox="1"/>
          <p:nvPr/>
        </p:nvSpPr>
        <p:spPr>
          <a:xfrm>
            <a:off x="3361984" y="3203817"/>
            <a:ext cx="4487736" cy="3385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200"/>
            </a:pPr>
            <a:r>
              <a:rPr lang="pt-BR" sz="1800" dirty="0">
                <a:latin typeface="Poppins" panose="00000500000000000000" pitchFamily="2" charset="0"/>
                <a:ea typeface="Poppins Light"/>
                <a:cs typeface="Poppins"/>
                <a:sym typeface="Poppins Light"/>
              </a:rPr>
              <a:t>Direcionando a atenção</a:t>
            </a:r>
            <a:endParaRPr lang="pt-BR" sz="1800" dirty="0">
              <a:latin typeface="Poppins" panose="00000500000000000000" pitchFamily="2" charset="0"/>
              <a:ea typeface="Arial"/>
              <a:cs typeface="Poppins"/>
            </a:endParaRPr>
          </a:p>
        </p:txBody>
      </p:sp>
      <p:sp>
        <p:nvSpPr>
          <p:cNvPr id="11" name="Google Shape;345;p4">
            <a:extLst>
              <a:ext uri="{FF2B5EF4-FFF2-40B4-BE49-F238E27FC236}">
                <a16:creationId xmlns:a16="http://schemas.microsoft.com/office/drawing/2014/main" id="{9DC627E0-692B-B963-150C-C9ABA2375B7B}"/>
              </a:ext>
            </a:extLst>
          </p:cNvPr>
          <p:cNvSpPr txBox="1"/>
          <p:nvPr/>
        </p:nvSpPr>
        <p:spPr>
          <a:xfrm>
            <a:off x="3361984" y="2834485"/>
            <a:ext cx="2582980" cy="4000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3000"/>
            </a:pPr>
            <a:r>
              <a:rPr lang="pt-BR" sz="2200" b="1">
                <a:solidFill>
                  <a:srgbClr val="FA161E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Você está aqui!</a:t>
            </a:r>
            <a:endParaRPr sz="220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5" name="Google Shape;349;p4">
            <a:extLst>
              <a:ext uri="{FF2B5EF4-FFF2-40B4-BE49-F238E27FC236}">
                <a16:creationId xmlns:a16="http://schemas.microsoft.com/office/drawing/2014/main" id="{AFF9433E-50D2-8459-4418-8A47B897A114}"/>
              </a:ext>
            </a:extLst>
          </p:cNvPr>
          <p:cNvSpPr txBox="1"/>
          <p:nvPr/>
        </p:nvSpPr>
        <p:spPr>
          <a:xfrm>
            <a:off x="3380130" y="5324225"/>
            <a:ext cx="4730523" cy="6992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SzPts val="2500"/>
            </a:pPr>
            <a:r>
              <a:rPr lang="pt-BR" sz="1800" dirty="0">
                <a:latin typeface="Poppins" panose="00000500000000000000" pitchFamily="2" charset="0"/>
                <a:ea typeface="Poppins"/>
                <a:cs typeface="Poppins"/>
                <a:sym typeface="Poppins"/>
              </a:rPr>
              <a:t>Código da aula: DADOSANO1C3B2S10A1</a:t>
            </a:r>
          </a:p>
          <a:p>
            <a:pPr>
              <a:buSzPts val="2500"/>
            </a:pPr>
            <a:endParaRPr lang="pt-BR" sz="1800" dirty="0">
              <a:latin typeface="Poppins" panose="00000500000000000000" pitchFamily="2" charset="0"/>
              <a:ea typeface="Arial"/>
              <a:cs typeface="Arial"/>
            </a:endParaRPr>
          </a:p>
        </p:txBody>
      </p:sp>
      <p:sp>
        <p:nvSpPr>
          <p:cNvPr id="16" name="Google Shape;350;p4">
            <a:extLst>
              <a:ext uri="{FF2B5EF4-FFF2-40B4-BE49-F238E27FC236}">
                <a16:creationId xmlns:a16="http://schemas.microsoft.com/office/drawing/2014/main" id="{7678E78B-4D53-2DA7-5F21-B11136BABC01}"/>
              </a:ext>
            </a:extLst>
          </p:cNvPr>
          <p:cNvSpPr txBox="1"/>
          <p:nvPr/>
        </p:nvSpPr>
        <p:spPr>
          <a:xfrm>
            <a:off x="3365754" y="4576477"/>
            <a:ext cx="6376682" cy="7019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60950" tIns="30467" rIns="60950" bIns="30467" anchor="t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buClr>
                <a:schemeClr val="dk1"/>
              </a:buClr>
              <a:buSzPts val="2500"/>
            </a:pPr>
            <a:r>
              <a:rPr lang="pt-BR" sz="1800" b="1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Aula 1:  Uso estratégico de cores</a:t>
            </a:r>
            <a:endParaRPr lang="pt-BR" sz="1800" b="1" dirty="0">
              <a:solidFill>
                <a:schemeClr val="dk1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1F6E659-769F-86C0-884D-EE7711058D04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C98881E-93B8-AECF-33A0-43B4AF66CE8D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Google Shape;329;p3">
            <a:extLst>
              <a:ext uri="{FF2B5EF4-FFF2-40B4-BE49-F238E27FC236}">
                <a16:creationId xmlns:a16="http://schemas.microsoft.com/office/drawing/2014/main" id="{4A40AD85-F7AB-E661-6729-8BC6BB51FCDD}"/>
              </a:ext>
            </a:extLst>
          </p:cNvPr>
          <p:cNvSpPr txBox="1"/>
          <p:nvPr/>
        </p:nvSpPr>
        <p:spPr>
          <a:xfrm>
            <a:off x="154176" y="1445953"/>
            <a:ext cx="1865581" cy="46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pt-BR" sz="1300" b="1" dirty="0" err="1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Storytelling</a:t>
            </a:r>
            <a:r>
              <a:rPr lang="pt-BR" sz="1300" b="1" dirty="0">
                <a:solidFill>
                  <a:srgbClr val="FFFFFF"/>
                </a:solidFill>
                <a:latin typeface="Poppins" panose="00000500000000000000" pitchFamily="2" charset="0"/>
                <a:ea typeface="Poppins SemiBold"/>
                <a:cs typeface="Poppins"/>
                <a:sym typeface="Poppins SemiBold"/>
              </a:rPr>
              <a:t> de dados</a:t>
            </a:r>
            <a:endParaRPr lang="pt-BR" sz="1300" b="1" dirty="0">
              <a:solidFill>
                <a:srgbClr val="FFFFFF"/>
              </a:solidFill>
              <a:latin typeface="Poppins" panose="00000500000000000000" pitchFamily="2" charset="0"/>
              <a:cs typeface="Poppins"/>
            </a:endParaRPr>
          </a:p>
        </p:txBody>
      </p:sp>
      <p:sp>
        <p:nvSpPr>
          <p:cNvPr id="17" name="Google Shape;331;p3">
            <a:extLst>
              <a:ext uri="{FF2B5EF4-FFF2-40B4-BE49-F238E27FC236}">
                <a16:creationId xmlns:a16="http://schemas.microsoft.com/office/drawing/2014/main" id="{1A59AB7F-5993-3F47-73AC-EDE81E8EDF2F}"/>
              </a:ext>
            </a:extLst>
          </p:cNvPr>
          <p:cNvSpPr txBox="1"/>
          <p:nvPr/>
        </p:nvSpPr>
        <p:spPr>
          <a:xfrm>
            <a:off x="2135841" y="905380"/>
            <a:ext cx="2435785" cy="1046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ctr">
              <a:buSzPts val="3600"/>
            </a:pPr>
            <a:r>
              <a:rPr lang="pt-BR" sz="2100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Mapa da Unidade 2   Componente 3</a:t>
            </a:r>
            <a:endParaRPr lang="pt-BR" sz="2100" dirty="0"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63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CBD5C18-7776-B553-F6CC-A3FD61A66D26}"/>
              </a:ext>
            </a:extLst>
          </p:cNvPr>
          <p:cNvSpPr txBox="1"/>
          <p:nvPr/>
        </p:nvSpPr>
        <p:spPr>
          <a:xfrm>
            <a:off x="6215922" y="319790"/>
            <a:ext cx="184731" cy="188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622"/>
          </a:p>
        </p:txBody>
      </p:sp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94495801-E3A7-5C9C-58B6-5A613616DE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Entender como a hierarquia da informação contribui para a clareza da narrativa.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8FE35C05-A6F9-5E57-F808-2709677248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Utilizar cores e elementos visuais para destacar informações relevantes e facilitar a leitura de gráficos.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4A27C360-3186-313B-41E3-68A443FE4C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pt-BR" sz="1500" dirty="0">
                <a:latin typeface="Poppins" panose="00000500000000000000" pitchFamily="2" charset="0"/>
                <a:cs typeface="Poppins"/>
              </a:rPr>
              <a:t>Demonstrar atenção aos detalhes e sensibilidade estética ao comunicar informações de maneira clara e intencional, valorizando a organização visual.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2593807-EFAC-62C0-8555-5C60449109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7909" y="3398842"/>
            <a:ext cx="4044985" cy="104557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500" dirty="0">
                <a:latin typeface="Poppins" panose="00000500000000000000" pitchFamily="2" charset="0"/>
              </a:rPr>
              <a:t>Recurso audiovisual para a exibição de textos, vídeos e imagens.</a:t>
            </a:r>
          </a:p>
          <a:p>
            <a:pPr lvl="0"/>
            <a:r>
              <a:rPr lang="pt-BR" sz="1500" dirty="0">
                <a:latin typeface="Poppins" panose="00000500000000000000" pitchFamily="2" charset="0"/>
              </a:rPr>
              <a:t>Acesso ao laboratório de informática e/ou à internet.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6"/>
          <p:cNvSpPr txBox="1"/>
          <p:nvPr/>
        </p:nvSpPr>
        <p:spPr>
          <a:xfrm>
            <a:off x="11742295" y="64257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D99464-A907-B5C0-E17A-06EFC53D5801}"/>
              </a:ext>
            </a:extLst>
          </p:cNvPr>
          <p:cNvSpPr txBox="1"/>
          <p:nvPr/>
        </p:nvSpPr>
        <p:spPr>
          <a:xfrm>
            <a:off x="3483337" y="375046"/>
            <a:ext cx="7796759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Por que alguns gráficos são </a:t>
            </a:r>
          </a:p>
          <a:p>
            <a:r>
              <a:rPr lang="pt-BR" sz="3200" b="1" dirty="0">
                <a:solidFill>
                  <a:srgbClr val="EE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mais fáceis de entender?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BDF2A5-6948-A802-CFC9-63780B68B242}"/>
              </a:ext>
            </a:extLst>
          </p:cNvPr>
          <p:cNvSpPr txBox="1"/>
          <p:nvPr/>
        </p:nvSpPr>
        <p:spPr>
          <a:xfrm>
            <a:off x="8491927" y="1382498"/>
            <a:ext cx="3255545" cy="39703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Imagine que dois colegas apresentaram gráficos sobre o mesmo conjunto de dados.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Um deles chamou a sua atenção logo de cara, pois parecia mais claro e fácil de entender.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O outro, embora mostrasse as mesmas informações, parecia confuso.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D7C938-DCC3-BDDA-E928-B8D6175872B5}"/>
              </a:ext>
            </a:extLst>
          </p:cNvPr>
          <p:cNvSpPr txBox="1"/>
          <p:nvPr/>
        </p:nvSpPr>
        <p:spPr>
          <a:xfrm>
            <a:off x="3830595" y="5475502"/>
            <a:ext cx="767435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O que pode fazer um gráfico parecer mais fácil de entender </a:t>
            </a:r>
            <a:b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do que outro?</a:t>
            </a:r>
          </a:p>
        </p:txBody>
      </p:sp>
      <p:sp>
        <p:nvSpPr>
          <p:cNvPr id="10" name="Triângulo 27">
            <a:extLst>
              <a:ext uri="{FF2B5EF4-FFF2-40B4-BE49-F238E27FC236}">
                <a16:creationId xmlns:a16="http://schemas.microsoft.com/office/drawing/2014/main" id="{BF6FA811-BF3A-7681-CBF0-EE703709545F}"/>
              </a:ext>
            </a:extLst>
          </p:cNvPr>
          <p:cNvSpPr/>
          <p:nvPr/>
        </p:nvSpPr>
        <p:spPr>
          <a:xfrm rot="5400000">
            <a:off x="3463821" y="5574976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66C0B21-803B-7303-98B5-237C38C3C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484924" y="1814512"/>
            <a:ext cx="487362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C42D3496-CDD3-7216-97C6-BABBC1887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44776" y="230960"/>
            <a:ext cx="425236" cy="380475"/>
          </a:xfrm>
          <a:prstGeom prst="rect">
            <a:avLst/>
          </a:prstGeom>
        </p:spPr>
      </p:pic>
      <p:sp>
        <p:nvSpPr>
          <p:cNvPr id="6" name="Google Shape;833;p62">
            <a:extLst>
              <a:ext uri="{FF2B5EF4-FFF2-40B4-BE49-F238E27FC236}">
                <a16:creationId xmlns:a16="http://schemas.microsoft.com/office/drawing/2014/main" id="{A3FFA9DA-4561-7FA1-8633-F945E0D9CF05}"/>
              </a:ext>
            </a:extLst>
          </p:cNvPr>
          <p:cNvSpPr txBox="1"/>
          <p:nvPr/>
        </p:nvSpPr>
        <p:spPr>
          <a:xfrm>
            <a:off x="11484649" y="13780"/>
            <a:ext cx="704005" cy="19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Registro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7000"/>
              </a:lnSpc>
              <a:spcBef>
                <a:spcPts val="71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" name="Google Shape;369;p6">
            <a:extLst>
              <a:ext uri="{FF2B5EF4-FFF2-40B4-BE49-F238E27FC236}">
                <a16:creationId xmlns:a16="http://schemas.microsoft.com/office/drawing/2014/main" id="{A26F78A2-30D6-6CFE-88C3-7F8938320772}"/>
              </a:ext>
            </a:extLst>
          </p:cNvPr>
          <p:cNvSpPr/>
          <p:nvPr/>
        </p:nvSpPr>
        <p:spPr>
          <a:xfrm flipH="1">
            <a:off x="11484822" y="1285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9" name="Google Shape;370;p6">
            <a:extLst>
              <a:ext uri="{FF2B5EF4-FFF2-40B4-BE49-F238E27FC236}">
                <a16:creationId xmlns:a16="http://schemas.microsoft.com/office/drawing/2014/main" id="{63FF2F11-DB9A-1D45-156F-1B6D31AC2EFE}"/>
              </a:ext>
            </a:extLst>
          </p:cNvPr>
          <p:cNvGrpSpPr/>
          <p:nvPr/>
        </p:nvGrpSpPr>
        <p:grpSpPr>
          <a:xfrm>
            <a:off x="11666674" y="206994"/>
            <a:ext cx="382615" cy="456000"/>
            <a:chOff x="16810081" y="921861"/>
            <a:chExt cx="743773" cy="886429"/>
          </a:xfrm>
        </p:grpSpPr>
        <p:grpSp>
          <p:nvGrpSpPr>
            <p:cNvPr id="11" name="Google Shape;371;p6">
              <a:extLst>
                <a:ext uri="{FF2B5EF4-FFF2-40B4-BE49-F238E27FC236}">
                  <a16:creationId xmlns:a16="http://schemas.microsoft.com/office/drawing/2014/main" id="{3F6305BC-5651-D534-A8C0-0FB15669D967}"/>
                </a:ext>
              </a:extLst>
            </p:cNvPr>
            <p:cNvGrpSpPr/>
            <p:nvPr/>
          </p:nvGrpSpPr>
          <p:grpSpPr>
            <a:xfrm>
              <a:off x="16810084" y="1434434"/>
              <a:ext cx="691713" cy="373856"/>
              <a:chOff x="16866377" y="1492565"/>
              <a:chExt cx="691713" cy="373856"/>
            </a:xfrm>
          </p:grpSpPr>
          <p:sp>
            <p:nvSpPr>
              <p:cNvPr id="15" name="Google Shape;372;p6">
                <a:extLst>
                  <a:ext uri="{FF2B5EF4-FFF2-40B4-BE49-F238E27FC236}">
                    <a16:creationId xmlns:a16="http://schemas.microsoft.com/office/drawing/2014/main" id="{CDC02C05-0A58-04F0-083B-0D0DF1005D5F}"/>
                  </a:ext>
                </a:extLst>
              </p:cNvPr>
              <p:cNvSpPr/>
              <p:nvPr/>
            </p:nvSpPr>
            <p:spPr>
              <a:xfrm>
                <a:off x="17335767" y="1492565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4"/>
                    </a:moveTo>
                    <a:cubicBezTo>
                      <a:pt x="148209" y="115031"/>
                      <a:pt x="115031" y="148209"/>
                      <a:pt x="74104" y="148209"/>
                    </a:cubicBezTo>
                    <a:cubicBezTo>
                      <a:pt x="33178" y="148209"/>
                      <a:pt x="0" y="115031"/>
                      <a:pt x="0" y="74104"/>
                    </a:cubicBezTo>
                    <a:cubicBezTo>
                      <a:pt x="0" y="33178"/>
                      <a:pt x="33178" y="0"/>
                      <a:pt x="74104" y="0"/>
                    </a:cubicBezTo>
                    <a:cubicBezTo>
                      <a:pt x="115031" y="0"/>
                      <a:pt x="148209" y="33178"/>
                      <a:pt x="148209" y="741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373;p6">
                <a:extLst>
                  <a:ext uri="{FF2B5EF4-FFF2-40B4-BE49-F238E27FC236}">
                    <a16:creationId xmlns:a16="http://schemas.microsoft.com/office/drawing/2014/main" id="{61B1B916-4B33-5C40-4C11-07F4B07EEEFF}"/>
                  </a:ext>
                </a:extLst>
              </p:cNvPr>
              <p:cNvSpPr/>
              <p:nvPr/>
            </p:nvSpPr>
            <p:spPr>
              <a:xfrm>
                <a:off x="16940479" y="1492565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4"/>
                    </a:moveTo>
                    <a:cubicBezTo>
                      <a:pt x="148209" y="115031"/>
                      <a:pt x="115031" y="148209"/>
                      <a:pt x="74104" y="148209"/>
                    </a:cubicBezTo>
                    <a:cubicBezTo>
                      <a:pt x="33178" y="148209"/>
                      <a:pt x="0" y="115031"/>
                      <a:pt x="0" y="74104"/>
                    </a:cubicBezTo>
                    <a:cubicBezTo>
                      <a:pt x="0" y="33178"/>
                      <a:pt x="33178" y="0"/>
                      <a:pt x="74104" y="0"/>
                    </a:cubicBezTo>
                    <a:cubicBezTo>
                      <a:pt x="115031" y="0"/>
                      <a:pt x="148209" y="33178"/>
                      <a:pt x="148209" y="741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374;p6">
                <a:extLst>
                  <a:ext uri="{FF2B5EF4-FFF2-40B4-BE49-F238E27FC236}">
                    <a16:creationId xmlns:a16="http://schemas.microsoft.com/office/drawing/2014/main" id="{88C68A45-506F-4384-05E9-0D3D6952A63A}"/>
                  </a:ext>
                </a:extLst>
              </p:cNvPr>
              <p:cNvSpPr/>
              <p:nvPr/>
            </p:nvSpPr>
            <p:spPr>
              <a:xfrm>
                <a:off x="17289475" y="1660871"/>
                <a:ext cx="268615" cy="148399"/>
              </a:xfrm>
              <a:custGeom>
                <a:avLst/>
                <a:gdLst/>
                <a:ahLst/>
                <a:cxnLst/>
                <a:rect l="l" t="t" r="r" b="b"/>
                <a:pathLst>
                  <a:path w="268615" h="148399" extrusionOk="0">
                    <a:moveTo>
                      <a:pt x="253746" y="44101"/>
                    </a:moveTo>
                    <a:cubicBezTo>
                      <a:pt x="232401" y="27476"/>
                      <a:pt x="207702" y="15681"/>
                      <a:pt x="181356" y="9525"/>
                    </a:cubicBezTo>
                    <a:cubicBezTo>
                      <a:pt x="161530" y="3742"/>
                      <a:pt x="141041" y="541"/>
                      <a:pt x="120396" y="0"/>
                    </a:cubicBezTo>
                    <a:cubicBezTo>
                      <a:pt x="99702" y="-45"/>
                      <a:pt x="79130" y="3169"/>
                      <a:pt x="59436" y="9525"/>
                    </a:cubicBezTo>
                    <a:cubicBezTo>
                      <a:pt x="39707" y="14783"/>
                      <a:pt x="20843" y="22868"/>
                      <a:pt x="3429" y="33529"/>
                    </a:cubicBezTo>
                    <a:cubicBezTo>
                      <a:pt x="2286" y="34862"/>
                      <a:pt x="1238" y="36196"/>
                      <a:pt x="0" y="37434"/>
                    </a:cubicBezTo>
                    <a:cubicBezTo>
                      <a:pt x="27701" y="44889"/>
                      <a:pt x="53615" y="57847"/>
                      <a:pt x="76200" y="75534"/>
                    </a:cubicBezTo>
                    <a:cubicBezTo>
                      <a:pt x="94021" y="88541"/>
                      <a:pt x="104425" y="109385"/>
                      <a:pt x="104108" y="131446"/>
                    </a:cubicBezTo>
                    <a:lnTo>
                      <a:pt x="104108" y="148400"/>
                    </a:lnTo>
                    <a:lnTo>
                      <a:pt x="268605" y="148400"/>
                    </a:lnTo>
                    <a:lnTo>
                      <a:pt x="268605" y="73819"/>
                    </a:lnTo>
                    <a:cubicBezTo>
                      <a:pt x="268892" y="62061"/>
                      <a:pt x="263324" y="50927"/>
                      <a:pt x="253746" y="44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375;p6">
                <a:extLst>
                  <a:ext uri="{FF2B5EF4-FFF2-40B4-BE49-F238E27FC236}">
                    <a16:creationId xmlns:a16="http://schemas.microsoft.com/office/drawing/2014/main" id="{47681729-130B-DD1D-DC6A-254D2E597817}"/>
                  </a:ext>
                </a:extLst>
              </p:cNvPr>
              <p:cNvSpPr/>
              <p:nvPr/>
            </p:nvSpPr>
            <p:spPr>
              <a:xfrm>
                <a:off x="16866377" y="1660872"/>
                <a:ext cx="268605" cy="148398"/>
              </a:xfrm>
              <a:custGeom>
                <a:avLst/>
                <a:gdLst/>
                <a:ahLst/>
                <a:cxnLst/>
                <a:rect l="l" t="t" r="r" b="b"/>
                <a:pathLst>
                  <a:path w="268605" h="148399" extrusionOk="0">
                    <a:moveTo>
                      <a:pt x="164687" y="131445"/>
                    </a:moveTo>
                    <a:cubicBezTo>
                      <a:pt x="164708" y="110012"/>
                      <a:pt x="174533" y="89766"/>
                      <a:pt x="191357" y="76486"/>
                    </a:cubicBezTo>
                    <a:lnTo>
                      <a:pt x="192500" y="75534"/>
                    </a:lnTo>
                    <a:lnTo>
                      <a:pt x="193739" y="74676"/>
                    </a:lnTo>
                    <a:cubicBezTo>
                      <a:pt x="216581" y="58427"/>
                      <a:pt x="241848" y="45890"/>
                      <a:pt x="268605" y="37529"/>
                    </a:cubicBezTo>
                    <a:cubicBezTo>
                      <a:pt x="266700" y="35529"/>
                      <a:pt x="264986" y="33433"/>
                      <a:pt x="263176" y="31338"/>
                    </a:cubicBezTo>
                    <a:cubicBezTo>
                      <a:pt x="246437" y="21538"/>
                      <a:pt x="228377" y="14193"/>
                      <a:pt x="209550" y="9525"/>
                    </a:cubicBezTo>
                    <a:cubicBezTo>
                      <a:pt x="189726" y="3734"/>
                      <a:pt x="169235" y="532"/>
                      <a:pt x="148590" y="0"/>
                    </a:cubicBezTo>
                    <a:cubicBezTo>
                      <a:pt x="127896" y="-39"/>
                      <a:pt x="107326" y="3176"/>
                      <a:pt x="87630" y="9525"/>
                    </a:cubicBezTo>
                    <a:cubicBezTo>
                      <a:pt x="61651" y="16693"/>
                      <a:pt x="37144" y="28399"/>
                      <a:pt x="15240" y="44101"/>
                    </a:cubicBezTo>
                    <a:cubicBezTo>
                      <a:pt x="5858" y="51134"/>
                      <a:pt x="236" y="62096"/>
                      <a:pt x="0" y="73819"/>
                    </a:cubicBezTo>
                    <a:lnTo>
                      <a:pt x="0" y="148400"/>
                    </a:lnTo>
                    <a:lnTo>
                      <a:pt x="164687" y="1484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376;p6">
                <a:extLst>
                  <a:ext uri="{FF2B5EF4-FFF2-40B4-BE49-F238E27FC236}">
                    <a16:creationId xmlns:a16="http://schemas.microsoft.com/office/drawing/2014/main" id="{F37099BB-AB4C-8821-684F-85CF702AF129}"/>
                  </a:ext>
                </a:extLst>
              </p:cNvPr>
              <p:cNvSpPr/>
              <p:nvPr/>
            </p:nvSpPr>
            <p:spPr>
              <a:xfrm>
                <a:off x="17064018" y="1718592"/>
                <a:ext cx="296430" cy="147829"/>
              </a:xfrm>
              <a:custGeom>
                <a:avLst/>
                <a:gdLst/>
                <a:ahLst/>
                <a:cxnLst/>
                <a:rect l="l" t="t" r="r" b="b"/>
                <a:pathLst>
                  <a:path w="296430" h="147829" extrusionOk="0">
                    <a:moveTo>
                      <a:pt x="0" y="147830"/>
                    </a:moveTo>
                    <a:lnTo>
                      <a:pt x="0" y="73725"/>
                    </a:lnTo>
                    <a:cubicBezTo>
                      <a:pt x="45" y="62069"/>
                      <a:pt x="5544" y="51107"/>
                      <a:pt x="14859" y="44102"/>
                    </a:cubicBezTo>
                    <a:cubicBezTo>
                      <a:pt x="36723" y="28334"/>
                      <a:pt x="61243" y="16622"/>
                      <a:pt x="87249" y="9527"/>
                    </a:cubicBezTo>
                    <a:cubicBezTo>
                      <a:pt x="106934" y="3133"/>
                      <a:pt x="127512" y="-82"/>
                      <a:pt x="148209" y="2"/>
                    </a:cubicBezTo>
                    <a:cubicBezTo>
                      <a:pt x="168859" y="486"/>
                      <a:pt x="189355" y="3690"/>
                      <a:pt x="209169" y="9527"/>
                    </a:cubicBezTo>
                    <a:cubicBezTo>
                      <a:pt x="235567" y="15619"/>
                      <a:pt x="260308" y="27421"/>
                      <a:pt x="281654" y="44102"/>
                    </a:cubicBezTo>
                    <a:cubicBezTo>
                      <a:pt x="291195" y="50908"/>
                      <a:pt x="296728" y="62010"/>
                      <a:pt x="296418" y="73725"/>
                    </a:cubicBezTo>
                    <a:lnTo>
                      <a:pt x="296418" y="14783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377;p6">
                <a:extLst>
                  <a:ext uri="{FF2B5EF4-FFF2-40B4-BE49-F238E27FC236}">
                    <a16:creationId xmlns:a16="http://schemas.microsoft.com/office/drawing/2014/main" id="{3CD13114-2D7A-226F-A2A5-78EA6533A487}"/>
                  </a:ext>
                </a:extLst>
              </p:cNvPr>
              <p:cNvSpPr/>
              <p:nvPr/>
            </p:nvSpPr>
            <p:spPr>
              <a:xfrm>
                <a:off x="17138123" y="1550192"/>
                <a:ext cx="148209" cy="148209"/>
              </a:xfrm>
              <a:custGeom>
                <a:avLst/>
                <a:gdLst/>
                <a:ahLst/>
                <a:cxnLst/>
                <a:rect l="l" t="t" r="r" b="b"/>
                <a:pathLst>
                  <a:path w="148209" h="148209" extrusionOk="0">
                    <a:moveTo>
                      <a:pt x="148209" y="74105"/>
                    </a:moveTo>
                    <a:cubicBezTo>
                      <a:pt x="148209" y="115031"/>
                      <a:pt x="115031" y="148209"/>
                      <a:pt x="74105" y="148209"/>
                    </a:cubicBezTo>
                    <a:cubicBezTo>
                      <a:pt x="33178" y="148209"/>
                      <a:pt x="0" y="115031"/>
                      <a:pt x="0" y="74105"/>
                    </a:cubicBezTo>
                    <a:cubicBezTo>
                      <a:pt x="0" y="33178"/>
                      <a:pt x="33178" y="0"/>
                      <a:pt x="74105" y="0"/>
                    </a:cubicBezTo>
                    <a:cubicBezTo>
                      <a:pt x="115031" y="0"/>
                      <a:pt x="148209" y="33178"/>
                      <a:pt x="148209" y="7410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" name="Google Shape;378;p6">
              <a:extLst>
                <a:ext uri="{FF2B5EF4-FFF2-40B4-BE49-F238E27FC236}">
                  <a16:creationId xmlns:a16="http://schemas.microsoft.com/office/drawing/2014/main" id="{E402DBBD-5ECD-84E3-0E78-A71E28580B9E}"/>
                </a:ext>
              </a:extLst>
            </p:cNvPr>
            <p:cNvGrpSpPr/>
            <p:nvPr/>
          </p:nvGrpSpPr>
          <p:grpSpPr>
            <a:xfrm>
              <a:off x="16810081" y="921861"/>
              <a:ext cx="743773" cy="512573"/>
              <a:chOff x="16933626" y="782036"/>
              <a:chExt cx="743773" cy="512573"/>
            </a:xfrm>
          </p:grpSpPr>
          <p:sp>
            <p:nvSpPr>
              <p:cNvPr id="13" name="Google Shape;379;p6">
                <a:extLst>
                  <a:ext uri="{FF2B5EF4-FFF2-40B4-BE49-F238E27FC236}">
                    <a16:creationId xmlns:a16="http://schemas.microsoft.com/office/drawing/2014/main" id="{3ABC6522-F432-915C-7B98-F08CBC3DEA18}"/>
                  </a:ext>
                </a:extLst>
              </p:cNvPr>
              <p:cNvSpPr/>
              <p:nvPr/>
            </p:nvSpPr>
            <p:spPr>
              <a:xfrm>
                <a:off x="16933626" y="782036"/>
                <a:ext cx="476249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28625" extrusionOk="0">
                    <a:moveTo>
                      <a:pt x="323850" y="66675"/>
                    </a:moveTo>
                    <a:lnTo>
                      <a:pt x="476250" y="66675"/>
                    </a:lnTo>
                    <a:lnTo>
                      <a:pt x="476250" y="38100"/>
                    </a:lnTo>
                    <a:cubicBezTo>
                      <a:pt x="476250" y="17145"/>
                      <a:pt x="459105" y="0"/>
                      <a:pt x="43815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295275"/>
                    </a:lnTo>
                    <a:cubicBezTo>
                      <a:pt x="0" y="316230"/>
                      <a:pt x="17145" y="333375"/>
                      <a:pt x="38100" y="333375"/>
                    </a:cubicBezTo>
                    <a:lnTo>
                      <a:pt x="95250" y="333375"/>
                    </a:lnTo>
                    <a:lnTo>
                      <a:pt x="95250" y="428625"/>
                    </a:lnTo>
                    <a:lnTo>
                      <a:pt x="190500" y="333375"/>
                    </a:lnTo>
                    <a:lnTo>
                      <a:pt x="247650" y="333375"/>
                    </a:lnTo>
                    <a:lnTo>
                      <a:pt x="247650" y="142875"/>
                    </a:lnTo>
                    <a:cubicBezTo>
                      <a:pt x="247650" y="100965"/>
                      <a:pt x="281940" y="66675"/>
                      <a:pt x="323850" y="6667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380;p6">
                <a:extLst>
                  <a:ext uri="{FF2B5EF4-FFF2-40B4-BE49-F238E27FC236}">
                    <a16:creationId xmlns:a16="http://schemas.microsoft.com/office/drawing/2014/main" id="{B7B44A8E-D10D-F520-88D8-25A4C7364256}"/>
                  </a:ext>
                </a:extLst>
              </p:cNvPr>
              <p:cNvSpPr/>
              <p:nvPr/>
            </p:nvSpPr>
            <p:spPr>
              <a:xfrm>
                <a:off x="17201150" y="865984"/>
                <a:ext cx="476249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428625" extrusionOk="0">
                    <a:moveTo>
                      <a:pt x="438150" y="0"/>
                    </a:move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295275"/>
                    </a:lnTo>
                    <a:cubicBezTo>
                      <a:pt x="0" y="316230"/>
                      <a:pt x="17145" y="333375"/>
                      <a:pt x="38100" y="333375"/>
                    </a:cubicBezTo>
                    <a:lnTo>
                      <a:pt x="285750" y="333375"/>
                    </a:lnTo>
                    <a:lnTo>
                      <a:pt x="381000" y="428625"/>
                    </a:lnTo>
                    <a:lnTo>
                      <a:pt x="381000" y="333375"/>
                    </a:lnTo>
                    <a:lnTo>
                      <a:pt x="438150" y="333375"/>
                    </a:lnTo>
                    <a:cubicBezTo>
                      <a:pt x="459105" y="333375"/>
                      <a:pt x="476250" y="316230"/>
                      <a:pt x="476250" y="295275"/>
                    </a:cubicBezTo>
                    <a:lnTo>
                      <a:pt x="476250" y="38100"/>
                    </a:lnTo>
                    <a:cubicBezTo>
                      <a:pt x="476250" y="17145"/>
                      <a:pt x="459105" y="0"/>
                      <a:pt x="4381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sz="93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" name="Google Shape;381;p6">
            <a:extLst>
              <a:ext uri="{FF2B5EF4-FFF2-40B4-BE49-F238E27FC236}">
                <a16:creationId xmlns:a16="http://schemas.microsoft.com/office/drawing/2014/main" id="{C8491FC9-376C-9479-3DAF-00D399DE8A13}"/>
              </a:ext>
            </a:extLst>
          </p:cNvPr>
          <p:cNvSpPr txBox="1"/>
          <p:nvPr/>
        </p:nvSpPr>
        <p:spPr>
          <a:xfrm>
            <a:off x="11474655" y="-13895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r>
              <a:rPr kumimoji="0" lang="pt-BR" sz="933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ea typeface="Poppins"/>
                <a:cs typeface="Poppins"/>
                <a:sym typeface="Poppins"/>
              </a:rPr>
              <a:t>Diálogo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ea typeface="Poppins"/>
              <a:cs typeface="Poppins"/>
              <a:sym typeface="Poppins"/>
            </a:endParaRPr>
          </a:p>
          <a:p>
            <a:pPr marL="0" marR="0" lvl="0" indent="0" algn="r" defTabSz="914400" rtl="0" eaLnBrk="1" fontAlgn="auto" latinLnBrk="0" hangingPunct="1">
              <a:lnSpc>
                <a:spcPct val="107000"/>
              </a:lnSpc>
              <a:spcBef>
                <a:spcPts val="71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tabLst/>
              <a:defRPr/>
            </a:pPr>
            <a:endParaRPr kumimoji="0" sz="13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5EC2C3C-8E70-29BD-017B-4B5F1D2BADE2}"/>
              </a:ext>
            </a:extLst>
          </p:cNvPr>
          <p:cNvSpPr txBox="1"/>
          <p:nvPr/>
        </p:nvSpPr>
        <p:spPr>
          <a:xfrm>
            <a:off x="3331579" y="4861374"/>
            <a:ext cx="2963204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218788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13ECE-66BA-C307-0A8F-641213CA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E994C4CD-154D-7F7B-F070-AC0286465E5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870415" y="896653"/>
            <a:ext cx="7407060" cy="597240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sz="4400" b="1"/>
            </a:lvl1pPr>
          </a:lstStyle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Como direcionamos </a:t>
            </a:r>
          </a:p>
          <a:p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o olhar em um gráfico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42DC59-7159-864D-4013-1B271D309216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3240189" y="2143037"/>
            <a:ext cx="79315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Quando olhamos um gráfico, nossos olhos não veem tudo ao mesmo tempo.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Eles buscam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padrões, contrastes e elementos que se destacam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O papel do cientista de dados é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usar os recursos visuais com intenção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, guiando a atenção para o que é realmente importante.</a:t>
            </a:r>
            <a:endParaRPr lang="pt-BR" altLang="pt-BR" sz="18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Google Shape;529;p12">
            <a:extLst>
              <a:ext uri="{FF2B5EF4-FFF2-40B4-BE49-F238E27FC236}">
                <a16:creationId xmlns:a16="http://schemas.microsoft.com/office/drawing/2014/main" id="{A3350196-13FE-6871-D6AC-81EB38ACFA34}"/>
              </a:ext>
            </a:extLst>
          </p:cNvPr>
          <p:cNvSpPr/>
          <p:nvPr/>
        </p:nvSpPr>
        <p:spPr>
          <a:xfrm>
            <a:off x="2870415" y="4575466"/>
            <a:ext cx="8301324" cy="1283467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2" name="Google Shape;531;p12">
            <a:extLst>
              <a:ext uri="{FF2B5EF4-FFF2-40B4-BE49-F238E27FC236}">
                <a16:creationId xmlns:a16="http://schemas.microsoft.com/office/drawing/2014/main" id="{E55B984E-9AFE-46C5-E0FA-7AFE761822A9}"/>
              </a:ext>
            </a:extLst>
          </p:cNvPr>
          <p:cNvSpPr/>
          <p:nvPr/>
        </p:nvSpPr>
        <p:spPr>
          <a:xfrm>
            <a:off x="3018896" y="4461557"/>
            <a:ext cx="868725" cy="903901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" name="Google Shape;533;p12">
            <a:extLst>
              <a:ext uri="{FF2B5EF4-FFF2-40B4-BE49-F238E27FC236}">
                <a16:creationId xmlns:a16="http://schemas.microsoft.com/office/drawing/2014/main" id="{CAF8705E-04C4-C287-2A1F-C81FCEC4F1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0189" y="4607352"/>
            <a:ext cx="548441" cy="52608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Espaço Reservado para Texto 22">
            <a:extLst>
              <a:ext uri="{FF2B5EF4-FFF2-40B4-BE49-F238E27FC236}">
                <a16:creationId xmlns:a16="http://schemas.microsoft.com/office/drawing/2014/main" id="{435310B0-697B-3F9E-9E97-D0919D0C2B0B}"/>
              </a:ext>
            </a:extLst>
          </p:cNvPr>
          <p:cNvSpPr txBox="1">
            <a:spLocks/>
          </p:cNvSpPr>
          <p:nvPr/>
        </p:nvSpPr>
        <p:spPr>
          <a:xfrm>
            <a:off x="4108914" y="4681604"/>
            <a:ext cx="6770665" cy="3287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000" b="1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Tome nota</a:t>
            </a:r>
          </a:p>
        </p:txBody>
      </p:sp>
      <p:sp>
        <p:nvSpPr>
          <p:cNvPr id="15" name="Espaço Reservado para Texto 12">
            <a:extLst>
              <a:ext uri="{FF2B5EF4-FFF2-40B4-BE49-F238E27FC236}">
                <a16:creationId xmlns:a16="http://schemas.microsoft.com/office/drawing/2014/main" id="{67101011-B856-B444-DE14-3B74D40A88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8914" y="5042847"/>
            <a:ext cx="6770665" cy="903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z="1800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Um bom gráfico não mostra tudo de uma vez, ele guia o olhar para o que importa.</a:t>
            </a:r>
          </a:p>
        </p:txBody>
      </p:sp>
      <p:sp>
        <p:nvSpPr>
          <p:cNvPr id="20" name="Triângulo 11">
            <a:extLst>
              <a:ext uri="{FF2B5EF4-FFF2-40B4-BE49-F238E27FC236}">
                <a16:creationId xmlns:a16="http://schemas.microsoft.com/office/drawing/2014/main" id="{FB20AD24-DD5D-D362-F875-7F771BD4436B}"/>
              </a:ext>
            </a:extLst>
          </p:cNvPr>
          <p:cNvSpPr/>
          <p:nvPr/>
        </p:nvSpPr>
        <p:spPr>
          <a:xfrm rot="5400000">
            <a:off x="2920944" y="2276464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21" name="Triângulo 11">
            <a:extLst>
              <a:ext uri="{FF2B5EF4-FFF2-40B4-BE49-F238E27FC236}">
                <a16:creationId xmlns:a16="http://schemas.microsoft.com/office/drawing/2014/main" id="{8B9AFB97-C771-D164-6A3D-85BA3D071429}"/>
              </a:ext>
            </a:extLst>
          </p:cNvPr>
          <p:cNvSpPr/>
          <p:nvPr/>
        </p:nvSpPr>
        <p:spPr>
          <a:xfrm rot="5400000">
            <a:off x="2920944" y="3074291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22" name="Triângulo 11">
            <a:extLst>
              <a:ext uri="{FF2B5EF4-FFF2-40B4-BE49-F238E27FC236}">
                <a16:creationId xmlns:a16="http://schemas.microsoft.com/office/drawing/2014/main" id="{ED51B981-8043-8C68-797A-60804C41E325}"/>
              </a:ext>
            </a:extLst>
          </p:cNvPr>
          <p:cNvSpPr/>
          <p:nvPr/>
        </p:nvSpPr>
        <p:spPr>
          <a:xfrm rot="5400000">
            <a:off x="2920944" y="3615313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</p:spTree>
    <p:extLst>
      <p:ext uri="{BB962C8B-B14F-4D97-AF65-F5344CB8AC3E}">
        <p14:creationId xmlns:p14="http://schemas.microsoft.com/office/powerpoint/2010/main" val="96515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90F600D2-ACE4-DDA7-2E58-6D64C3D6F6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67826" y="762061"/>
            <a:ext cx="8540120" cy="492582"/>
          </a:xfrm>
        </p:spPr>
        <p:txBody>
          <a:bodyPr lIns="91440" tIns="45720" rIns="91440" bIns="45720" anchor="t">
            <a:noAutofit/>
          </a:bodyPr>
          <a:lstStyle>
            <a:lvl1pPr>
              <a:defRPr sz="4400" b="1"/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Princípios da </a:t>
            </a:r>
            <a:r>
              <a:rPr lang="pt-BR" sz="3200" dirty="0" err="1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gestalt</a:t>
            </a:r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 no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3200" dirty="0" err="1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storytelling</a:t>
            </a:r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C07713-EF67-BF56-9759-D1AD4C39555E}"/>
              </a:ext>
            </a:extLst>
          </p:cNvPr>
          <p:cNvSpPr txBox="1"/>
          <p:nvPr/>
        </p:nvSpPr>
        <p:spPr>
          <a:xfrm>
            <a:off x="4762328" y="158951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688DF5-4712-1AE9-17E7-99F302EBC562}"/>
              </a:ext>
            </a:extLst>
          </p:cNvPr>
          <p:cNvSpPr txBox="1"/>
          <p:nvPr/>
        </p:nvSpPr>
        <p:spPr>
          <a:xfrm>
            <a:off x="4435895" y="3421400"/>
            <a:ext cx="2522014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DESTAQUE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EE34767-E395-4327-9096-153863CB5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826" y="1790638"/>
            <a:ext cx="85401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pt-BR" sz="1600" dirty="0" err="1">
                <a:latin typeface="Poppins" panose="00000500000000000000" pitchFamily="2" charset="0"/>
                <a:cs typeface="Poppins" panose="00000500000000000000" pitchFamily="2" charset="0"/>
              </a:rPr>
              <a:t>gestalt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 é uma teoria da psicologia da percepção que explica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como o cérebro organiza elementos visuais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. No </a:t>
            </a:r>
            <a:r>
              <a:rPr lang="pt-BR" sz="1600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 de dados, ela ajuda a </a:t>
            </a:r>
            <a:r>
              <a:rPr lang="pt-BR" sz="1600" b="1" dirty="0">
                <a:latin typeface="Poppins" panose="00000500000000000000" pitchFamily="2" charset="0"/>
                <a:cs typeface="Poppins" panose="00000500000000000000" pitchFamily="2" charset="0"/>
              </a:rPr>
              <a:t>criar gráficos mais claros e intuitivos</a:t>
            </a:r>
            <a:r>
              <a:rPr lang="pt-BR" sz="16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pt-BR" altLang="pt-BR" sz="16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3" name="Google Shape;794;p59">
            <a:extLst>
              <a:ext uri="{FF2B5EF4-FFF2-40B4-BE49-F238E27FC236}">
                <a16:creationId xmlns:a16="http://schemas.microsoft.com/office/drawing/2014/main" id="{0C380BF2-9D58-3460-1042-EBFAA9A6B2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1327502"/>
              </p:ext>
            </p:extLst>
          </p:nvPr>
        </p:nvGraphicFramePr>
        <p:xfrm>
          <a:off x="1703388" y="2760135"/>
          <a:ext cx="9641946" cy="3189029"/>
        </p:xfrm>
        <a:graphic>
          <a:graphicData uri="http://schemas.openxmlformats.org/drawingml/2006/table">
            <a:tbl>
              <a:tblPr>
                <a:noFill/>
                <a:tableStyleId>{58B62AC2-CBFF-4FEF-A790-FB120B6FE34D}</a:tableStyleId>
              </a:tblPr>
              <a:tblGrid>
                <a:gridCol w="1875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3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32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7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Princípio</a:t>
                      </a:r>
                    </a:p>
                  </a:txBody>
                  <a:tcPr marL="75338" marR="75338" marT="37669" marB="3766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 que significa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2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Aplicação em gráficos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Proximidade</a:t>
                      </a:r>
                      <a:endParaRPr lang="pt-BR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Elementos próximos são vistos como parte do mesmo grupo.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Agrupe barras ou pontos de categorias relacionadas.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Semelhança</a:t>
                      </a:r>
                      <a:endParaRPr lang="pt-BR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Elementos com cor ou forma parecida são percebidos juntos.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 cores iguais para representar o mesmo tipo de dado.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Figura e fundo</a:t>
                      </a:r>
                      <a:endParaRPr lang="pt-BR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 olhar separa o que é foco do que é plano de fundo.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 contraste para destacar a informação principal.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Continuidade</a:t>
                      </a:r>
                      <a:endParaRPr lang="pt-BR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 cérebro segue linhas e curvas de forma natural.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Mantenha a </a:t>
                      </a:r>
                      <a:r>
                        <a:rPr lang="pt-BR" sz="1200" b="0" i="0" u="none" strike="noStrike" cap="none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Arial"/>
                          <a:cs typeface="Poppins" panose="00000500000000000000" pitchFamily="2" charset="0"/>
                          <a:sym typeface="Arial"/>
                        </a:rPr>
                        <a:t>direção visual coerente (ex.: linha crescente).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Fechamento</a:t>
                      </a:r>
                      <a:endParaRPr lang="pt-BR" sz="12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Tendemos a completar figuras incompletas.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Evite gráficos cortados que confundam o leitor.</a:t>
                      </a:r>
                    </a:p>
                  </a:txBody>
                  <a:tcPr marL="75338" marR="75338" marT="37669" marB="37669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6B008585-ED39-6E86-7274-D5533B208EDF}"/>
              </a:ext>
            </a:extLst>
          </p:cNvPr>
          <p:cNvSpPr txBox="1"/>
          <p:nvPr/>
        </p:nvSpPr>
        <p:spPr>
          <a:xfrm>
            <a:off x="1613159" y="6014503"/>
            <a:ext cx="6096000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dirty="0">
                <a:latin typeface="Poppins" panose="00000500000000000000" pitchFamily="2" charset="0"/>
              </a:rPr>
              <a:t>Fonte: KNAFLIC, 2019.</a:t>
            </a:r>
          </a:p>
        </p:txBody>
      </p:sp>
    </p:spTree>
    <p:extLst>
      <p:ext uri="{BB962C8B-B14F-4D97-AF65-F5344CB8AC3E}">
        <p14:creationId xmlns:p14="http://schemas.microsoft.com/office/powerpoint/2010/main" val="521112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22">
            <a:extLst>
              <a:ext uri="{FF2B5EF4-FFF2-40B4-BE49-F238E27FC236}">
                <a16:creationId xmlns:a16="http://schemas.microsoft.com/office/drawing/2014/main" id="{90F600D2-ACE4-DDA7-2E58-6D64C3D6F6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67826" y="931395"/>
            <a:ext cx="8540120" cy="520699"/>
          </a:xfrm>
        </p:spPr>
        <p:txBody>
          <a:bodyPr lIns="91440" tIns="45720" rIns="91440" bIns="45720" anchor="t">
            <a:noAutofit/>
          </a:bodyPr>
          <a:lstStyle>
            <a:lvl1pPr>
              <a:defRPr sz="4400" b="1"/>
            </a:lvl1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Uso de cores: clareza e intenção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DC07713-EF67-BF56-9759-D1AD4C39555E}"/>
              </a:ext>
            </a:extLst>
          </p:cNvPr>
          <p:cNvSpPr txBox="1"/>
          <p:nvPr/>
        </p:nvSpPr>
        <p:spPr>
          <a:xfrm>
            <a:off x="4762328" y="17625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688DF5-4712-1AE9-17E7-99F302EBC562}"/>
              </a:ext>
            </a:extLst>
          </p:cNvPr>
          <p:cNvSpPr txBox="1"/>
          <p:nvPr/>
        </p:nvSpPr>
        <p:spPr>
          <a:xfrm>
            <a:off x="4435895" y="3594398"/>
            <a:ext cx="2522014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DESTAQUE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0CFC8E7-DEFE-0A48-A4C6-E26A2E91EED9}"/>
              </a:ext>
            </a:extLst>
          </p:cNvPr>
          <p:cNvSpPr txBox="1"/>
          <p:nvPr/>
        </p:nvSpPr>
        <p:spPr>
          <a:xfrm>
            <a:off x="2967825" y="1878943"/>
            <a:ext cx="3816033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As cores orientam o olhar e destacam o que é importante.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No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de dados, a cor não é decoração, é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ferramenta de comunicação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Ela deve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reforçar a mensagem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, e não competir com ela.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65AC0E9-32E6-A0E2-17D7-34A016232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931822" y="1879152"/>
            <a:ext cx="4575706" cy="286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8CA1F55-CC00-B064-160D-F36385A6C45E}"/>
              </a:ext>
            </a:extLst>
          </p:cNvPr>
          <p:cNvSpPr txBox="1"/>
          <p:nvPr/>
        </p:nvSpPr>
        <p:spPr>
          <a:xfrm>
            <a:off x="2881856" y="5095356"/>
            <a:ext cx="862609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Cada cor precisa ter um propósito: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destacar, agrupar ou comparar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A96D76-50D6-B8E0-09D7-74B7B27581FF}"/>
              </a:ext>
            </a:extLst>
          </p:cNvPr>
          <p:cNvSpPr txBox="1"/>
          <p:nvPr/>
        </p:nvSpPr>
        <p:spPr>
          <a:xfrm>
            <a:off x="6931405" y="4776239"/>
            <a:ext cx="2963204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© Getty Images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D84FA33-8A39-B25E-853F-03D10907437B}"/>
              </a:ext>
            </a:extLst>
          </p:cNvPr>
          <p:cNvSpPr txBox="1"/>
          <p:nvPr/>
        </p:nvSpPr>
        <p:spPr>
          <a:xfrm>
            <a:off x="3060424" y="5926605"/>
            <a:ext cx="2518573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dirty="0">
                <a:latin typeface="Poppins" panose="00000500000000000000" pitchFamily="2" charset="0"/>
              </a:rPr>
              <a:t>Fonte: KNAFLIC, 2019.</a:t>
            </a:r>
          </a:p>
        </p:txBody>
      </p:sp>
    </p:spTree>
    <p:extLst>
      <p:ext uri="{BB962C8B-B14F-4D97-AF65-F5344CB8AC3E}">
        <p14:creationId xmlns:p14="http://schemas.microsoft.com/office/powerpoint/2010/main" val="2691025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8941-E0C8-3940-A3C5-4987D861C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BF0CC3C5-EFB8-56C0-C8F1-94E06CC36AD5}"/>
              </a:ext>
            </a:extLst>
          </p:cNvPr>
          <p:cNvSpPr txBox="1">
            <a:spLocks/>
          </p:cNvSpPr>
          <p:nvPr/>
        </p:nvSpPr>
        <p:spPr>
          <a:xfrm>
            <a:off x="6095995" y="813858"/>
            <a:ext cx="5714598" cy="57397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dirty="0">
                <a:latin typeface="Poppins" panose="00000500000000000000" pitchFamily="2" charset="0"/>
              </a:rPr>
              <a:t>Cores bem usadas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–</a:t>
            </a:r>
            <a:r>
              <a:rPr lang="pt-BR" sz="1800" i="1" dirty="0">
                <a:latin typeface="Poppins" panose="00000500000000000000" pitchFamily="2" charset="0"/>
              </a:rPr>
              <a:t>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Gestalt</a:t>
            </a:r>
            <a:r>
              <a:rPr lang="pt-BR" sz="1800" i="1" dirty="0">
                <a:latin typeface="Poppins" panose="00000500000000000000" pitchFamily="2" charset="0"/>
                <a:cs typeface="Poppins" panose="00000500000000000000" pitchFamily="2" charset="0"/>
              </a:rPr>
              <a:t> :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f</a:t>
            </a:r>
            <a:r>
              <a:rPr lang="pt-BR" sz="1800" dirty="0">
                <a:latin typeface="Poppins" panose="00000500000000000000" pitchFamily="2" charset="0"/>
              </a:rPr>
              <a:t>igura, fundo e semelhança</a:t>
            </a:r>
          </a:p>
        </p:txBody>
      </p:sp>
      <p:sp>
        <p:nvSpPr>
          <p:cNvPr id="24" name="Espaço Reservado para Texto 21">
            <a:extLst>
              <a:ext uri="{FF2B5EF4-FFF2-40B4-BE49-F238E27FC236}">
                <a16:creationId xmlns:a16="http://schemas.microsoft.com/office/drawing/2014/main" id="{C1B33233-4A58-A8F1-658F-3C76C323AFA8}"/>
              </a:ext>
            </a:extLst>
          </p:cNvPr>
          <p:cNvSpPr txBox="1">
            <a:spLocks/>
          </p:cNvSpPr>
          <p:nvPr/>
        </p:nvSpPr>
        <p:spPr>
          <a:xfrm>
            <a:off x="6095992" y="3698649"/>
            <a:ext cx="5714598" cy="57807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dirty="0">
                <a:latin typeface="Poppins" panose="00000500000000000000" pitchFamily="2" charset="0"/>
              </a:rPr>
              <a:t>Cores mal aplicadas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–</a:t>
            </a:r>
            <a:r>
              <a:rPr lang="pt-BR" sz="1800" dirty="0">
                <a:latin typeface="Poppins" panose="00000500000000000000" pitchFamily="2" charset="0"/>
              </a:rPr>
              <a:t> Gestalt: semelhança violada</a:t>
            </a:r>
          </a:p>
        </p:txBody>
      </p:sp>
      <p:sp>
        <p:nvSpPr>
          <p:cNvPr id="25" name="Espaço Reservado para Texto 22">
            <a:extLst>
              <a:ext uri="{FF2B5EF4-FFF2-40B4-BE49-F238E27FC236}">
                <a16:creationId xmlns:a16="http://schemas.microsoft.com/office/drawing/2014/main" id="{171AC0B1-C9B9-48DE-19B2-23591586E085}"/>
              </a:ext>
            </a:extLst>
          </p:cNvPr>
          <p:cNvSpPr txBox="1">
            <a:spLocks/>
          </p:cNvSpPr>
          <p:nvPr/>
        </p:nvSpPr>
        <p:spPr>
          <a:xfrm>
            <a:off x="6095992" y="1528177"/>
            <a:ext cx="5714599" cy="172931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33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pt-BR" sz="1500" dirty="0">
                <a:latin typeface="Poppins" panose="00000500000000000000" pitchFamily="2" charset="0"/>
              </a:rPr>
              <a:t>O fundo neutro permite foco na barra azul (figura em destaque).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500" dirty="0">
                <a:latin typeface="Poppins" panose="00000500000000000000" pitchFamily="2" charset="0"/>
              </a:rPr>
              <a:t>As demais barras compartilham a mesma cor, mostrando </a:t>
            </a:r>
            <a:r>
              <a:rPr lang="pt-BR" sz="1500" b="1" dirty="0">
                <a:latin typeface="Poppins" panose="00000500000000000000" pitchFamily="2" charset="0"/>
              </a:rPr>
              <a:t>semelhança e agrupamento</a:t>
            </a:r>
            <a:r>
              <a:rPr lang="pt-BR" sz="1500" dirty="0">
                <a:latin typeface="Poppins" panose="00000500000000000000" pitchFamily="2" charset="0"/>
              </a:rPr>
              <a:t>.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500" dirty="0">
                <a:latin typeface="Poppins" panose="00000500000000000000" pitchFamily="2" charset="0"/>
              </a:rPr>
              <a:t>O contraste de cor cria </a:t>
            </a:r>
            <a:r>
              <a:rPr lang="pt-BR" sz="1500" b="1" dirty="0">
                <a:latin typeface="Poppins" panose="00000500000000000000" pitchFamily="2" charset="0"/>
              </a:rPr>
              <a:t>hierarquia visual </a:t>
            </a:r>
            <a:r>
              <a:rPr lang="pt-BR" sz="1500" dirty="0">
                <a:latin typeface="Poppins" panose="00000500000000000000" pitchFamily="2" charset="0"/>
              </a:rPr>
              <a:t>— o olhar vai direto à categoria D.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500" dirty="0">
                <a:latin typeface="Poppins" panose="00000500000000000000" pitchFamily="2" charset="0"/>
              </a:rPr>
              <a:t>Comunicação é clara, sem esforço cognitivo.</a:t>
            </a:r>
          </a:p>
          <a:p>
            <a:endParaRPr lang="pt-BR" sz="1500" dirty="0"/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5124A54D-C208-4462-8F62-ABB1E6778912}"/>
              </a:ext>
            </a:extLst>
          </p:cNvPr>
          <p:cNvSpPr txBox="1">
            <a:spLocks/>
          </p:cNvSpPr>
          <p:nvPr/>
        </p:nvSpPr>
        <p:spPr>
          <a:xfrm>
            <a:off x="6095991" y="4418566"/>
            <a:ext cx="5714599" cy="138535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33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Blip>
                <a:blip r:embed="rId2"/>
              </a:buBlip>
            </a:pPr>
            <a:r>
              <a:rPr lang="pt-BR" sz="1500" dirty="0">
                <a:latin typeface="Poppins" panose="00000500000000000000" pitchFamily="2" charset="0"/>
              </a:rPr>
              <a:t>Cada cor representa algo diferente sem significado, quebrando o </a:t>
            </a:r>
            <a:r>
              <a:rPr lang="pt-BR" sz="1500" b="1" dirty="0">
                <a:latin typeface="Poppins" panose="00000500000000000000" pitchFamily="2" charset="0"/>
              </a:rPr>
              <a:t>agrupamento visual</a:t>
            </a:r>
            <a:r>
              <a:rPr lang="pt-BR" sz="1500" dirty="0">
                <a:latin typeface="Poppins" panose="00000500000000000000" pitchFamily="2" charset="0"/>
              </a:rPr>
              <a:t>.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500" dirty="0">
                <a:latin typeface="Poppins" panose="00000500000000000000" pitchFamily="2" charset="0"/>
              </a:rPr>
              <a:t>O olhar não sabe em que focar — todas as barras competem por atenção.</a:t>
            </a:r>
          </a:p>
          <a:p>
            <a:pPr marL="285750" indent="-285750">
              <a:buBlip>
                <a:blip r:embed="rId2"/>
              </a:buBlip>
            </a:pPr>
            <a:r>
              <a:rPr lang="pt-BR" sz="1500" dirty="0">
                <a:latin typeface="Poppins" panose="00000500000000000000" pitchFamily="2" charset="0"/>
              </a:rPr>
              <a:t>A hierarquia se perde, e a mensagem principal desaparece.</a:t>
            </a:r>
          </a:p>
          <a:p>
            <a:endParaRPr lang="pt-BR" sz="1500" dirty="0"/>
          </a:p>
        </p:txBody>
      </p:sp>
      <p:sp>
        <p:nvSpPr>
          <p:cNvPr id="27" name="Espaço Reservado para Texto 22">
            <a:extLst>
              <a:ext uri="{FF2B5EF4-FFF2-40B4-BE49-F238E27FC236}">
                <a16:creationId xmlns:a16="http://schemas.microsoft.com/office/drawing/2014/main" id="{9D63D6FD-0C67-B99D-B395-0C5866D12C9D}"/>
              </a:ext>
            </a:extLst>
          </p:cNvPr>
          <p:cNvSpPr txBox="1">
            <a:spLocks/>
          </p:cNvSpPr>
          <p:nvPr/>
        </p:nvSpPr>
        <p:spPr>
          <a:xfrm>
            <a:off x="195778" y="2771718"/>
            <a:ext cx="2028760" cy="1702974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320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Exemplo do uso de cores</a:t>
            </a:r>
            <a:endParaRPr lang="pt-BR" sz="3200" dirty="0">
              <a:solidFill>
                <a:schemeClr val="bg1"/>
              </a:solidFill>
              <a:latin typeface="Poppins" panose="00000500000000000000" pitchFamily="2" charset="0"/>
              <a:cs typeface="Poppins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4596F096-A6AA-E7DE-29FD-44977AA48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903" y="821530"/>
            <a:ext cx="3072147" cy="2362769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756CBF4C-2BF3-D6C6-4053-448A89188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903" y="3489855"/>
            <a:ext cx="3072145" cy="236276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BCF61D2-43A6-C288-2A0D-6D6384AABCE1}"/>
              </a:ext>
            </a:extLst>
          </p:cNvPr>
          <p:cNvSpPr txBox="1"/>
          <p:nvPr/>
        </p:nvSpPr>
        <p:spPr>
          <a:xfrm>
            <a:off x="3485322" y="6005780"/>
            <a:ext cx="2223726" cy="6299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Gráficos produzidos pela SEDUC-SP com a ferramenta </a:t>
            </a:r>
            <a:r>
              <a:rPr lang="pt-BR" sz="1100" kern="100" dirty="0" err="1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Matplotlib</a:t>
            </a: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8549EC-9C35-F85A-E25E-39DA2700C320}"/>
              </a:ext>
            </a:extLst>
          </p:cNvPr>
          <p:cNvSpPr txBox="1"/>
          <p:nvPr/>
        </p:nvSpPr>
        <p:spPr>
          <a:xfrm>
            <a:off x="6243462" y="6456819"/>
            <a:ext cx="2518573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dirty="0">
                <a:latin typeface="Poppins" panose="00000500000000000000" pitchFamily="2" charset="0"/>
              </a:rPr>
              <a:t>Fonte: KNAFLIC, 2019.</a:t>
            </a:r>
          </a:p>
        </p:txBody>
      </p:sp>
    </p:spTree>
    <p:extLst>
      <p:ext uri="{BB962C8B-B14F-4D97-AF65-F5344CB8AC3E}">
        <p14:creationId xmlns:p14="http://schemas.microsoft.com/office/powerpoint/2010/main" val="350207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42E6-4F37-7811-43FB-02565CAD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22D1FDB-4540-87C0-B7A6-5E500D5E2427}"/>
              </a:ext>
            </a:extLst>
          </p:cNvPr>
          <p:cNvSpPr txBox="1"/>
          <p:nvPr/>
        </p:nvSpPr>
        <p:spPr>
          <a:xfrm>
            <a:off x="7253868" y="2251789"/>
            <a:ext cx="40386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O contraste organiza o olhar e a hierarquia define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o que deve ser visto primeiro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Elementos com maior contraste (cor, tamanho ou posição) chamam mais a atenção.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B0973B-B568-ADF7-D83E-CA6794332765}"/>
              </a:ext>
            </a:extLst>
          </p:cNvPr>
          <p:cNvSpPr txBox="1"/>
          <p:nvPr/>
        </p:nvSpPr>
        <p:spPr>
          <a:xfrm>
            <a:off x="2912840" y="5282684"/>
            <a:ext cx="848718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Hierarquia visual é utilizar elementos para direcionar o olhar do leitor para o mais importante.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B9C2D9-0149-C651-FEA8-1C5600130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914840" y="2251789"/>
            <a:ext cx="4091941" cy="272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Texto 22">
            <a:extLst>
              <a:ext uri="{FF2B5EF4-FFF2-40B4-BE49-F238E27FC236}">
                <a16:creationId xmlns:a16="http://schemas.microsoft.com/office/drawing/2014/main" id="{8DFBDA12-C768-B242-A766-5A2E69ECBCC9}"/>
              </a:ext>
            </a:extLst>
          </p:cNvPr>
          <p:cNvSpPr txBox="1">
            <a:spLocks/>
          </p:cNvSpPr>
          <p:nvPr/>
        </p:nvSpPr>
        <p:spPr>
          <a:xfrm>
            <a:off x="2800414" y="901296"/>
            <a:ext cx="8442209" cy="467534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pt-BR" sz="3200" dirty="0">
                <a:solidFill>
                  <a:srgbClr val="FF161F"/>
                </a:solidFill>
                <a:latin typeface="Poppins" panose="00000500000000000000" pitchFamily="2" charset="0"/>
                <a:cs typeface="Poppins"/>
              </a:rPr>
              <a:t>Contraste e hierarquia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BC4D2B1-05ED-EF86-EE6E-97252BD12074}"/>
              </a:ext>
            </a:extLst>
          </p:cNvPr>
          <p:cNvSpPr txBox="1"/>
          <p:nvPr/>
        </p:nvSpPr>
        <p:spPr>
          <a:xfrm>
            <a:off x="2912840" y="4989052"/>
            <a:ext cx="2963204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© Getty Images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A75050-7530-4D46-A5B3-072DF9B407D4}"/>
              </a:ext>
            </a:extLst>
          </p:cNvPr>
          <p:cNvSpPr txBox="1"/>
          <p:nvPr/>
        </p:nvSpPr>
        <p:spPr>
          <a:xfrm>
            <a:off x="2912840" y="5954946"/>
            <a:ext cx="2518573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dirty="0">
                <a:latin typeface="Poppins" panose="00000500000000000000" pitchFamily="2" charset="0"/>
              </a:rPr>
              <a:t>Fonte: KNAFLIC, 2019.</a:t>
            </a:r>
          </a:p>
        </p:txBody>
      </p:sp>
    </p:spTree>
    <p:extLst>
      <p:ext uri="{BB962C8B-B14F-4D97-AF65-F5344CB8AC3E}">
        <p14:creationId xmlns:p14="http://schemas.microsoft.com/office/powerpoint/2010/main" val="4221447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633B-EE72-39C3-9846-4F8406FE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ço Reservado para Texto 19">
            <a:extLst>
              <a:ext uri="{FF2B5EF4-FFF2-40B4-BE49-F238E27FC236}">
                <a16:creationId xmlns:a16="http://schemas.microsoft.com/office/drawing/2014/main" id="{22BC142E-BB94-91AA-0380-5D305E8A7D4A}"/>
              </a:ext>
            </a:extLst>
          </p:cNvPr>
          <p:cNvSpPr txBox="1">
            <a:spLocks/>
          </p:cNvSpPr>
          <p:nvPr/>
        </p:nvSpPr>
        <p:spPr>
          <a:xfrm>
            <a:off x="6095995" y="813858"/>
            <a:ext cx="5714598" cy="57397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Hierarquia visual e contraste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–</a:t>
            </a:r>
            <a:r>
              <a:rPr kumimoji="0" lang="pt-BR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</a:t>
            </a:r>
            <a:r>
              <a:rPr kumimoji="0" lang="pt-BR" sz="18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Gestalt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: </a:t>
            </a:r>
            <a:r>
              <a:rPr lang="pt-BR" sz="1800" dirty="0">
                <a:latin typeface="Poppins" panose="00000500000000000000" pitchFamily="2" charset="0"/>
              </a:rPr>
              <a:t>c</a:t>
            </a:r>
            <a:r>
              <a:rPr kumimoji="0" lang="pt-B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ontinuidade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e figura/fundo</a:t>
            </a:r>
          </a:p>
        </p:txBody>
      </p:sp>
      <p:sp>
        <p:nvSpPr>
          <p:cNvPr id="24" name="Espaço Reservado para Texto 21">
            <a:extLst>
              <a:ext uri="{FF2B5EF4-FFF2-40B4-BE49-F238E27FC236}">
                <a16:creationId xmlns:a16="http://schemas.microsoft.com/office/drawing/2014/main" id="{4CDC1978-01EE-1E7B-C40E-760E51EF08A2}"/>
              </a:ext>
            </a:extLst>
          </p:cNvPr>
          <p:cNvSpPr txBox="1">
            <a:spLocks/>
          </p:cNvSpPr>
          <p:nvPr/>
        </p:nvSpPr>
        <p:spPr>
          <a:xfrm>
            <a:off x="6095992" y="3698649"/>
            <a:ext cx="5714598" cy="57807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1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Falta de contraste e foco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–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Gestalt: </a:t>
            </a:r>
            <a:r>
              <a:rPr lang="pt-BR" sz="1800" dirty="0">
                <a:latin typeface="Poppins" panose="00000500000000000000" pitchFamily="2" charset="0"/>
              </a:rPr>
              <a:t>f</a:t>
            </a:r>
            <a:r>
              <a:rPr kumimoji="0" lang="pt-B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igura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/</a:t>
            </a:r>
            <a:r>
              <a:rPr lang="pt-BR" sz="1800" dirty="0">
                <a:latin typeface="Poppins" panose="00000500000000000000" pitchFamily="2" charset="0"/>
              </a:rPr>
              <a:t>f</a:t>
            </a:r>
            <a:r>
              <a:rPr kumimoji="0" lang="pt-B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undo</a:t>
            </a: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 ausentes</a:t>
            </a:r>
          </a:p>
        </p:txBody>
      </p:sp>
      <p:sp>
        <p:nvSpPr>
          <p:cNvPr id="25" name="Espaço Reservado para Texto 22">
            <a:extLst>
              <a:ext uri="{FF2B5EF4-FFF2-40B4-BE49-F238E27FC236}">
                <a16:creationId xmlns:a16="http://schemas.microsoft.com/office/drawing/2014/main" id="{DB4566A7-7605-4F41-E497-35CAB0778DEA}"/>
              </a:ext>
            </a:extLst>
          </p:cNvPr>
          <p:cNvSpPr txBox="1">
            <a:spLocks/>
          </p:cNvSpPr>
          <p:nvPr/>
        </p:nvSpPr>
        <p:spPr>
          <a:xfrm>
            <a:off x="6095992" y="1528177"/>
            <a:ext cx="5714599" cy="172931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33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Blip>
                <a:blip r:embed="rId2"/>
              </a:buBlip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 linha cinza cria </a:t>
            </a:r>
            <a:r>
              <a:rPr kumimoji="0" lang="pt-B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continuidade visual</a:t>
            </a: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, guiando naturalmente o olhar.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Blip>
                <a:blip r:embed="rId2"/>
              </a:buBlip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O ponto vermelho destaca o ápice — </a:t>
            </a:r>
            <a:r>
              <a:rPr kumimoji="0" lang="pt-BR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figura sobre fundo neutro</a:t>
            </a: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Blip>
                <a:blip r:embed="rId2"/>
              </a:buBlip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O contraste de cor e forma orienta o leitor para o momento-chave (abril).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Arial"/>
            </a:endParaRPr>
          </a:p>
        </p:txBody>
      </p:sp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E14C4FF8-9188-ADD9-67E0-81F2AC4C015B}"/>
              </a:ext>
            </a:extLst>
          </p:cNvPr>
          <p:cNvSpPr txBox="1">
            <a:spLocks/>
          </p:cNvSpPr>
          <p:nvPr/>
        </p:nvSpPr>
        <p:spPr>
          <a:xfrm>
            <a:off x="6095991" y="4418566"/>
            <a:ext cx="5714599" cy="138535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333" b="0" i="0" u="none" strike="noStrike" cap="none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0" indent="-285750">
              <a:buBlip>
                <a:blip r:embed="rId3"/>
              </a:buBlip>
              <a:defRPr/>
            </a:pPr>
            <a:r>
              <a:rPr lang="pt-BR" sz="1500" dirty="0">
                <a:latin typeface="Poppins" panose="00000500000000000000" pitchFamily="2" charset="0"/>
              </a:rPr>
              <a:t>Tudo tem o mesmo peso visual: o olhar não sabe o que é mais importante.</a:t>
            </a:r>
            <a:endParaRPr kumimoji="0" lang="pt-BR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  <a:p>
            <a:pPr marL="285750" lvl="0" indent="-285750">
              <a:buBlip>
                <a:blip r:embed="rId3"/>
              </a:buBlip>
              <a:defRPr/>
            </a:pPr>
            <a:r>
              <a:rPr lang="pt-BR" sz="1500" dirty="0">
                <a:latin typeface="Poppins" panose="00000500000000000000" pitchFamily="2" charset="0"/>
              </a:rPr>
              <a:t>Nenhum contraste indica o ponto principal.</a:t>
            </a:r>
            <a:endParaRPr kumimoji="0" lang="pt-BR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anose="00000500000000000000" pitchFamily="2" charset="0"/>
              <a:cs typeface="Poppins" pitchFamily="2" charset="77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Blip>
                <a:blip r:embed="rId3"/>
              </a:buBlip>
              <a:tabLst/>
              <a:defRPr/>
            </a:pPr>
            <a:r>
              <a:rPr kumimoji="0" lang="pt-BR" sz="1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itchFamily="2" charset="77"/>
                <a:sym typeface="Arial"/>
              </a:rPr>
              <a:t>A mensagem depende da fala do apresentador, pois o gráfico não comunica sozinho.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5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Arial"/>
            </a:endParaRPr>
          </a:p>
        </p:txBody>
      </p:sp>
      <p:sp>
        <p:nvSpPr>
          <p:cNvPr id="27" name="Espaço Reservado para Texto 22">
            <a:extLst>
              <a:ext uri="{FF2B5EF4-FFF2-40B4-BE49-F238E27FC236}">
                <a16:creationId xmlns:a16="http://schemas.microsoft.com/office/drawing/2014/main" id="{C22549F9-0A9D-8A96-A240-386786BE8A75}"/>
              </a:ext>
            </a:extLst>
          </p:cNvPr>
          <p:cNvSpPr txBox="1">
            <a:spLocks/>
          </p:cNvSpPr>
          <p:nvPr/>
        </p:nvSpPr>
        <p:spPr>
          <a:xfrm>
            <a:off x="195778" y="2687297"/>
            <a:ext cx="2441125" cy="2022704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anose="00000500000000000000" pitchFamily="2" charset="0"/>
                <a:cs typeface="Poppins"/>
                <a:sym typeface="Arial"/>
              </a:rPr>
              <a:t>Exemplo do uso de hierarquia visual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87755D2-95D2-7EAA-31A9-B1383A099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903" y="813858"/>
            <a:ext cx="3072145" cy="236276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5AB2348-6861-E712-9B7C-B7C9D327A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6903" y="3698649"/>
            <a:ext cx="3072145" cy="236276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88AFF91-864C-CCC4-7233-59DF98755C78}"/>
              </a:ext>
            </a:extLst>
          </p:cNvPr>
          <p:cNvSpPr txBox="1"/>
          <p:nvPr/>
        </p:nvSpPr>
        <p:spPr>
          <a:xfrm>
            <a:off x="3485322" y="6203259"/>
            <a:ext cx="2223726" cy="6299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Gráficos produzidos pela SEDUC-SP com a ferramenta </a:t>
            </a:r>
            <a:r>
              <a:rPr lang="pt-BR" sz="1100" kern="100" dirty="0" err="1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Matplotlib</a:t>
            </a: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F2E3C7-C613-6649-D891-F3CB4FC2B6C5}"/>
              </a:ext>
            </a:extLst>
          </p:cNvPr>
          <p:cNvSpPr txBox="1"/>
          <p:nvPr/>
        </p:nvSpPr>
        <p:spPr>
          <a:xfrm>
            <a:off x="6243462" y="6456819"/>
            <a:ext cx="2518573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dirty="0">
                <a:latin typeface="Poppins" panose="00000500000000000000" pitchFamily="2" charset="0"/>
              </a:rPr>
              <a:t>Fonte: KNAFLIC, 2019.</a:t>
            </a:r>
          </a:p>
        </p:txBody>
      </p:sp>
    </p:spTree>
    <p:extLst>
      <p:ext uri="{BB962C8B-B14F-4D97-AF65-F5344CB8AC3E}">
        <p14:creationId xmlns:p14="http://schemas.microsoft.com/office/powerpoint/2010/main" val="2285185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56FD887E-B93D-BDCD-9369-FD95FDE3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B3C016AC-DDDD-DD91-73CB-CB42058B3B27}"/>
              </a:ext>
            </a:extLst>
          </p:cNvPr>
          <p:cNvSpPr/>
          <p:nvPr/>
        </p:nvSpPr>
        <p:spPr>
          <a:xfrm>
            <a:off x="3153621" y="3213835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9DE43542-FAE4-28BF-0418-7CB783187862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82A5993B-A9D7-A8C0-6A63-505441FC9966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C61B1EC0-ED8B-BCB5-348F-E47EC80E50C3}"/>
              </a:ext>
            </a:extLst>
          </p:cNvPr>
          <p:cNvSpPr txBox="1"/>
          <p:nvPr/>
        </p:nvSpPr>
        <p:spPr>
          <a:xfrm>
            <a:off x="3261445" y="4569858"/>
            <a:ext cx="32872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Destacar o ponto principal.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04C5C731-1F24-627B-19CB-5096C80BBF38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E3950BC-9B34-CB66-4268-279D817CEEE2}"/>
              </a:ext>
            </a:extLst>
          </p:cNvPr>
          <p:cNvSpPr txBox="1"/>
          <p:nvPr/>
        </p:nvSpPr>
        <p:spPr>
          <a:xfrm>
            <a:off x="6812256" y="4569857"/>
            <a:ext cx="33244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Deixar mais bonito.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6E3D2C29-296A-26DB-453E-18D42E75FC08}"/>
              </a:ext>
            </a:extLst>
          </p:cNvPr>
          <p:cNvSpPr txBox="1"/>
          <p:nvPr/>
        </p:nvSpPr>
        <p:spPr>
          <a:xfrm>
            <a:off x="3261446" y="3360552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Mostrar categorias.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F5FBB34A-2D83-0D0A-5DDE-E4ED71D44ABF}"/>
              </a:ext>
            </a:extLst>
          </p:cNvPr>
          <p:cNvSpPr txBox="1"/>
          <p:nvPr/>
        </p:nvSpPr>
        <p:spPr>
          <a:xfrm>
            <a:off x="6925729" y="3437495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Preencher espaços.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E6AF24B0-A248-71C3-C03C-F9303785060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69C4C47-8BDA-BC4E-4E6A-5DE09A91A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7222916A-2D25-25DB-5ADF-9038E985538B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F64ACE5-BC3D-428F-AD34-DA3A03252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2239" y="1299180"/>
            <a:ext cx="6576828" cy="1022829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marL="0" lvl="4" indent="0"/>
            <a:r>
              <a:rPr lang="pt-BR" sz="3200" dirty="0">
                <a:latin typeface="Poppins" panose="00000500000000000000" pitchFamily="2" charset="0"/>
              </a:rPr>
              <a:t>Qual é o principal papel do contraste em um gráfico?</a:t>
            </a:r>
          </a:p>
        </p:txBody>
      </p:sp>
    </p:spTree>
    <p:extLst>
      <p:ext uri="{BB962C8B-B14F-4D97-AF65-F5344CB8AC3E}">
        <p14:creationId xmlns:p14="http://schemas.microsoft.com/office/powerpoint/2010/main" val="2481379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012715AF-6866-654D-B03E-91BC055E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51;p64">
            <a:extLst>
              <a:ext uri="{FF2B5EF4-FFF2-40B4-BE49-F238E27FC236}">
                <a16:creationId xmlns:a16="http://schemas.microsoft.com/office/drawing/2014/main" id="{646ED0AC-8AA6-EF90-B716-B0465A277CFE}"/>
              </a:ext>
            </a:extLst>
          </p:cNvPr>
          <p:cNvSpPr/>
          <p:nvPr/>
        </p:nvSpPr>
        <p:spPr>
          <a:xfrm>
            <a:off x="3179554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F6035FF6-619B-A925-8471-4DD492E186C5}"/>
              </a:ext>
            </a:extLst>
          </p:cNvPr>
          <p:cNvSpPr/>
          <p:nvPr/>
        </p:nvSpPr>
        <p:spPr>
          <a:xfrm>
            <a:off x="3153621" y="3213835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BAB10C16-7816-7F41-BD51-C0DEBB02DA31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52;p64">
            <a:extLst>
              <a:ext uri="{FF2B5EF4-FFF2-40B4-BE49-F238E27FC236}">
                <a16:creationId xmlns:a16="http://schemas.microsoft.com/office/drawing/2014/main" id="{7D97B395-EBBB-84EB-80FD-D18BB8EECF22}"/>
              </a:ext>
            </a:extLst>
          </p:cNvPr>
          <p:cNvSpPr txBox="1"/>
          <p:nvPr/>
        </p:nvSpPr>
        <p:spPr>
          <a:xfrm>
            <a:off x="3153621" y="4569858"/>
            <a:ext cx="35029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Destacar o ponto principal.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FA05E42E-A7FD-CFB5-0FA6-AB5429A973F9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800"/>
              <a:defRPr/>
            </a:pP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54;p64">
            <a:extLst>
              <a:ext uri="{FF2B5EF4-FFF2-40B4-BE49-F238E27FC236}">
                <a16:creationId xmlns:a16="http://schemas.microsoft.com/office/drawing/2014/main" id="{95DED80B-8B06-0814-F131-D951D441D0A5}"/>
              </a:ext>
            </a:extLst>
          </p:cNvPr>
          <p:cNvSpPr txBox="1"/>
          <p:nvPr/>
        </p:nvSpPr>
        <p:spPr>
          <a:xfrm>
            <a:off x="6812256" y="4569857"/>
            <a:ext cx="33244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dirty="0">
                <a:latin typeface="Poppins" panose="00000500000000000000" pitchFamily="2" charset="0"/>
              </a:rPr>
              <a:t>Deixar mais bonito.</a:t>
            </a:r>
            <a:endParaRPr lang="pt-BR" sz="1800" dirty="0">
              <a:solidFill>
                <a:schemeClr val="lt1"/>
              </a:solidFill>
              <a:latin typeface="Poppins" panose="00000500000000000000" pitchFamily="2" charset="0"/>
              <a:sym typeface="Poppins"/>
            </a:endParaRPr>
          </a:p>
        </p:txBody>
      </p:sp>
      <p:sp>
        <p:nvSpPr>
          <p:cNvPr id="18" name="Google Shape;855;p64">
            <a:extLst>
              <a:ext uri="{FF2B5EF4-FFF2-40B4-BE49-F238E27FC236}">
                <a16:creationId xmlns:a16="http://schemas.microsoft.com/office/drawing/2014/main" id="{FEB5362B-1B82-3802-A4DB-30E57CD4DB1F}"/>
              </a:ext>
            </a:extLst>
          </p:cNvPr>
          <p:cNvSpPr txBox="1"/>
          <p:nvPr/>
        </p:nvSpPr>
        <p:spPr>
          <a:xfrm>
            <a:off x="3261446" y="3360552"/>
            <a:ext cx="309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pt-BR" dirty="0">
                <a:latin typeface="Poppins" panose="00000500000000000000" pitchFamily="2" charset="0"/>
              </a:rPr>
              <a:t>Mostrar categorias.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19" name="Google Shape;856;p64">
            <a:extLst>
              <a:ext uri="{FF2B5EF4-FFF2-40B4-BE49-F238E27FC236}">
                <a16:creationId xmlns:a16="http://schemas.microsoft.com/office/drawing/2014/main" id="{749D728D-8D37-0D21-E4E8-28332DC12EC4}"/>
              </a:ext>
            </a:extLst>
          </p:cNvPr>
          <p:cNvSpPr txBox="1"/>
          <p:nvPr/>
        </p:nvSpPr>
        <p:spPr>
          <a:xfrm>
            <a:off x="6925729" y="3437495"/>
            <a:ext cx="30975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50018"/>
              </a:lnSpc>
              <a:buSzPts val="2767"/>
              <a:defRPr sz="20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>
              <a:lnSpc>
                <a:spcPct val="100000"/>
              </a:lnSpc>
            </a:pPr>
            <a:r>
              <a:rPr lang="pt-BR" dirty="0">
                <a:latin typeface="Poppins" panose="00000500000000000000" pitchFamily="2" charset="0"/>
              </a:rPr>
              <a:t>Preencher espaços.</a:t>
            </a:r>
            <a:endParaRPr lang="pt-BR" dirty="0">
              <a:solidFill>
                <a:schemeClr val="lt1"/>
              </a:solidFill>
              <a:latin typeface="Poppins" panose="00000500000000000000" pitchFamily="2" charset="0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73F83D36-0D0A-396B-445E-50A936E210CB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AAA6D3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defTabSz="609630">
              <a:defRPr/>
            </a:pPr>
            <a:endParaRPr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565E1B9F-3C3D-1333-8430-69176B403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88F704CC-0BFE-9A41-079D-50B1B1DB80D2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 defTabSz="609630">
              <a:lnSpc>
                <a:spcPct val="107000"/>
              </a:lnSpc>
              <a:buSzPts val="2700"/>
              <a:defRPr/>
            </a:pPr>
            <a:r>
              <a:rPr lang="pt-BR" b="1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 defTabSz="609630">
              <a:lnSpc>
                <a:spcPct val="107000"/>
              </a:lnSpc>
              <a:spcBef>
                <a:spcPts val="715"/>
              </a:spcBef>
              <a:buSzPts val="2700"/>
              <a:defRPr/>
            </a:pPr>
            <a:endParaRPr sz="1333" dirty="0">
              <a:solidFill>
                <a:srgbClr val="FFFFFF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DDCD8E28-7F87-8AF8-66EC-D38B418424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2239" y="1299180"/>
            <a:ext cx="6576828" cy="1022829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marL="0" lvl="4" indent="0"/>
            <a:r>
              <a:rPr lang="pt-BR" sz="3200" dirty="0">
                <a:latin typeface="Poppins" panose="00000500000000000000" pitchFamily="2" charset="0"/>
              </a:rPr>
              <a:t>Qual é o principal papel do contraste em um gráfico?</a:t>
            </a:r>
          </a:p>
        </p:txBody>
      </p:sp>
      <p:sp>
        <p:nvSpPr>
          <p:cNvPr id="2" name="Google Shape;1436;p98">
            <a:extLst>
              <a:ext uri="{FF2B5EF4-FFF2-40B4-BE49-F238E27FC236}">
                <a16:creationId xmlns:a16="http://schemas.microsoft.com/office/drawing/2014/main" id="{CFEBBFC8-4F00-8218-C050-A358DDA09B4D}"/>
              </a:ext>
            </a:extLst>
          </p:cNvPr>
          <p:cNvSpPr/>
          <p:nvPr/>
        </p:nvSpPr>
        <p:spPr>
          <a:xfrm>
            <a:off x="2557869" y="325861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436;p98">
            <a:extLst>
              <a:ext uri="{FF2B5EF4-FFF2-40B4-BE49-F238E27FC236}">
                <a16:creationId xmlns:a16="http://schemas.microsoft.com/office/drawing/2014/main" id="{6FFBA77E-6D6A-8145-24BA-A87A44FE07E0}"/>
              </a:ext>
            </a:extLst>
          </p:cNvPr>
          <p:cNvSpPr/>
          <p:nvPr/>
        </p:nvSpPr>
        <p:spPr>
          <a:xfrm>
            <a:off x="10364160" y="3294304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436;p98">
            <a:extLst>
              <a:ext uri="{FF2B5EF4-FFF2-40B4-BE49-F238E27FC236}">
                <a16:creationId xmlns:a16="http://schemas.microsoft.com/office/drawing/2014/main" id="{B280E8D1-F169-21C6-DB02-798B883CCA7F}"/>
              </a:ext>
            </a:extLst>
          </p:cNvPr>
          <p:cNvSpPr/>
          <p:nvPr/>
        </p:nvSpPr>
        <p:spPr>
          <a:xfrm>
            <a:off x="10297280" y="4453195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7;p98">
            <a:extLst>
              <a:ext uri="{FF2B5EF4-FFF2-40B4-BE49-F238E27FC236}">
                <a16:creationId xmlns:a16="http://schemas.microsoft.com/office/drawing/2014/main" id="{33DE6EA5-0FB6-15E8-B368-0E65229FE9BE}"/>
              </a:ext>
            </a:extLst>
          </p:cNvPr>
          <p:cNvSpPr/>
          <p:nvPr/>
        </p:nvSpPr>
        <p:spPr>
          <a:xfrm rot="18556360">
            <a:off x="2598111" y="4575398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SzPts val="1200"/>
              <a:defRPr/>
            </a:pPr>
            <a:endParaRPr sz="8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0788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18EA3-028A-3523-A387-FADC8AC7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B3131E2-7F8D-4544-9420-C8BECE38C4D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630391" y="402528"/>
            <a:ext cx="2465609" cy="52203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pt-BR" sz="3200" b="1" dirty="0">
                <a:solidFill>
                  <a:srgbClr val="FF161F"/>
                </a:solidFill>
                <a:latin typeface="Poppins" panose="00000500000000000000" pitchFamily="2" charset="0"/>
                <a:cs typeface="Poppins" pitchFamily="2" charset="77"/>
              </a:rPr>
              <a:t>Situação</a:t>
            </a:r>
          </a:p>
        </p:txBody>
      </p:sp>
      <p:sp>
        <p:nvSpPr>
          <p:cNvPr id="12" name="Google Shape;675;p19">
            <a:extLst>
              <a:ext uri="{FF2B5EF4-FFF2-40B4-BE49-F238E27FC236}">
                <a16:creationId xmlns:a16="http://schemas.microsoft.com/office/drawing/2014/main" id="{477F85F4-BA96-B87A-9B32-15DC6DC1425C}"/>
              </a:ext>
            </a:extLst>
          </p:cNvPr>
          <p:cNvSpPr txBox="1"/>
          <p:nvPr/>
        </p:nvSpPr>
        <p:spPr>
          <a:xfrm>
            <a:off x="620994" y="663544"/>
            <a:ext cx="1742531" cy="92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4400"/>
            </a:pPr>
            <a:r>
              <a:rPr lang="pt-BR" sz="2333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 Light" pitchFamily="2" charset="77"/>
                <a:sym typeface="Poppins"/>
              </a:rPr>
              <a:t>Ser </a:t>
            </a:r>
            <a:endParaRPr sz="2333">
              <a:latin typeface="Poppins" panose="00000500000000000000" pitchFamily="2" charset="0"/>
              <a:cs typeface="Poppins Light" pitchFamily="2" charset="77"/>
            </a:endParaRPr>
          </a:p>
          <a:p>
            <a:pPr>
              <a:buSzPts val="4400"/>
            </a:pPr>
            <a:r>
              <a:rPr lang="pt-BR" sz="2333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sempre +</a:t>
            </a:r>
            <a:endParaRPr sz="2333">
              <a:latin typeface="Poppins" panose="00000500000000000000" pitchFamily="2" charset="0"/>
            </a:endParaRPr>
          </a:p>
          <a:p>
            <a:pPr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" name="Espaço Reservado para Texto 18">
            <a:extLst>
              <a:ext uri="{FF2B5EF4-FFF2-40B4-BE49-F238E27FC236}">
                <a16:creationId xmlns:a16="http://schemas.microsoft.com/office/drawing/2014/main" id="{ED460CE9-DBB3-7029-BD10-667BE42531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272238" y="1186633"/>
            <a:ext cx="4443512" cy="448473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2000" dirty="0">
                <a:latin typeface="Poppins" panose="00000500000000000000" pitchFamily="2" charset="0"/>
              </a:rPr>
              <a:t>Durante a preparação de uma apresentação de resultados, um colega cria gráficos com muitas cores e informações misturadas.</a:t>
            </a:r>
          </a:p>
          <a:p>
            <a:pPr lvl="0"/>
            <a:endParaRPr lang="pt-BR" sz="2000" dirty="0">
              <a:latin typeface="Poppins" panose="00000500000000000000" pitchFamily="2" charset="0"/>
            </a:endParaRPr>
          </a:p>
          <a:p>
            <a:pPr lvl="0"/>
            <a:r>
              <a:rPr lang="pt-BR" sz="2000" dirty="0">
                <a:latin typeface="Poppins" panose="00000500000000000000" pitchFamily="2" charset="0"/>
              </a:rPr>
              <a:t>Ele diz que está “tudo certo”, porque os dados estão corretos, mesmo que o visual pareça confuso.</a:t>
            </a:r>
            <a:br>
              <a:rPr lang="pt-BR" sz="2000" dirty="0">
                <a:latin typeface="Poppins" panose="00000500000000000000" pitchFamily="2" charset="0"/>
              </a:rPr>
            </a:br>
            <a:endParaRPr lang="pt-BR" sz="2000" dirty="0">
              <a:latin typeface="Poppins" panose="00000500000000000000" pitchFamily="2" charset="0"/>
            </a:endParaRPr>
          </a:p>
          <a:p>
            <a:pPr lvl="0"/>
            <a:r>
              <a:rPr lang="pt-BR" sz="2000" dirty="0">
                <a:latin typeface="Poppins" panose="00000500000000000000" pitchFamily="2" charset="0"/>
              </a:rPr>
              <a:t>Você percebe que, assim, o público pode não entender a mensagem principal.</a:t>
            </a:r>
            <a:endParaRPr lang="pt-BR" sz="2200" b="1" dirty="0">
              <a:latin typeface="Poppins" panose="000005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7FB4CE-FC37-D0F7-CD77-931B10B50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81" r="25081"/>
          <a:stretch/>
        </p:blipFill>
        <p:spPr>
          <a:xfrm>
            <a:off x="3630391" y="1186633"/>
            <a:ext cx="3463594" cy="463314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72825FC-92CB-BE16-02D5-EF34880D9898}"/>
              </a:ext>
            </a:extLst>
          </p:cNvPr>
          <p:cNvSpPr txBox="1"/>
          <p:nvPr/>
        </p:nvSpPr>
        <p:spPr>
          <a:xfrm>
            <a:off x="7381461" y="5819775"/>
            <a:ext cx="3233530" cy="2677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100" kern="100" dirty="0">
                <a:effectLst/>
                <a:latin typeface="Poppins" panose="00000500000000000000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Situação fictícia produzida pela SEDUC-SP.</a:t>
            </a:r>
          </a:p>
        </p:txBody>
      </p:sp>
    </p:spTree>
    <p:extLst>
      <p:ext uri="{BB962C8B-B14F-4D97-AF65-F5344CB8AC3E}">
        <p14:creationId xmlns:p14="http://schemas.microsoft.com/office/powerpoint/2010/main" val="1936638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35784D91-7807-B12E-D278-EF1B1345D3F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623734" y="430488"/>
            <a:ext cx="2097617" cy="486833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rgbClr val="FF161F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3200">
                <a:latin typeface="Poppins" panose="00000500000000000000" pitchFamily="2" charset="0"/>
              </a:rPr>
              <a:t>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FBC48D-8334-39FB-347C-6BDB53E3F754}"/>
              </a:ext>
            </a:extLst>
          </p:cNvPr>
          <p:cNvSpPr txBox="1"/>
          <p:nvPr/>
        </p:nvSpPr>
        <p:spPr>
          <a:xfrm>
            <a:off x="12921129" y="389665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7" name="Google Shape;675;p19">
            <a:extLst>
              <a:ext uri="{FF2B5EF4-FFF2-40B4-BE49-F238E27FC236}">
                <a16:creationId xmlns:a16="http://schemas.microsoft.com/office/drawing/2014/main" id="{88B8F3B9-1846-6948-10F8-CA41A43EFABD}"/>
              </a:ext>
            </a:extLst>
          </p:cNvPr>
          <p:cNvSpPr txBox="1"/>
          <p:nvPr/>
        </p:nvSpPr>
        <p:spPr>
          <a:xfrm>
            <a:off x="620994" y="663544"/>
            <a:ext cx="1742531" cy="92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4400"/>
            </a:pPr>
            <a:r>
              <a:rPr lang="pt-BR" sz="2333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 Light" pitchFamily="2" charset="77"/>
                <a:sym typeface="Poppins"/>
              </a:rPr>
              <a:t>Ser </a:t>
            </a:r>
            <a:endParaRPr sz="2333">
              <a:latin typeface="Poppins" panose="00000500000000000000" pitchFamily="2" charset="0"/>
              <a:cs typeface="Poppins Light" pitchFamily="2" charset="77"/>
            </a:endParaRPr>
          </a:p>
          <a:p>
            <a:pPr>
              <a:buSzPts val="4400"/>
            </a:pPr>
            <a:r>
              <a:rPr lang="pt-BR" sz="2333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sempre +</a:t>
            </a:r>
            <a:endParaRPr sz="2333">
              <a:latin typeface="Poppins" panose="00000500000000000000" pitchFamily="2" charset="0"/>
            </a:endParaRPr>
          </a:p>
          <a:p>
            <a:pPr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" name="Triângulo 7">
            <a:extLst>
              <a:ext uri="{FF2B5EF4-FFF2-40B4-BE49-F238E27FC236}">
                <a16:creationId xmlns:a16="http://schemas.microsoft.com/office/drawing/2014/main" id="{6C12A622-2BCB-A1B5-F5C7-ECD8691798F4}"/>
              </a:ext>
            </a:extLst>
          </p:cNvPr>
          <p:cNvSpPr/>
          <p:nvPr/>
        </p:nvSpPr>
        <p:spPr>
          <a:xfrm rot="5400000">
            <a:off x="3755912" y="2328738"/>
            <a:ext cx="195903" cy="156870"/>
          </a:xfrm>
          <a:prstGeom prst="triangle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1" name="Espaço Reservado para Texto 4">
            <a:extLst>
              <a:ext uri="{FF2B5EF4-FFF2-40B4-BE49-F238E27FC236}">
                <a16:creationId xmlns:a16="http://schemas.microsoft.com/office/drawing/2014/main" id="{E736F7F1-627D-3DC3-FFBB-EC3B89CAE8D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75276" y="2256805"/>
            <a:ext cx="6850938" cy="197784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pt-BR" sz="1800" dirty="0">
                <a:latin typeface="Poppins" panose="00000500000000000000" pitchFamily="2" charset="0"/>
              </a:rPr>
              <a:t>Como conversar com o colega para mostrar a importância de cuidar da clareza e da aparência visual dos gráficos?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2E84AC4-C04D-DDAC-9487-A972DA875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100" y="299477"/>
            <a:ext cx="3496733" cy="7281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624AEA5-C146-2FA6-5BE7-9ED021099DD8}"/>
              </a:ext>
            </a:extLst>
          </p:cNvPr>
          <p:cNvSpPr txBox="1"/>
          <p:nvPr/>
        </p:nvSpPr>
        <p:spPr>
          <a:xfrm>
            <a:off x="9390090" y="542857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VIREM E CONVERSEM</a:t>
            </a:r>
          </a:p>
        </p:txBody>
      </p:sp>
      <p:sp>
        <p:nvSpPr>
          <p:cNvPr id="10" name="Forma Livre 43">
            <a:extLst>
              <a:ext uri="{FF2B5EF4-FFF2-40B4-BE49-F238E27FC236}">
                <a16:creationId xmlns:a16="http://schemas.microsoft.com/office/drawing/2014/main" id="{84D11146-C8A4-5A95-AA37-C38C537490AF}"/>
              </a:ext>
            </a:extLst>
          </p:cNvPr>
          <p:cNvSpPr/>
          <p:nvPr/>
        </p:nvSpPr>
        <p:spPr>
          <a:xfrm>
            <a:off x="8782599" y="773476"/>
            <a:ext cx="1385" cy="11651"/>
          </a:xfrm>
          <a:custGeom>
            <a:avLst/>
            <a:gdLst>
              <a:gd name="connsiteX0" fmla="*/ 1044 w 2078"/>
              <a:gd name="connsiteY0" fmla="*/ 0 h 17477"/>
              <a:gd name="connsiteX1" fmla="*/ 1044 w 2078"/>
              <a:gd name="connsiteY1" fmla="*/ 17477 h 17477"/>
              <a:gd name="connsiteX2" fmla="*/ 1044 w 2078"/>
              <a:gd name="connsiteY2" fmla="*/ 0 h 1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8" h="17477">
                <a:moveTo>
                  <a:pt x="1044" y="0"/>
                </a:moveTo>
                <a:cubicBezTo>
                  <a:pt x="16" y="5826"/>
                  <a:pt x="-670" y="11651"/>
                  <a:pt x="1044" y="17477"/>
                </a:cubicBezTo>
                <a:cubicBezTo>
                  <a:pt x="2186" y="11651"/>
                  <a:pt x="2643" y="5826"/>
                  <a:pt x="1044" y="0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sp>
        <p:nvSpPr>
          <p:cNvPr id="12" name="Forma Livre 44">
            <a:extLst>
              <a:ext uri="{FF2B5EF4-FFF2-40B4-BE49-F238E27FC236}">
                <a16:creationId xmlns:a16="http://schemas.microsoft.com/office/drawing/2014/main" id="{26B2677D-3463-8203-D027-F182345F5D9D}"/>
              </a:ext>
            </a:extLst>
          </p:cNvPr>
          <p:cNvSpPr/>
          <p:nvPr/>
        </p:nvSpPr>
        <p:spPr>
          <a:xfrm>
            <a:off x="8598356" y="781700"/>
            <a:ext cx="1489" cy="2284"/>
          </a:xfrm>
          <a:custGeom>
            <a:avLst/>
            <a:gdLst>
              <a:gd name="connsiteX0" fmla="*/ 1085 w 2233"/>
              <a:gd name="connsiteY0" fmla="*/ 3427 h 3426"/>
              <a:gd name="connsiteX1" fmla="*/ 971 w 2233"/>
              <a:gd name="connsiteY1" fmla="*/ 0 h 3426"/>
              <a:gd name="connsiteX2" fmla="*/ 1085 w 2233"/>
              <a:gd name="connsiteY2" fmla="*/ 3427 h 3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3" h="3426">
                <a:moveTo>
                  <a:pt x="1085" y="3427"/>
                </a:moveTo>
                <a:cubicBezTo>
                  <a:pt x="2799" y="2170"/>
                  <a:pt x="2456" y="1028"/>
                  <a:pt x="971" y="0"/>
                </a:cubicBezTo>
                <a:cubicBezTo>
                  <a:pt x="-286" y="1257"/>
                  <a:pt x="-400" y="2285"/>
                  <a:pt x="1085" y="3427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sp>
        <p:nvSpPr>
          <p:cNvPr id="13" name="Forma Livre 45">
            <a:extLst>
              <a:ext uri="{FF2B5EF4-FFF2-40B4-BE49-F238E27FC236}">
                <a16:creationId xmlns:a16="http://schemas.microsoft.com/office/drawing/2014/main" id="{E508095D-8D2F-DD1A-D7E1-1D608C343A8C}"/>
              </a:ext>
            </a:extLst>
          </p:cNvPr>
          <p:cNvSpPr/>
          <p:nvPr/>
        </p:nvSpPr>
        <p:spPr>
          <a:xfrm>
            <a:off x="8781391" y="792400"/>
            <a:ext cx="1327" cy="1247"/>
          </a:xfrm>
          <a:custGeom>
            <a:avLst/>
            <a:gdLst>
              <a:gd name="connsiteX0" fmla="*/ 1942 w 1990"/>
              <a:gd name="connsiteY0" fmla="*/ 56 h 1871"/>
              <a:gd name="connsiteX1" fmla="*/ 0 w 1990"/>
              <a:gd name="connsiteY1" fmla="*/ 1655 h 1871"/>
              <a:gd name="connsiteX2" fmla="*/ 1942 w 1990"/>
              <a:gd name="connsiteY2" fmla="*/ 56 h 1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0" h="1871">
                <a:moveTo>
                  <a:pt x="1942" y="56"/>
                </a:moveTo>
                <a:cubicBezTo>
                  <a:pt x="685" y="-172"/>
                  <a:pt x="0" y="285"/>
                  <a:pt x="0" y="1655"/>
                </a:cubicBezTo>
                <a:cubicBezTo>
                  <a:pt x="1599" y="2226"/>
                  <a:pt x="2170" y="1655"/>
                  <a:pt x="1942" y="56"/>
                </a:cubicBezTo>
                <a:close/>
              </a:path>
            </a:pathLst>
          </a:custGeom>
          <a:solidFill>
            <a:srgbClr val="E7605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622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91C7648-9CEE-8CB2-9CED-E78D40C3C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980" y="371187"/>
            <a:ext cx="635000" cy="601133"/>
          </a:xfrm>
          <a:prstGeom prst="rect">
            <a:avLst/>
          </a:prstGeom>
        </p:spPr>
      </p:pic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04B4E758-7B65-1297-EB4D-4F46A3FE21EF}"/>
              </a:ext>
            </a:extLst>
          </p:cNvPr>
          <p:cNvSpPr txBox="1">
            <a:spLocks/>
          </p:cNvSpPr>
          <p:nvPr/>
        </p:nvSpPr>
        <p:spPr>
          <a:xfrm>
            <a:off x="3623734" y="1399159"/>
            <a:ext cx="6850938" cy="7281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000" b="1" dirty="0">
                <a:solidFill>
                  <a:srgbClr val="1F1F1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 duplas, conversem sobre:</a:t>
            </a:r>
          </a:p>
          <a:p>
            <a:endParaRPr lang="pt-BR" sz="2000" b="1" dirty="0">
              <a:solidFill>
                <a:srgbClr val="1F1F1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80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3608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00F765D8-99DE-2A83-E736-0AFC49BC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961B4F0-12EC-E2F2-C0DD-1EBE393A91A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67933" y="1791825"/>
            <a:ext cx="6354575" cy="9576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Aprendemos que o uso intencional das cores e do contraste ajuda a direcionar o olhar e destacar as informações mais importantes em um gráfico.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C1AB578-B64F-815F-9CC9-04A9D46F286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867933" y="3017449"/>
            <a:ext cx="6354575" cy="97410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Compreendemos que a hierarquia visual organiza a leitura dos dados, facilitando a interpretação e a clareza da mensagem.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E1B0984-4E19-7545-B025-4C4C1638EDB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867933" y="4203450"/>
            <a:ext cx="6354575" cy="1813047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/>
            <a:r>
              <a:rPr lang="pt-BR" sz="1800" dirty="0">
                <a:latin typeface="Poppins" panose="00000500000000000000" pitchFamily="2" charset="0"/>
              </a:rPr>
              <a:t>Aplicamos os princípios da </a:t>
            </a:r>
            <a:r>
              <a:rPr lang="pt-BR" sz="1800" dirty="0" err="1">
                <a:latin typeface="Poppins" panose="00000500000000000000" pitchFamily="2" charset="0"/>
              </a:rPr>
              <a:t>gestalt</a:t>
            </a:r>
            <a:r>
              <a:rPr lang="pt-BR" sz="1800" dirty="0">
                <a:latin typeface="Poppins" panose="00000500000000000000" pitchFamily="2" charset="0"/>
              </a:rPr>
              <a:t> para analisar exemplos de gráficos, identificando quando as cores e o contraste contribuem para a comunicação visual ou a atrapalham.</a:t>
            </a:r>
          </a:p>
        </p:txBody>
      </p:sp>
      <p:sp>
        <p:nvSpPr>
          <p:cNvPr id="3" name="Google Shape;741;p22">
            <a:extLst>
              <a:ext uri="{FF2B5EF4-FFF2-40B4-BE49-F238E27FC236}">
                <a16:creationId xmlns:a16="http://schemas.microsoft.com/office/drawing/2014/main" id="{99EAAB3A-500F-3303-113F-2DE38B40643E}"/>
              </a:ext>
            </a:extLst>
          </p:cNvPr>
          <p:cNvSpPr txBox="1">
            <a:spLocks/>
          </p:cNvSpPr>
          <p:nvPr/>
        </p:nvSpPr>
        <p:spPr>
          <a:xfrm>
            <a:off x="4676921" y="734021"/>
            <a:ext cx="5440600" cy="56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04815" indent="-152408">
              <a:spcBef>
                <a:spcPts val="600"/>
              </a:spcBef>
              <a:buClr>
                <a:schemeClr val="dk1"/>
              </a:buClr>
              <a:buSzPts val="4500"/>
            </a:pPr>
            <a:r>
              <a:rPr lang="pt-BR" sz="3200" b="1">
                <a:solidFill>
                  <a:srgbClr val="FF161F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Então ficamos assim...</a:t>
            </a:r>
          </a:p>
        </p:txBody>
      </p:sp>
    </p:spTree>
    <p:extLst>
      <p:ext uri="{BB962C8B-B14F-4D97-AF65-F5344CB8AC3E}">
        <p14:creationId xmlns:p14="http://schemas.microsoft.com/office/powerpoint/2010/main" val="925201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21;p53">
            <a:extLst>
              <a:ext uri="{FF2B5EF4-FFF2-40B4-BE49-F238E27FC236}">
                <a16:creationId xmlns:a16="http://schemas.microsoft.com/office/drawing/2014/main" id="{622C50B5-A2EB-20D7-6B76-58DB774325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8000" y="718284"/>
            <a:ext cx="5474010" cy="4361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chemeClr val="lt1"/>
              </a:buClr>
            </a:pP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Quer entender mais sobre a importância das cores?</a:t>
            </a:r>
          </a:p>
          <a:p>
            <a:pPr marL="0" lv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/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Recomendamos que assista ao vídeo:</a:t>
            </a:r>
          </a:p>
          <a:p>
            <a:pPr marL="0" indent="0"/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/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EXPERT CURSOS. A importância das cores na visualização e análise de dados. YouTube,        5 set. 2025. Disponível em: 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  <a:hlinkClick r:id="rId3"/>
              </a:rPr>
              <a:t>https://youtu.be/3_wemF02tAo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. Acesso em:   10 nov. 2025.</a:t>
            </a:r>
          </a:p>
          <a:p>
            <a:pPr marL="0" indent="0">
              <a:spcBef>
                <a:spcPts val="0"/>
              </a:spcBef>
              <a:buClr>
                <a:schemeClr val="lt1"/>
              </a:buClr>
            </a:pPr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Google Shape;145;p12">
            <a:extLst>
              <a:ext uri="{FF2B5EF4-FFF2-40B4-BE49-F238E27FC236}">
                <a16:creationId xmlns:a16="http://schemas.microsoft.com/office/drawing/2014/main" id="{8AFD5CF4-520D-C05E-0436-E4E65A8A0785}"/>
              </a:ext>
            </a:extLst>
          </p:cNvPr>
          <p:cNvSpPr txBox="1"/>
          <p:nvPr/>
        </p:nvSpPr>
        <p:spPr>
          <a:xfrm>
            <a:off x="1024125" y="1786467"/>
            <a:ext cx="3183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6000"/>
            </a:pPr>
            <a:r>
              <a:rPr lang="pt-BR" sz="4000" b="1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/>
                <a:sym typeface="Poppins"/>
              </a:rPr>
              <a:t>Saiba mais</a:t>
            </a:r>
            <a:endParaRPr lang="pt-BR" sz="4000">
              <a:solidFill>
                <a:schemeClr val="bg1"/>
              </a:solidFill>
              <a:latin typeface="Poppins" panose="00000500000000000000" pitchFamily="2" charset="0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262BEEF-0307-48FF-6E67-C6CA173D0375}"/>
              </a:ext>
            </a:extLst>
          </p:cNvPr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rtlCol="0" anchor="t" anchorCtr="0">
            <a:normAutofit fontScale="25000" lnSpcReduction="20000"/>
          </a:bodyPr>
          <a:lstStyle/>
          <a:p>
            <a:pPr algn="l"/>
            <a:endParaRPr lang="pt-BR" sz="240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5D4326C-167C-DCC1-4730-4C91D2F12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528" y="1823428"/>
            <a:ext cx="95304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DALE, K.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Visualização de dados com Python e </a:t>
            </a:r>
            <a:r>
              <a:rPr lang="pt-BR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JavaScript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raspe, limpe, explore e transforme seus dados. Rio de Janeiro: Alta Books, 2024.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KNAFLIC, C. N. </a:t>
            </a:r>
            <a:r>
              <a:rPr lang="pt-BR" sz="1800" b="1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 com dados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um guia sobre visualização de dados para profissionais de negócios. Rio de Janeiro: Alta Books, 2019.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STRACHNYI, K. </a:t>
            </a:r>
            <a:r>
              <a:rPr lang="pt-BR" sz="1800" b="1" dirty="0">
                <a:latin typeface="Poppins" panose="00000500000000000000" pitchFamily="2" charset="0"/>
                <a:cs typeface="Poppins" panose="00000500000000000000" pitchFamily="2" charset="0"/>
              </a:rPr>
              <a:t>A cor dos dados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: um guia para o uso de cores em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storytelling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 de dados. São Paulo: </a:t>
            </a:r>
            <a:r>
              <a:rPr lang="pt-BR" sz="1800" dirty="0" err="1">
                <a:latin typeface="Poppins" panose="00000500000000000000" pitchFamily="2" charset="0"/>
                <a:cs typeface="Poppins" panose="00000500000000000000" pitchFamily="2" charset="0"/>
              </a:rPr>
              <a:t>Novatec</a:t>
            </a:r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, 2023.</a:t>
            </a:r>
          </a:p>
          <a:p>
            <a:endParaRPr lang="pt-BR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800" dirty="0">
                <a:latin typeface="Poppins" panose="00000500000000000000" pitchFamily="2" charset="0"/>
                <a:cs typeface="Poppins" panose="00000500000000000000" pitchFamily="2" charset="0"/>
              </a:rPr>
              <a:t>Identidade visual: imagens © Getty Images</a:t>
            </a:r>
          </a:p>
        </p:txBody>
      </p:sp>
    </p:spTree>
    <p:extLst>
      <p:ext uri="{BB962C8B-B14F-4D97-AF65-F5344CB8AC3E}">
        <p14:creationId xmlns:p14="http://schemas.microsoft.com/office/powerpoint/2010/main" val="22139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669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C5E477A-2A5F-1F86-7495-AA29D23969CC}"/>
              </a:ext>
            </a:extLst>
          </p:cNvPr>
          <p:cNvSpPr txBox="1"/>
          <p:nvPr/>
        </p:nvSpPr>
        <p:spPr>
          <a:xfrm>
            <a:off x="984922" y="831058"/>
            <a:ext cx="9830186" cy="4483792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b="1" kern="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seção </a:t>
            </a:r>
            <a:r>
              <a:rPr lang="pt-BR" sz="1000" b="1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Ponto de partida 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tem o objetivo de ativar os conhecimentos prévios dos estudantes sobre o tema da aula e estimular o pensamento crítico e as habilidades comunicativas. Por meio de uma situação-problema ou exemplo próximo da realidade do estudante, pretende-se sair da abstração conceitual e promover um diálogo dinâmico para explorar hipóteses e soluções. Espera-se também que os estudantes compartilhem eventuais experiências que possam ter com os tópicos a serem abordados em aula. 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8 minutos.</a:t>
            </a:r>
          </a:p>
          <a:p>
            <a:pPr marL="229870">
              <a:lnSpc>
                <a:spcPct val="107000"/>
              </a:lnSpc>
              <a:spcAft>
                <a:spcPts val="800"/>
              </a:spcAft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000" kern="100" dirty="0"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ssegure que todos os estudantes tenham a oportunidade de participar. Se necessário, faça rodízio ou direcione perguntas a estudantes que estejam menos ativos para garantir a participação de todos. Mantenha um ambiente de respeito, em que todas as opiniões são valorizadas, garantindo que os alunos se sintam confortáveis para expressar seus pontos de vista.  Conclua a atividade resumindo as principais ideias discutidas e vinculando-as aos objetivos de aprendizagem da aula. </a:t>
            </a:r>
          </a:p>
          <a:p>
            <a:pPr rtl="0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 </a:t>
            </a:r>
          </a:p>
          <a:p>
            <a:pPr lvl="1"/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Apresentar a situação-problema (estudo + celular + música + vídeo).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Discussão da pergunta (5 minutos):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a questão e dê tempo para os alunos pensarem e discutirem. 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Apresentação (3 minutos):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Peça a alguns alunos que compartilhem suas ideias com a turma.</a:t>
            </a: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Não há resposta certa ou errada. Os alunos podem dar respostas como: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Porque está mais organizado e dá para entender o que o gráfico quer mostrar logo de cara.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Porque as informações estão em ordem e é fácil comparar os dados.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Porque usa cores e tamanhos que ajudam a perceber o que é mais importante.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Porque tem títulos e rótulos que explicam o que cada parte significa.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Porque não está cheio de detalhes que confundem — parece mais limpo e direto.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FD226EF-7124-3D3B-4BD4-942DA94DCDB5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BAEA59D-DF85-23C3-4F29-DB5660C4FFCC}"/>
              </a:ext>
            </a:extLst>
          </p:cNvPr>
          <p:cNvSpPr txBox="1"/>
          <p:nvPr/>
        </p:nvSpPr>
        <p:spPr>
          <a:xfrm>
            <a:off x="972642" y="263316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Slide 6</a:t>
            </a:r>
          </a:p>
        </p:txBody>
      </p:sp>
      <p:cxnSp>
        <p:nvCxnSpPr>
          <p:cNvPr id="21" name="Conector Reto 6">
            <a:extLst>
              <a:ext uri="{FF2B5EF4-FFF2-40B4-BE49-F238E27FC236}">
                <a16:creationId xmlns:a16="http://schemas.microsoft.com/office/drawing/2014/main" id="{BCE0BFCD-A08A-231A-775F-76725EC8275F}"/>
              </a:ext>
            </a:extLst>
          </p:cNvPr>
          <p:cNvCxnSpPr>
            <a:cxnSpLocks/>
          </p:cNvCxnSpPr>
          <p:nvPr/>
        </p:nvCxnSpPr>
        <p:spPr>
          <a:xfrm flipV="1">
            <a:off x="673284" y="546608"/>
            <a:ext cx="0" cy="492285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8">
            <a:extLst>
              <a:ext uri="{FF2B5EF4-FFF2-40B4-BE49-F238E27FC236}">
                <a16:creationId xmlns:a16="http://schemas.microsoft.com/office/drawing/2014/main" id="{F5F245B4-7802-3925-C674-664CE875B081}"/>
              </a:ext>
            </a:extLst>
          </p:cNvPr>
          <p:cNvSpPr/>
          <p:nvPr/>
        </p:nvSpPr>
        <p:spPr>
          <a:xfrm>
            <a:off x="471030" y="399841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val 10">
            <a:extLst>
              <a:ext uri="{FF2B5EF4-FFF2-40B4-BE49-F238E27FC236}">
                <a16:creationId xmlns:a16="http://schemas.microsoft.com/office/drawing/2014/main" id="{CC84B630-89E1-2FB4-859F-F21643B55766}"/>
              </a:ext>
            </a:extLst>
          </p:cNvPr>
          <p:cNvSpPr/>
          <p:nvPr/>
        </p:nvSpPr>
        <p:spPr>
          <a:xfrm>
            <a:off x="471030" y="199060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EC7F6AD3-E820-E455-13E0-ACD8F4CC63A2}"/>
              </a:ext>
            </a:extLst>
          </p:cNvPr>
          <p:cNvSpPr/>
          <p:nvPr/>
        </p:nvSpPr>
        <p:spPr>
          <a:xfrm>
            <a:off x="471030" y="153392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12">
            <a:extLst>
              <a:ext uri="{FF2B5EF4-FFF2-40B4-BE49-F238E27FC236}">
                <a16:creationId xmlns:a16="http://schemas.microsoft.com/office/drawing/2014/main" id="{8ECB0DDA-1E17-7A5A-E633-061DAE8AD6BB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2216;p100">
            <a:extLst>
              <a:ext uri="{FF2B5EF4-FFF2-40B4-BE49-F238E27FC236}">
                <a16:creationId xmlns:a16="http://schemas.microsoft.com/office/drawing/2014/main" id="{F65B9A5C-7612-96BC-804F-7B9C8F83685E}"/>
              </a:ext>
            </a:extLst>
          </p:cNvPr>
          <p:cNvSpPr/>
          <p:nvPr/>
        </p:nvSpPr>
        <p:spPr>
          <a:xfrm>
            <a:off x="559059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888448A-0924-D978-90B2-0CA1425A58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847" y="1627631"/>
            <a:ext cx="154445" cy="193056"/>
          </a:xfrm>
          <a:prstGeom prst="rect">
            <a:avLst/>
          </a:prstGeom>
        </p:spPr>
      </p:pic>
      <p:sp>
        <p:nvSpPr>
          <p:cNvPr id="28" name="Google Shape;2223;p100">
            <a:extLst>
              <a:ext uri="{FF2B5EF4-FFF2-40B4-BE49-F238E27FC236}">
                <a16:creationId xmlns:a16="http://schemas.microsoft.com/office/drawing/2014/main" id="{143A7080-7BB9-E495-4CC9-29DC9F82B3E4}"/>
              </a:ext>
            </a:extLst>
          </p:cNvPr>
          <p:cNvSpPr>
            <a:spLocks/>
          </p:cNvSpPr>
          <p:nvPr/>
        </p:nvSpPr>
        <p:spPr>
          <a:xfrm>
            <a:off x="541197" y="2069033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D7DDFFD3-3DBF-A5AB-995F-C5918E155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56" y="4052532"/>
            <a:ext cx="208026" cy="266700"/>
          </a:xfrm>
          <a:prstGeom prst="rect">
            <a:avLst/>
          </a:prstGeom>
        </p:spPr>
      </p:pic>
      <p:sp>
        <p:nvSpPr>
          <p:cNvPr id="30" name="Oval 9">
            <a:extLst>
              <a:ext uri="{FF2B5EF4-FFF2-40B4-BE49-F238E27FC236}">
                <a16:creationId xmlns:a16="http://schemas.microsoft.com/office/drawing/2014/main" id="{254BA4DE-09FF-26A7-084F-29C028C53D39}"/>
              </a:ext>
            </a:extLst>
          </p:cNvPr>
          <p:cNvSpPr/>
          <p:nvPr/>
        </p:nvSpPr>
        <p:spPr>
          <a:xfrm>
            <a:off x="471030" y="266074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3897E01C-D4A7-E90A-2625-B7EFF5BBB0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421" y="2731199"/>
            <a:ext cx="235296" cy="2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48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4935C43-2B94-4A43-1B52-78A2EDE87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759893C-E36C-EAB6-FD68-5AE6C5032484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" name="Conector Reto 6">
            <a:extLst>
              <a:ext uri="{FF2B5EF4-FFF2-40B4-BE49-F238E27FC236}">
                <a16:creationId xmlns:a16="http://schemas.microsoft.com/office/drawing/2014/main" id="{1EC1CFC6-2A8D-437F-AF03-8400628853DC}"/>
              </a:ext>
            </a:extLst>
          </p:cNvPr>
          <p:cNvCxnSpPr>
            <a:cxnSpLocks/>
          </p:cNvCxnSpPr>
          <p:nvPr/>
        </p:nvCxnSpPr>
        <p:spPr>
          <a:xfrm flipV="1">
            <a:off x="673284" y="546608"/>
            <a:ext cx="0" cy="492285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16">
            <a:extLst>
              <a:ext uri="{FF2B5EF4-FFF2-40B4-BE49-F238E27FC236}">
                <a16:creationId xmlns:a16="http://schemas.microsoft.com/office/drawing/2014/main" id="{F5E70CF9-0F91-53B7-70A5-8D25CF71A760}"/>
              </a:ext>
            </a:extLst>
          </p:cNvPr>
          <p:cNvSpPr/>
          <p:nvPr/>
        </p:nvSpPr>
        <p:spPr>
          <a:xfrm>
            <a:off x="487261" y="1692106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F69349-D091-8F87-D400-D38A00292E99}"/>
              </a:ext>
            </a:extLst>
          </p:cNvPr>
          <p:cNvSpPr txBox="1"/>
          <p:nvPr/>
        </p:nvSpPr>
        <p:spPr>
          <a:xfrm>
            <a:off x="970280" y="265369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7 ao 12</a:t>
            </a:r>
          </a:p>
          <a:p>
            <a:pPr algn="l"/>
            <a:r>
              <a:rPr lang="pt-BR" sz="3200" b="1" dirty="0">
                <a:solidFill>
                  <a:schemeClr val="bg1"/>
                </a:solidFill>
                <a:latin typeface="Poppins" panose="00000500000000000000" pitchFamily="2" charset="0"/>
                <a:cs typeface="Poppins" pitchFamily="2" charset="77"/>
              </a:rPr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9779734-EA7B-45F0-7E96-BC060E0D1BFE}"/>
              </a:ext>
            </a:extLst>
          </p:cNvPr>
          <p:cNvSpPr txBox="1"/>
          <p:nvPr/>
        </p:nvSpPr>
        <p:spPr>
          <a:xfrm>
            <a:off x="983750" y="835393"/>
            <a:ext cx="10733877" cy="406265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Construindo o conceito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ajudar o estudante a sistematizar novos conceitos teóricos relacionados à vivência profissional.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20 minutos.</a:t>
            </a: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aos estudantes os slides com as definições de conceitos e como eles são aplicados em situações práticas.​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Aprofundamento: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Nesta aula, o objetivo é ajudar os estudantes a perceber como o olhar é guiado por cores e contrastes em um gráfico, compreendendo que a forma de apresentar os dados é parte da mensagem. Não se trata apenas de “deixar bonito”, mas de usar elementos visuais com intencionalidade para reforçar a narrativa dos dados.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Ao apresentar os slides, destaque que o cérebro humano busca padrões visuais para compreender informações rapidamente. Os princípios da </a:t>
            </a:r>
            <a:r>
              <a:rPr lang="pt-BR" sz="1000" dirty="0" err="1">
                <a:latin typeface="Poppins" panose="00000500000000000000" pitchFamily="2" charset="0"/>
                <a:cs typeface="Poppins" panose="00000500000000000000" pitchFamily="2" charset="0"/>
              </a:rPr>
              <a:t>gestalt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explicam esse comportamento: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Figura e fundo — o que se destaca primeiro (foco) e o que deve permanecer em segundo plano.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Semelhança e proximidade — como agrupamos elementos parecidos.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Continuidade — o caminho natural que o olhar tende a seguir.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Fechamento — a tendência de completar o que está incompleto.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Esses princípios sustentam a criação de gráficos que o leitor entende sem precisar de explicação verbal.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Mostre, nos exemplos, que o bom uso de cor e contraste cria hierarquia visual: o olhar identifica o que é mais importante, o que é complementar e o que é detalhe.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cor deve reforçar a mensagem, e não competir com ela — é um recurso para guiar a atenção e facilitar a comparação entre categorias.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Evite tratar os gráficos como “bonitos ou feios”. O foco deve ser na eficiência da comunicação visual. Incentive que os alunos descrevam o que perceberam primeiro e por que isso os ajuda a compreender, na prática, como o design influencia a interpretação dos dados.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Por fim, conecte a discussão ao cotidiano profissional: dashboards, relatórios e painéis de BI utilizam exatamente esses conceitos. Dominar o uso estratégico de cores e contrastes é essencial para quem quer transformar dados em histórias visuais claras, confiáveis e impactantes.</a:t>
            </a: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45C51A4-67AA-16F8-7C9C-A2914E195E11}"/>
              </a:ext>
            </a:extLst>
          </p:cNvPr>
          <p:cNvSpPr/>
          <p:nvPr/>
        </p:nvSpPr>
        <p:spPr>
          <a:xfrm>
            <a:off x="487261" y="1232073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66AA080-2188-B6C1-A5A8-67826A819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078" y="1316032"/>
            <a:ext cx="154445" cy="193056"/>
          </a:xfrm>
          <a:prstGeom prst="rect">
            <a:avLst/>
          </a:prstGeom>
        </p:spPr>
      </p:pic>
      <p:sp>
        <p:nvSpPr>
          <p:cNvPr id="15" name="Oval 9">
            <a:extLst>
              <a:ext uri="{FF2B5EF4-FFF2-40B4-BE49-F238E27FC236}">
                <a16:creationId xmlns:a16="http://schemas.microsoft.com/office/drawing/2014/main" id="{4BAA810C-7963-B27E-D87F-FFB209D9AC8C}"/>
              </a:ext>
            </a:extLst>
          </p:cNvPr>
          <p:cNvSpPr/>
          <p:nvPr/>
        </p:nvSpPr>
        <p:spPr>
          <a:xfrm>
            <a:off x="487261" y="215149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EB6573BB-E909-01C6-5108-E4184905B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652" y="1756611"/>
            <a:ext cx="235296" cy="240643"/>
          </a:xfrm>
          <a:prstGeom prst="rect">
            <a:avLst/>
          </a:prstGeom>
        </p:spPr>
      </p:pic>
      <p:sp>
        <p:nvSpPr>
          <p:cNvPr id="6" name="Google Shape;2237;p100">
            <a:extLst>
              <a:ext uri="{FF2B5EF4-FFF2-40B4-BE49-F238E27FC236}">
                <a16:creationId xmlns:a16="http://schemas.microsoft.com/office/drawing/2014/main" id="{45CF2484-A627-D977-364A-1D227F8A5030}"/>
              </a:ext>
            </a:extLst>
          </p:cNvPr>
          <p:cNvSpPr/>
          <p:nvPr/>
        </p:nvSpPr>
        <p:spPr>
          <a:xfrm>
            <a:off x="570843" y="2229319"/>
            <a:ext cx="218915" cy="242576"/>
          </a:xfrm>
          <a:custGeom>
            <a:avLst/>
            <a:gdLst/>
            <a:ahLst/>
            <a:cxnLst/>
            <a:rect l="l" t="t" r="r" b="b"/>
            <a:pathLst>
              <a:path w="457200" h="495395" extrusionOk="0">
                <a:moveTo>
                  <a:pt x="266700" y="95"/>
                </a:moveTo>
                <a:cubicBezTo>
                  <a:pt x="162973" y="95"/>
                  <a:pt x="78391" y="83439"/>
                  <a:pt x="76200" y="186690"/>
                </a:cubicBezTo>
                <a:cubicBezTo>
                  <a:pt x="65532" y="197453"/>
                  <a:pt x="25241" y="238220"/>
                  <a:pt x="8573" y="254984"/>
                </a:cubicBezTo>
                <a:cubicBezTo>
                  <a:pt x="95" y="263557"/>
                  <a:pt x="-2286" y="275749"/>
                  <a:pt x="2286" y="286893"/>
                </a:cubicBezTo>
                <a:cubicBezTo>
                  <a:pt x="6858" y="297942"/>
                  <a:pt x="17145" y="304895"/>
                  <a:pt x="29147" y="304895"/>
                </a:cubicBezTo>
                <a:lnTo>
                  <a:pt x="57055" y="304895"/>
                </a:lnTo>
                <a:lnTo>
                  <a:pt x="57055" y="390620"/>
                </a:lnTo>
                <a:cubicBezTo>
                  <a:pt x="57055" y="416909"/>
                  <a:pt x="78391" y="438245"/>
                  <a:pt x="104680" y="438245"/>
                </a:cubicBezTo>
                <a:lnTo>
                  <a:pt x="171355" y="438245"/>
                </a:lnTo>
                <a:lnTo>
                  <a:pt x="171355" y="485870"/>
                </a:lnTo>
                <a:cubicBezTo>
                  <a:pt x="171355" y="491109"/>
                  <a:pt x="175641" y="495395"/>
                  <a:pt x="180880" y="495395"/>
                </a:cubicBezTo>
                <a:cubicBezTo>
                  <a:pt x="186119" y="495395"/>
                  <a:pt x="190405" y="491109"/>
                  <a:pt x="190405" y="485870"/>
                </a:cubicBezTo>
                <a:lnTo>
                  <a:pt x="190405" y="428720"/>
                </a:lnTo>
                <a:cubicBezTo>
                  <a:pt x="190405" y="423481"/>
                  <a:pt x="186119" y="419195"/>
                  <a:pt x="180880" y="419195"/>
                </a:cubicBezTo>
                <a:lnTo>
                  <a:pt x="104680" y="419195"/>
                </a:lnTo>
                <a:cubicBezTo>
                  <a:pt x="88964" y="419195"/>
                  <a:pt x="76105" y="406336"/>
                  <a:pt x="76105" y="390620"/>
                </a:cubicBezTo>
                <a:lnTo>
                  <a:pt x="76105" y="295370"/>
                </a:lnTo>
                <a:cubicBezTo>
                  <a:pt x="76105" y="290131"/>
                  <a:pt x="71819" y="285845"/>
                  <a:pt x="66580" y="285845"/>
                </a:cubicBezTo>
                <a:lnTo>
                  <a:pt x="29147" y="285845"/>
                </a:lnTo>
                <a:cubicBezTo>
                  <a:pt x="22955" y="285845"/>
                  <a:pt x="20479" y="281083"/>
                  <a:pt x="19907" y="279559"/>
                </a:cubicBezTo>
                <a:cubicBezTo>
                  <a:pt x="19336" y="278035"/>
                  <a:pt x="17621" y="272891"/>
                  <a:pt x="22098" y="268319"/>
                </a:cubicBezTo>
                <a:cubicBezTo>
                  <a:pt x="70866" y="219103"/>
                  <a:pt x="95250" y="193167"/>
                  <a:pt x="95250" y="190500"/>
                </a:cubicBezTo>
                <a:cubicBezTo>
                  <a:pt x="95250" y="96012"/>
                  <a:pt x="172117" y="19050"/>
                  <a:pt x="266700" y="19050"/>
                </a:cubicBezTo>
                <a:cubicBezTo>
                  <a:pt x="361283" y="19050"/>
                  <a:pt x="438150" y="96012"/>
                  <a:pt x="438150" y="190500"/>
                </a:cubicBezTo>
                <a:cubicBezTo>
                  <a:pt x="438150" y="233267"/>
                  <a:pt x="422243" y="274225"/>
                  <a:pt x="393287" y="305848"/>
                </a:cubicBezTo>
                <a:cubicBezTo>
                  <a:pt x="385382" y="314515"/>
                  <a:pt x="381000" y="325850"/>
                  <a:pt x="381000" y="337661"/>
                </a:cubicBezTo>
                <a:lnTo>
                  <a:pt x="381000" y="485680"/>
                </a:lnTo>
                <a:cubicBezTo>
                  <a:pt x="381000" y="490918"/>
                  <a:pt x="385286" y="495205"/>
                  <a:pt x="390525" y="495205"/>
                </a:cubicBezTo>
                <a:cubicBezTo>
                  <a:pt x="395764" y="495205"/>
                  <a:pt x="400050" y="490918"/>
                  <a:pt x="400050" y="485680"/>
                </a:cubicBezTo>
                <a:lnTo>
                  <a:pt x="400050" y="337661"/>
                </a:lnTo>
                <a:cubicBezTo>
                  <a:pt x="400050" y="330613"/>
                  <a:pt x="402622" y="323850"/>
                  <a:pt x="407384" y="318706"/>
                </a:cubicBezTo>
                <a:cubicBezTo>
                  <a:pt x="439484" y="283464"/>
                  <a:pt x="457200" y="237934"/>
                  <a:pt x="457200" y="190500"/>
                </a:cubicBezTo>
                <a:cubicBezTo>
                  <a:pt x="457200" y="85439"/>
                  <a:pt x="371761" y="0"/>
                  <a:pt x="266700" y="0"/>
                </a:cubicBezTo>
                <a:close/>
                <a:moveTo>
                  <a:pt x="266700" y="95345"/>
                </a:moveTo>
                <a:cubicBezTo>
                  <a:pt x="214217" y="95345"/>
                  <a:pt x="171450" y="138113"/>
                  <a:pt x="171450" y="190595"/>
                </a:cubicBezTo>
                <a:cubicBezTo>
                  <a:pt x="171450" y="217360"/>
                  <a:pt x="182880" y="243078"/>
                  <a:pt x="202692" y="261080"/>
                </a:cubicBezTo>
                <a:cubicBezTo>
                  <a:pt x="207074" y="265081"/>
                  <a:pt x="209550" y="270224"/>
                  <a:pt x="209550" y="275653"/>
                </a:cubicBezTo>
                <a:lnTo>
                  <a:pt x="209550" y="323850"/>
                </a:lnTo>
                <a:cubicBezTo>
                  <a:pt x="209550" y="344900"/>
                  <a:pt x="226600" y="361950"/>
                  <a:pt x="247650" y="361950"/>
                </a:cubicBezTo>
                <a:lnTo>
                  <a:pt x="285750" y="361950"/>
                </a:lnTo>
                <a:cubicBezTo>
                  <a:pt x="306800" y="361950"/>
                  <a:pt x="323850" y="344900"/>
                  <a:pt x="323850" y="323850"/>
                </a:cubicBezTo>
                <a:lnTo>
                  <a:pt x="323850" y="275653"/>
                </a:lnTo>
                <a:cubicBezTo>
                  <a:pt x="323850" y="270224"/>
                  <a:pt x="326327" y="265081"/>
                  <a:pt x="330708" y="261080"/>
                </a:cubicBezTo>
                <a:cubicBezTo>
                  <a:pt x="350520" y="243078"/>
                  <a:pt x="361950" y="217360"/>
                  <a:pt x="361950" y="190595"/>
                </a:cubicBezTo>
                <a:cubicBezTo>
                  <a:pt x="361950" y="138113"/>
                  <a:pt x="319183" y="95345"/>
                  <a:pt x="266700" y="95345"/>
                </a:cubicBezTo>
                <a:close/>
                <a:moveTo>
                  <a:pt x="304800" y="323945"/>
                </a:moveTo>
                <a:cubicBezTo>
                  <a:pt x="304800" y="334423"/>
                  <a:pt x="296228" y="342995"/>
                  <a:pt x="285750" y="342995"/>
                </a:cubicBezTo>
                <a:lnTo>
                  <a:pt x="247650" y="342995"/>
                </a:lnTo>
                <a:cubicBezTo>
                  <a:pt x="237173" y="342995"/>
                  <a:pt x="228600" y="334423"/>
                  <a:pt x="228600" y="323945"/>
                </a:cubicBezTo>
                <a:lnTo>
                  <a:pt x="228600" y="304895"/>
                </a:lnTo>
                <a:lnTo>
                  <a:pt x="304800" y="304895"/>
                </a:lnTo>
                <a:lnTo>
                  <a:pt x="304800" y="323945"/>
                </a:lnTo>
                <a:close/>
                <a:moveTo>
                  <a:pt x="317849" y="246983"/>
                </a:moveTo>
                <a:cubicBezTo>
                  <a:pt x="309563" y="254508"/>
                  <a:pt x="304800" y="264985"/>
                  <a:pt x="304800" y="275653"/>
                </a:cubicBezTo>
                <a:lnTo>
                  <a:pt x="304800" y="285750"/>
                </a:lnTo>
                <a:lnTo>
                  <a:pt x="276225" y="285750"/>
                </a:lnTo>
                <a:lnTo>
                  <a:pt x="276225" y="203930"/>
                </a:lnTo>
                <a:lnTo>
                  <a:pt x="285750" y="194405"/>
                </a:lnTo>
                <a:lnTo>
                  <a:pt x="298037" y="206692"/>
                </a:lnTo>
                <a:cubicBezTo>
                  <a:pt x="299942" y="208597"/>
                  <a:pt x="302324" y="209455"/>
                  <a:pt x="304800" y="209455"/>
                </a:cubicBezTo>
                <a:cubicBezTo>
                  <a:pt x="307277" y="209455"/>
                  <a:pt x="309658" y="208502"/>
                  <a:pt x="311563" y="206692"/>
                </a:cubicBezTo>
                <a:cubicBezTo>
                  <a:pt x="315278" y="202978"/>
                  <a:pt x="315278" y="196977"/>
                  <a:pt x="311563" y="193262"/>
                </a:cubicBezTo>
                <a:lnTo>
                  <a:pt x="292513" y="174212"/>
                </a:lnTo>
                <a:cubicBezTo>
                  <a:pt x="288798" y="170497"/>
                  <a:pt x="282797" y="170497"/>
                  <a:pt x="279083" y="174212"/>
                </a:cubicBezTo>
                <a:lnTo>
                  <a:pt x="266795" y="186500"/>
                </a:lnTo>
                <a:lnTo>
                  <a:pt x="254508" y="174212"/>
                </a:lnTo>
                <a:cubicBezTo>
                  <a:pt x="250793" y="170497"/>
                  <a:pt x="244793" y="170497"/>
                  <a:pt x="241078" y="174212"/>
                </a:cubicBezTo>
                <a:lnTo>
                  <a:pt x="222028" y="193262"/>
                </a:lnTo>
                <a:cubicBezTo>
                  <a:pt x="218313" y="196977"/>
                  <a:pt x="218313" y="202978"/>
                  <a:pt x="222028" y="206692"/>
                </a:cubicBezTo>
                <a:cubicBezTo>
                  <a:pt x="225743" y="210407"/>
                  <a:pt x="231743" y="210407"/>
                  <a:pt x="235458" y="206692"/>
                </a:cubicBezTo>
                <a:lnTo>
                  <a:pt x="247745" y="194405"/>
                </a:lnTo>
                <a:lnTo>
                  <a:pt x="257270" y="203930"/>
                </a:lnTo>
                <a:lnTo>
                  <a:pt x="257270" y="285750"/>
                </a:lnTo>
                <a:lnTo>
                  <a:pt x="228695" y="285750"/>
                </a:lnTo>
                <a:lnTo>
                  <a:pt x="228695" y="275653"/>
                </a:lnTo>
                <a:cubicBezTo>
                  <a:pt x="228695" y="264985"/>
                  <a:pt x="223933" y="254508"/>
                  <a:pt x="215551" y="246983"/>
                </a:cubicBezTo>
                <a:cubicBezTo>
                  <a:pt x="199644" y="232600"/>
                  <a:pt x="190595" y="212026"/>
                  <a:pt x="190595" y="190595"/>
                </a:cubicBezTo>
                <a:cubicBezTo>
                  <a:pt x="190595" y="148590"/>
                  <a:pt x="224790" y="114395"/>
                  <a:pt x="266795" y="114395"/>
                </a:cubicBezTo>
                <a:cubicBezTo>
                  <a:pt x="308801" y="114395"/>
                  <a:pt x="342995" y="148590"/>
                  <a:pt x="342995" y="190595"/>
                </a:cubicBezTo>
                <a:cubicBezTo>
                  <a:pt x="342995" y="212026"/>
                  <a:pt x="333851" y="232600"/>
                  <a:pt x="317945" y="24698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Oval 12">
            <a:extLst>
              <a:ext uri="{FF2B5EF4-FFF2-40B4-BE49-F238E27FC236}">
                <a16:creationId xmlns:a16="http://schemas.microsoft.com/office/drawing/2014/main" id="{C3D23ECB-4676-423A-AD91-EC8A381E6B39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Google Shape;2216;p100">
            <a:extLst>
              <a:ext uri="{FF2B5EF4-FFF2-40B4-BE49-F238E27FC236}">
                <a16:creationId xmlns:a16="http://schemas.microsoft.com/office/drawing/2014/main" id="{14FE5A2E-9651-4639-B690-C2D738F7A491}"/>
              </a:ext>
            </a:extLst>
          </p:cNvPr>
          <p:cNvSpPr/>
          <p:nvPr/>
        </p:nvSpPr>
        <p:spPr>
          <a:xfrm>
            <a:off x="561683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7690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8B3D0C-9856-6236-900B-7583D7D3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6BA051D-7F7A-A1C4-A114-D2FCC4D3E28B}"/>
              </a:ext>
            </a:extLst>
          </p:cNvPr>
          <p:cNvSpPr/>
          <p:nvPr/>
        </p:nvSpPr>
        <p:spPr>
          <a:xfrm>
            <a:off x="0" y="250564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6" name="Conector Reto 6">
            <a:extLst>
              <a:ext uri="{FF2B5EF4-FFF2-40B4-BE49-F238E27FC236}">
                <a16:creationId xmlns:a16="http://schemas.microsoft.com/office/drawing/2014/main" id="{9158CFAD-F6C4-4926-8DA1-9549DB7A593D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1790191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6D6752-5E74-1B13-4769-0EA45C3503E5}"/>
              </a:ext>
            </a:extLst>
          </p:cNvPr>
          <p:cNvSpPr txBox="1"/>
          <p:nvPr/>
        </p:nvSpPr>
        <p:spPr>
          <a:xfrm>
            <a:off x="985519" y="2970707"/>
            <a:ext cx="10893361" cy="3600986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Ser sempre +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ajudar os estudantes a desenvolver e aprimorar competências </a:t>
            </a:r>
            <a:r>
              <a:rPr lang="pt-BR" sz="1000" dirty="0" err="1">
                <a:latin typeface="Poppins" panose="00000500000000000000" pitchFamily="2" charset="0"/>
                <a:cs typeface="Poppins" panose="00000500000000000000" pitchFamily="2" charset="0"/>
              </a:rPr>
              <a:t>socioemocionais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, focando especificamente nas situações desafiadoras que podem surgir no ambiente profissional.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17 minutos.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de sala de aula: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Introdução (4 minutos): 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a situação de maneira simples e direta. Após apresentar, organize os estudantes em duplas.</a:t>
            </a:r>
          </a:p>
          <a:p>
            <a:pPr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 </a:t>
            </a: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Atividade em duplas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</a:p>
          <a:p>
            <a:pPr lvl="2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Planejamento inicial (10 minutos)</a:t>
            </a:r>
          </a:p>
          <a:p>
            <a:pPr lvl="2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Instruções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em duplas, discutam como podem lidar com essa situação.</a:t>
            </a:r>
          </a:p>
          <a:p>
            <a:pPr lvl="2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2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Apresentação e discussão (3 minutos)</a:t>
            </a:r>
          </a:p>
          <a:p>
            <a:pPr lvl="2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Apresentação rápida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sortear algumas duplas para apresentar suas principais ideias e soluções para a turma. Cada dupla tem 2 minutos para compartilhar as suas sugestões de como lidar com a situação.</a:t>
            </a:r>
          </a:p>
          <a:p>
            <a:endParaRPr lang="pt-BR" sz="1000" kern="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sugerir atitudes como: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Propor uma conversa respeitosa e explicativa com o colega.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Mostrar que o visual interfere na interpretação dos dados.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Reforçar que comunicar bem inclui organizar, simplificar e pensar no leitor.</a:t>
            </a:r>
          </a:p>
          <a:p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Valorizar o cuidado estético como parte da credibilidade do trabalho.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AE41B2F-0826-C696-7FDD-D5D3EF5F6FB6}"/>
              </a:ext>
            </a:extLst>
          </p:cNvPr>
          <p:cNvSpPr/>
          <p:nvPr/>
        </p:nvSpPr>
        <p:spPr>
          <a:xfrm>
            <a:off x="0" y="2416692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19D1F5-6215-F3F8-46DB-852BF20FD9F4}"/>
              </a:ext>
            </a:extLst>
          </p:cNvPr>
          <p:cNvSpPr txBox="1"/>
          <p:nvPr/>
        </p:nvSpPr>
        <p:spPr>
          <a:xfrm>
            <a:off x="985520" y="2426852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15 e 16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4951DA6-E0ED-B075-F1B1-7B6D46E455BD}"/>
              </a:ext>
            </a:extLst>
          </p:cNvPr>
          <p:cNvCxnSpPr>
            <a:cxnSpLocks/>
          </p:cNvCxnSpPr>
          <p:nvPr/>
        </p:nvCxnSpPr>
        <p:spPr>
          <a:xfrm flipV="1">
            <a:off x="684263" y="2667420"/>
            <a:ext cx="0" cy="3868847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35ADFB6-60BE-3FCE-985D-3EB70F48435D}"/>
              </a:ext>
            </a:extLst>
          </p:cNvPr>
          <p:cNvSpPr/>
          <p:nvPr/>
        </p:nvSpPr>
        <p:spPr>
          <a:xfrm>
            <a:off x="486353" y="582177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284998A-3383-ABC5-CB82-8356C3F3AFBF}"/>
              </a:ext>
            </a:extLst>
          </p:cNvPr>
          <p:cNvSpPr/>
          <p:nvPr/>
        </p:nvSpPr>
        <p:spPr>
          <a:xfrm>
            <a:off x="486353" y="391172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CA36A1-C4A5-14D4-409F-17054E746622}"/>
              </a:ext>
            </a:extLst>
          </p:cNvPr>
          <p:cNvSpPr/>
          <p:nvPr/>
        </p:nvSpPr>
        <p:spPr>
          <a:xfrm>
            <a:off x="486353" y="3443107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57AF87E-8AF5-4859-4EDA-FD45CC2C3B59}"/>
              </a:ext>
            </a:extLst>
          </p:cNvPr>
          <p:cNvSpPr/>
          <p:nvPr/>
        </p:nvSpPr>
        <p:spPr>
          <a:xfrm>
            <a:off x="486353" y="2970024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oogle Shape;2216;p100">
            <a:extLst>
              <a:ext uri="{FF2B5EF4-FFF2-40B4-BE49-F238E27FC236}">
                <a16:creationId xmlns:a16="http://schemas.microsoft.com/office/drawing/2014/main" id="{180300D5-9C2B-8C17-5E6A-09995D783B74}"/>
              </a:ext>
            </a:extLst>
          </p:cNvPr>
          <p:cNvSpPr/>
          <p:nvPr/>
        </p:nvSpPr>
        <p:spPr>
          <a:xfrm>
            <a:off x="560775" y="3068580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45F7FA9A-C2B8-E821-7878-E25095670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170" y="3536813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7B010367-85C4-5808-E9AC-0DF7418F9FBA}"/>
              </a:ext>
            </a:extLst>
          </p:cNvPr>
          <p:cNvSpPr>
            <a:spLocks/>
          </p:cNvSpPr>
          <p:nvPr/>
        </p:nvSpPr>
        <p:spPr>
          <a:xfrm>
            <a:off x="556520" y="399015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85BA86B7-D6D6-C597-67D0-EC02369C0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379" y="5875892"/>
            <a:ext cx="208026" cy="266700"/>
          </a:xfrm>
          <a:prstGeom prst="rect">
            <a:avLst/>
          </a:prstGeom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C3368D1A-9A70-04C7-3390-BF3659CF6A5A}"/>
              </a:ext>
            </a:extLst>
          </p:cNvPr>
          <p:cNvSpPr/>
          <p:nvPr/>
        </p:nvSpPr>
        <p:spPr>
          <a:xfrm>
            <a:off x="486353" y="434633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02F1718A-A1FE-23BD-BEFC-0C8453962D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744" y="4416786"/>
            <a:ext cx="235296" cy="24064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D5ED770-32BF-6EAB-BF5C-9E7257CB3372}"/>
              </a:ext>
            </a:extLst>
          </p:cNvPr>
          <p:cNvSpPr txBox="1"/>
          <p:nvPr/>
        </p:nvSpPr>
        <p:spPr>
          <a:xfrm>
            <a:off x="970280" y="836675"/>
            <a:ext cx="11005551" cy="1446550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é mobilizar os estudantes em relação aos conhecimentos apresentados e construídos em aula. É registro. </a:t>
            </a:r>
          </a:p>
          <a:p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: 2 minutos.</a:t>
            </a: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Resposta correta: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Destacar o principal.</a:t>
            </a:r>
            <a:endParaRPr lang="pt-BR" sz="1000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defTabSz="609630">
              <a:buClrTx/>
              <a:defRPr/>
            </a:pPr>
            <a:r>
              <a:rPr lang="pt-BR" sz="10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Feedback: </a:t>
            </a:r>
            <a:r>
              <a:rPr lang="pt-BR" sz="10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contraste direciona o olhar do leitor para o dado mais importante, criando hierarquia visual e facilitando a compreensão rápida das informações mostradas no gráfico.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DB59141-7443-1A31-E215-9C1CFB433CB4}"/>
              </a:ext>
            </a:extLst>
          </p:cNvPr>
          <p:cNvSpPr txBox="1"/>
          <p:nvPr/>
        </p:nvSpPr>
        <p:spPr>
          <a:xfrm>
            <a:off x="970280" y="263964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Slides 13 e 14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FD23C5D-8078-D6B0-2C86-D46C0961A166}"/>
              </a:ext>
            </a:extLst>
          </p:cNvPr>
          <p:cNvSpPr/>
          <p:nvPr/>
        </p:nvSpPr>
        <p:spPr>
          <a:xfrm>
            <a:off x="486353" y="1238380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D2049C17-B0E1-E6D5-68E6-40038C3E8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2170" y="1336323"/>
            <a:ext cx="154445" cy="193056"/>
          </a:xfrm>
          <a:prstGeom prst="rect">
            <a:avLst/>
          </a:prstGeom>
        </p:spPr>
      </p:pic>
      <p:sp>
        <p:nvSpPr>
          <p:cNvPr id="24" name="Oval 8">
            <a:extLst>
              <a:ext uri="{FF2B5EF4-FFF2-40B4-BE49-F238E27FC236}">
                <a16:creationId xmlns:a16="http://schemas.microsoft.com/office/drawing/2014/main" id="{C2FE9412-EA63-A6D5-4378-7EE01CB11FB4}"/>
              </a:ext>
            </a:extLst>
          </p:cNvPr>
          <p:cNvSpPr/>
          <p:nvPr/>
        </p:nvSpPr>
        <p:spPr>
          <a:xfrm>
            <a:off x="486353" y="173448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857257C0-031D-B188-F269-79F059D4B8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5379" y="1788603"/>
            <a:ext cx="208026" cy="266700"/>
          </a:xfrm>
          <a:prstGeom prst="rect">
            <a:avLst/>
          </a:prstGeom>
        </p:spPr>
      </p:pic>
      <p:sp>
        <p:nvSpPr>
          <p:cNvPr id="27" name="Oval 12">
            <a:extLst>
              <a:ext uri="{FF2B5EF4-FFF2-40B4-BE49-F238E27FC236}">
                <a16:creationId xmlns:a16="http://schemas.microsoft.com/office/drawing/2014/main" id="{C481C709-41E9-488C-8587-EB327F0B13FC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Google Shape;2216;p100">
            <a:extLst>
              <a:ext uri="{FF2B5EF4-FFF2-40B4-BE49-F238E27FC236}">
                <a16:creationId xmlns:a16="http://schemas.microsoft.com/office/drawing/2014/main" id="{76CAEFCC-B782-4970-BF91-1342B06631CE}"/>
              </a:ext>
            </a:extLst>
          </p:cNvPr>
          <p:cNvSpPr/>
          <p:nvPr/>
        </p:nvSpPr>
        <p:spPr>
          <a:xfrm>
            <a:off x="559059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6991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D7E3B2-A75D-18F5-44CC-52AFCD890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15BBFFF-B500-C8B3-79ED-364B4B490747}"/>
              </a:ext>
            </a:extLst>
          </p:cNvPr>
          <p:cNvSpPr/>
          <p:nvPr/>
        </p:nvSpPr>
        <p:spPr>
          <a:xfrm>
            <a:off x="0" y="246717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" name="Conector Reto 6">
            <a:extLst>
              <a:ext uri="{FF2B5EF4-FFF2-40B4-BE49-F238E27FC236}">
                <a16:creationId xmlns:a16="http://schemas.microsoft.com/office/drawing/2014/main" id="{774D6470-8F28-4AA6-86E5-CA0BA7F10DEC}"/>
              </a:ext>
            </a:extLst>
          </p:cNvPr>
          <p:cNvCxnSpPr>
            <a:cxnSpLocks/>
          </p:cNvCxnSpPr>
          <p:nvPr/>
        </p:nvCxnSpPr>
        <p:spPr>
          <a:xfrm flipV="1">
            <a:off x="673284" y="546609"/>
            <a:ext cx="0" cy="350045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8AD751B0-35D7-D6D0-8549-4C2F2A682851}"/>
              </a:ext>
            </a:extLst>
          </p:cNvPr>
          <p:cNvSpPr txBox="1"/>
          <p:nvPr/>
        </p:nvSpPr>
        <p:spPr>
          <a:xfrm>
            <a:off x="985519" y="840663"/>
            <a:ext cx="10644505" cy="2831544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 que nós aprendemos hoje?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tem o objetivo de reforçar e esclarecer os principais conceitos discutidos, incentivando os estudantes a recordarem e articularem os principais pontos da aula. 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2 minutos.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Gestão da sala de aula: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Mantenha um ambiente de diálogo aberto e respeitoso.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Seja direto e objetivo nas explicações para manter a atividade de acordo com o tempo estipulado.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Engaje os estudantes, rapidamente, pedindo confirmações ou reações breves às definições apresentadas. </a:t>
            </a:r>
          </a:p>
          <a:p>
            <a:b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Condução da dinâmica: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Explique aos estudantes que esse é um momento de reflexão e esclarecimento sobre os conceitos abordados na aula.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Informe que será feita uma rápida revisão para assegurar o entendimento correto das definições e dos conceitos.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Apresente o slide com a definição sintética de cada conceito principal discutido na aula, ampliando a explicação com as informações que achar necessárias. </a:t>
            </a: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Finalize resumindo os pontos principais e reiterando a importância de cada conceito e como ele se encaixa no contexto maior da aula.</a:t>
            </a:r>
          </a:p>
          <a:p>
            <a:r>
              <a:rPr lang="pt-BR" sz="1000" kern="100" dirty="0">
                <a:latin typeface="Poppins" panose="00000500000000000000" pitchFamily="2" charset="0"/>
                <a:ea typeface="Aptos" panose="020B0004020202020204" pitchFamily="34" charset="0"/>
                <a:cs typeface="Poppins" panose="00000500000000000000" pitchFamily="2" charset="0"/>
              </a:rPr>
              <a:t>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Expectativa de respostas:</a:t>
            </a:r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Os estudantes devem sair da aula com um entendimento claro e preciso dos conceitos principais. </a:t>
            </a: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96EBD2-6A78-63C7-70DA-B763B4F175C3}"/>
              </a:ext>
            </a:extLst>
          </p:cNvPr>
          <p:cNvSpPr txBox="1"/>
          <p:nvPr/>
        </p:nvSpPr>
        <p:spPr>
          <a:xfrm>
            <a:off x="985520" y="256877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17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FB3537-ADBF-3FF8-FD6E-16717E3C01A6}"/>
              </a:ext>
            </a:extLst>
          </p:cNvPr>
          <p:cNvSpPr/>
          <p:nvPr/>
        </p:nvSpPr>
        <p:spPr>
          <a:xfrm>
            <a:off x="497841" y="325076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B65DDD-A6CA-0608-EC75-19070DFCD5AC}"/>
              </a:ext>
            </a:extLst>
          </p:cNvPr>
          <p:cNvSpPr/>
          <p:nvPr/>
        </p:nvSpPr>
        <p:spPr>
          <a:xfrm>
            <a:off x="497841" y="228946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2D12B0-2D75-A3DE-EBC8-66E5B6A4DCB1}"/>
              </a:ext>
            </a:extLst>
          </p:cNvPr>
          <p:cNvSpPr/>
          <p:nvPr/>
        </p:nvSpPr>
        <p:spPr>
          <a:xfrm>
            <a:off x="497841" y="162779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B6FA1E-CE0E-D34F-C3E6-2380C519E133}"/>
              </a:ext>
            </a:extLst>
          </p:cNvPr>
          <p:cNvSpPr/>
          <p:nvPr/>
        </p:nvSpPr>
        <p:spPr>
          <a:xfrm>
            <a:off x="488316" y="118280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CAC3717-E04D-7996-696B-D3206512B0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6547" y="1276511"/>
            <a:ext cx="154445" cy="193056"/>
          </a:xfrm>
          <a:prstGeom prst="rect">
            <a:avLst/>
          </a:prstGeom>
        </p:spPr>
      </p:pic>
      <p:sp>
        <p:nvSpPr>
          <p:cNvPr id="16" name="Google Shape;2223;p100">
            <a:extLst>
              <a:ext uri="{FF2B5EF4-FFF2-40B4-BE49-F238E27FC236}">
                <a16:creationId xmlns:a16="http://schemas.microsoft.com/office/drawing/2014/main" id="{E95789C8-45F9-5CBA-70A1-C86D128E0E42}"/>
              </a:ext>
            </a:extLst>
          </p:cNvPr>
          <p:cNvSpPr>
            <a:spLocks/>
          </p:cNvSpPr>
          <p:nvPr/>
        </p:nvSpPr>
        <p:spPr>
          <a:xfrm>
            <a:off x="566852" y="170622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EC7A135-24F7-3564-CFC4-35D0D457B7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906" y="2359916"/>
            <a:ext cx="235296" cy="240643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67E78B55-F254-BCC7-71E5-B9C0F2D894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782" y="3304883"/>
            <a:ext cx="208026" cy="2667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9516522-29AB-2F26-56F9-189217AD11EF}"/>
              </a:ext>
            </a:extLst>
          </p:cNvPr>
          <p:cNvSpPr/>
          <p:nvPr/>
        </p:nvSpPr>
        <p:spPr>
          <a:xfrm>
            <a:off x="0" y="4195189"/>
            <a:ext cx="12192000" cy="493058"/>
          </a:xfrm>
          <a:prstGeom prst="rect">
            <a:avLst/>
          </a:prstGeom>
          <a:solidFill>
            <a:srgbClr val="3E35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627F8B8-E9E7-DE6C-E120-ABCDC4DFE232}"/>
              </a:ext>
            </a:extLst>
          </p:cNvPr>
          <p:cNvSpPr txBox="1"/>
          <p:nvPr/>
        </p:nvSpPr>
        <p:spPr>
          <a:xfrm>
            <a:off x="985520" y="4205349"/>
            <a:ext cx="5923280" cy="61337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anose="00000500000000000000" pitchFamily="2" charset="0"/>
                <a:cs typeface="Poppins"/>
              </a:rPr>
              <a:t>Slide 18</a:t>
            </a:r>
            <a:endParaRPr lang="pt-BR" sz="3000" b="1" dirty="0">
              <a:solidFill>
                <a:schemeClr val="bg1"/>
              </a:solidFill>
              <a:latin typeface="Poppins" panose="00000500000000000000" pitchFamily="2" charset="0"/>
              <a:cs typeface="Poppins" pitchFamily="2" charset="77"/>
            </a:endParaRPr>
          </a:p>
        </p:txBody>
      </p:sp>
      <p:cxnSp>
        <p:nvCxnSpPr>
          <p:cNvPr id="19" name="Conector Reto 6">
            <a:extLst>
              <a:ext uri="{FF2B5EF4-FFF2-40B4-BE49-F238E27FC236}">
                <a16:creationId xmlns:a16="http://schemas.microsoft.com/office/drawing/2014/main" id="{CB25A0C3-5D43-FBAE-470F-8E216BB1F0BB}"/>
              </a:ext>
            </a:extLst>
          </p:cNvPr>
          <p:cNvCxnSpPr>
            <a:cxnSpLocks/>
          </p:cNvCxnSpPr>
          <p:nvPr/>
        </p:nvCxnSpPr>
        <p:spPr>
          <a:xfrm flipV="1">
            <a:off x="690880" y="4445918"/>
            <a:ext cx="1" cy="1446882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11">
            <a:extLst>
              <a:ext uri="{FF2B5EF4-FFF2-40B4-BE49-F238E27FC236}">
                <a16:creationId xmlns:a16="http://schemas.microsoft.com/office/drawing/2014/main" id="{EC05C4B1-84D8-EAC2-321A-1984E82253B1}"/>
              </a:ext>
            </a:extLst>
          </p:cNvPr>
          <p:cNvSpPr/>
          <p:nvPr/>
        </p:nvSpPr>
        <p:spPr>
          <a:xfrm>
            <a:off x="497841" y="5217002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CD4E91F2-2D78-9FDF-EE29-8D2B83095E51}"/>
              </a:ext>
            </a:extLst>
          </p:cNvPr>
          <p:cNvSpPr/>
          <p:nvPr/>
        </p:nvSpPr>
        <p:spPr>
          <a:xfrm>
            <a:off x="497841" y="4748521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Google Shape;2216;p100">
            <a:extLst>
              <a:ext uri="{FF2B5EF4-FFF2-40B4-BE49-F238E27FC236}">
                <a16:creationId xmlns:a16="http://schemas.microsoft.com/office/drawing/2014/main" id="{AF414D3F-C2E9-3FB6-A7A2-E5D455C1CC26}"/>
              </a:ext>
            </a:extLst>
          </p:cNvPr>
          <p:cNvSpPr/>
          <p:nvPr/>
        </p:nvSpPr>
        <p:spPr>
          <a:xfrm>
            <a:off x="569897" y="4847077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A357A60-2080-3E3A-5FF8-D61BBC64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072" y="5310708"/>
            <a:ext cx="154445" cy="193056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2B8D839F-93CC-819E-A880-BC6BF841B2DD}"/>
              </a:ext>
            </a:extLst>
          </p:cNvPr>
          <p:cNvSpPr txBox="1"/>
          <p:nvPr/>
        </p:nvSpPr>
        <p:spPr>
          <a:xfrm>
            <a:off x="1000171" y="4868236"/>
            <a:ext cx="10251440" cy="984885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/>
          <a:p>
            <a:pPr defTabSz="609630">
              <a:buClrTx/>
              <a:defRPr/>
            </a:pP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a seção </a:t>
            </a:r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Saiba mais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 apresenta recursos extraclasse para que os estudantes complementem sua formação. Incentive-os a continuar explorando o tema da aula.</a:t>
            </a:r>
          </a:p>
          <a:p>
            <a:pPr>
              <a:buClrTx/>
              <a:buFontTx/>
            </a:pPr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r>
              <a:rPr lang="pt-BR" sz="1000" b="1" dirty="0">
                <a:latin typeface="Poppins" panose="00000500000000000000" pitchFamily="2" charset="0"/>
                <a:cs typeface="Poppins" panose="00000500000000000000" pitchFamily="2" charset="0"/>
              </a:rPr>
              <a:t>Tempo previsto: </a:t>
            </a:r>
            <a:r>
              <a:rPr lang="pt-BR" sz="1000" dirty="0">
                <a:latin typeface="Poppins" panose="00000500000000000000" pitchFamily="2" charset="0"/>
                <a:cs typeface="Poppins" panose="00000500000000000000" pitchFamily="2" charset="0"/>
              </a:rPr>
              <a:t>1 minuto.</a:t>
            </a:r>
          </a:p>
          <a:p>
            <a:pPr marL="153254" fontAlgn="base"/>
            <a:endParaRPr lang="pt-BR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rtl="0" fontAlgn="base"/>
            <a:endParaRPr lang="pt-BR" sz="1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Oval 12">
            <a:extLst>
              <a:ext uri="{FF2B5EF4-FFF2-40B4-BE49-F238E27FC236}">
                <a16:creationId xmlns:a16="http://schemas.microsoft.com/office/drawing/2014/main" id="{3EBF7446-4842-4610-B775-C176B035C8D8}"/>
              </a:ext>
            </a:extLst>
          </p:cNvPr>
          <p:cNvSpPr/>
          <p:nvPr/>
        </p:nvSpPr>
        <p:spPr>
          <a:xfrm>
            <a:off x="487003" y="794765"/>
            <a:ext cx="386079" cy="382464"/>
          </a:xfrm>
          <a:prstGeom prst="ellipse">
            <a:avLst/>
          </a:prstGeom>
          <a:solidFill>
            <a:srgbClr val="AAA6D3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09630"/>
            <a:endParaRPr lang="pt-B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2216;p100">
            <a:extLst>
              <a:ext uri="{FF2B5EF4-FFF2-40B4-BE49-F238E27FC236}">
                <a16:creationId xmlns:a16="http://schemas.microsoft.com/office/drawing/2014/main" id="{1AD5C213-02D2-440D-9C85-EFBE5169452A}"/>
              </a:ext>
            </a:extLst>
          </p:cNvPr>
          <p:cNvSpPr/>
          <p:nvPr/>
        </p:nvSpPr>
        <p:spPr>
          <a:xfrm>
            <a:off x="559059" y="893321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9574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58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spcFirstLastPara="1" wrap="square" lIns="91425" tIns="45700" rIns="91425" bIns="45700" anchor="t" anchorCtr="0">
        <a:normAutofit/>
      </a:bodyPr>
      <a:lstStyle>
        <a:defPPr algn="l">
          <a:defRPr sz="24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acdbb2-8ef9-464d-a709-26ca1c337062">
      <Terms xmlns="http://schemas.microsoft.com/office/infopath/2007/PartnerControls"/>
    </lcf76f155ced4ddcb4097134ff3c332f>
    <TaxCatchAll xmlns="d8db0f09-d57f-4353-8fed-87a30f19522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F221F30FA1D846BC6503DE840D959B" ma:contentTypeVersion="12" ma:contentTypeDescription="Crie um novo documento." ma:contentTypeScope="" ma:versionID="53ae0932011ebc5765fda036f9be06b3">
  <xsd:schema xmlns:xsd="http://www.w3.org/2001/XMLSchema" xmlns:xs="http://www.w3.org/2001/XMLSchema" xmlns:p="http://schemas.microsoft.com/office/2006/metadata/properties" xmlns:ns2="4facdbb2-8ef9-464d-a709-26ca1c337062" xmlns:ns3="d8db0f09-d57f-4353-8fed-87a30f195225" targetNamespace="http://schemas.microsoft.com/office/2006/metadata/properties" ma:root="true" ma:fieldsID="5a629c5c031305a68eb787f9011ca533" ns2:_="" ns3:_="">
    <xsd:import namespace="4facdbb2-8ef9-464d-a709-26ca1c337062"/>
    <xsd:import namespace="d8db0f09-d57f-4353-8fed-87a30f1952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acdbb2-8ef9-464d-a709-26ca1c3370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a85b3961-dbc6-48b8-bc39-d380478928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db0f09-d57f-4353-8fed-87a30f1952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3f1f100-ca14-4443-a663-a0783b3478eb}" ma:internalName="TaxCatchAll" ma:showField="CatchAllData" ma:web="d8db0f09-d57f-4353-8fed-87a30f1952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661F7A-1649-4A39-91A5-A3893F5678E5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d8db0f09-d57f-4353-8fed-87a30f195225"/>
    <ds:schemaRef ds:uri="4facdbb2-8ef9-464d-a709-26ca1c337062"/>
  </ds:schemaRefs>
</ds:datastoreItem>
</file>

<file path=customXml/itemProps2.xml><?xml version="1.0" encoding="utf-8"?>
<ds:datastoreItem xmlns:ds="http://schemas.openxmlformats.org/officeDocument/2006/customXml" ds:itemID="{B0677084-0C62-44FA-A523-5D043DCC27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acdbb2-8ef9-464d-a709-26ca1c337062"/>
    <ds:schemaRef ds:uri="d8db0f09-d57f-4353-8fed-87a30f1952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7590F2-902A-4FFC-B993-9715B30E05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12058</TotalTime>
  <Words>2448</Words>
  <Application>Microsoft Office PowerPoint</Application>
  <PresentationFormat>Widescreen</PresentationFormat>
  <Paragraphs>268</Paragraphs>
  <Slides>25</Slides>
  <Notes>17</Notes>
  <HiddenSlides>6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Poppins Medium</vt:lpstr>
      <vt:lpstr>Poppins</vt:lpstr>
      <vt:lpstr>Poppins Light</vt:lpstr>
      <vt:lpstr>Calibri</vt:lpstr>
      <vt:lpstr>Poppins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Caco Bressane Ilustração e Design</dc:creator>
  <cp:lastModifiedBy>Alessandra Reis de Souza</cp:lastModifiedBy>
  <cp:revision>238</cp:revision>
  <dcterms:modified xsi:type="dcterms:W3CDTF">2026-01-28T19:09:39Z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0x0101000AF221F30FA1D846BC6503DE840D959B</vt:lpwstr>
  </property>
  <property fmtid="{D5CDD505-2E9C-101B-9397-08002B2CF9AE}" pid="3" name="MediaServiceImageTags">
    <vt:lpwstr/>
  </property>
  <property fmtid="{D5CDD505-2E9C-101B-9397-08002B2CF9AE}" pid="4" name="Order">
    <vt:lpwstr>378100.000000000</vt:lpwstr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