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</p:sldMasterIdLst>
  <p:notesMasterIdLst>
    <p:notesMasterId r:id="rId22"/>
  </p:notesMasterIdLst>
  <p:handoutMasterIdLst>
    <p:handoutMasterId r:id="rId23"/>
  </p:handoutMasterIdLst>
  <p:sldIdLst>
    <p:sldId id="1240" r:id="rId5"/>
    <p:sldId id="1449" r:id="rId6"/>
    <p:sldId id="1450" r:id="rId7"/>
    <p:sldId id="1451" r:id="rId8"/>
    <p:sldId id="1452" r:id="rId9"/>
    <p:sldId id="1408" r:id="rId10"/>
    <p:sldId id="547" r:id="rId11"/>
    <p:sldId id="1256" r:id="rId12"/>
    <p:sldId id="1453" r:id="rId13"/>
    <p:sldId id="1259" r:id="rId14"/>
    <p:sldId id="1439" r:id="rId15"/>
    <p:sldId id="1484" r:id="rId16"/>
    <p:sldId id="1262" r:id="rId17"/>
    <p:sldId id="1477" r:id="rId18"/>
    <p:sldId id="1478" r:id="rId19"/>
    <p:sldId id="1346" r:id="rId20"/>
    <p:sldId id="1268" r:id="rId21"/>
  </p:sldIdLst>
  <p:sldSz cx="12192000" cy="6858000"/>
  <p:notesSz cx="6858000" cy="9144000"/>
  <p:embeddedFontLs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Bold" panose="00000800000000000000" pitchFamily="2" charset="0"/>
      <p:regular r:id="rId28"/>
      <p:bold r:id="rId29"/>
      <p:italic r:id="rId30"/>
      <p:boldItalic r:id="rId31"/>
    </p:embeddedFont>
    <p:embeddedFont>
      <p:font typeface="Poppins Light" panose="00000400000000000000" pitchFamily="2" charset="0"/>
      <p:regular r:id="rId32"/>
      <p:bold r:id="rId33"/>
      <p:italic r:id="rId34"/>
      <p:boldItalic r:id="rId35"/>
    </p:embeddedFont>
    <p:embeddedFont>
      <p:font typeface="Poppins Medium" panose="000006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6" userDrawn="1">
          <p15:clr>
            <a:srgbClr val="A4A3A4"/>
          </p15:clr>
        </p15:guide>
        <p15:guide id="2" pos="657" userDrawn="1">
          <p15:clr>
            <a:srgbClr val="A4A3A4"/>
          </p15:clr>
        </p15:guide>
        <p15:guide id="3" orient="horz" pos="406" userDrawn="1">
          <p15:clr>
            <a:srgbClr val="A4A3A4"/>
          </p15:clr>
        </p15:guide>
        <p15:guide id="4" orient="horz" pos="7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5AF908-30E5-6776-98DA-924C49E373C5}" name="Luiza " initials="LEL" userId="Luiza " providerId="None"/>
  <p188:author id="{36E6B411-79F2-2BA9-D2E5-195CC60EC4EB}" name="Vanessa Leite Rios" initials="VL" userId="S::vrios@vanzolini-ead.org.br::0d7f6d10-7524-4913-bb54-b4a9cca6091b" providerId="AD"/>
  <p188:author id="{98B10514-320B-D9F8-DBA8-7EDDE8F7059D}" name="Surya Bueno" initials="SB" userId="6e21e9d7a184f473" providerId="Windows Live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AD57CE6A-2AF0-F017-E589-0472A9DBE06A}" name="Amanda Barbosa" initials="AB" userId="6c5fbaa3aabbfad2" providerId="Windows Live"/>
  <p188:author id="{8DD8E787-7B43-E508-6891-C6122D24A71C}" name="Douglas José Mendonça" initials="DM" userId="4153c5f748151241" providerId="Windows Live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  <a:srgbClr val="FF0000"/>
    <a:srgbClr val="3E3593"/>
    <a:srgbClr val="AAA6D3"/>
    <a:srgbClr val="312F67"/>
    <a:srgbClr val="EC4E58"/>
    <a:srgbClr val="E83D68"/>
    <a:srgbClr val="FB932D"/>
    <a:srgbClr val="D9D9D9"/>
    <a:srgbClr val="D8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12180-C437-E7BE-13A4-37344815B1C9}" v="1" dt="2025-11-17T14:26:03.264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310" autoAdjust="0"/>
  </p:normalViewPr>
  <p:slideViewPr>
    <p:cSldViewPr snapToGrid="0">
      <p:cViewPr varScale="1">
        <p:scale>
          <a:sx n="77" d="100"/>
          <a:sy n="77" d="100"/>
        </p:scale>
        <p:origin x="811" y="62"/>
      </p:cViewPr>
      <p:guideLst>
        <p:guide orient="horz" pos="466"/>
        <p:guide pos="657"/>
        <p:guide orient="horz" pos="406"/>
        <p:guide orient="horz" pos="7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538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116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189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8609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>
          <a:extLst>
            <a:ext uri="{FF2B5EF4-FFF2-40B4-BE49-F238E27FC236}">
              <a16:creationId xmlns:a16="http://schemas.microsoft.com/office/drawing/2014/main" id="{5E5406EE-A086-4057-CE0D-74AF9C898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:notes">
            <a:extLst>
              <a:ext uri="{FF2B5EF4-FFF2-40B4-BE49-F238E27FC236}">
                <a16:creationId xmlns:a16="http://schemas.microsoft.com/office/drawing/2014/main" id="{7EBBC70A-FEC8-2D95-EF3E-C06379F4D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72" name="Google Shape;672;p5:notes">
            <a:extLst>
              <a:ext uri="{FF2B5EF4-FFF2-40B4-BE49-F238E27FC236}">
                <a16:creationId xmlns:a16="http://schemas.microsoft.com/office/drawing/2014/main" id="{98DD2C4C-725C-F9C4-A33B-331B6DC25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20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4254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9702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6987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4166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0914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05BA-9673-3CE5-E471-BD8D9D1C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AEDF9B-3B64-F9FA-87FF-E5415ABAB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7F12B5-DFA6-ED46-B10B-A04243AB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2BC3A8-1828-CEC7-3F21-F9E0EEA8D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7085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BA1E-9BED-F6E9-F39E-B6B42F14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1EE0CC-3D67-F626-7E41-7E78BF00D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9E2161-545A-975F-0B2B-2F5D30BEF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946C80-A164-D883-005E-AA528DD9C1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266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C99D-7419-30A7-6CA3-94577F9F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D20E2B-936B-3DCF-7751-A559B0426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613880-6B96-23B9-F2AD-2959FC88D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E6155A-EDE7-6002-17EE-157ED2E13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831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65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F2ED3E9-3B0B-E370-C738-4D436A14D4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" name="Retângulo: Cantos Arredondados 3">
            <a:extLst>
              <a:ext uri="{FF2B5EF4-FFF2-40B4-BE49-F238E27FC236}">
                <a16:creationId xmlns:a16="http://schemas.microsoft.com/office/drawing/2014/main" id="{A0F6D4AD-BEAC-5A4C-D185-355FD329EDAD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274A5E0-422D-6FB4-177B-49EB5248F3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CF524BA5-8A5B-145B-7D69-2189A7ECA0A4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8280850-023D-A739-FC0C-EF20B5B8E50C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D347C05-9ADD-70B2-6601-E4FADB3DAC99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ECCB835E-A92E-1E72-1AFA-B8363F23E5A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BC37E2E-3ACD-4BA8-7331-45AD62728F46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12D5074-3B8F-E3C8-C189-8EC839EBBE4F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F93B7EA8-C428-3568-A400-81FEC0CFC968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E027E25-B127-564A-93AE-AF4FF3E19DBE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F0ABFEE8-75C9-8AAE-F50B-C95C330B48B6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5" name="Retângulo: Cantos Superiores Arredondados 14">
              <a:extLst>
                <a:ext uri="{FF2B5EF4-FFF2-40B4-BE49-F238E27FC236}">
                  <a16:creationId xmlns:a16="http://schemas.microsoft.com/office/drawing/2014/main" id="{5F39D53D-D539-55F1-6966-7683F969BCA2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D2FB224-1352-8F2E-9BA9-B575962D115B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F93251F3-6777-3A9E-C279-16DE8219E8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B1FADC0B-1941-A0A5-16A0-A6F876CF4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9B7D1D1-EF6A-9B47-8F97-6E68F35C1710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5B54899-B99B-A3C2-5D40-328D19059A9A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7E0B3421-0665-655B-1EF0-DCE184BFCC2A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6959AEA3-D48B-0A09-D7EE-B6AEC2DD22E9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Google Shape;643;p43">
            <a:extLst>
              <a:ext uri="{FF2B5EF4-FFF2-40B4-BE49-F238E27FC236}">
                <a16:creationId xmlns:a16="http://schemas.microsoft.com/office/drawing/2014/main" id="{C48BB9E0-E4E1-D9BE-BCF0-CCC4171FA07E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 dirty="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 preserve="1" userDrawn="1">
  <p:cSld name="2_1. Conteud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1010BB96-2C5C-93CB-0DE4-6ADDB142D0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9550BDCE-8C17-2808-26AD-19DADB9A40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24714A58-2E0F-BD3B-F270-0F26F9E6C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0" name="Espaço Reservado para Texto 7">
            <a:extLst>
              <a:ext uri="{FF2B5EF4-FFF2-40B4-BE49-F238E27FC236}">
                <a16:creationId xmlns:a16="http://schemas.microsoft.com/office/drawing/2014/main" id="{5E0069F1-0137-2FAA-27B5-5B98A6D199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C140BF74-0D8B-686D-7192-D2693E320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7232F7-01AD-922F-D9E5-64BAAB03B83E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69;p32">
            <a:extLst>
              <a:ext uri="{FF2B5EF4-FFF2-40B4-BE49-F238E27FC236}">
                <a16:creationId xmlns:a16="http://schemas.microsoft.com/office/drawing/2014/main" id="{A8FEAB6A-5D6C-6744-CC3F-74C5DE6D84A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5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5">
            <a:extLst>
              <a:ext uri="{FF2B5EF4-FFF2-40B4-BE49-F238E27FC236}">
                <a16:creationId xmlns:a16="http://schemas.microsoft.com/office/drawing/2014/main" id="{90A09AF1-6177-B6C7-D6AA-90EAACF25567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1C1561E4-36FA-1466-CE3D-02B9F8FAAC82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 preserve="1" userDrawn="1">
  <p:cSld name="3_Atividade_Resposta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128FBB6-9361-0CA4-4757-4C6494BD6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04B621D-7063-CB00-D5F7-DD7041FE5E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3ED50221-AC80-3CBF-59A1-8AAD3D8B7C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B12E8BA-EADA-382E-01AB-DEE52E9196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12" name="Google Shape;562;p38">
            <a:extLst>
              <a:ext uri="{FF2B5EF4-FFF2-40B4-BE49-F238E27FC236}">
                <a16:creationId xmlns:a16="http://schemas.microsoft.com/office/drawing/2014/main" id="{7689DC06-EAE3-38FF-04B9-B5AC70E62C0A}"/>
              </a:ext>
            </a:extLst>
          </p:cNvPr>
          <p:cNvSpPr txBox="1"/>
          <p:nvPr userDrawn="1"/>
        </p:nvSpPr>
        <p:spPr>
          <a:xfrm>
            <a:off x="3305837" y="5948777"/>
            <a:ext cx="6190494" cy="24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lang="pt-BR" sz="1200" b="0" i="0" u="none" strike="noStrike" cap="none" noProof="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644FA7C-8B7D-7E51-0B73-7BDE8ED2A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  <p:sp>
        <p:nvSpPr>
          <p:cNvPr id="17" name="Google Shape;550;p38">
            <a:extLst>
              <a:ext uri="{FF2B5EF4-FFF2-40B4-BE49-F238E27FC236}">
                <a16:creationId xmlns:a16="http://schemas.microsoft.com/office/drawing/2014/main" id="{22DB1641-662F-0F15-0F05-AB19823A1C94}"/>
              </a:ext>
            </a:extLst>
          </p:cNvPr>
          <p:cNvSpPr/>
          <p:nvPr userDrawn="1"/>
        </p:nvSpPr>
        <p:spPr>
          <a:xfrm>
            <a:off x="2883290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552;p38">
            <a:extLst>
              <a:ext uri="{FF2B5EF4-FFF2-40B4-BE49-F238E27FC236}">
                <a16:creationId xmlns:a16="http://schemas.microsoft.com/office/drawing/2014/main" id="{6499F285-1A38-F587-30AE-F87C7C508E35}"/>
              </a:ext>
            </a:extLst>
          </p:cNvPr>
          <p:cNvSpPr/>
          <p:nvPr userDrawn="1"/>
        </p:nvSpPr>
        <p:spPr>
          <a:xfrm>
            <a:off x="7220006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555;p38">
            <a:extLst>
              <a:ext uri="{FF2B5EF4-FFF2-40B4-BE49-F238E27FC236}">
                <a16:creationId xmlns:a16="http://schemas.microsoft.com/office/drawing/2014/main" id="{2BF08877-A4A6-A343-7ADA-9CCC985A9343}"/>
              </a:ext>
            </a:extLst>
          </p:cNvPr>
          <p:cNvSpPr txBox="1"/>
          <p:nvPr userDrawn="1"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20" name="Google Shape;556;p38">
            <a:extLst>
              <a:ext uri="{FF2B5EF4-FFF2-40B4-BE49-F238E27FC236}">
                <a16:creationId xmlns:a16="http://schemas.microsoft.com/office/drawing/2014/main" id="{06DCDA04-B510-0D6E-F21C-78BC9B40087E}"/>
              </a:ext>
            </a:extLst>
          </p:cNvPr>
          <p:cNvSpPr txBox="1"/>
          <p:nvPr userDrawn="1"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21" name="Google Shape;551;p38">
            <a:extLst>
              <a:ext uri="{FF2B5EF4-FFF2-40B4-BE49-F238E27FC236}">
                <a16:creationId xmlns:a16="http://schemas.microsoft.com/office/drawing/2014/main" id="{7E6A8E0A-9183-FB50-4A81-66F4D7EDD5E7}"/>
              </a:ext>
            </a:extLst>
          </p:cNvPr>
          <p:cNvSpPr/>
          <p:nvPr userDrawn="1"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553;p38">
            <a:extLst>
              <a:ext uri="{FF2B5EF4-FFF2-40B4-BE49-F238E27FC236}">
                <a16:creationId xmlns:a16="http://schemas.microsoft.com/office/drawing/2014/main" id="{4D2C6640-A50D-4F35-EF25-B49D864B9245}"/>
              </a:ext>
            </a:extLst>
          </p:cNvPr>
          <p:cNvSpPr/>
          <p:nvPr userDrawn="1"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9449EC55-4306-D15B-633C-ED1C9E0800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BEFF44C-BE6A-E4AA-DF79-EF09D79012A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  <p:sp>
        <p:nvSpPr>
          <p:cNvPr id="2" name="Retângulo: Cantos Arredondados 5">
            <a:extLst>
              <a:ext uri="{FF2B5EF4-FFF2-40B4-BE49-F238E27FC236}">
                <a16:creationId xmlns:a16="http://schemas.microsoft.com/office/drawing/2014/main" id="{2DB3E7B8-2FCB-2558-BF03-2E5DE6908A00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A5E055E4-BF79-C8F0-037B-7D198F47191E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8979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A854AC0-96CD-64A0-F895-F5564DE25FA5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Google Shape;689;p48">
            <a:extLst>
              <a:ext uri="{FF2B5EF4-FFF2-40B4-BE49-F238E27FC236}">
                <a16:creationId xmlns:a16="http://schemas.microsoft.com/office/drawing/2014/main" id="{856128EA-C0F5-64A3-B62E-FCCABF173081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Retângulo: Cantos Arredondados 2">
            <a:extLst>
              <a:ext uri="{FF2B5EF4-FFF2-40B4-BE49-F238E27FC236}">
                <a16:creationId xmlns:a16="http://schemas.microsoft.com/office/drawing/2014/main" id="{A024C4B5-FE39-F593-5EE8-DC549ECAC375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Google Shape;353;p32">
            <a:extLst>
              <a:ext uri="{FF2B5EF4-FFF2-40B4-BE49-F238E27FC236}">
                <a16:creationId xmlns:a16="http://schemas.microsoft.com/office/drawing/2014/main" id="{C9FC8FC0-81DB-3899-623D-229331CFFA77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35" r:id="rId5"/>
    <p:sldLayoutId id="2147483713" r:id="rId6"/>
    <p:sldLayoutId id="2147483714" r:id="rId7"/>
    <p:sldLayoutId id="2147483701" r:id="rId8"/>
    <p:sldLayoutId id="2147483658" r:id="rId9"/>
    <p:sldLayoutId id="2147483705" r:id="rId10"/>
    <p:sldLayoutId id="2147483707" r:id="rId11"/>
    <p:sldLayoutId id="214748373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V1nnDZCHf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88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7894E3BE-B414-0F09-61B0-337BC78F141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600" b="1" dirty="0">
                <a:solidFill>
                  <a:schemeClr val="tx1"/>
                </a:solidFill>
                <a:latin typeface="Poppins" panose="00000500000000000000" pitchFamily="2" charset="0"/>
                <a:cs typeface="Poppins"/>
              </a:rPr>
              <a:t>Direcionando a atenção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38B14DE2-B36E-A166-7418-0BCC262D9727}"/>
              </a:ext>
            </a:extLst>
          </p:cNvPr>
          <p:cNvSpPr txBox="1">
            <a:spLocks/>
          </p:cNvSpPr>
          <p:nvPr/>
        </p:nvSpPr>
        <p:spPr>
          <a:xfrm>
            <a:off x="613179" y="3554305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2500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Código da aula: DADOSANO1C3B2S10A2</a:t>
            </a:r>
            <a:r>
              <a:rPr lang="pt-BR" sz="1650" dirty="0">
                <a:latin typeface="Poppins" panose="00000500000000000000" pitchFamily="2" charset="0"/>
                <a:cs typeface="Poppins"/>
              </a:rPr>
              <a:t>	</a:t>
            </a: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44C24A69-BA95-9909-516F-994C0772D844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3200" dirty="0">
                <a:solidFill>
                  <a:srgbClr val="FF161F"/>
                </a:solidFill>
                <a:latin typeface="Poppins" panose="00000500000000000000" pitchFamily="2" charset="0"/>
              </a:rPr>
              <a:t>Storytelling de dados</a:t>
            </a:r>
            <a:endParaRPr lang="en-US" sz="3200" b="1" i="0" u="none" strike="noStrike" cap="none" dirty="0">
              <a:solidFill>
                <a:srgbClr val="FF161F"/>
              </a:solidFill>
              <a:latin typeface="Poppins" panose="00000500000000000000" pitchFamily="2" charset="0"/>
              <a:ea typeface="Poppins"/>
              <a:cs typeface="Poppins"/>
            </a:endParaRPr>
          </a:p>
          <a:p>
            <a:pPr marL="0" indent="0">
              <a:spcBef>
                <a:spcPts val="0"/>
              </a:spcBef>
            </a:pPr>
            <a:endParaRPr lang="pt-BR" sz="3200" dirty="0">
              <a:solidFill>
                <a:srgbClr val="FF161F"/>
              </a:solidFill>
            </a:endParaRP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9D103B63-758A-7270-9691-88696E89FE79}"/>
              </a:ext>
            </a:extLst>
          </p:cNvPr>
          <p:cNvSpPr txBox="1">
            <a:spLocks/>
          </p:cNvSpPr>
          <p:nvPr/>
        </p:nvSpPr>
        <p:spPr>
          <a:xfrm>
            <a:off x="613180" y="2953947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1800" b="0" dirty="0">
                <a:solidFill>
                  <a:srgbClr val="BFBFBF"/>
                </a:solidFill>
                <a:latin typeface="Poppins Medium"/>
                <a:cs typeface="Poppins Medium"/>
              </a:rPr>
              <a:t>Aula 2: Posicionamento e layout</a:t>
            </a:r>
          </a:p>
        </p:txBody>
      </p:sp>
    </p:spTree>
    <p:extLst>
      <p:ext uri="{BB962C8B-B14F-4D97-AF65-F5344CB8AC3E}">
        <p14:creationId xmlns:p14="http://schemas.microsoft.com/office/powerpoint/2010/main" val="158131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F48A811-57C3-A327-C2E7-A1C3286D7FA6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0D1EA43-672C-B7B7-F7E5-08A874725EA9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D7D75E9-0F4B-DBE3-CC79-711BCF1FE0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83424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EA53E5E4-D3ED-749E-28C3-DEE2A2835353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4A2899B7-3121-4E75-668A-D6819BA310C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526F078-F664-0138-7558-AC45725A848F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F56660FF-75DD-636F-27CC-F8F675E987DE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4808A2D2-A4FC-3D56-47CE-166BBAB51C4E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ADF4355-9ECC-B4E2-9FBC-DA12643DF645}"/>
              </a:ext>
            </a:extLst>
          </p:cNvPr>
          <p:cNvGrpSpPr/>
          <p:nvPr/>
        </p:nvGrpSpPr>
        <p:grpSpPr>
          <a:xfrm>
            <a:off x="673557" y="1714872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E89209E-AD43-F36B-EC55-50B97549360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EB71AE8F-D310-98D6-CA71-79035040DEC1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6C307A4F-094A-23FC-557D-912DF9A29E0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916F17AB-B0F5-C1FB-97C4-50122119F3CA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0A8D9351-46FD-D23A-3037-C46C45F92D91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2631971-8A49-57CD-7FBA-7BE977CEAB6E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50D90645-AF57-FEAD-2749-2B51069E1233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9B89F5CA-3CF3-066E-9671-313FE3DA7DD3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99644665-3712-5F2D-5826-629ED5D6892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8D0CE33-4442-076D-969F-E0A34D86FAF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29001061-2B4E-2A97-25E1-E7EF16B56B34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F0E5483-CD99-2945-FC23-E3806E0A67D1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04211789-F56F-C23C-C247-0FAC2D857D6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52CFE4AB-8A58-6560-93BB-FE230AD3F22F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5126F024-2398-EBCB-6024-73271DC2FCE8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3DAC69B2-F4BA-1C4E-B6AB-7423C4FE510B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009BA89-22BC-CFB4-3C0E-83100D24268B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D8F92167-29C2-CA3E-0AD6-79D50CFE9919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E113DAB-1467-3300-D48F-76A846FDA5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BC591161-98D6-0211-EA98-799357E38698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b="1">
              <a:solidFill>
                <a:srgbClr val="FF0000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1E1ABABF-EEF2-4B32-8408-6EC59AAD3800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9B8FDE68-E380-EB27-40EA-3B826FED28DE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11</a:t>
            </a: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C0E391BB-50C3-FED4-8AA1-8F92A5936C6B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2AC5785F-8AC1-DC32-1160-39BF253736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5780948" y="43414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9B875051-FE9F-A696-248F-67EFDD495C1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47D50267-A1B5-AD3D-95BD-9B822B9D82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2791828" y="2650419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4D81371-99D7-4FAA-B842-A3B7E1B4A64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20D05082-7FE0-9C08-E511-E5ABF433E1F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DF76807-11D9-D815-F260-1D7E45733370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20EC3BFE-71C1-D908-43AB-2A57C44FA7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75204" y="368184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2534AD05-DEC5-F97B-ADD8-DA0028DFF764}"/>
              </a:ext>
            </a:extLst>
          </p:cNvPr>
          <p:cNvSpPr txBox="1"/>
          <p:nvPr/>
        </p:nvSpPr>
        <p:spPr>
          <a:xfrm>
            <a:off x="772403" y="3963595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lang="pt-BR" sz="1700" dirty="0"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0E40C7D1-B07D-7607-3919-E959E42D9AE8}"/>
              </a:ext>
            </a:extLst>
          </p:cNvPr>
          <p:cNvSpPr txBox="1"/>
          <p:nvPr/>
        </p:nvSpPr>
        <p:spPr>
          <a:xfrm>
            <a:off x="4413751" y="583039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Interpretando e explicando dados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C7EBBC61-12C1-8FD9-FE3E-95B596546E94}"/>
              </a:ext>
            </a:extLst>
          </p:cNvPr>
          <p:cNvSpPr txBox="1"/>
          <p:nvPr/>
        </p:nvSpPr>
        <p:spPr>
          <a:xfrm>
            <a:off x="6510730" y="775627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37EEE7-8AD5-0965-AFEF-7972D3B0E0C6}"/>
              </a:ext>
            </a:extLst>
          </p:cNvPr>
          <p:cNvSpPr txBox="1"/>
          <p:nvPr/>
        </p:nvSpPr>
        <p:spPr>
          <a:xfrm>
            <a:off x="8673545" y="1652519"/>
            <a:ext cx="2756455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Construindo a narrativa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4" name="Google Shape;329;p3">
            <a:extLst>
              <a:ext uri="{FF2B5EF4-FFF2-40B4-BE49-F238E27FC236}">
                <a16:creationId xmlns:a16="http://schemas.microsoft.com/office/drawing/2014/main" id="{AEB6AFAD-779E-B2E0-98E1-FBB111B33912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27DF6EEE-ABB9-F21D-DC51-574CA07674FA}"/>
              </a:ext>
            </a:extLst>
          </p:cNvPr>
          <p:cNvSpPr txBox="1"/>
          <p:nvPr/>
        </p:nvSpPr>
        <p:spPr>
          <a:xfrm>
            <a:off x="9949272" y="4530800"/>
            <a:ext cx="209334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Refinando a comunicação visual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6" name="Google Shape;331;p3">
            <a:extLst>
              <a:ext uri="{FF2B5EF4-FFF2-40B4-BE49-F238E27FC236}">
                <a16:creationId xmlns:a16="http://schemas.microsoft.com/office/drawing/2014/main" id="{63BA6607-9D8E-31C1-3A2E-36D5A6BD2C5B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12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4001D8D6-34F2-D9E9-BFE3-F0D9953EABE5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12</a:t>
            </a: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EF2346E8-5E5D-43A7-8B83-86269C77EBDA}"/>
              </a:ext>
            </a:extLst>
          </p:cNvPr>
          <p:cNvSpPr txBox="1"/>
          <p:nvPr/>
        </p:nvSpPr>
        <p:spPr>
          <a:xfrm>
            <a:off x="6501294" y="541541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14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5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2669C60-1B2E-CB26-6D65-F137874BF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54BE3FB-DBF5-B9B9-2C32-D91EB68E7728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11417446-22F7-018A-FD17-8BE6870376DA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42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38C1C8A1-D576-D03F-ABAB-56823E51B9F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EB2AABC-411A-4DB1-754E-398B32A01EC9}"/>
              </a:ext>
            </a:extLst>
          </p:cNvPr>
          <p:cNvSpPr txBox="1"/>
          <p:nvPr/>
        </p:nvSpPr>
        <p:spPr>
          <a:xfrm>
            <a:off x="3361984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200"/>
            </a:pPr>
            <a:r>
              <a:rPr lang="pt-BR" sz="18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800" dirty="0">
              <a:latin typeface="Poppins" panose="00000500000000000000" pitchFamily="2" charset="0"/>
              <a:ea typeface="Arial"/>
              <a:cs typeface="Poppins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9DC627E0-692B-B963-150C-C9ABA2375B7B}"/>
              </a:ext>
            </a:extLst>
          </p:cNvPr>
          <p:cNvSpPr txBox="1"/>
          <p:nvPr/>
        </p:nvSpPr>
        <p:spPr>
          <a:xfrm>
            <a:off x="3361984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22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AFF9433E-50D2-8459-4418-8A47B897A114}"/>
              </a:ext>
            </a:extLst>
          </p:cNvPr>
          <p:cNvSpPr txBox="1"/>
          <p:nvPr/>
        </p:nvSpPr>
        <p:spPr>
          <a:xfrm>
            <a:off x="3361984" y="5324225"/>
            <a:ext cx="4909430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DADOSANO1C3B2S10A2</a:t>
            </a:r>
            <a:endParaRPr lang="pt-BR" sz="18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7678E78B-4D53-2DA7-5F21-B11136BABC01}"/>
              </a:ext>
            </a:extLst>
          </p:cNvPr>
          <p:cNvSpPr txBox="1"/>
          <p:nvPr/>
        </p:nvSpPr>
        <p:spPr>
          <a:xfrm>
            <a:off x="3361984" y="4576477"/>
            <a:ext cx="6376682" cy="7019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pt-BR" sz="1800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2:  Posicionamento e layout</a:t>
            </a:r>
            <a:endParaRPr lang="pt-BR" sz="1800" b="1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DDE9425-566B-EB61-71D6-6EE5E7FBD463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DABA874-FA6F-5B65-13DD-86E51D5F7533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Google Shape;329;p3">
            <a:extLst>
              <a:ext uri="{FF2B5EF4-FFF2-40B4-BE49-F238E27FC236}">
                <a16:creationId xmlns:a16="http://schemas.microsoft.com/office/drawing/2014/main" id="{16CAEC07-175B-7377-8FAC-DA6CCE4BA33E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690225D0-0F28-B368-8FEE-436DAB74DE81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12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28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BD5C18-7776-B553-F6CC-A3FD61A66D26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94495801-E3A7-5C9C-58B6-5A613616DE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Aplicar os conceitos de organização e ordenação de dados em atividades práticas que estimulem a comunicação de dados.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8FE35C05-A6F9-5E57-F808-2709677248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Utilizar cores e elementos visuais para destacar informações relevantes e facilitar a leitura de gráficos.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4A27C360-3186-313B-41E3-68A443FE4C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Demonstrar atenção aos detalhes e sensibilidade estética ao comunicar informações de maneira clara e intencional, valorizando a organização visual.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2593807-EFAC-62C0-8555-5C6044910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7909" y="3398842"/>
            <a:ext cx="4044985" cy="104557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500">
                <a:latin typeface="Poppins" panose="00000500000000000000" pitchFamily="2" charset="0"/>
              </a:rPr>
              <a:t>Roteiro </a:t>
            </a:r>
            <a:r>
              <a:rPr lang="pt-BR" sz="1500" dirty="0">
                <a:latin typeface="Poppins" panose="00000500000000000000" pitchFamily="2" charset="0"/>
              </a:rPr>
              <a:t>de Atividade </a:t>
            </a:r>
            <a:r>
              <a:rPr lang="pt-BR" sz="1500">
                <a:latin typeface="Poppins" panose="00000500000000000000" pitchFamily="2" charset="0"/>
              </a:rPr>
              <a:t>Prática.</a:t>
            </a:r>
          </a:p>
          <a:p>
            <a:pPr lvl="0"/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/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</p:txBody>
      </p:sp>
    </p:spTree>
    <p:extLst>
      <p:ext uri="{BB962C8B-B14F-4D97-AF65-F5344CB8AC3E}">
        <p14:creationId xmlns:p14="http://schemas.microsoft.com/office/powerpoint/2010/main" val="156470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>
          <a:extLst>
            <a:ext uri="{FF2B5EF4-FFF2-40B4-BE49-F238E27FC236}">
              <a16:creationId xmlns:a16="http://schemas.microsoft.com/office/drawing/2014/main" id="{A1C5B500-7226-C027-C673-E5203C35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73C7754F-18A2-94ED-C282-F1A714FEB5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838" y="2234062"/>
            <a:ext cx="6971195" cy="592667"/>
          </a:xfrm>
        </p:spPr>
        <p:txBody>
          <a:bodyPr/>
          <a:lstStyle/>
          <a:p>
            <a:r>
              <a:rPr lang="pt-BR" sz="1800" dirty="0">
                <a:latin typeface="Poppins" panose="00000500000000000000" pitchFamily="2" charset="0"/>
              </a:rPr>
              <a:t>1. O que significa usar cores com intencionalidade em um gráfico?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03B7F2BB-88ED-B829-C82C-5D27EDF260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838" y="3183632"/>
            <a:ext cx="6971195" cy="592667"/>
          </a:xfrm>
        </p:spPr>
        <p:txBody>
          <a:bodyPr/>
          <a:lstStyle/>
          <a:p>
            <a:r>
              <a:rPr lang="pt-BR" sz="1800" dirty="0">
                <a:latin typeface="Poppins" panose="00000500000000000000" pitchFamily="2" charset="0"/>
              </a:rPr>
              <a:t>2. Por que o contraste entre as cores é importante na visualização de dados?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56D3E260-4A4E-453D-41B1-2CE9BA463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2814" y="559206"/>
            <a:ext cx="7800219" cy="445136"/>
          </a:xfrm>
        </p:spPr>
        <p:txBody>
          <a:bodyPr/>
          <a:lstStyle/>
          <a:p>
            <a:pPr algn="just"/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</a:rPr>
              <a:t>Uso estratégico de cores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BFF08A-202D-79D7-C6E6-51CA4CD1E702}"/>
              </a:ext>
            </a:extLst>
          </p:cNvPr>
          <p:cNvSpPr txBox="1"/>
          <p:nvPr/>
        </p:nvSpPr>
        <p:spPr>
          <a:xfrm>
            <a:off x="1838476" y="33479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BA3CB1-5B6B-9794-0651-9C36A83F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392" y="2234063"/>
            <a:ext cx="296333" cy="5926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01E932-1F6F-0DB5-0644-894B92B15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392" y="3183632"/>
            <a:ext cx="296333" cy="5926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2102661-2FBC-4808-A2B3-9EC42F5A7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922" y="4145494"/>
            <a:ext cx="296333" cy="592667"/>
          </a:xfrm>
          <a:prstGeom prst="rect">
            <a:avLst/>
          </a:prstGeom>
        </p:spPr>
      </p:pic>
      <p:sp>
        <p:nvSpPr>
          <p:cNvPr id="10" name="Espaço Reservado para Texto 16">
            <a:extLst>
              <a:ext uri="{FF2B5EF4-FFF2-40B4-BE49-F238E27FC236}">
                <a16:creationId xmlns:a16="http://schemas.microsoft.com/office/drawing/2014/main" id="{03EBC98C-C58A-44B6-A8D0-72297FED2E59}"/>
              </a:ext>
            </a:extLst>
          </p:cNvPr>
          <p:cNvSpPr txBox="1">
            <a:spLocks/>
          </p:cNvSpPr>
          <p:nvPr/>
        </p:nvSpPr>
        <p:spPr>
          <a:xfrm>
            <a:off x="3751838" y="4145493"/>
            <a:ext cx="6971195" cy="5926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tx1"/>
              </a:buClr>
              <a:buFontTx/>
              <a:buNone/>
              <a:defRPr sz="1600">
                <a:latin typeface="Poppins" pitchFamily="2" charset="77"/>
                <a:cs typeface="Poppins" pitchFamily="2" charset="77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latin typeface="Poppins" panose="00000500000000000000" pitchFamily="2" charset="0"/>
              </a:rPr>
              <a:t>3. Como os princípios da </a:t>
            </a:r>
            <a:r>
              <a:rPr lang="pt-BR" sz="1800" dirty="0" err="1">
                <a:latin typeface="Poppins" panose="00000500000000000000" pitchFamily="2" charset="0"/>
              </a:rPr>
              <a:t>gestalt</a:t>
            </a:r>
            <a:r>
              <a:rPr lang="pt-BR" sz="1800" i="1" dirty="0">
                <a:latin typeface="Poppins" panose="00000500000000000000" pitchFamily="2" charset="0"/>
              </a:rPr>
              <a:t> </a:t>
            </a:r>
            <a:r>
              <a:rPr lang="pt-BR" sz="1800" dirty="0">
                <a:latin typeface="Poppins" panose="00000500000000000000" pitchFamily="2" charset="0"/>
              </a:rPr>
              <a:t>ajudam na construção de gráficos mais claros?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86868C94-E057-E4EB-B2FF-8E73F697A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32419" y="229675"/>
            <a:ext cx="425236" cy="380475"/>
          </a:xfrm>
          <a:prstGeom prst="rect">
            <a:avLst/>
          </a:prstGeom>
        </p:spPr>
      </p:pic>
      <p:sp>
        <p:nvSpPr>
          <p:cNvPr id="3" name="Google Shape;833;p62">
            <a:extLst>
              <a:ext uri="{FF2B5EF4-FFF2-40B4-BE49-F238E27FC236}">
                <a16:creationId xmlns:a16="http://schemas.microsoft.com/office/drawing/2014/main" id="{8529E409-D2FF-F24F-C1BD-4903CEE7C03E}"/>
              </a:ext>
            </a:extLst>
          </p:cNvPr>
          <p:cNvSpPr txBox="1"/>
          <p:nvPr/>
        </p:nvSpPr>
        <p:spPr>
          <a:xfrm>
            <a:off x="11472292" y="12495"/>
            <a:ext cx="704005" cy="19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Registro</a:t>
            </a:r>
            <a:endParaRPr sz="800">
              <a:latin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" name="Google Shape;369;p6">
            <a:extLst>
              <a:ext uri="{FF2B5EF4-FFF2-40B4-BE49-F238E27FC236}">
                <a16:creationId xmlns:a16="http://schemas.microsoft.com/office/drawing/2014/main" id="{523D3D0A-25A7-B63F-484C-DE51B6A4E7DD}"/>
              </a:ext>
            </a:extLst>
          </p:cNvPr>
          <p:cNvSpPr/>
          <p:nvPr/>
        </p:nvSpPr>
        <p:spPr>
          <a:xfrm flipH="1">
            <a:off x="11472465" y="0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5" name="Google Shape;370;p6">
            <a:extLst>
              <a:ext uri="{FF2B5EF4-FFF2-40B4-BE49-F238E27FC236}">
                <a16:creationId xmlns:a16="http://schemas.microsoft.com/office/drawing/2014/main" id="{35091E5B-13A2-61DC-00BC-FCD360F36D10}"/>
              </a:ext>
            </a:extLst>
          </p:cNvPr>
          <p:cNvGrpSpPr/>
          <p:nvPr/>
        </p:nvGrpSpPr>
        <p:grpSpPr>
          <a:xfrm>
            <a:off x="11654317" y="205709"/>
            <a:ext cx="382615" cy="456000"/>
            <a:chOff x="16810081" y="921861"/>
            <a:chExt cx="743773" cy="886429"/>
          </a:xfrm>
        </p:grpSpPr>
        <p:grpSp>
          <p:nvGrpSpPr>
            <p:cNvPr id="12" name="Google Shape;371;p6">
              <a:extLst>
                <a:ext uri="{FF2B5EF4-FFF2-40B4-BE49-F238E27FC236}">
                  <a16:creationId xmlns:a16="http://schemas.microsoft.com/office/drawing/2014/main" id="{A1E9E8B8-339D-3CA5-F98C-ED57226DCFD2}"/>
                </a:ext>
              </a:extLst>
            </p:cNvPr>
            <p:cNvGrpSpPr/>
            <p:nvPr/>
          </p:nvGrpSpPr>
          <p:grpSpPr>
            <a:xfrm>
              <a:off x="16810084" y="1434434"/>
              <a:ext cx="691713" cy="373856"/>
              <a:chOff x="16866377" y="1492565"/>
              <a:chExt cx="691713" cy="373856"/>
            </a:xfrm>
          </p:grpSpPr>
          <p:sp>
            <p:nvSpPr>
              <p:cNvPr id="19" name="Google Shape;372;p6">
                <a:extLst>
                  <a:ext uri="{FF2B5EF4-FFF2-40B4-BE49-F238E27FC236}">
                    <a16:creationId xmlns:a16="http://schemas.microsoft.com/office/drawing/2014/main" id="{AE6EB59F-FEA8-DD10-2D22-00FA5140CBE1}"/>
                  </a:ext>
                </a:extLst>
              </p:cNvPr>
              <p:cNvSpPr/>
              <p:nvPr/>
            </p:nvSpPr>
            <p:spPr>
              <a:xfrm>
                <a:off x="17335767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0" name="Google Shape;373;p6">
                <a:extLst>
                  <a:ext uri="{FF2B5EF4-FFF2-40B4-BE49-F238E27FC236}">
                    <a16:creationId xmlns:a16="http://schemas.microsoft.com/office/drawing/2014/main" id="{4D5E60C2-EDE2-BAE9-E7A6-69490FD9A15F}"/>
                  </a:ext>
                </a:extLst>
              </p:cNvPr>
              <p:cNvSpPr/>
              <p:nvPr/>
            </p:nvSpPr>
            <p:spPr>
              <a:xfrm>
                <a:off x="16940479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2" name="Google Shape;374;p6">
                <a:extLst>
                  <a:ext uri="{FF2B5EF4-FFF2-40B4-BE49-F238E27FC236}">
                    <a16:creationId xmlns:a16="http://schemas.microsoft.com/office/drawing/2014/main" id="{13E8C6CB-23D1-BE70-442D-7461D58D1308}"/>
                  </a:ext>
                </a:extLst>
              </p:cNvPr>
              <p:cNvSpPr/>
              <p:nvPr/>
            </p:nvSpPr>
            <p:spPr>
              <a:xfrm>
                <a:off x="17289475" y="1660871"/>
                <a:ext cx="268615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68615" h="148399" extrusionOk="0">
                    <a:moveTo>
                      <a:pt x="253746" y="44101"/>
                    </a:moveTo>
                    <a:cubicBezTo>
                      <a:pt x="232401" y="27476"/>
                      <a:pt x="207702" y="15681"/>
                      <a:pt x="181356" y="9525"/>
                    </a:cubicBezTo>
                    <a:cubicBezTo>
                      <a:pt x="161530" y="3742"/>
                      <a:pt x="141041" y="541"/>
                      <a:pt x="120396" y="0"/>
                    </a:cubicBezTo>
                    <a:cubicBezTo>
                      <a:pt x="99702" y="-45"/>
                      <a:pt x="79130" y="3169"/>
                      <a:pt x="59436" y="9525"/>
                    </a:cubicBezTo>
                    <a:cubicBezTo>
                      <a:pt x="39707" y="14783"/>
                      <a:pt x="20843" y="22868"/>
                      <a:pt x="3429" y="33529"/>
                    </a:cubicBezTo>
                    <a:cubicBezTo>
                      <a:pt x="2286" y="34862"/>
                      <a:pt x="1238" y="36196"/>
                      <a:pt x="0" y="37434"/>
                    </a:cubicBezTo>
                    <a:cubicBezTo>
                      <a:pt x="27701" y="44889"/>
                      <a:pt x="53615" y="57847"/>
                      <a:pt x="76200" y="75534"/>
                    </a:cubicBezTo>
                    <a:cubicBezTo>
                      <a:pt x="94021" y="88541"/>
                      <a:pt x="104425" y="109385"/>
                      <a:pt x="104108" y="131446"/>
                    </a:cubicBezTo>
                    <a:lnTo>
                      <a:pt x="104108" y="148400"/>
                    </a:lnTo>
                    <a:lnTo>
                      <a:pt x="268605" y="148400"/>
                    </a:lnTo>
                    <a:lnTo>
                      <a:pt x="268605" y="73819"/>
                    </a:lnTo>
                    <a:cubicBezTo>
                      <a:pt x="268892" y="62061"/>
                      <a:pt x="263324" y="50927"/>
                      <a:pt x="253746" y="44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3" name="Google Shape;375;p6">
                <a:extLst>
                  <a:ext uri="{FF2B5EF4-FFF2-40B4-BE49-F238E27FC236}">
                    <a16:creationId xmlns:a16="http://schemas.microsoft.com/office/drawing/2014/main" id="{BB4DA7FF-AF91-4200-02C5-B235C9010CE9}"/>
                  </a:ext>
                </a:extLst>
              </p:cNvPr>
              <p:cNvSpPr/>
              <p:nvPr/>
            </p:nvSpPr>
            <p:spPr>
              <a:xfrm>
                <a:off x="16866377" y="1660872"/>
                <a:ext cx="268605" cy="148398"/>
              </a:xfrm>
              <a:custGeom>
                <a:avLst/>
                <a:gdLst/>
                <a:ahLst/>
                <a:cxnLst/>
                <a:rect l="l" t="t" r="r" b="b"/>
                <a:pathLst>
                  <a:path w="268605" h="148399" extrusionOk="0">
                    <a:moveTo>
                      <a:pt x="164687" y="131445"/>
                    </a:moveTo>
                    <a:cubicBezTo>
                      <a:pt x="164708" y="110012"/>
                      <a:pt x="174533" y="89766"/>
                      <a:pt x="191357" y="76486"/>
                    </a:cubicBezTo>
                    <a:lnTo>
                      <a:pt x="192500" y="75534"/>
                    </a:lnTo>
                    <a:lnTo>
                      <a:pt x="193739" y="74676"/>
                    </a:lnTo>
                    <a:cubicBezTo>
                      <a:pt x="216581" y="58427"/>
                      <a:pt x="241848" y="45890"/>
                      <a:pt x="268605" y="37529"/>
                    </a:cubicBezTo>
                    <a:cubicBezTo>
                      <a:pt x="266700" y="35529"/>
                      <a:pt x="264986" y="33433"/>
                      <a:pt x="263176" y="31338"/>
                    </a:cubicBezTo>
                    <a:cubicBezTo>
                      <a:pt x="246437" y="21538"/>
                      <a:pt x="228377" y="14193"/>
                      <a:pt x="209550" y="9525"/>
                    </a:cubicBezTo>
                    <a:cubicBezTo>
                      <a:pt x="189726" y="3734"/>
                      <a:pt x="169235" y="532"/>
                      <a:pt x="148590" y="0"/>
                    </a:cubicBezTo>
                    <a:cubicBezTo>
                      <a:pt x="127896" y="-39"/>
                      <a:pt x="107326" y="3176"/>
                      <a:pt x="87630" y="9525"/>
                    </a:cubicBezTo>
                    <a:cubicBezTo>
                      <a:pt x="61651" y="16693"/>
                      <a:pt x="37144" y="28399"/>
                      <a:pt x="15240" y="44101"/>
                    </a:cubicBezTo>
                    <a:cubicBezTo>
                      <a:pt x="5858" y="51134"/>
                      <a:pt x="236" y="62096"/>
                      <a:pt x="0" y="73819"/>
                    </a:cubicBezTo>
                    <a:lnTo>
                      <a:pt x="0" y="148400"/>
                    </a:lnTo>
                    <a:lnTo>
                      <a:pt x="164687" y="148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4" name="Google Shape;376;p6">
                <a:extLst>
                  <a:ext uri="{FF2B5EF4-FFF2-40B4-BE49-F238E27FC236}">
                    <a16:creationId xmlns:a16="http://schemas.microsoft.com/office/drawing/2014/main" id="{048DDF8F-3A1B-DC1C-ED6B-EDA04D59FF15}"/>
                  </a:ext>
                </a:extLst>
              </p:cNvPr>
              <p:cNvSpPr/>
              <p:nvPr/>
            </p:nvSpPr>
            <p:spPr>
              <a:xfrm>
                <a:off x="17064018" y="1718592"/>
                <a:ext cx="296430" cy="147829"/>
              </a:xfrm>
              <a:custGeom>
                <a:avLst/>
                <a:gdLst/>
                <a:ahLst/>
                <a:cxnLst/>
                <a:rect l="l" t="t" r="r" b="b"/>
                <a:pathLst>
                  <a:path w="296430" h="147829" extrusionOk="0">
                    <a:moveTo>
                      <a:pt x="0" y="147830"/>
                    </a:moveTo>
                    <a:lnTo>
                      <a:pt x="0" y="73725"/>
                    </a:lnTo>
                    <a:cubicBezTo>
                      <a:pt x="45" y="62069"/>
                      <a:pt x="5544" y="51107"/>
                      <a:pt x="14859" y="44102"/>
                    </a:cubicBezTo>
                    <a:cubicBezTo>
                      <a:pt x="36723" y="28334"/>
                      <a:pt x="61243" y="16622"/>
                      <a:pt x="87249" y="9527"/>
                    </a:cubicBezTo>
                    <a:cubicBezTo>
                      <a:pt x="106934" y="3133"/>
                      <a:pt x="127512" y="-82"/>
                      <a:pt x="148209" y="2"/>
                    </a:cubicBezTo>
                    <a:cubicBezTo>
                      <a:pt x="168859" y="486"/>
                      <a:pt x="189355" y="3690"/>
                      <a:pt x="209169" y="9527"/>
                    </a:cubicBezTo>
                    <a:cubicBezTo>
                      <a:pt x="235567" y="15619"/>
                      <a:pt x="260308" y="27421"/>
                      <a:pt x="281654" y="44102"/>
                    </a:cubicBezTo>
                    <a:cubicBezTo>
                      <a:pt x="291195" y="50908"/>
                      <a:pt x="296728" y="62010"/>
                      <a:pt x="296418" y="73725"/>
                    </a:cubicBezTo>
                    <a:lnTo>
                      <a:pt x="296418" y="14783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5" name="Google Shape;377;p6">
                <a:extLst>
                  <a:ext uri="{FF2B5EF4-FFF2-40B4-BE49-F238E27FC236}">
                    <a16:creationId xmlns:a16="http://schemas.microsoft.com/office/drawing/2014/main" id="{C10E0E7B-673C-242B-6A67-F07B12243AAA}"/>
                  </a:ext>
                </a:extLst>
              </p:cNvPr>
              <p:cNvSpPr/>
              <p:nvPr/>
            </p:nvSpPr>
            <p:spPr>
              <a:xfrm>
                <a:off x="17138123" y="1550192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5"/>
                    </a:moveTo>
                    <a:cubicBezTo>
                      <a:pt x="148209" y="115031"/>
                      <a:pt x="115031" y="148209"/>
                      <a:pt x="74105" y="148209"/>
                    </a:cubicBezTo>
                    <a:cubicBezTo>
                      <a:pt x="33178" y="148209"/>
                      <a:pt x="0" y="115031"/>
                      <a:pt x="0" y="74105"/>
                    </a:cubicBezTo>
                    <a:cubicBezTo>
                      <a:pt x="0" y="33178"/>
                      <a:pt x="33178" y="0"/>
                      <a:pt x="74105" y="0"/>
                    </a:cubicBezTo>
                    <a:cubicBezTo>
                      <a:pt x="115031" y="0"/>
                      <a:pt x="148209" y="33178"/>
                      <a:pt x="148209" y="741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</p:grpSp>
        <p:grpSp>
          <p:nvGrpSpPr>
            <p:cNvPr id="13" name="Google Shape;378;p6">
              <a:extLst>
                <a:ext uri="{FF2B5EF4-FFF2-40B4-BE49-F238E27FC236}">
                  <a16:creationId xmlns:a16="http://schemas.microsoft.com/office/drawing/2014/main" id="{29638455-2D9F-DA1F-A009-9820B639CB96}"/>
                </a:ext>
              </a:extLst>
            </p:cNvPr>
            <p:cNvGrpSpPr/>
            <p:nvPr/>
          </p:nvGrpSpPr>
          <p:grpSpPr>
            <a:xfrm>
              <a:off x="16810081" y="921861"/>
              <a:ext cx="743773" cy="512573"/>
              <a:chOff x="16933626" y="782036"/>
              <a:chExt cx="743773" cy="512573"/>
            </a:xfrm>
          </p:grpSpPr>
          <p:sp>
            <p:nvSpPr>
              <p:cNvPr id="14" name="Google Shape;379;p6">
                <a:extLst>
                  <a:ext uri="{FF2B5EF4-FFF2-40B4-BE49-F238E27FC236}">
                    <a16:creationId xmlns:a16="http://schemas.microsoft.com/office/drawing/2014/main" id="{6981F5CB-13D0-F174-B5D2-6039F011E297}"/>
                  </a:ext>
                </a:extLst>
              </p:cNvPr>
              <p:cNvSpPr/>
              <p:nvPr/>
            </p:nvSpPr>
            <p:spPr>
              <a:xfrm>
                <a:off x="16933626" y="782036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323850" y="66675"/>
                    </a:moveTo>
                    <a:lnTo>
                      <a:pt x="476250" y="66675"/>
                    </a:ln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95250" y="333375"/>
                    </a:lnTo>
                    <a:lnTo>
                      <a:pt x="95250" y="428625"/>
                    </a:lnTo>
                    <a:lnTo>
                      <a:pt x="190500" y="333375"/>
                    </a:lnTo>
                    <a:lnTo>
                      <a:pt x="247650" y="333375"/>
                    </a:lnTo>
                    <a:lnTo>
                      <a:pt x="247650" y="142875"/>
                    </a:lnTo>
                    <a:cubicBezTo>
                      <a:pt x="247650" y="100965"/>
                      <a:pt x="281940" y="66675"/>
                      <a:pt x="323850" y="6667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15" name="Google Shape;380;p6">
                <a:extLst>
                  <a:ext uri="{FF2B5EF4-FFF2-40B4-BE49-F238E27FC236}">
                    <a16:creationId xmlns:a16="http://schemas.microsoft.com/office/drawing/2014/main" id="{37D2643A-02C0-D39C-6725-B4A5CB231214}"/>
                  </a:ext>
                </a:extLst>
              </p:cNvPr>
              <p:cNvSpPr/>
              <p:nvPr/>
            </p:nvSpPr>
            <p:spPr>
              <a:xfrm>
                <a:off x="17201150" y="865984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438150" y="0"/>
                    </a:move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285750" y="333375"/>
                    </a:lnTo>
                    <a:lnTo>
                      <a:pt x="381000" y="428625"/>
                    </a:lnTo>
                    <a:lnTo>
                      <a:pt x="381000" y="333375"/>
                    </a:lnTo>
                    <a:lnTo>
                      <a:pt x="438150" y="333375"/>
                    </a:lnTo>
                    <a:cubicBezTo>
                      <a:pt x="459105" y="333375"/>
                      <a:pt x="476250" y="316230"/>
                      <a:pt x="476250" y="295275"/>
                    </a:cubicBez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</p:grpSp>
      </p:grpSp>
      <p:sp>
        <p:nvSpPr>
          <p:cNvPr id="26" name="Google Shape;381;p6">
            <a:extLst>
              <a:ext uri="{FF2B5EF4-FFF2-40B4-BE49-F238E27FC236}">
                <a16:creationId xmlns:a16="http://schemas.microsoft.com/office/drawing/2014/main" id="{A826691C-89F3-49E7-CCA1-05898FD89AAD}"/>
              </a:ext>
            </a:extLst>
          </p:cNvPr>
          <p:cNvSpPr txBox="1"/>
          <p:nvPr/>
        </p:nvSpPr>
        <p:spPr>
          <a:xfrm>
            <a:off x="11462298" y="-15180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Diálogo</a:t>
            </a:r>
            <a:endParaRPr sz="800"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13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2525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17;p91">
            <a:extLst>
              <a:ext uri="{FF2B5EF4-FFF2-40B4-BE49-F238E27FC236}">
                <a16:creationId xmlns:a16="http://schemas.microsoft.com/office/drawing/2014/main" id="{0A4D987F-8970-28E9-BA85-7727A889FCDA}"/>
              </a:ext>
            </a:extLst>
          </p:cNvPr>
          <p:cNvSpPr txBox="1"/>
          <p:nvPr/>
        </p:nvSpPr>
        <p:spPr>
          <a:xfrm>
            <a:off x="3238725" y="2968449"/>
            <a:ext cx="3466876" cy="913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228611" indent="-228611"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4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Roteiro de Atividade Prática</a:t>
            </a:r>
            <a:endParaRPr lang="pt-BR" sz="1400" dirty="0">
              <a:latin typeface="Poppins" panose="00000500000000000000" pitchFamily="2" charset="0"/>
              <a:cs typeface="Poppins" pitchFamily="2" charset="77"/>
            </a:endParaRPr>
          </a:p>
          <a:p>
            <a:pPr marL="228611" indent="-228611"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4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Computador com acesso à internet</a:t>
            </a:r>
            <a:endParaRPr lang="pt-BR" sz="1400" dirty="0">
              <a:solidFill>
                <a:schemeClr val="dk1"/>
              </a:solidFill>
              <a:latin typeface="Poppins" panose="00000500000000000000" pitchFamily="2" charset="0"/>
              <a:ea typeface="Calibri"/>
              <a:cs typeface="Poppins" pitchFamily="2" charset="77"/>
              <a:sym typeface="Calibri"/>
            </a:endParaRPr>
          </a:p>
        </p:txBody>
      </p:sp>
      <p:sp>
        <p:nvSpPr>
          <p:cNvPr id="14" name="Google Shape;1318;p91">
            <a:extLst>
              <a:ext uri="{FF2B5EF4-FFF2-40B4-BE49-F238E27FC236}">
                <a16:creationId xmlns:a16="http://schemas.microsoft.com/office/drawing/2014/main" id="{BC34CBB5-91D9-3389-96C9-E97FCE22516C}"/>
              </a:ext>
            </a:extLst>
          </p:cNvPr>
          <p:cNvSpPr txBox="1"/>
          <p:nvPr/>
        </p:nvSpPr>
        <p:spPr>
          <a:xfrm>
            <a:off x="7370806" y="2968449"/>
            <a:ext cx="3751721" cy="2385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11" indent="-228611">
              <a:lnSpc>
                <a:spcPct val="150000"/>
              </a:lnSpc>
              <a:spcBef>
                <a:spcPts val="400"/>
              </a:spcBef>
              <a:buClr>
                <a:schemeClr val="dk1"/>
              </a:buClr>
              <a:buSzPts val="2200"/>
              <a:buChar char="•"/>
              <a:defRPr sz="14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</a:defRPr>
            </a:lvl1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Baixe o Roteiro de Atividade Prática e realize a leitura do exercício;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Responda às questões propostas no campo reservado no Roteiro de Atividade Prática;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Consulte o professor em caso de dúvidas.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pt-B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E7BFD00-AF6D-E87B-4D29-646CBDA65BED}"/>
              </a:ext>
            </a:extLst>
          </p:cNvPr>
          <p:cNvSpPr txBox="1"/>
          <p:nvPr/>
        </p:nvSpPr>
        <p:spPr>
          <a:xfrm>
            <a:off x="6136640" y="8839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2" name="Espaço Reservado para Texto 42">
            <a:extLst>
              <a:ext uri="{FF2B5EF4-FFF2-40B4-BE49-F238E27FC236}">
                <a16:creationId xmlns:a16="http://schemas.microsoft.com/office/drawing/2014/main" id="{ED977AD9-D788-71CA-520D-A67C9E2F1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7922" y="635968"/>
            <a:ext cx="9077403" cy="768289"/>
          </a:xfrm>
          <a:prstGeom prst="rect">
            <a:avLst/>
          </a:prstGeom>
        </p:spPr>
        <p:txBody>
          <a:bodyPr/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Do caos à clareza visual</a:t>
            </a:r>
          </a:p>
        </p:txBody>
      </p:sp>
      <p:sp>
        <p:nvSpPr>
          <p:cNvPr id="23" name="Espaço Reservado para Texto 42">
            <a:extLst>
              <a:ext uri="{FF2B5EF4-FFF2-40B4-BE49-F238E27FC236}">
                <a16:creationId xmlns:a16="http://schemas.microsoft.com/office/drawing/2014/main" id="{84DF69A0-3069-8617-8521-247E01A570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8011" y="4709408"/>
            <a:ext cx="1251118" cy="3229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400" b="1" dirty="0">
                <a:latin typeface="Poppins" panose="00000500000000000000" pitchFamily="2" charset="0"/>
                <a:cs typeface="Poppins" pitchFamily="2" charset="77"/>
              </a:rPr>
              <a:t>Em duplas</a:t>
            </a:r>
          </a:p>
        </p:txBody>
      </p:sp>
      <p:sp>
        <p:nvSpPr>
          <p:cNvPr id="24" name="Espaço Reservado para Texto 42">
            <a:extLst>
              <a:ext uri="{FF2B5EF4-FFF2-40B4-BE49-F238E27FC236}">
                <a16:creationId xmlns:a16="http://schemas.microsoft.com/office/drawing/2014/main" id="{87F3C3DB-7926-FC85-BAC8-B57EFF1FD5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8011" y="4050770"/>
            <a:ext cx="1585727" cy="428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400" b="1" dirty="0">
                <a:latin typeface="Poppins" panose="00000500000000000000" pitchFamily="2" charset="0"/>
                <a:cs typeface="Poppins" pitchFamily="2" charset="77"/>
              </a:rPr>
              <a:t>37 minutos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1E85CEC-6B26-B005-CA2C-AD9A581E64A1}"/>
              </a:ext>
            </a:extLst>
          </p:cNvPr>
          <p:cNvSpPr txBox="1"/>
          <p:nvPr/>
        </p:nvSpPr>
        <p:spPr>
          <a:xfrm>
            <a:off x="9272789" y="216365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7EEE86-195F-30D7-B077-B9E1372576A3}"/>
              </a:ext>
            </a:extLst>
          </p:cNvPr>
          <p:cNvSpPr txBox="1"/>
          <p:nvPr/>
        </p:nvSpPr>
        <p:spPr>
          <a:xfrm>
            <a:off x="5117205" y="21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90EC73-A11E-3A01-3C37-B0CFF12FA26D}"/>
              </a:ext>
            </a:extLst>
          </p:cNvPr>
          <p:cNvSpPr txBox="1"/>
          <p:nvPr/>
        </p:nvSpPr>
        <p:spPr>
          <a:xfrm>
            <a:off x="12629882" y="40182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5" name="Google Shape;578;p38">
            <a:extLst>
              <a:ext uri="{FF2B5EF4-FFF2-40B4-BE49-F238E27FC236}">
                <a16:creationId xmlns:a16="http://schemas.microsoft.com/office/drawing/2014/main" id="{897F6E87-64D3-F33F-643C-025FF0491C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9580" y="4050770"/>
            <a:ext cx="305151" cy="3051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6B4811-AFE7-0B7E-517C-245E2D187F86}"/>
              </a:ext>
            </a:extLst>
          </p:cNvPr>
          <p:cNvSpPr txBox="1"/>
          <p:nvPr/>
        </p:nvSpPr>
        <p:spPr>
          <a:xfrm>
            <a:off x="5346357" y="265258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grpSp>
        <p:nvGrpSpPr>
          <p:cNvPr id="6" name="Google Shape;490;p35">
            <a:extLst>
              <a:ext uri="{FF2B5EF4-FFF2-40B4-BE49-F238E27FC236}">
                <a16:creationId xmlns:a16="http://schemas.microsoft.com/office/drawing/2014/main" id="{4DA8F977-6A77-CA21-0E35-C81769A330D7}"/>
              </a:ext>
            </a:extLst>
          </p:cNvPr>
          <p:cNvGrpSpPr/>
          <p:nvPr/>
        </p:nvGrpSpPr>
        <p:grpSpPr>
          <a:xfrm>
            <a:off x="480092" y="4677313"/>
            <a:ext cx="304639" cy="301465"/>
            <a:chOff x="6941066" y="2777637"/>
            <a:chExt cx="456958" cy="452197"/>
          </a:xfrm>
          <a:noFill/>
        </p:grpSpPr>
        <p:grpSp>
          <p:nvGrpSpPr>
            <p:cNvPr id="8" name="Google Shape;491;p35">
              <a:extLst>
                <a:ext uri="{FF2B5EF4-FFF2-40B4-BE49-F238E27FC236}">
                  <a16:creationId xmlns:a16="http://schemas.microsoft.com/office/drawing/2014/main" id="{CDF000E6-18A9-0D11-76C4-D947698E02DF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25" name="Google Shape;492;p35">
                <a:extLst>
                  <a:ext uri="{FF2B5EF4-FFF2-40B4-BE49-F238E27FC236}">
                    <a16:creationId xmlns:a16="http://schemas.microsoft.com/office/drawing/2014/main" id="{80ED5F97-F9B0-FCDF-4533-86F3640CC1BB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493;p35">
                <a:extLst>
                  <a:ext uri="{FF2B5EF4-FFF2-40B4-BE49-F238E27FC236}">
                    <a16:creationId xmlns:a16="http://schemas.microsoft.com/office/drawing/2014/main" id="{72CD18DB-C183-7433-D78F-DF7A0A6875D7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494;p35">
              <a:extLst>
                <a:ext uri="{FF2B5EF4-FFF2-40B4-BE49-F238E27FC236}">
                  <a16:creationId xmlns:a16="http://schemas.microsoft.com/office/drawing/2014/main" id="{67098979-7117-38DA-DEDB-5720A927B91A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9" name="Google Shape;495;p35">
                <a:extLst>
                  <a:ext uri="{FF2B5EF4-FFF2-40B4-BE49-F238E27FC236}">
                    <a16:creationId xmlns:a16="http://schemas.microsoft.com/office/drawing/2014/main" id="{A9A1788F-C888-046E-BAFE-50F20BE15A3E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496;p35">
                <a:extLst>
                  <a:ext uri="{FF2B5EF4-FFF2-40B4-BE49-F238E27FC236}">
                    <a16:creationId xmlns:a16="http://schemas.microsoft.com/office/drawing/2014/main" id="{AB7AE3E4-3471-1E28-5C12-01E4DC16D3F5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497;p35">
              <a:extLst>
                <a:ext uri="{FF2B5EF4-FFF2-40B4-BE49-F238E27FC236}">
                  <a16:creationId xmlns:a16="http://schemas.microsoft.com/office/drawing/2014/main" id="{B9DAC906-AA83-5694-6DD0-805B525A222A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16" name="Google Shape;498;p35">
                <a:extLst>
                  <a:ext uri="{FF2B5EF4-FFF2-40B4-BE49-F238E27FC236}">
                    <a16:creationId xmlns:a16="http://schemas.microsoft.com/office/drawing/2014/main" id="{2E158D9A-60C9-A24C-E71A-8170E9C7F4EA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99;p35">
                <a:extLst>
                  <a:ext uri="{FF2B5EF4-FFF2-40B4-BE49-F238E27FC236}">
                    <a16:creationId xmlns:a16="http://schemas.microsoft.com/office/drawing/2014/main" id="{2F5A6B3A-E62E-2BC5-D864-98C46FDB6F8E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500;p35">
                <a:extLst>
                  <a:ext uri="{FF2B5EF4-FFF2-40B4-BE49-F238E27FC236}">
                    <a16:creationId xmlns:a16="http://schemas.microsoft.com/office/drawing/2014/main" id="{7684CA8A-3490-4547-C987-74E4DE23BE4E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" name="Google Shape;501;p35">
              <a:extLst>
                <a:ext uri="{FF2B5EF4-FFF2-40B4-BE49-F238E27FC236}">
                  <a16:creationId xmlns:a16="http://schemas.microsoft.com/office/drawing/2014/main" id="{C4D747FD-2CA4-5658-CDFC-5AE8307CE7F1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2" name="Google Shape;502;p35">
                <a:extLst>
                  <a:ext uri="{FF2B5EF4-FFF2-40B4-BE49-F238E27FC236}">
                    <a16:creationId xmlns:a16="http://schemas.microsoft.com/office/drawing/2014/main" id="{E1CD4B4A-F2BD-08E1-0DDF-06C96F1C77DC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503;p35">
                <a:extLst>
                  <a:ext uri="{FF2B5EF4-FFF2-40B4-BE49-F238E27FC236}">
                    <a16:creationId xmlns:a16="http://schemas.microsoft.com/office/drawing/2014/main" id="{65F05305-1DCD-7C1D-B5C8-44D35307AE86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4616FB90-F7AC-4FE2-AA35-73EEC6980916}"/>
              </a:ext>
            </a:extLst>
          </p:cNvPr>
          <p:cNvSpPr/>
          <p:nvPr/>
        </p:nvSpPr>
        <p:spPr>
          <a:xfrm>
            <a:off x="5782235" y="5909982"/>
            <a:ext cx="3402106" cy="32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95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79554" y="320783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328326" y="4587069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Cores variadas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809015" y="4569858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Equilíbrio visual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328326" y="3388228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Formas diferentes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6922488" y="34651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Título decorativo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4073" y="1341513"/>
            <a:ext cx="6513327" cy="1161327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O que um bom layout deve garantir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327543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0" name="Google Shape;1437;p98">
            <a:extLst>
              <a:ext uri="{FF2B5EF4-FFF2-40B4-BE49-F238E27FC236}">
                <a16:creationId xmlns:a16="http://schemas.microsoft.com/office/drawing/2014/main" id="{FC10513E-83A1-420E-B4F2-425D70D88753}"/>
              </a:ext>
            </a:extLst>
          </p:cNvPr>
          <p:cNvSpPr/>
          <p:nvPr/>
        </p:nvSpPr>
        <p:spPr>
          <a:xfrm rot="18556360">
            <a:off x="10422773" y="4531767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436;p98">
            <a:extLst>
              <a:ext uri="{FF2B5EF4-FFF2-40B4-BE49-F238E27FC236}">
                <a16:creationId xmlns:a16="http://schemas.microsoft.com/office/drawing/2014/main" id="{01353245-B0B9-4D4C-9B53-25A970E24889}"/>
              </a:ext>
            </a:extLst>
          </p:cNvPr>
          <p:cNvSpPr/>
          <p:nvPr/>
        </p:nvSpPr>
        <p:spPr>
          <a:xfrm>
            <a:off x="2557869" y="325861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436;p98">
            <a:extLst>
              <a:ext uri="{FF2B5EF4-FFF2-40B4-BE49-F238E27FC236}">
                <a16:creationId xmlns:a16="http://schemas.microsoft.com/office/drawing/2014/main" id="{67C088D8-E68D-4513-8251-50F0B2FF797F}"/>
              </a:ext>
            </a:extLst>
          </p:cNvPr>
          <p:cNvSpPr/>
          <p:nvPr/>
        </p:nvSpPr>
        <p:spPr>
          <a:xfrm>
            <a:off x="2557869" y="444376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436;p98">
            <a:extLst>
              <a:ext uri="{FF2B5EF4-FFF2-40B4-BE49-F238E27FC236}">
                <a16:creationId xmlns:a16="http://schemas.microsoft.com/office/drawing/2014/main" id="{C57D792A-999E-477A-BB6F-03EF4D2882BC}"/>
              </a:ext>
            </a:extLst>
          </p:cNvPr>
          <p:cNvSpPr/>
          <p:nvPr/>
        </p:nvSpPr>
        <p:spPr>
          <a:xfrm>
            <a:off x="10358202" y="3155645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49;p64">
            <a:extLst>
              <a:ext uri="{FF2B5EF4-FFF2-40B4-BE49-F238E27FC236}">
                <a16:creationId xmlns:a16="http://schemas.microsoft.com/office/drawing/2014/main" id="{9256E60B-F628-5CC6-EDB7-318135F4B54E}"/>
              </a:ext>
            </a:extLst>
          </p:cNvPr>
          <p:cNvSpPr/>
          <p:nvPr/>
        </p:nvSpPr>
        <p:spPr>
          <a:xfrm>
            <a:off x="3179554" y="320783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50;p64">
            <a:extLst>
              <a:ext uri="{FF2B5EF4-FFF2-40B4-BE49-F238E27FC236}">
                <a16:creationId xmlns:a16="http://schemas.microsoft.com/office/drawing/2014/main" id="{D7031F34-A6DB-6EAC-E056-BB5E8E554587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51;p64">
            <a:extLst>
              <a:ext uri="{FF2B5EF4-FFF2-40B4-BE49-F238E27FC236}">
                <a16:creationId xmlns:a16="http://schemas.microsoft.com/office/drawing/2014/main" id="{3301AA41-1C5E-DE29-5082-34724AE97569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52;p64">
            <a:extLst>
              <a:ext uri="{FF2B5EF4-FFF2-40B4-BE49-F238E27FC236}">
                <a16:creationId xmlns:a16="http://schemas.microsoft.com/office/drawing/2014/main" id="{408C1400-7354-2F27-D406-B283466C708D}"/>
              </a:ext>
            </a:extLst>
          </p:cNvPr>
          <p:cNvSpPr txBox="1"/>
          <p:nvPr/>
        </p:nvSpPr>
        <p:spPr>
          <a:xfrm>
            <a:off x="3328326" y="4587069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Cores variadas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9" name="Google Shape;853;p64">
            <a:extLst>
              <a:ext uri="{FF2B5EF4-FFF2-40B4-BE49-F238E27FC236}">
                <a16:creationId xmlns:a16="http://schemas.microsoft.com/office/drawing/2014/main" id="{59152C3B-C480-CD22-2036-DB56FA22BD35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4;p64">
            <a:extLst>
              <a:ext uri="{FF2B5EF4-FFF2-40B4-BE49-F238E27FC236}">
                <a16:creationId xmlns:a16="http://schemas.microsoft.com/office/drawing/2014/main" id="{A9126E70-F8BA-7023-C786-36AA50ED990B}"/>
              </a:ext>
            </a:extLst>
          </p:cNvPr>
          <p:cNvSpPr txBox="1"/>
          <p:nvPr/>
        </p:nvSpPr>
        <p:spPr>
          <a:xfrm>
            <a:off x="6809015" y="4569858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Equilíbrio visual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4" name="Google Shape;855;p64">
            <a:extLst>
              <a:ext uri="{FF2B5EF4-FFF2-40B4-BE49-F238E27FC236}">
                <a16:creationId xmlns:a16="http://schemas.microsoft.com/office/drawing/2014/main" id="{5D42F733-ACBB-EAF7-5B5E-A5D43A87A5AC}"/>
              </a:ext>
            </a:extLst>
          </p:cNvPr>
          <p:cNvSpPr txBox="1"/>
          <p:nvPr/>
        </p:nvSpPr>
        <p:spPr>
          <a:xfrm>
            <a:off x="3328326" y="3388228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Formas diferentes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25" name="Google Shape;856;p64">
            <a:extLst>
              <a:ext uri="{FF2B5EF4-FFF2-40B4-BE49-F238E27FC236}">
                <a16:creationId xmlns:a16="http://schemas.microsoft.com/office/drawing/2014/main" id="{9B7BA662-B858-ED9D-6BA9-612BBB93C6A8}"/>
              </a:ext>
            </a:extLst>
          </p:cNvPr>
          <p:cNvSpPr txBox="1"/>
          <p:nvPr/>
        </p:nvSpPr>
        <p:spPr>
          <a:xfrm>
            <a:off x="6922488" y="34651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Título decorativo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3C74C7C2-0095-404F-8C34-5981BC51E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4073" y="1341513"/>
            <a:ext cx="6513327" cy="1161327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O que um bom layout deve garantir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395629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67932" y="1811131"/>
            <a:ext cx="6354575" cy="98107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o layout é a forma como os elementos do gráfico são organizados, influenciando o caminho que o olhar percorre ao ler os dados.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67932" y="3043657"/>
            <a:ext cx="6600167" cy="122101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o alinhamento, o espaçamento e a ordem das informações ajudam o leitor a comparar e interpretar os resultados com clareza.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7932" y="4216613"/>
            <a:ext cx="6354575" cy="2030798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Aplicamos esses conceitos ao analisar diferentes exemplos, identificando como um layout equilibrado torna o gráfico mais fácil de entender.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378887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" name="Google Shape;721;p53">
            <a:extLst>
              <a:ext uri="{FF2B5EF4-FFF2-40B4-BE49-F238E27FC236}">
                <a16:creationId xmlns:a16="http://schemas.microsoft.com/office/drawing/2014/main" id="{3B9026AC-B054-7DB2-257C-4FF4BD47D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8000" y="737334"/>
            <a:ext cx="5474010" cy="43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Quer entender mais sobre posicionamento e layout de gráficos?</a:t>
            </a:r>
          </a:p>
          <a:p>
            <a:pPr marL="0" lvl="0" indent="0" algn="just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Recomendamos que assista ao vídeo: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CURSO DE EXCEL ONLINE. Dicas para gráficos no Excel - layouts. YouTube, 26 dez. 2019. Disponível em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https://youtu.be/AV1nnDZCHfk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 Acesso em: 10 nov. 2025.</a:t>
            </a:r>
          </a:p>
        </p:txBody>
      </p:sp>
    </p:spTree>
    <p:extLst>
      <p:ext uri="{BB962C8B-B14F-4D97-AF65-F5344CB8AC3E}">
        <p14:creationId xmlns:p14="http://schemas.microsoft.com/office/powerpoint/2010/main" val="977759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9F35-5561-1EBA-98B0-4C6B9286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282A1A-63E1-3C24-FB70-D5AC7F83AC6E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03805A2-9847-052F-170E-F272CDFF7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528" y="1823428"/>
            <a:ext cx="95304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DALE,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Visualização de dados com Python e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JavaScript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raspe, limpe, explore e transforme seus dados. Rio de Janeiro: Alta Books, 2024.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KNAFLIC, C. N.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 com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sobre visualização de dados para profissionais de negócios. Rio de Janeiro: Alta Books, 2019.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STRACHNYI,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A cor dos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para o uso de cores em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de dados. São Paulo: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Novatec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, 2023.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Identidade visual: imagens 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311555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03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BB9E14-02D2-A561-0326-A9DC2D6C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DC62F6DA-735B-F88A-CAD2-634F995BB688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" name="Conector Reto 6">
            <a:extLst>
              <a:ext uri="{FF2B5EF4-FFF2-40B4-BE49-F238E27FC236}">
                <a16:creationId xmlns:a16="http://schemas.microsoft.com/office/drawing/2014/main" id="{7A8ADE9E-4349-4AC3-BE59-4BCA141275CB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50045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7A953F-6B87-9FA0-939A-D0724FEA242E}"/>
              </a:ext>
            </a:extLst>
          </p:cNvPr>
          <p:cNvSpPr txBox="1"/>
          <p:nvPr/>
        </p:nvSpPr>
        <p:spPr>
          <a:xfrm>
            <a:off x="987147" y="836173"/>
            <a:ext cx="10464415" cy="324447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 que todos os estudantes tenham a oportunidade de participar. Se necessário, faça rodízio ou direcione perguntas a estudantes que estejam menos ativos para garantir a participação de todos. Mantenha um ambiente de respeito, em que todas as opiniões são valorizadas, garantindo que os alunos se sintam confortáveis para expressar seus pontos de vista.  Conclua a atividade resumindo as principais ideias discutidas e vinculando-as aos objetivos de aprendizagem da aula. 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Faça as perguntas dessa seção para os alunos e incentive-os a participar e relembrar os conceitos apresentados nas aulas anteriores. É importante reforçar os conceitos aprendidos, pois os alunos precisarão fixá-los bem para as demais aulas. 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1: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Escolher cores que ajudem a destacar a informação principal e facilitar a leitura dos dados.</a:t>
            </a:r>
          </a:p>
          <a:p>
            <a:pPr lvl="1"/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2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o contraste cria hierarquia visual e orienta o olhar do leitor para o que é mais relevante.</a:t>
            </a:r>
          </a:p>
          <a:p>
            <a:pPr lvl="1"/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3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Eles explicam como o cérebro agrupa e percebe elementos visuais, ajudando a criar gráficos organizados e fáceis de entender.</a:t>
            </a:r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25562ED-BC91-1BA1-E8EA-CF2E8733FC2E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6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E27FC59B-D077-57F2-C576-B7B60A6F425D}"/>
              </a:ext>
            </a:extLst>
          </p:cNvPr>
          <p:cNvSpPr/>
          <p:nvPr/>
        </p:nvSpPr>
        <p:spPr>
          <a:xfrm>
            <a:off x="476449" y="29937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02FD4D44-4F46-0386-7CD7-BC5888D86EDC}"/>
              </a:ext>
            </a:extLst>
          </p:cNvPr>
          <p:cNvSpPr/>
          <p:nvPr/>
        </p:nvSpPr>
        <p:spPr>
          <a:xfrm>
            <a:off x="476449" y="167328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AB4F34BD-69D1-A249-2C1B-E3214C7CEBB7}"/>
              </a:ext>
            </a:extLst>
          </p:cNvPr>
          <p:cNvSpPr/>
          <p:nvPr/>
        </p:nvSpPr>
        <p:spPr>
          <a:xfrm>
            <a:off x="476449" y="121349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4C2D06A-DBA8-DE8F-FEDB-68A57491D9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266" y="1307199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333D074D-510F-3F30-7362-3C7E4E76536C}"/>
              </a:ext>
            </a:extLst>
          </p:cNvPr>
          <p:cNvSpPr>
            <a:spLocks/>
          </p:cNvSpPr>
          <p:nvPr/>
        </p:nvSpPr>
        <p:spPr>
          <a:xfrm>
            <a:off x="546616" y="175171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74C25E02-5C69-57C7-296B-336D25C58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475" y="3047831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F8C2883B-CE85-AB8B-3850-48C0D6F53F21}"/>
              </a:ext>
            </a:extLst>
          </p:cNvPr>
          <p:cNvSpPr/>
          <p:nvPr/>
        </p:nvSpPr>
        <p:spPr>
          <a:xfrm>
            <a:off x="476449" y="24109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F69D688C-DAE9-4E12-3C8D-C3FFD87EA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840" y="2481424"/>
            <a:ext cx="235296" cy="24064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CF151EE-2A99-607A-C412-EB039E659E6D}"/>
              </a:ext>
            </a:extLst>
          </p:cNvPr>
          <p:cNvSpPr txBox="1"/>
          <p:nvPr/>
        </p:nvSpPr>
        <p:spPr>
          <a:xfrm>
            <a:off x="985520" y="4813388"/>
            <a:ext cx="10251440" cy="172457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 os conhecimentos construídos durante a aula, incentivando-os a promoverem autonomia, senso crítico e criatividade. </a:t>
            </a: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37 minutos.</a:t>
            </a:r>
          </a:p>
          <a:p>
            <a:endParaRPr lang="pt-BR" sz="1000" b="1" i="0" dirty="0">
              <a:solidFill>
                <a:srgbClr val="34322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rgbClr val="34322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b="0" i="0" dirty="0">
                <a:solidFill>
                  <a:srgbClr val="34322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xplique que a atividade prática tem como foco avaliar a organização visual dos gráficos — como o alinhamento, o espaçamento,      o título e a ordem das informações afetam a clareza.</a:t>
            </a:r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Divida a turma em duplas para que possam discutir suas percepções e justificar suas escolhas.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Reforce que todos os gráficos já estão prontos e que a tarefa é observar, comparar e explicar tecnicamente por que um layout é mais </a:t>
            </a:r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eficiente que o outro.</a:t>
            </a:r>
            <a:endParaRPr lang="pt-BR" sz="1000" i="0" dirty="0">
              <a:solidFill>
                <a:srgbClr val="34322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7E946D-F8C7-556B-D982-567E0D9C3BC4}"/>
              </a:ext>
            </a:extLst>
          </p:cNvPr>
          <p:cNvSpPr/>
          <p:nvPr/>
        </p:nvSpPr>
        <p:spPr>
          <a:xfrm>
            <a:off x="0" y="4167930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98CA8C-1513-D158-B7C8-7FA6F9E28323}"/>
              </a:ext>
            </a:extLst>
          </p:cNvPr>
          <p:cNvSpPr txBox="1"/>
          <p:nvPr/>
        </p:nvSpPr>
        <p:spPr>
          <a:xfrm>
            <a:off x="985520" y="417809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FDEDB3C-D0DB-BA35-CDEC-9D8FD3496B91}"/>
              </a:ext>
            </a:extLst>
          </p:cNvPr>
          <p:cNvCxnSpPr>
            <a:cxnSpLocks/>
          </p:cNvCxnSpPr>
          <p:nvPr/>
        </p:nvCxnSpPr>
        <p:spPr>
          <a:xfrm flipV="1">
            <a:off x="666946" y="4418658"/>
            <a:ext cx="1" cy="201163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10">
            <a:extLst>
              <a:ext uri="{FF2B5EF4-FFF2-40B4-BE49-F238E27FC236}">
                <a16:creationId xmlns:a16="http://schemas.microsoft.com/office/drawing/2014/main" id="{A792CBA9-0608-A490-34A0-45DC93ADCC73}"/>
              </a:ext>
            </a:extLst>
          </p:cNvPr>
          <p:cNvSpPr/>
          <p:nvPr/>
        </p:nvSpPr>
        <p:spPr>
          <a:xfrm>
            <a:off x="476449" y="574945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B7744B-D965-E058-1120-72F8D7A5E937}"/>
              </a:ext>
            </a:extLst>
          </p:cNvPr>
          <p:cNvSpPr/>
          <p:nvPr/>
        </p:nvSpPr>
        <p:spPr>
          <a:xfrm>
            <a:off x="476449" y="528084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FCA8BF0B-15AD-49AE-0B8B-38171D3779C8}"/>
              </a:ext>
            </a:extLst>
          </p:cNvPr>
          <p:cNvSpPr/>
          <p:nvPr/>
        </p:nvSpPr>
        <p:spPr>
          <a:xfrm>
            <a:off x="476449" y="472126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952E00AE-CD01-AF03-C946-8159E0486DC1}"/>
              </a:ext>
            </a:extLst>
          </p:cNvPr>
          <p:cNvSpPr/>
          <p:nvPr/>
        </p:nvSpPr>
        <p:spPr>
          <a:xfrm>
            <a:off x="550871" y="4819818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498F4A6-990D-A781-9831-F1E7463C3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266" y="5374550"/>
            <a:ext cx="154445" cy="193056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5E5D991B-5278-B065-9D5D-E1622736E6F2}"/>
              </a:ext>
            </a:extLst>
          </p:cNvPr>
          <p:cNvSpPr>
            <a:spLocks/>
          </p:cNvSpPr>
          <p:nvPr/>
        </p:nvSpPr>
        <p:spPr>
          <a:xfrm>
            <a:off x="546616" y="5827888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Oval 12">
            <a:extLst>
              <a:ext uri="{FF2B5EF4-FFF2-40B4-BE49-F238E27FC236}">
                <a16:creationId xmlns:a16="http://schemas.microsoft.com/office/drawing/2014/main" id="{0C42C4AD-ACAA-4443-A1E8-EAAF5DFB23B3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2216;p100">
            <a:extLst>
              <a:ext uri="{FF2B5EF4-FFF2-40B4-BE49-F238E27FC236}">
                <a16:creationId xmlns:a16="http://schemas.microsoft.com/office/drawing/2014/main" id="{0DB32AAA-B45E-4629-9390-A38A2C4C2EAE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6D3A0B2-487A-4E17-B4F5-FDA6FDBA5160}"/>
              </a:ext>
            </a:extLst>
          </p:cNvPr>
          <p:cNvGrpSpPr/>
          <p:nvPr/>
        </p:nvGrpSpPr>
        <p:grpSpPr>
          <a:xfrm>
            <a:off x="10277533" y="5878427"/>
            <a:ext cx="1744133" cy="406400"/>
            <a:chOff x="1310514" y="1144195"/>
            <a:chExt cx="1744133" cy="406400"/>
          </a:xfrm>
        </p:grpSpPr>
        <p:pic>
          <p:nvPicPr>
            <p:cNvPr id="36" name="Imagem 35">
              <a:extLst>
                <a:ext uri="{FF2B5EF4-FFF2-40B4-BE49-F238E27FC236}">
                  <a16:creationId xmlns:a16="http://schemas.microsoft.com/office/drawing/2014/main" id="{53640EA1-9DB5-4397-A3A2-D63A3C5DA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10514" y="1144195"/>
              <a:ext cx="1744133" cy="406400"/>
            </a:xfrm>
            <a:prstGeom prst="rect">
              <a:avLst/>
            </a:prstGeom>
          </p:spPr>
        </p:pic>
        <p:grpSp>
          <p:nvGrpSpPr>
            <p:cNvPr id="37" name="Gráfico 85">
              <a:extLst>
                <a:ext uri="{FF2B5EF4-FFF2-40B4-BE49-F238E27FC236}">
                  <a16:creationId xmlns:a16="http://schemas.microsoft.com/office/drawing/2014/main" id="{13DD09CE-109E-4741-AF26-812DD2C8CAB9}"/>
                </a:ext>
              </a:extLst>
            </p:cNvPr>
            <p:cNvGrpSpPr/>
            <p:nvPr/>
          </p:nvGrpSpPr>
          <p:grpSpPr>
            <a:xfrm>
              <a:off x="1544140" y="1244659"/>
              <a:ext cx="1172441" cy="199070"/>
              <a:chOff x="2316209" y="1866988"/>
              <a:chExt cx="1758662" cy="298605"/>
            </a:xfrm>
            <a:solidFill>
              <a:srgbClr val="FFFFFF"/>
            </a:solidFill>
          </p:grpSpPr>
          <p:sp>
            <p:nvSpPr>
              <p:cNvPr id="38" name="Forma Livre 47">
                <a:extLst>
                  <a:ext uri="{FF2B5EF4-FFF2-40B4-BE49-F238E27FC236}">
                    <a16:creationId xmlns:a16="http://schemas.microsoft.com/office/drawing/2014/main" id="{598CE3FC-20E6-4706-A1F1-BC3D4D50C63B}"/>
                  </a:ext>
                </a:extLst>
              </p:cNvPr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>
                  <a:gd name="connsiteX0" fmla="*/ 16815 w 256393"/>
                  <a:gd name="connsiteY0" fmla="*/ 63645 h 263805"/>
                  <a:gd name="connsiteX1" fmla="*/ 63695 w 256393"/>
                  <a:gd name="connsiteY1" fmla="*/ 16771 h 263805"/>
                  <a:gd name="connsiteX2" fmla="*/ 131891 w 256393"/>
                  <a:gd name="connsiteY2" fmla="*/ 0 h 263805"/>
                  <a:gd name="connsiteX3" fmla="*/ 211892 w 256393"/>
                  <a:gd name="connsiteY3" fmla="*/ 24318 h 263805"/>
                  <a:gd name="connsiteX4" fmla="*/ 256394 w 256393"/>
                  <a:gd name="connsiteY4" fmla="*/ 90730 h 263805"/>
                  <a:gd name="connsiteX5" fmla="*/ 186159 w 256393"/>
                  <a:gd name="connsiteY5" fmla="*/ 90730 h 263805"/>
                  <a:gd name="connsiteX6" fmla="*/ 163909 w 256393"/>
                  <a:gd name="connsiteY6" fmla="*/ 65993 h 263805"/>
                  <a:gd name="connsiteX7" fmla="*/ 131212 w 256393"/>
                  <a:gd name="connsiteY7" fmla="*/ 57524 h 263805"/>
                  <a:gd name="connsiteX8" fmla="*/ 83398 w 256393"/>
                  <a:gd name="connsiteY8" fmla="*/ 77817 h 263805"/>
                  <a:gd name="connsiteX9" fmla="*/ 65054 w 256393"/>
                  <a:gd name="connsiteY9" fmla="*/ 132071 h 263805"/>
                  <a:gd name="connsiteX10" fmla="*/ 83398 w 256393"/>
                  <a:gd name="connsiteY10" fmla="*/ 186324 h 263805"/>
                  <a:gd name="connsiteX11" fmla="*/ 131212 w 256393"/>
                  <a:gd name="connsiteY11" fmla="*/ 206617 h 263805"/>
                  <a:gd name="connsiteX12" fmla="*/ 163909 w 256393"/>
                  <a:gd name="connsiteY12" fmla="*/ 198148 h 263805"/>
                  <a:gd name="connsiteX13" fmla="*/ 186159 w 256393"/>
                  <a:gd name="connsiteY13" fmla="*/ 173411 h 263805"/>
                  <a:gd name="connsiteX14" fmla="*/ 256394 w 256393"/>
                  <a:gd name="connsiteY14" fmla="*/ 173411 h 263805"/>
                  <a:gd name="connsiteX15" fmla="*/ 211892 w 256393"/>
                  <a:gd name="connsiteY15" fmla="*/ 239656 h 263805"/>
                  <a:gd name="connsiteX16" fmla="*/ 131891 w 256393"/>
                  <a:gd name="connsiteY16" fmla="*/ 263806 h 263805"/>
                  <a:gd name="connsiteX17" fmla="*/ 63695 w 256393"/>
                  <a:gd name="connsiteY17" fmla="*/ 247035 h 263805"/>
                  <a:gd name="connsiteX18" fmla="*/ 16815 w 256393"/>
                  <a:gd name="connsiteY18" fmla="*/ 200328 h 263805"/>
                  <a:gd name="connsiteX19" fmla="*/ 0 w 256393"/>
                  <a:gd name="connsiteY19" fmla="*/ 132071 h 263805"/>
                  <a:gd name="connsiteX20" fmla="*/ 16815 w 256393"/>
                  <a:gd name="connsiteY20" fmla="*/ 63645 h 26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6393" h="263805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39" name="Forma Livre 48">
                <a:extLst>
                  <a:ext uri="{FF2B5EF4-FFF2-40B4-BE49-F238E27FC236}">
                    <a16:creationId xmlns:a16="http://schemas.microsoft.com/office/drawing/2014/main" id="{BBD54E4D-013E-4751-AE8E-81AB1BF50E2E}"/>
                  </a:ext>
                </a:extLst>
              </p:cNvPr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>
                  <a:gd name="connsiteX0" fmla="*/ 52485 w 216733"/>
                  <a:gd name="connsiteY0" fmla="*/ 198903 h 211816"/>
                  <a:gd name="connsiteX1" fmla="*/ 14013 w 216733"/>
                  <a:gd name="connsiteY1" fmla="*/ 162007 h 211816"/>
                  <a:gd name="connsiteX2" fmla="*/ 0 w 216733"/>
                  <a:gd name="connsiteY2" fmla="*/ 105908 h 211816"/>
                  <a:gd name="connsiteX3" fmla="*/ 14183 w 216733"/>
                  <a:gd name="connsiteY3" fmla="*/ 49977 h 211816"/>
                  <a:gd name="connsiteX4" fmla="*/ 53079 w 216733"/>
                  <a:gd name="connsiteY4" fmla="*/ 12914 h 211816"/>
                  <a:gd name="connsiteX5" fmla="*/ 108367 w 216733"/>
                  <a:gd name="connsiteY5" fmla="*/ 0 h 211816"/>
                  <a:gd name="connsiteX6" fmla="*/ 163654 w 216733"/>
                  <a:gd name="connsiteY6" fmla="*/ 12914 h 211816"/>
                  <a:gd name="connsiteX7" fmla="*/ 202550 w 216733"/>
                  <a:gd name="connsiteY7" fmla="*/ 49977 h 211816"/>
                  <a:gd name="connsiteX8" fmla="*/ 216733 w 216733"/>
                  <a:gd name="connsiteY8" fmla="*/ 105908 h 211816"/>
                  <a:gd name="connsiteX9" fmla="*/ 202380 w 216733"/>
                  <a:gd name="connsiteY9" fmla="*/ 161839 h 211816"/>
                  <a:gd name="connsiteX10" fmla="*/ 163144 w 216733"/>
                  <a:gd name="connsiteY10" fmla="*/ 198903 h 211816"/>
                  <a:gd name="connsiteX11" fmla="*/ 107687 w 216733"/>
                  <a:gd name="connsiteY11" fmla="*/ 211816 h 211816"/>
                  <a:gd name="connsiteX12" fmla="*/ 52570 w 216733"/>
                  <a:gd name="connsiteY12" fmla="*/ 198903 h 211816"/>
                  <a:gd name="connsiteX13" fmla="*/ 138855 w 216733"/>
                  <a:gd name="connsiteY13" fmla="*/ 143894 h 211816"/>
                  <a:gd name="connsiteX14" fmla="*/ 151764 w 216733"/>
                  <a:gd name="connsiteY14" fmla="*/ 105908 h 211816"/>
                  <a:gd name="connsiteX15" fmla="*/ 139280 w 216733"/>
                  <a:gd name="connsiteY15" fmla="*/ 67922 h 211816"/>
                  <a:gd name="connsiteX16" fmla="*/ 108451 w 216733"/>
                  <a:gd name="connsiteY16" fmla="*/ 54673 h 211816"/>
                  <a:gd name="connsiteX17" fmla="*/ 77453 w 216733"/>
                  <a:gd name="connsiteY17" fmla="*/ 67754 h 211816"/>
                  <a:gd name="connsiteX18" fmla="*/ 65139 w 216733"/>
                  <a:gd name="connsiteY18" fmla="*/ 105908 h 211816"/>
                  <a:gd name="connsiteX19" fmla="*/ 77283 w 216733"/>
                  <a:gd name="connsiteY19" fmla="*/ 143894 h 211816"/>
                  <a:gd name="connsiteX20" fmla="*/ 107772 w 216733"/>
                  <a:gd name="connsiteY20" fmla="*/ 157143 h 211816"/>
                  <a:gd name="connsiteX21" fmla="*/ 138940 w 216733"/>
                  <a:gd name="connsiteY21" fmla="*/ 143894 h 21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6733" h="211816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0" name="Forma Livre 49">
                <a:extLst>
                  <a:ext uri="{FF2B5EF4-FFF2-40B4-BE49-F238E27FC236}">
                    <a16:creationId xmlns:a16="http://schemas.microsoft.com/office/drawing/2014/main" id="{7AA163AF-9155-41E1-A5B4-483355C655A9}"/>
                  </a:ext>
                </a:extLst>
              </p:cNvPr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1" name="Forma Livre 50">
                <a:extLst>
                  <a:ext uri="{FF2B5EF4-FFF2-40B4-BE49-F238E27FC236}">
                    <a16:creationId xmlns:a16="http://schemas.microsoft.com/office/drawing/2014/main" id="{8B14472E-3330-4E70-B805-B1BAA3C3EB41}"/>
                  </a:ext>
                </a:extLst>
              </p:cNvPr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>
                  <a:gd name="connsiteX0" fmla="*/ 131551 w 131551"/>
                  <a:gd name="connsiteY0" fmla="*/ 202676 h 256175"/>
                  <a:gd name="connsiteX1" fmla="*/ 131551 w 131551"/>
                  <a:gd name="connsiteY1" fmla="*/ 256175 h 256175"/>
                  <a:gd name="connsiteX2" fmla="*/ 99024 w 131551"/>
                  <a:gd name="connsiteY2" fmla="*/ 256175 h 256175"/>
                  <a:gd name="connsiteX3" fmla="*/ 44841 w 131551"/>
                  <a:gd name="connsiteY3" fmla="*/ 239404 h 256175"/>
                  <a:gd name="connsiteX4" fmla="*/ 25393 w 131551"/>
                  <a:gd name="connsiteY4" fmla="*/ 184564 h 256175"/>
                  <a:gd name="connsiteX5" fmla="*/ 25393 w 131551"/>
                  <a:gd name="connsiteY5" fmla="*/ 102638 h 256175"/>
                  <a:gd name="connsiteX6" fmla="*/ 0 w 131551"/>
                  <a:gd name="connsiteY6" fmla="*/ 102638 h 256175"/>
                  <a:gd name="connsiteX7" fmla="*/ 0 w 131551"/>
                  <a:gd name="connsiteY7" fmla="*/ 50229 h 256175"/>
                  <a:gd name="connsiteX8" fmla="*/ 25393 w 131551"/>
                  <a:gd name="connsiteY8" fmla="*/ 50229 h 256175"/>
                  <a:gd name="connsiteX9" fmla="*/ 25393 w 131551"/>
                  <a:gd name="connsiteY9" fmla="*/ 0 h 256175"/>
                  <a:gd name="connsiteX10" fmla="*/ 89343 w 131551"/>
                  <a:gd name="connsiteY10" fmla="*/ 0 h 256175"/>
                  <a:gd name="connsiteX11" fmla="*/ 89343 w 131551"/>
                  <a:gd name="connsiteY11" fmla="*/ 50229 h 256175"/>
                  <a:gd name="connsiteX12" fmla="*/ 131212 w 131551"/>
                  <a:gd name="connsiteY12" fmla="*/ 50229 h 256175"/>
                  <a:gd name="connsiteX13" fmla="*/ 131212 w 131551"/>
                  <a:gd name="connsiteY13" fmla="*/ 102638 h 256175"/>
                  <a:gd name="connsiteX14" fmla="*/ 89343 w 131551"/>
                  <a:gd name="connsiteY14" fmla="*/ 102638 h 256175"/>
                  <a:gd name="connsiteX15" fmla="*/ 89343 w 131551"/>
                  <a:gd name="connsiteY15" fmla="*/ 185318 h 256175"/>
                  <a:gd name="connsiteX16" fmla="*/ 93844 w 131551"/>
                  <a:gd name="connsiteY16" fmla="*/ 198567 h 256175"/>
                  <a:gd name="connsiteX17" fmla="*/ 108791 w 131551"/>
                  <a:gd name="connsiteY17" fmla="*/ 202592 h 256175"/>
                  <a:gd name="connsiteX18" fmla="*/ 131551 w 131551"/>
                  <a:gd name="connsiteY18" fmla="*/ 202592 h 25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551" h="256175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2" name="Forma Livre 51">
                <a:extLst>
                  <a:ext uri="{FF2B5EF4-FFF2-40B4-BE49-F238E27FC236}">
                    <a16:creationId xmlns:a16="http://schemas.microsoft.com/office/drawing/2014/main" id="{DD8823F2-ED71-4E8E-AB81-EA770392A7A6}"/>
                  </a:ext>
                </a:extLst>
              </p:cNvPr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>
                  <a:gd name="connsiteX0" fmla="*/ 10616 w 75754"/>
                  <a:gd name="connsiteY0" fmla="*/ 58530 h 295586"/>
                  <a:gd name="connsiteX1" fmla="*/ 0 w 75754"/>
                  <a:gd name="connsiteY1" fmla="*/ 34380 h 295586"/>
                  <a:gd name="connsiteX2" fmla="*/ 10616 w 75754"/>
                  <a:gd name="connsiteY2" fmla="*/ 9811 h 295586"/>
                  <a:gd name="connsiteX3" fmla="*/ 38047 w 75754"/>
                  <a:gd name="connsiteY3" fmla="*/ 0 h 295586"/>
                  <a:gd name="connsiteX4" fmla="*/ 65139 w 75754"/>
                  <a:gd name="connsiteY4" fmla="*/ 9811 h 295586"/>
                  <a:gd name="connsiteX5" fmla="*/ 75755 w 75754"/>
                  <a:gd name="connsiteY5" fmla="*/ 34380 h 295586"/>
                  <a:gd name="connsiteX6" fmla="*/ 65139 w 75754"/>
                  <a:gd name="connsiteY6" fmla="*/ 58530 h 295586"/>
                  <a:gd name="connsiteX7" fmla="*/ 38047 w 75754"/>
                  <a:gd name="connsiteY7" fmla="*/ 68341 h 295586"/>
                  <a:gd name="connsiteX8" fmla="*/ 10616 w 75754"/>
                  <a:gd name="connsiteY8" fmla="*/ 58530 h 295586"/>
                  <a:gd name="connsiteX9" fmla="*/ 69895 w 75754"/>
                  <a:gd name="connsiteY9" fmla="*/ 89724 h 295586"/>
                  <a:gd name="connsiteX10" fmla="*/ 69895 w 75754"/>
                  <a:gd name="connsiteY10" fmla="*/ 295587 h 295586"/>
                  <a:gd name="connsiteX11" fmla="*/ 5945 w 75754"/>
                  <a:gd name="connsiteY11" fmla="*/ 295587 h 295586"/>
                  <a:gd name="connsiteX12" fmla="*/ 5945 w 75754"/>
                  <a:gd name="connsiteY12" fmla="*/ 89724 h 295586"/>
                  <a:gd name="connsiteX13" fmla="*/ 69895 w 75754"/>
                  <a:gd name="connsiteY13" fmla="*/ 89724 h 2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754" h="295586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3" name="Forma Livre 52">
                <a:extLst>
                  <a:ext uri="{FF2B5EF4-FFF2-40B4-BE49-F238E27FC236}">
                    <a16:creationId xmlns:a16="http://schemas.microsoft.com/office/drawing/2014/main" id="{B72C6FCB-F1D9-4533-8F52-95CC59C5ABF4}"/>
                  </a:ext>
                </a:extLst>
              </p:cNvPr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4" name="Forma Livre 53">
                <a:extLst>
                  <a:ext uri="{FF2B5EF4-FFF2-40B4-BE49-F238E27FC236}">
                    <a16:creationId xmlns:a16="http://schemas.microsoft.com/office/drawing/2014/main" id="{F1F3349C-EE27-4535-85C6-DCCBF09891AA}"/>
                  </a:ext>
                </a:extLst>
              </p:cNvPr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>
                  <a:gd name="connsiteX0" fmla="*/ 207731 w 207900"/>
                  <a:gd name="connsiteY0" fmla="*/ 0 h 208126"/>
                  <a:gd name="connsiteX1" fmla="*/ 207731 w 207900"/>
                  <a:gd name="connsiteY1" fmla="*/ 205863 h 208126"/>
                  <a:gd name="connsiteX2" fmla="*/ 143781 w 207900"/>
                  <a:gd name="connsiteY2" fmla="*/ 205863 h 208126"/>
                  <a:gd name="connsiteX3" fmla="*/ 143781 w 207900"/>
                  <a:gd name="connsiteY3" fmla="*/ 177855 h 208126"/>
                  <a:gd name="connsiteX4" fmla="*/ 117454 w 207900"/>
                  <a:gd name="connsiteY4" fmla="*/ 199825 h 208126"/>
                  <a:gd name="connsiteX5" fmla="*/ 80680 w 207900"/>
                  <a:gd name="connsiteY5" fmla="*/ 208127 h 208126"/>
                  <a:gd name="connsiteX6" fmla="*/ 38472 w 207900"/>
                  <a:gd name="connsiteY6" fmla="*/ 197645 h 208126"/>
                  <a:gd name="connsiteX7" fmla="*/ 10106 w 207900"/>
                  <a:gd name="connsiteY7" fmla="*/ 167206 h 208126"/>
                  <a:gd name="connsiteX8" fmla="*/ 0 w 207900"/>
                  <a:gd name="connsiteY8" fmla="*/ 120331 h 208126"/>
                  <a:gd name="connsiteX9" fmla="*/ 0 w 207900"/>
                  <a:gd name="connsiteY9" fmla="*/ 0 h 208126"/>
                  <a:gd name="connsiteX10" fmla="*/ 63525 w 207900"/>
                  <a:gd name="connsiteY10" fmla="*/ 0 h 208126"/>
                  <a:gd name="connsiteX11" fmla="*/ 63525 w 207900"/>
                  <a:gd name="connsiteY11" fmla="*/ 111778 h 208126"/>
                  <a:gd name="connsiteX12" fmla="*/ 74396 w 207900"/>
                  <a:gd name="connsiteY12" fmla="*/ 143894 h 208126"/>
                  <a:gd name="connsiteX13" fmla="*/ 103526 w 207900"/>
                  <a:gd name="connsiteY13" fmla="*/ 155298 h 208126"/>
                  <a:gd name="connsiteX14" fmla="*/ 133080 w 207900"/>
                  <a:gd name="connsiteY14" fmla="*/ 143894 h 208126"/>
                  <a:gd name="connsiteX15" fmla="*/ 143951 w 207900"/>
                  <a:gd name="connsiteY15" fmla="*/ 111778 h 208126"/>
                  <a:gd name="connsiteX16" fmla="*/ 143951 w 207900"/>
                  <a:gd name="connsiteY16" fmla="*/ 0 h 208126"/>
                  <a:gd name="connsiteX17" fmla="*/ 207901 w 207900"/>
                  <a:gd name="connsiteY17" fmla="*/ 0 h 20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7900" h="208126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5" name="Forma Livre 54">
                <a:extLst>
                  <a:ext uri="{FF2B5EF4-FFF2-40B4-BE49-F238E27FC236}">
                    <a16:creationId xmlns:a16="http://schemas.microsoft.com/office/drawing/2014/main" id="{CB2C4C93-82C8-4424-8966-6A9632BF266B}"/>
                  </a:ext>
                </a:extLst>
              </p:cNvPr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>
                  <a:gd name="connsiteX0" fmla="*/ 12144 w 220045"/>
                  <a:gd name="connsiteY0" fmla="*/ 49810 h 211732"/>
                  <a:gd name="connsiteX1" fmla="*/ 45181 w 220045"/>
                  <a:gd name="connsiteY1" fmla="*/ 12914 h 211732"/>
                  <a:gd name="connsiteX2" fmla="*/ 91891 w 220045"/>
                  <a:gd name="connsiteY2" fmla="*/ 0 h 211732"/>
                  <a:gd name="connsiteX3" fmla="*/ 130532 w 220045"/>
                  <a:gd name="connsiteY3" fmla="*/ 8889 h 211732"/>
                  <a:gd name="connsiteX4" fmla="*/ 156180 w 220045"/>
                  <a:gd name="connsiteY4" fmla="*/ 32116 h 211732"/>
                  <a:gd name="connsiteX5" fmla="*/ 156180 w 220045"/>
                  <a:gd name="connsiteY5" fmla="*/ 2935 h 211732"/>
                  <a:gd name="connsiteX6" fmla="*/ 220045 w 220045"/>
                  <a:gd name="connsiteY6" fmla="*/ 2935 h 211732"/>
                  <a:gd name="connsiteX7" fmla="*/ 220045 w 220045"/>
                  <a:gd name="connsiteY7" fmla="*/ 208797 h 211732"/>
                  <a:gd name="connsiteX8" fmla="*/ 156180 w 220045"/>
                  <a:gd name="connsiteY8" fmla="*/ 208797 h 211732"/>
                  <a:gd name="connsiteX9" fmla="*/ 156180 w 220045"/>
                  <a:gd name="connsiteY9" fmla="*/ 179616 h 211732"/>
                  <a:gd name="connsiteX10" fmla="*/ 130193 w 220045"/>
                  <a:gd name="connsiteY10" fmla="*/ 202844 h 211732"/>
                  <a:gd name="connsiteX11" fmla="*/ 91551 w 220045"/>
                  <a:gd name="connsiteY11" fmla="*/ 211732 h 211732"/>
                  <a:gd name="connsiteX12" fmla="*/ 45181 w 220045"/>
                  <a:gd name="connsiteY12" fmla="*/ 198651 h 211732"/>
                  <a:gd name="connsiteX13" fmla="*/ 12144 w 220045"/>
                  <a:gd name="connsiteY13" fmla="*/ 161420 h 211732"/>
                  <a:gd name="connsiteX14" fmla="*/ 0 w 220045"/>
                  <a:gd name="connsiteY14" fmla="*/ 105489 h 211732"/>
                  <a:gd name="connsiteX15" fmla="*/ 12144 w 220045"/>
                  <a:gd name="connsiteY15" fmla="*/ 49726 h 211732"/>
                  <a:gd name="connsiteX16" fmla="*/ 142932 w 220045"/>
                  <a:gd name="connsiteY16" fmla="*/ 68593 h 211732"/>
                  <a:gd name="connsiteX17" fmla="*/ 110575 w 220045"/>
                  <a:gd name="connsiteY17" fmla="*/ 54925 h 211732"/>
                  <a:gd name="connsiteX18" fmla="*/ 78218 w 220045"/>
                  <a:gd name="connsiteY18" fmla="*/ 68425 h 211732"/>
                  <a:gd name="connsiteX19" fmla="*/ 64969 w 220045"/>
                  <a:gd name="connsiteY19" fmla="*/ 105489 h 211732"/>
                  <a:gd name="connsiteX20" fmla="*/ 78218 w 220045"/>
                  <a:gd name="connsiteY20" fmla="*/ 142972 h 211732"/>
                  <a:gd name="connsiteX21" fmla="*/ 110575 w 220045"/>
                  <a:gd name="connsiteY21" fmla="*/ 156808 h 211732"/>
                  <a:gd name="connsiteX22" fmla="*/ 142932 w 220045"/>
                  <a:gd name="connsiteY22" fmla="*/ 143139 h 211732"/>
                  <a:gd name="connsiteX23" fmla="*/ 156180 w 220045"/>
                  <a:gd name="connsiteY23" fmla="*/ 105908 h 211732"/>
                  <a:gd name="connsiteX24" fmla="*/ 142932 w 220045"/>
                  <a:gd name="connsiteY24" fmla="*/ 68677 h 21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0045" h="211732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292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2740C8-C7E2-1053-F63E-AE09AABB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870682F-2F2D-3CE5-6BED-FBD72D16C1DD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6">
            <a:extLst>
              <a:ext uri="{FF2B5EF4-FFF2-40B4-BE49-F238E27FC236}">
                <a16:creationId xmlns:a16="http://schemas.microsoft.com/office/drawing/2014/main" id="{0378B2BA-15B4-4C5E-BF4D-0AFAB7C953AC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29725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774C0C-4DC2-FD8F-49B4-3C2FD9320904}"/>
              </a:ext>
            </a:extLst>
          </p:cNvPr>
          <p:cNvSpPr txBox="1"/>
          <p:nvPr/>
        </p:nvSpPr>
        <p:spPr>
          <a:xfrm>
            <a:off x="985520" y="840663"/>
            <a:ext cx="10251440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b="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Introdução (5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Retome brevemente o que foi estudado na aula anterior sobre uso de cores, contraste e hierarquia visual.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Explique que agora os alunos analisarão como o posicionamento e o layout completam esse processo de tornar a visualização de dados clara e compreensível.</a:t>
            </a:r>
          </a:p>
          <a:p>
            <a:endParaRPr lang="pt-BR" sz="1000" b="1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Atividade em duplas (20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Oriente os alunos a observar os pares de gráficos (A e B) e responder às perguntas diretamente no roteiro.</a:t>
            </a:r>
            <a:b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Durante a análise, circule pela sala fazendo perguntas que estimulem o raciocínio visual, como: “Qual desses gráficos vocês entenderam primeiro?”.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Garanta que as duplas descrevam suas percepções de forma técnica e clara, evitando respostas genéricas como “está mais bonito”.</a:t>
            </a:r>
            <a:endParaRPr lang="pt-BR" sz="100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Apresentação e discussão (5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Escolha duas ou três duplas para compartilhar suas conclusões sobre um dos pares analisados.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Peça que expliquem o que perceberam de mais importante em relação à organização e clareza visual.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Estão descritas no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Roteiro do professor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. Use-o como referência para avaliar a clareza da explicação dos erros e a qualidade da reescrita das consultas.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AC6DC-F3D4-8E82-A636-FA4ED1FFCBFC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457794-0DBC-79BA-B56A-2D4B5055CB12}"/>
              </a:ext>
            </a:extLst>
          </p:cNvPr>
          <p:cNvSpPr/>
          <p:nvPr/>
        </p:nvSpPr>
        <p:spPr>
          <a:xfrm>
            <a:off x="493185" y="313461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85D4C67E-4C8F-9F10-3810-1D70C42D4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126" y="3188735"/>
            <a:ext cx="208026" cy="2667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65488AE-D13A-99C8-1E8C-DB8C78D7CB00}"/>
              </a:ext>
            </a:extLst>
          </p:cNvPr>
          <p:cNvSpPr/>
          <p:nvPr/>
        </p:nvSpPr>
        <p:spPr>
          <a:xfrm>
            <a:off x="0" y="4152300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0FA82DF-9E51-C066-F2D4-6D08CE00B9D5}"/>
              </a:ext>
            </a:extLst>
          </p:cNvPr>
          <p:cNvSpPr txBox="1"/>
          <p:nvPr/>
        </p:nvSpPr>
        <p:spPr>
          <a:xfrm>
            <a:off x="970281" y="4797680"/>
            <a:ext cx="9225280" cy="1282339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certa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Equilíbrio visual.</a:t>
            </a: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 bom layout organiza os elementos de forma equilibrada e alinhada, ajudando o leitor a entender os dados com facilidade e destacando o que realmente é importante no gráfico.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E88C66B-3A19-A1FC-5037-F5C0CE79D918}"/>
              </a:ext>
            </a:extLst>
          </p:cNvPr>
          <p:cNvSpPr txBox="1"/>
          <p:nvPr/>
        </p:nvSpPr>
        <p:spPr>
          <a:xfrm>
            <a:off x="970280" y="416570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8 e 9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BCB71D6-4280-3DDA-DF65-3790A7EE7064}"/>
              </a:ext>
            </a:extLst>
          </p:cNvPr>
          <p:cNvSpPr txBox="1"/>
          <p:nvPr/>
        </p:nvSpPr>
        <p:spPr>
          <a:xfrm>
            <a:off x="548640" y="611498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cxnSp>
        <p:nvCxnSpPr>
          <p:cNvPr id="20" name="Conector Reto 18">
            <a:extLst>
              <a:ext uri="{FF2B5EF4-FFF2-40B4-BE49-F238E27FC236}">
                <a16:creationId xmlns:a16="http://schemas.microsoft.com/office/drawing/2014/main" id="{48711A92-8EE0-8F82-996F-654EF2589C9B}"/>
              </a:ext>
            </a:extLst>
          </p:cNvPr>
          <p:cNvCxnSpPr>
            <a:cxnSpLocks/>
          </p:cNvCxnSpPr>
          <p:nvPr/>
        </p:nvCxnSpPr>
        <p:spPr>
          <a:xfrm flipV="1">
            <a:off x="675640" y="4423348"/>
            <a:ext cx="0" cy="184198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19">
            <a:extLst>
              <a:ext uri="{FF2B5EF4-FFF2-40B4-BE49-F238E27FC236}">
                <a16:creationId xmlns:a16="http://schemas.microsoft.com/office/drawing/2014/main" id="{D7810E71-6530-31BB-5E93-EE05A61FB47A}"/>
              </a:ext>
            </a:extLst>
          </p:cNvPr>
          <p:cNvSpPr/>
          <p:nvPr/>
        </p:nvSpPr>
        <p:spPr>
          <a:xfrm>
            <a:off x="492761" y="471725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B51A95CC-4076-DC52-291C-67B791BA4DB1}"/>
              </a:ext>
            </a:extLst>
          </p:cNvPr>
          <p:cNvSpPr/>
          <p:nvPr/>
        </p:nvSpPr>
        <p:spPr>
          <a:xfrm>
            <a:off x="492761" y="518280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7A96D21B-5389-00AB-4AD7-210D72E03A7D}"/>
              </a:ext>
            </a:extLst>
          </p:cNvPr>
          <p:cNvSpPr/>
          <p:nvPr/>
        </p:nvSpPr>
        <p:spPr>
          <a:xfrm>
            <a:off x="492761" y="564508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24" name="Google Shape;2216;p100">
            <a:extLst>
              <a:ext uri="{FF2B5EF4-FFF2-40B4-BE49-F238E27FC236}">
                <a16:creationId xmlns:a16="http://schemas.microsoft.com/office/drawing/2014/main" id="{D1CA4D4C-F932-9736-4609-34CC3E7F1242}"/>
              </a:ext>
            </a:extLst>
          </p:cNvPr>
          <p:cNvSpPr/>
          <p:nvPr/>
        </p:nvSpPr>
        <p:spPr>
          <a:xfrm>
            <a:off x="569897" y="4814348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223;p100">
            <a:extLst>
              <a:ext uri="{FF2B5EF4-FFF2-40B4-BE49-F238E27FC236}">
                <a16:creationId xmlns:a16="http://schemas.microsoft.com/office/drawing/2014/main" id="{93717D18-0393-1870-3DC7-09469F7A6D99}"/>
              </a:ext>
            </a:extLst>
          </p:cNvPr>
          <p:cNvSpPr>
            <a:spLocks/>
          </p:cNvSpPr>
          <p:nvPr/>
        </p:nvSpPr>
        <p:spPr>
          <a:xfrm>
            <a:off x="566852" y="5728092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1EBB98A-3182-B035-18F2-A543FA5CF6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144" y="5272439"/>
            <a:ext cx="154445" cy="193056"/>
          </a:xfrm>
          <a:prstGeom prst="rect">
            <a:avLst/>
          </a:prstGeom>
        </p:spPr>
      </p:pic>
      <p:sp>
        <p:nvSpPr>
          <p:cNvPr id="28" name="Oval 12">
            <a:extLst>
              <a:ext uri="{FF2B5EF4-FFF2-40B4-BE49-F238E27FC236}">
                <a16:creationId xmlns:a16="http://schemas.microsoft.com/office/drawing/2014/main" id="{31B3F975-1047-4C62-905B-AEF7C8C552F1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D8B2305-F4F3-F8B9-D40A-F9A4160A4D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906" y="859166"/>
            <a:ext cx="235296" cy="2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59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B71528-C9B5-A429-99E4-EC56034E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262455-A45F-B412-7D12-CB7C30C1D919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6">
            <a:extLst>
              <a:ext uri="{FF2B5EF4-FFF2-40B4-BE49-F238E27FC236}">
                <a16:creationId xmlns:a16="http://schemas.microsoft.com/office/drawing/2014/main" id="{90B20726-5C12-45B3-930E-65C757E8A0E7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53432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8CCE98-1A55-C12D-14B9-F22EBEF6F581}"/>
              </a:ext>
            </a:extLst>
          </p:cNvPr>
          <p:cNvSpPr txBox="1"/>
          <p:nvPr/>
        </p:nvSpPr>
        <p:spPr>
          <a:xfrm>
            <a:off x="985519" y="840663"/>
            <a:ext cx="10606405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1AA83C-6E3F-464D-60C2-88C7B35E9A69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17400A-A7A1-3C5D-E55E-F2FD403D4561}"/>
              </a:ext>
            </a:extLst>
          </p:cNvPr>
          <p:cNvSpPr/>
          <p:nvPr/>
        </p:nvSpPr>
        <p:spPr>
          <a:xfrm>
            <a:off x="497841" y="324123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400E50-4A91-2F09-7EC8-E31C519C4EBF}"/>
              </a:ext>
            </a:extLst>
          </p:cNvPr>
          <p:cNvSpPr/>
          <p:nvPr/>
        </p:nvSpPr>
        <p:spPr>
          <a:xfrm>
            <a:off x="497841" y="234661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2A15C-DEB5-C4E0-D5AA-A166C8E27B99}"/>
              </a:ext>
            </a:extLst>
          </p:cNvPr>
          <p:cNvSpPr/>
          <p:nvPr/>
        </p:nvSpPr>
        <p:spPr>
          <a:xfrm>
            <a:off x="497841" y="166589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0C1BC-DD66-23DD-6F65-929BCA4FE433}"/>
              </a:ext>
            </a:extLst>
          </p:cNvPr>
          <p:cNvSpPr/>
          <p:nvPr/>
        </p:nvSpPr>
        <p:spPr>
          <a:xfrm>
            <a:off x="497841" y="119233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07FF879-5937-1392-6ADB-1307D231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1286036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EC82023C-7B80-8CC1-474C-164594A56CBE}"/>
              </a:ext>
            </a:extLst>
          </p:cNvPr>
          <p:cNvSpPr>
            <a:spLocks/>
          </p:cNvSpPr>
          <p:nvPr/>
        </p:nvSpPr>
        <p:spPr>
          <a:xfrm>
            <a:off x="568008" y="174432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AA3D268F-2AC7-B7BC-834F-3E759636E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32" y="2417066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6F516C3-5015-82B3-04C2-2E384E5F1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867" y="3295358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88E1A94-7A43-752A-77A1-A4CC640BDCC8}"/>
              </a:ext>
            </a:extLst>
          </p:cNvPr>
          <p:cNvSpPr/>
          <p:nvPr/>
        </p:nvSpPr>
        <p:spPr>
          <a:xfrm>
            <a:off x="0" y="419518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401B33-B5B8-5BEF-9DE3-9318B699998D}"/>
              </a:ext>
            </a:extLst>
          </p:cNvPr>
          <p:cNvSpPr txBox="1"/>
          <p:nvPr/>
        </p:nvSpPr>
        <p:spPr>
          <a:xfrm>
            <a:off x="985520" y="4205349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11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2F3E5B87-D399-B274-066B-2371653E601E}"/>
              </a:ext>
            </a:extLst>
          </p:cNvPr>
          <p:cNvCxnSpPr>
            <a:cxnSpLocks/>
          </p:cNvCxnSpPr>
          <p:nvPr/>
        </p:nvCxnSpPr>
        <p:spPr>
          <a:xfrm flipV="1">
            <a:off x="689674" y="4445918"/>
            <a:ext cx="1" cy="142994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964F9C5F-A11C-929E-07AE-21B37991BA56}"/>
              </a:ext>
            </a:extLst>
          </p:cNvPr>
          <p:cNvSpPr/>
          <p:nvPr/>
        </p:nvSpPr>
        <p:spPr>
          <a:xfrm>
            <a:off x="497841" y="521700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93F346B9-FFB3-4AF4-F05D-A37799CF4107}"/>
              </a:ext>
            </a:extLst>
          </p:cNvPr>
          <p:cNvSpPr/>
          <p:nvPr/>
        </p:nvSpPr>
        <p:spPr>
          <a:xfrm>
            <a:off x="497841" y="474852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6E55D0CE-1460-B2AC-8966-ED7476D5F8E9}"/>
              </a:ext>
            </a:extLst>
          </p:cNvPr>
          <p:cNvSpPr/>
          <p:nvPr/>
        </p:nvSpPr>
        <p:spPr>
          <a:xfrm>
            <a:off x="572263" y="4847077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FAF5D27-4EC9-A831-4B32-15B5F56F6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5310708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9863524A-0039-5986-7CFD-3FE3348A56BE}"/>
              </a:ext>
            </a:extLst>
          </p:cNvPr>
          <p:cNvSpPr txBox="1"/>
          <p:nvPr/>
        </p:nvSpPr>
        <p:spPr>
          <a:xfrm>
            <a:off x="1000171" y="4868236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12">
            <a:extLst>
              <a:ext uri="{FF2B5EF4-FFF2-40B4-BE49-F238E27FC236}">
                <a16:creationId xmlns:a16="http://schemas.microsoft.com/office/drawing/2014/main" id="{F0B1DD25-C379-438A-8E89-226E7948D006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43136143-5AC8-4033-B46E-66D039F9056B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864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31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ae0932011ebc5765fda036f9be06b3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5a629c5c031305a68eb787f9011ca533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61F7A-1649-4A39-91A5-A3893F5678E5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4facdbb2-8ef9-464d-a709-26ca1c337062"/>
    <ds:schemaRef ds:uri="d8db0f09-d57f-4353-8fed-87a30f195225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0677084-0C62-44FA-A523-5D043DCC27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12060</TotalTime>
  <Words>1419</Words>
  <Application>Microsoft Office PowerPoint</Application>
  <PresentationFormat>Widescreen</PresentationFormat>
  <Paragraphs>150</Paragraphs>
  <Slides>17</Slides>
  <Notes>14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Poppins Medium</vt:lpstr>
      <vt:lpstr>Poppins</vt:lpstr>
      <vt:lpstr>Poppins Light</vt:lpstr>
      <vt:lpstr>Calibri</vt:lpstr>
      <vt:lpstr>Poppins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Alessandra Reis de Souza</cp:lastModifiedBy>
  <cp:revision>234</cp:revision>
  <dcterms:modified xsi:type="dcterms:W3CDTF">2026-01-28T19:20:38Z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