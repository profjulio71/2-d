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4"/>
    <p:sldMasterId id="2147483767" r:id="rId5"/>
  </p:sldMasterIdLst>
  <p:notesMasterIdLst>
    <p:notesMasterId r:id="rId25"/>
  </p:notesMasterIdLst>
  <p:handoutMasterIdLst>
    <p:handoutMasterId r:id="rId26"/>
  </p:handoutMasterIdLst>
  <p:sldIdLst>
    <p:sldId id="1273" r:id="rId6"/>
    <p:sldId id="1497" r:id="rId7"/>
    <p:sldId id="1498" r:id="rId8"/>
    <p:sldId id="1499" r:id="rId9"/>
    <p:sldId id="1500" r:id="rId10"/>
    <p:sldId id="1496" r:id="rId11"/>
    <p:sldId id="1493" r:id="rId12"/>
    <p:sldId id="1290" r:id="rId13"/>
    <p:sldId id="1461" r:id="rId14"/>
    <p:sldId id="1293" r:id="rId15"/>
    <p:sldId id="1294" r:id="rId16"/>
    <p:sldId id="1462" r:id="rId17"/>
    <p:sldId id="1296" r:id="rId18"/>
    <p:sldId id="1505" r:id="rId19"/>
    <p:sldId id="1507" r:id="rId20"/>
    <p:sldId id="1508" r:id="rId21"/>
    <p:sldId id="1509" r:id="rId22"/>
    <p:sldId id="1510" r:id="rId23"/>
    <p:sldId id="1302" r:id="rId24"/>
  </p:sldIdLst>
  <p:sldSz cx="12192000" cy="6858000"/>
  <p:notesSz cx="6858000" cy="9144000"/>
  <p:embeddedFontLs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Poppins Bold" panose="00000800000000000000" pitchFamily="2" charset="0"/>
      <p:regular r:id="rId31"/>
      <p:bold r:id="rId32"/>
      <p:italic r:id="rId33"/>
      <p:boldItalic r:id="rId34"/>
    </p:embeddedFont>
    <p:embeddedFont>
      <p:font typeface="Poppins Light" panose="000004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85" userDrawn="1">
          <p15:clr>
            <a:srgbClr val="A4A3A4"/>
          </p15:clr>
        </p15:guide>
        <p15:guide id="2" pos="667" userDrawn="1">
          <p15:clr>
            <a:srgbClr val="A4A3A4"/>
          </p15:clr>
        </p15:guide>
        <p15:guide id="3" orient="horz" pos="424" userDrawn="1">
          <p15:clr>
            <a:srgbClr val="A4A3A4"/>
          </p15:clr>
        </p15:guide>
        <p15:guide id="4" orient="horz" pos="10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93F123-A5E2-A62B-D9E3-D9303D1BB86B}" name="Gustavo Cruz dos Reis" initials="GC" userId="S::greis@vanzolini-ead.org.br::837664e1-438f-44d7-9e01-7f6012fe004f" providerId="AD"/>
  <p188:author id="{8EC25B63-2C85-9DB5-AB9D-5F3D63E2707A}" name="Erika Rosa de Araújo" initials="ER" userId="S::erika_araujo@vanzolini-ead.org.br::5b52b1c9-51d4-48d4-888b-26776a653382" providerId="AD"/>
  <p188:author id="{C6975768-E079-2129-EF66-8C7D8D20589C}" name="Usuário Convidado" initials="UC" userId="S::urn:spo:anon#9c1a6640c4cf430e37b8e52984f4ed92aa1896e2c9d3b1637fd5ce4c8fd5c9d5::" providerId="AD"/>
  <p188:author id="{B6690975-A9C3-148A-D4A5-4CBF6A2ABB4E}" name="Flavia Alessandra Soares de Oliveira" initials="FA" userId="S::flavia.oliveira@vanzolini-ead.org.br::c69a92dc-e5a9-4a45-ac8e-5266805fcaf4" providerId="AD"/>
  <p188:author id="{5609E583-6F6E-D26E-3483-A990B1ED9307}" name="Alice Girodo Elias" initials="AE" userId="S::alice_elias@vanzolini-ead.org.br::83a86b8d-5fdd-48ae-8c3d-d7029cde8382" providerId="AD"/>
  <p188:author id="{0C7EEB85-7C9A-1B88-BDB5-D1B42911E338}" name="mateus pereira" initials="mp" userId="0d193232d40e37e9" providerId="Windows Live"/>
  <p188:author id="{8DD8E787-7B43-E508-6891-C6122D24A71C}" name="Douglas José Mendonça" initials="DM" userId="4153c5f748151241" providerId="Windows Live"/>
  <p188:author id="{EA7E6897-FBE9-9C70-C068-FD298403604C}" name="JOSE AVELINO PLACCA" initials="JP" userId="S::jose.placca@fatec.sp.gov.br::5607103a-18bc-4249-a88b-cf9b68ce5d63" providerId="AD"/>
  <p188:author id="{359923D3-91D8-2A84-C320-E37824E7A0A2}" name="Sandra Alves Menezes" initials="SAM" userId="c70d3e3594991db2" providerId="Windows Live"/>
  <p188:author id="{E0388DF7-5B9F-86E5-E6C5-3F344187204B}" name="Eloisa Dalbem" initials="ED" userId="S::eldalbem@vanzolini-ead.org.br::9ae0c03a-8642-493e-97df-c9fd93e6c39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rya Bueno" initials="SB" lastIdx="1" clrIdx="0">
    <p:extLst>
      <p:ext uri="{19B8F6BF-5375-455C-9EA6-DF929625EA0E}">
        <p15:presenceInfo xmlns:p15="http://schemas.microsoft.com/office/powerpoint/2012/main" userId="6e21e9d7a184f473" providerId="Windows Live"/>
      </p:ext>
    </p:extLst>
  </p:cmAuthor>
  <p:cmAuthor id="2" name="Luiza " initials="LEL" lastIdx="8" clrIdx="1">
    <p:extLst>
      <p:ext uri="{19B8F6BF-5375-455C-9EA6-DF929625EA0E}">
        <p15:presenceInfo xmlns:p15="http://schemas.microsoft.com/office/powerpoint/2012/main" userId="Luiza 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E8E7"/>
    <a:srgbClr val="AAA6D3"/>
    <a:srgbClr val="312F67"/>
    <a:srgbClr val="4AB6FF"/>
    <a:srgbClr val="9278FF"/>
    <a:srgbClr val="3E3593"/>
    <a:srgbClr val="EE0000"/>
    <a:srgbClr val="FF0000"/>
    <a:srgbClr val="EC4E58"/>
    <a:srgbClr val="E83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30A05-8F78-F34C-3ABA-C0A3739C74C2}" v="108" dt="2025-11-05T19:57:46.765"/>
    <p1510:client id="{DCB9493D-7162-CF88-D013-E87FC7C7B5DA}" v="27" dt="2025-11-06T17:50:27.643"/>
  </p1510:revLst>
</p1510:revInfo>
</file>

<file path=ppt/tableStyles.xml><?xml version="1.0" encoding="utf-8"?>
<a:tblStyleLst xmlns:a="http://schemas.openxmlformats.org/drawingml/2006/main" def="{58B62AC2-CBFF-4FEF-A790-FB120B6FE34D}">
  <a:tblStyle styleId="{58B62AC2-CBFF-4FEF-A790-FB120B6FE3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737" autoAdjust="0"/>
  </p:normalViewPr>
  <p:slideViewPr>
    <p:cSldViewPr snapToGrid="0">
      <p:cViewPr>
        <p:scale>
          <a:sx n="50" d="100"/>
          <a:sy n="50" d="100"/>
        </p:scale>
        <p:origin x="1834" y="706"/>
      </p:cViewPr>
      <p:guideLst>
        <p:guide orient="horz" pos="485"/>
        <p:guide pos="667"/>
        <p:guide orient="horz" pos="424"/>
        <p:guide orient="horz" pos="10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9" Type="http://schemas.openxmlformats.org/officeDocument/2006/relationships/commentAuthors" Target="commentAuthors.xml"/><Relationship Id="rId21" Type="http://schemas.openxmlformats.org/officeDocument/2006/relationships/slide" Target="slides/slide16.xml"/><Relationship Id="rId34" Type="http://schemas.openxmlformats.org/officeDocument/2006/relationships/font" Target="fonts/font8.fntdata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5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0" Type="http://schemas.openxmlformats.org/officeDocument/2006/relationships/slide" Target="slides/slide15.xml"/><Relationship Id="rId4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0016A-23B3-8332-53D6-57FE04C281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8ABBCA-ED84-8C3A-7D17-F6393BAD02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E6816-8789-481E-B2F2-61889E0E8584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40203C-C3C0-C509-C3D9-F91275DBAE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A17361-C8A0-CABB-2146-B5B19E39C2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4F6E5-A54A-42CC-B250-9D06C7C52C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438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		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7090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>
          <a:extLst>
            <a:ext uri="{FF2B5EF4-FFF2-40B4-BE49-F238E27FC236}">
              <a16:creationId xmlns:a16="http://schemas.microsoft.com/office/drawing/2014/main" id="{4982D959-E681-3091-5DBA-BFC51308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:notes">
            <a:extLst>
              <a:ext uri="{FF2B5EF4-FFF2-40B4-BE49-F238E27FC236}">
                <a16:creationId xmlns:a16="http://schemas.microsoft.com/office/drawing/2014/main" id="{A8D4D882-4282-CCC3-4B54-9A7A6E561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1" name="Google Shape;641;p1:notes">
            <a:extLst>
              <a:ext uri="{FF2B5EF4-FFF2-40B4-BE49-F238E27FC236}">
                <a16:creationId xmlns:a16="http://schemas.microsoft.com/office/drawing/2014/main" id="{83EDA105-1AD4-F70C-5AA0-713D2D0C0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5486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1704-11F4-BE38-3A4E-D9BFEEA07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24B8EC-0893-758A-07E3-BFC96CB20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841C40-DD42-84CE-C536-208B0B9D7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43EF9D-B007-E5D1-82E9-FE224BAC96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4059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94ED12D0-033B-8C35-F8EB-EDBF4AE03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:notes">
            <a:extLst>
              <a:ext uri="{FF2B5EF4-FFF2-40B4-BE49-F238E27FC236}">
                <a16:creationId xmlns:a16="http://schemas.microsoft.com/office/drawing/2014/main" id="{C1C83FB3-78F8-4007-627D-EC399076E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2" name="Google Shape;652;p3:notes">
            <a:extLst>
              <a:ext uri="{FF2B5EF4-FFF2-40B4-BE49-F238E27FC236}">
                <a16:creationId xmlns:a16="http://schemas.microsoft.com/office/drawing/2014/main" id="{BC8773C8-559C-8B7C-A4EE-02737CD7C9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1756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7B7453D5-FE37-90F7-0117-6A1069A4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E55E856E-71F6-FFFC-27FF-C20FE327B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C790690E-A198-1BF4-E669-670C98910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2208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E51251EF-B01A-2B87-3E06-4D9AC1B1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22448803-FA87-93B5-D41E-AE98D69E0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286A4E81-D06C-2E01-3EF2-246CCED7D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91104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65F4DAEE-9901-3731-8F08-D283C215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5198b4dfb_0_1:notes">
            <a:extLst>
              <a:ext uri="{FF2B5EF4-FFF2-40B4-BE49-F238E27FC236}">
                <a16:creationId xmlns:a16="http://schemas.microsoft.com/office/drawing/2014/main" id="{74B7CBA6-3C74-A542-6503-85E3ED027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dirty="0"/>
          </a:p>
        </p:txBody>
      </p:sp>
      <p:sp>
        <p:nvSpPr>
          <p:cNvPr id="724" name="Google Shape;724;g1e5198b4dfb_0_1:notes">
            <a:extLst>
              <a:ext uri="{FF2B5EF4-FFF2-40B4-BE49-F238E27FC236}">
                <a16:creationId xmlns:a16="http://schemas.microsoft.com/office/drawing/2014/main" id="{D3DB5D40-7473-12E9-B92C-1A646EAD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2610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9" name="Google Shape;7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2395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5526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64DCB-F458-67A1-BA10-4FCD9684B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D36F95A-FC81-FE78-A1FF-AB9714F09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BC2D430-7B8E-DC1F-9C09-405212E24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9CC22E-AB3E-3D96-B3E0-3460B2E0B3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4007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6F8C6-0484-17BE-FA9C-A75FCE191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760BA8-F354-D1C0-AA68-770A7FDED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3F46772-EFCD-48C1-FF23-1056F59C6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561C6F-9EBB-6F66-B4B9-F02F91BE54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4235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ED98-7533-355F-742E-032730441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9DC344-0C3E-7469-0753-467E06B49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CDF2F9C-5EBC-0E6E-831C-448EB5E5C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92D495-AFFF-96B6-F450-60F8F6454B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0695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9F73-EE03-BBEE-DFFA-39C13D277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914089-C5B1-4FF4-A2AA-1B7F0EC4A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B09F81A-C570-D772-3C5F-B93C59901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C554B7-A5D5-2A54-B420-FC9E2C16AA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274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1B99-D532-135C-2F62-39990AD4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296B0A9-49CA-F8C3-7F75-920E0143E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603F38-673E-9DBB-ACCE-CB9010B70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FCBF04-DE9F-BA1C-8772-853373A888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62298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2385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ADB8EE0-0725-9288-40C5-5FC351DA05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61FC535-FD11-C3E0-86DE-59347D2A13FD}"/>
              </a:ext>
            </a:extLst>
          </p:cNvPr>
          <p:cNvSpPr/>
          <p:nvPr userDrawn="1"/>
        </p:nvSpPr>
        <p:spPr>
          <a:xfrm>
            <a:off x="5802699" y="1543035"/>
            <a:ext cx="4205858" cy="3044205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A76D6233-1DFE-69DC-BC91-031EFF5D7BBE}"/>
              </a:ext>
            </a:extLst>
          </p:cNvPr>
          <p:cNvSpPr txBox="1"/>
          <p:nvPr userDrawn="1"/>
        </p:nvSpPr>
        <p:spPr>
          <a:xfrm>
            <a:off x="2149362" y="2398780"/>
            <a:ext cx="3401671" cy="157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10"/>
              </a:lnSpc>
            </a:pPr>
            <a:r>
              <a:rPr lang="pt-BR" sz="4266" noProof="0">
                <a:solidFill>
                  <a:srgbClr val="000000"/>
                </a:solidFill>
                <a:latin typeface="Poppins Bold"/>
              </a:rPr>
              <a:t>Educação Profissional Paulista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54EA6E32-BAA4-91BD-E585-E0BA7BD39368}"/>
              </a:ext>
            </a:extLst>
          </p:cNvPr>
          <p:cNvSpPr txBox="1"/>
          <p:nvPr userDrawn="1"/>
        </p:nvSpPr>
        <p:spPr>
          <a:xfrm>
            <a:off x="6069602" y="2317274"/>
            <a:ext cx="3578455" cy="5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4"/>
              </a:lnSpc>
            </a:pPr>
            <a:r>
              <a:rPr lang="pt-BR" sz="3334" noProof="0">
                <a:solidFill>
                  <a:srgbClr val="FFFFFF"/>
                </a:solidFill>
                <a:latin typeface="Poppins Light"/>
              </a:rPr>
              <a:t>Técnico em 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AAE4528A-36BA-052E-746D-9B71C39D49E2}"/>
              </a:ext>
            </a:extLst>
          </p:cNvPr>
          <p:cNvSpPr txBox="1"/>
          <p:nvPr userDrawn="1"/>
        </p:nvSpPr>
        <p:spPr>
          <a:xfrm>
            <a:off x="6116401" y="2879829"/>
            <a:ext cx="3578455" cy="102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Ciência de</a:t>
            </a:r>
          </a:p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Dados</a:t>
            </a:r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45556331-C729-290C-EB54-6514E13768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66" t="26436" r="13369" b="26176"/>
          <a:stretch>
            <a:fillRect/>
          </a:stretch>
        </p:blipFill>
        <p:spPr>
          <a:xfrm>
            <a:off x="4828111" y="5385674"/>
            <a:ext cx="2535779" cy="1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67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userDrawn="1">
  <p:cSld name="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;p2">
            <a:extLst>
              <a:ext uri="{FF2B5EF4-FFF2-40B4-BE49-F238E27FC236}">
                <a16:creationId xmlns:a16="http://schemas.microsoft.com/office/drawing/2014/main" id="{C61E983A-53B0-7153-AAD3-1D12E820424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12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4AFDB35-0E89-4D1E-5E79-683F57AA5B3D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703A81F-7CF8-8C69-110F-69BA7DF444E5}"/>
              </a:ext>
            </a:extLst>
          </p:cNvPr>
          <p:cNvGrpSpPr/>
          <p:nvPr userDrawn="1"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12" name="Retângulo: Cantos Superiores Arredondados 11">
              <a:extLst>
                <a:ext uri="{FF2B5EF4-FFF2-40B4-BE49-F238E27FC236}">
                  <a16:creationId xmlns:a16="http://schemas.microsoft.com/office/drawing/2014/main" id="{68453F32-ED45-82AB-330C-7442964B4220}"/>
                </a:ext>
              </a:extLst>
            </p:cNvPr>
            <p:cNvSpPr/>
            <p:nvPr userDrawn="1"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E1D170F8-B097-5FEB-2F9D-3212AC5F9FAA}"/>
                </a:ext>
              </a:extLst>
            </p:cNvPr>
            <p:cNvSpPr/>
            <p:nvPr userDrawn="1"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B0611649-7F49-F6B3-8F31-F2002A2C55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566" t="26436" r="13369" b="26176"/>
          <a:stretch>
            <a:fillRect/>
          </a:stretch>
        </p:blipFill>
        <p:spPr>
          <a:xfrm>
            <a:off x="10534930" y="6126882"/>
            <a:ext cx="1539046" cy="696429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40F7A19-D1A1-9A06-E9DB-DF5C7CCBA433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B679BD7F-E199-BC7C-7600-B5FAA40660AD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244E16D8-68DC-A9B5-49E2-C2FCF9DE5E5E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6E6A731-6EC0-F8D3-E547-F7672578D93E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preserve="1" userDrawn="1">
  <p:cSld name="2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F753BE2-99F0-4892-173B-5CB027D775FC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pic>
        <p:nvPicPr>
          <p:cNvPr id="3" name="Google Shape;11;p2">
            <a:extLst>
              <a:ext uri="{FF2B5EF4-FFF2-40B4-BE49-F238E27FC236}">
                <a16:creationId xmlns:a16="http://schemas.microsoft.com/office/drawing/2014/main" id="{46F0F56E-50EC-0E6A-CEEB-A4B145413A2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437A09ED-342A-E250-B3D2-173B54822A05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D3AEE8A-4BF2-62EB-F63F-6B8B21467874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2D78B430-E455-AC7D-2FEB-DE7B569F5D65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8B79D2A3-A562-10CE-9FA8-C1941BF799F6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0024E4E-F98E-2C5F-D7BC-D9B04ECBEF8D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5" name="Google Shape;643;p43">
            <a:extLst>
              <a:ext uri="{FF2B5EF4-FFF2-40B4-BE49-F238E27FC236}">
                <a16:creationId xmlns:a16="http://schemas.microsoft.com/office/drawing/2014/main" id="{A69868A5-9F2A-3BD4-2E65-1F9E04557C13}"/>
              </a:ext>
            </a:extLst>
          </p:cNvPr>
          <p:cNvSpPr txBox="1">
            <a:spLocks/>
          </p:cNvSpPr>
          <p:nvPr userDrawn="1"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000">
                <a:solidFill>
                  <a:srgbClr val="FF161F"/>
                </a:solidFill>
              </a:rPr>
              <a:t>Orientações ao Professor</a:t>
            </a:r>
          </a:p>
        </p:txBody>
      </p:sp>
    </p:spTree>
    <p:extLst>
      <p:ext uri="{BB962C8B-B14F-4D97-AF65-F5344CB8AC3E}">
        <p14:creationId xmlns:p14="http://schemas.microsoft.com/office/powerpoint/2010/main" val="4191410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 preserve="1" userDrawn="1">
  <p:cSld name="2_1. Conteu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22;p4">
            <a:extLst>
              <a:ext uri="{FF2B5EF4-FFF2-40B4-BE49-F238E27FC236}">
                <a16:creationId xmlns:a16="http://schemas.microsoft.com/office/drawing/2014/main" id="{0441BF1F-C7EE-076D-0E64-5ADFC9612C2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;p4">
            <a:extLst>
              <a:ext uri="{FF2B5EF4-FFF2-40B4-BE49-F238E27FC236}">
                <a16:creationId xmlns:a16="http://schemas.microsoft.com/office/drawing/2014/main" id="{9951514B-0229-7045-2962-7AE28BD6721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Conector reto 136">
            <a:extLst>
              <a:ext uri="{FF2B5EF4-FFF2-40B4-BE49-F238E27FC236}">
                <a16:creationId xmlns:a16="http://schemas.microsoft.com/office/drawing/2014/main" id="{28ED8E59-867A-4118-491D-688DDC058D38}"/>
              </a:ext>
            </a:extLst>
          </p:cNvPr>
          <p:cNvCxnSpPr/>
          <p:nvPr userDrawn="1"/>
        </p:nvCxnSpPr>
        <p:spPr>
          <a:xfrm>
            <a:off x="6090044" y="840916"/>
            <a:ext cx="0" cy="5101049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31">
            <a:extLst>
              <a:ext uri="{FF2B5EF4-FFF2-40B4-BE49-F238E27FC236}">
                <a16:creationId xmlns:a16="http://schemas.microsoft.com/office/drawing/2014/main" id="{FB7070B6-E757-A6E0-8016-A32842AE691E}"/>
              </a:ext>
            </a:extLst>
          </p:cNvPr>
          <p:cNvSpPr txBox="1"/>
          <p:nvPr userDrawn="1"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29;p31">
            <a:extLst>
              <a:ext uri="{FF2B5EF4-FFF2-40B4-BE49-F238E27FC236}">
                <a16:creationId xmlns:a16="http://schemas.microsoft.com/office/drawing/2014/main" id="{741C94F6-1F01-E259-385F-4E743D12E89E}"/>
              </a:ext>
            </a:extLst>
          </p:cNvPr>
          <p:cNvSpPr txBox="1"/>
          <p:nvPr userDrawn="1"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27;p31">
            <a:extLst>
              <a:ext uri="{FF2B5EF4-FFF2-40B4-BE49-F238E27FC236}">
                <a16:creationId xmlns:a16="http://schemas.microsoft.com/office/drawing/2014/main" id="{D3A1B340-B3C1-6E5A-098C-780E2B17C68B}"/>
              </a:ext>
            </a:extLst>
          </p:cNvPr>
          <p:cNvSpPr txBox="1"/>
          <p:nvPr userDrawn="1"/>
        </p:nvSpPr>
        <p:spPr>
          <a:xfrm>
            <a:off x="1433188" y="2836870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28;p31">
            <a:extLst>
              <a:ext uri="{FF2B5EF4-FFF2-40B4-BE49-F238E27FC236}">
                <a16:creationId xmlns:a16="http://schemas.microsoft.com/office/drawing/2014/main" id="{5B559A0E-AD04-115A-BF39-7DBA374B9335}"/>
              </a:ext>
            </a:extLst>
          </p:cNvPr>
          <p:cNvSpPr txBox="1"/>
          <p:nvPr userDrawn="1"/>
        </p:nvSpPr>
        <p:spPr>
          <a:xfrm>
            <a:off x="1445466" y="4991389"/>
            <a:ext cx="3267249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29;p31">
            <a:extLst>
              <a:ext uri="{FF2B5EF4-FFF2-40B4-BE49-F238E27FC236}">
                <a16:creationId xmlns:a16="http://schemas.microsoft.com/office/drawing/2014/main" id="{EE47DDFB-5B6D-7333-B980-89821CD5C453}"/>
              </a:ext>
            </a:extLst>
          </p:cNvPr>
          <p:cNvSpPr txBox="1"/>
          <p:nvPr userDrawn="1"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40945717-DA64-748C-A1D1-9DD06F304E75}"/>
              </a:ext>
            </a:extLst>
          </p:cNvPr>
          <p:cNvSpPr txBox="1"/>
          <p:nvPr userDrawn="1"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6" name="Google Shape;359;p5">
            <a:extLst>
              <a:ext uri="{FF2B5EF4-FFF2-40B4-BE49-F238E27FC236}">
                <a16:creationId xmlns:a16="http://schemas.microsoft.com/office/drawing/2014/main" id="{0B37A977-D54F-7CA4-065E-4F5646195719}"/>
              </a:ext>
            </a:extLst>
          </p:cNvPr>
          <p:cNvSpPr txBox="1"/>
          <p:nvPr userDrawn="1"/>
        </p:nvSpPr>
        <p:spPr>
          <a:xfrm>
            <a:off x="1395562" y="5421233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50 minutos.</a:t>
            </a:r>
          </a:p>
        </p:txBody>
      </p:sp>
      <p:sp>
        <p:nvSpPr>
          <p:cNvPr id="57" name="Espaço Reservado para Texto 7">
            <a:extLst>
              <a:ext uri="{FF2B5EF4-FFF2-40B4-BE49-F238E27FC236}">
                <a16:creationId xmlns:a16="http://schemas.microsoft.com/office/drawing/2014/main" id="{9D3B3D7B-3AB2-D2E0-42C8-BEE1A273F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chemeClr val="tx1"/>
              </a:buClr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8" name="Espaço Reservado para Texto 7">
            <a:extLst>
              <a:ext uri="{FF2B5EF4-FFF2-40B4-BE49-F238E27FC236}">
                <a16:creationId xmlns:a16="http://schemas.microsoft.com/office/drawing/2014/main" id="{2B4474D7-F7C1-8A04-F7F3-06AE90E02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9" name="Espaço Reservado para Texto 7">
            <a:extLst>
              <a:ext uri="{FF2B5EF4-FFF2-40B4-BE49-F238E27FC236}">
                <a16:creationId xmlns:a16="http://schemas.microsoft.com/office/drawing/2014/main" id="{750A0485-F79D-BB58-9F3F-FA9A89265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0" name="Espaço Reservado para Texto 7">
            <a:extLst>
              <a:ext uri="{FF2B5EF4-FFF2-40B4-BE49-F238E27FC236}">
                <a16:creationId xmlns:a16="http://schemas.microsoft.com/office/drawing/2014/main" id="{E690A38C-21A5-1DD3-8FD9-05A05F954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3515" y="3415678"/>
            <a:ext cx="4044985" cy="1045573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1" name="Google Shape;26;p31">
            <a:extLst>
              <a:ext uri="{FF2B5EF4-FFF2-40B4-BE49-F238E27FC236}">
                <a16:creationId xmlns:a16="http://schemas.microsoft.com/office/drawing/2014/main" id="{94671E74-5053-0B75-2554-2EC14FBC543F}"/>
              </a:ext>
            </a:extLst>
          </p:cNvPr>
          <p:cNvSpPr/>
          <p:nvPr userDrawn="1"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42;p31">
            <a:extLst>
              <a:ext uri="{FF2B5EF4-FFF2-40B4-BE49-F238E27FC236}">
                <a16:creationId xmlns:a16="http://schemas.microsoft.com/office/drawing/2014/main" id="{9872EE60-7A4F-1BA5-6C65-F74323570E69}"/>
              </a:ext>
            </a:extLst>
          </p:cNvPr>
          <p:cNvSpPr/>
          <p:nvPr userDrawn="1"/>
        </p:nvSpPr>
        <p:spPr>
          <a:xfrm>
            <a:off x="514540" y="289194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44;p31">
            <a:extLst>
              <a:ext uri="{FF2B5EF4-FFF2-40B4-BE49-F238E27FC236}">
                <a16:creationId xmlns:a16="http://schemas.microsoft.com/office/drawing/2014/main" id="{E7AF0D48-4EAB-4341-56B9-E5180E18D687}"/>
              </a:ext>
            </a:extLst>
          </p:cNvPr>
          <p:cNvGrpSpPr/>
          <p:nvPr userDrawn="1"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71" name="Google Shape;45;p31">
              <a:extLst>
                <a:ext uri="{FF2B5EF4-FFF2-40B4-BE49-F238E27FC236}">
                  <a16:creationId xmlns:a16="http://schemas.microsoft.com/office/drawing/2014/main" id="{25EE43B4-55D5-638C-B8E0-7683EE07DEFE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75" name="Google Shape;46;p31">
                <a:extLst>
                  <a:ext uri="{FF2B5EF4-FFF2-40B4-BE49-F238E27FC236}">
                    <a16:creationId xmlns:a16="http://schemas.microsoft.com/office/drawing/2014/main" id="{D06AC268-D753-3703-84A7-70B8CEE1953D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47;p31">
                <a:extLst>
                  <a:ext uri="{FF2B5EF4-FFF2-40B4-BE49-F238E27FC236}">
                    <a16:creationId xmlns:a16="http://schemas.microsoft.com/office/drawing/2014/main" id="{3CA9B3D1-6574-F459-2D19-20757E9DA548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48;p31">
              <a:extLst>
                <a:ext uri="{FF2B5EF4-FFF2-40B4-BE49-F238E27FC236}">
                  <a16:creationId xmlns:a16="http://schemas.microsoft.com/office/drawing/2014/main" id="{9C48133A-5E44-59D4-D07A-9F4DA1DB4FB6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9;p31">
              <a:extLst>
                <a:ext uri="{FF2B5EF4-FFF2-40B4-BE49-F238E27FC236}">
                  <a16:creationId xmlns:a16="http://schemas.microsoft.com/office/drawing/2014/main" id="{52692079-AC69-2A35-9041-6474957E1B76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50;p31">
              <a:extLst>
                <a:ext uri="{FF2B5EF4-FFF2-40B4-BE49-F238E27FC236}">
                  <a16:creationId xmlns:a16="http://schemas.microsoft.com/office/drawing/2014/main" id="{DF1F27D0-EFFF-7207-95F6-31380C6AD755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43;p31">
            <a:extLst>
              <a:ext uri="{FF2B5EF4-FFF2-40B4-BE49-F238E27FC236}">
                <a16:creationId xmlns:a16="http://schemas.microsoft.com/office/drawing/2014/main" id="{6105EC4C-2897-6550-3658-7F87FDA2E46D}"/>
              </a:ext>
            </a:extLst>
          </p:cNvPr>
          <p:cNvSpPr/>
          <p:nvPr userDrawn="1"/>
        </p:nvSpPr>
        <p:spPr>
          <a:xfrm>
            <a:off x="516205" y="5041837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51;p31">
            <a:extLst>
              <a:ext uri="{FF2B5EF4-FFF2-40B4-BE49-F238E27FC236}">
                <a16:creationId xmlns:a16="http://schemas.microsoft.com/office/drawing/2014/main" id="{73A799AF-B157-40EC-DCBE-B8FCFBE7F3C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58917" y="5200319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41;p31">
            <a:extLst>
              <a:ext uri="{FF2B5EF4-FFF2-40B4-BE49-F238E27FC236}">
                <a16:creationId xmlns:a16="http://schemas.microsoft.com/office/drawing/2014/main" id="{B3B56EED-70D4-931C-A420-FE71A037A5B3}"/>
              </a:ext>
            </a:extLst>
          </p:cNvPr>
          <p:cNvSpPr/>
          <p:nvPr userDrawn="1"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52;p31">
            <a:extLst>
              <a:ext uri="{FF2B5EF4-FFF2-40B4-BE49-F238E27FC236}">
                <a16:creationId xmlns:a16="http://schemas.microsoft.com/office/drawing/2014/main" id="{150405F6-AD92-3E93-A0F2-62123F63C231}"/>
              </a:ext>
            </a:extLst>
          </p:cNvPr>
          <p:cNvGrpSpPr/>
          <p:nvPr userDrawn="1"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81" name="Google Shape;53;p31">
              <a:extLst>
                <a:ext uri="{FF2B5EF4-FFF2-40B4-BE49-F238E27FC236}">
                  <a16:creationId xmlns:a16="http://schemas.microsoft.com/office/drawing/2014/main" id="{E89D22AA-CDF5-F8EF-533A-455BBF7ED376}"/>
                </a:ext>
              </a:extLst>
            </p:cNvPr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" name="Google Shape;54;p31">
              <a:extLst>
                <a:ext uri="{FF2B5EF4-FFF2-40B4-BE49-F238E27FC236}">
                  <a16:creationId xmlns:a16="http://schemas.microsoft.com/office/drawing/2014/main" id="{34CAB52C-B8E8-A6A1-22C9-58CFDA6BF939}"/>
                </a:ext>
              </a:extLst>
            </p:cNvPr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83" name="Google Shape;55;p31">
                <a:extLst>
                  <a:ext uri="{FF2B5EF4-FFF2-40B4-BE49-F238E27FC236}">
                    <a16:creationId xmlns:a16="http://schemas.microsoft.com/office/drawing/2014/main" id="{0380A354-0C36-FBBD-5A99-BEB6A92922F2}"/>
                  </a:ext>
                </a:extLst>
              </p:cNvPr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56;p31">
                <a:extLst>
                  <a:ext uri="{FF2B5EF4-FFF2-40B4-BE49-F238E27FC236}">
                    <a16:creationId xmlns:a16="http://schemas.microsoft.com/office/drawing/2014/main" id="{B3EF03DC-1D7C-1510-0CD0-0F69395B797F}"/>
                  </a:ext>
                </a:extLst>
              </p:cNvPr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7;p31">
                <a:extLst>
                  <a:ext uri="{FF2B5EF4-FFF2-40B4-BE49-F238E27FC236}">
                    <a16:creationId xmlns:a16="http://schemas.microsoft.com/office/drawing/2014/main" id="{42F9CEE5-E68B-076C-BB6F-7A025F686840}"/>
                  </a:ext>
                </a:extLst>
              </p:cNvPr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8;p31">
                <a:extLst>
                  <a:ext uri="{FF2B5EF4-FFF2-40B4-BE49-F238E27FC236}">
                    <a16:creationId xmlns:a16="http://schemas.microsoft.com/office/drawing/2014/main" id="{99B7DFE5-0CDE-9C9C-3FD3-49285C4CFB39}"/>
                  </a:ext>
                </a:extLst>
              </p:cNvPr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9;p31">
                <a:extLst>
                  <a:ext uri="{FF2B5EF4-FFF2-40B4-BE49-F238E27FC236}">
                    <a16:creationId xmlns:a16="http://schemas.microsoft.com/office/drawing/2014/main" id="{0F963431-0407-0C32-190B-BA13628B3689}"/>
                  </a:ext>
                </a:extLst>
              </p:cNvPr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60;p31">
                <a:extLst>
                  <a:ext uri="{FF2B5EF4-FFF2-40B4-BE49-F238E27FC236}">
                    <a16:creationId xmlns:a16="http://schemas.microsoft.com/office/drawing/2014/main" id="{F439FC39-5565-97D2-9A14-46058DB5EF62}"/>
                  </a:ext>
                </a:extLst>
              </p:cNvPr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" name="Google Shape;41;p31">
            <a:extLst>
              <a:ext uri="{FF2B5EF4-FFF2-40B4-BE49-F238E27FC236}">
                <a16:creationId xmlns:a16="http://schemas.microsoft.com/office/drawing/2014/main" id="{4FB79224-C783-AB92-7785-7C018D12A249}"/>
              </a:ext>
            </a:extLst>
          </p:cNvPr>
          <p:cNvSpPr/>
          <p:nvPr userDrawn="1"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2215;p100">
            <a:extLst>
              <a:ext uri="{FF2B5EF4-FFF2-40B4-BE49-F238E27FC236}">
                <a16:creationId xmlns:a16="http://schemas.microsoft.com/office/drawing/2014/main" id="{0E0D728E-3A33-4EF4-5212-177932EB7D37}"/>
              </a:ext>
            </a:extLst>
          </p:cNvPr>
          <p:cNvSpPr/>
          <p:nvPr userDrawn="1"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C464C-51C2-DB3D-4C1D-F67CB5B688F7}"/>
              </a:ext>
            </a:extLst>
          </p:cNvPr>
          <p:cNvSpPr txBox="1"/>
          <p:nvPr userDrawn="1"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7" name="Google Shape;34;p31">
            <a:extLst>
              <a:ext uri="{FF2B5EF4-FFF2-40B4-BE49-F238E27FC236}">
                <a16:creationId xmlns:a16="http://schemas.microsoft.com/office/drawing/2014/main" id="{C430FFE2-579C-F0FF-C290-CF4D2EB9FE97}"/>
              </a:ext>
            </a:extLst>
          </p:cNvPr>
          <p:cNvGrpSpPr/>
          <p:nvPr userDrawn="1"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9" name="Google Shape;35;p31">
              <a:extLst>
                <a:ext uri="{FF2B5EF4-FFF2-40B4-BE49-F238E27FC236}">
                  <a16:creationId xmlns:a16="http://schemas.microsoft.com/office/drawing/2014/main" id="{75DCD9A7-81F9-4D17-9997-5B22594BE3C9}"/>
                </a:ext>
              </a:extLst>
            </p:cNvPr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4" name="Google Shape;36;p31">
                <a:extLst>
                  <a:ext uri="{FF2B5EF4-FFF2-40B4-BE49-F238E27FC236}">
                    <a16:creationId xmlns:a16="http://schemas.microsoft.com/office/drawing/2014/main" id="{90EABD33-493E-E54A-1A23-1BA99D60F8B0}"/>
                  </a:ext>
                </a:extLst>
              </p:cNvPr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37;p31">
                <a:extLst>
                  <a:ext uri="{FF2B5EF4-FFF2-40B4-BE49-F238E27FC236}">
                    <a16:creationId xmlns:a16="http://schemas.microsoft.com/office/drawing/2014/main" id="{A8D933AC-72DA-D72F-77D3-A7207C548944}"/>
                  </a:ext>
                </a:extLst>
              </p:cNvPr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38;p31">
                <a:extLst>
                  <a:ext uri="{FF2B5EF4-FFF2-40B4-BE49-F238E27FC236}">
                    <a16:creationId xmlns:a16="http://schemas.microsoft.com/office/drawing/2014/main" id="{4A4515EE-AAD5-6566-FB77-56CD51465C34}"/>
                  </a:ext>
                </a:extLst>
              </p:cNvPr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39;p31">
              <a:extLst>
                <a:ext uri="{FF2B5EF4-FFF2-40B4-BE49-F238E27FC236}">
                  <a16:creationId xmlns:a16="http://schemas.microsoft.com/office/drawing/2014/main" id="{C178D74F-1BD9-301F-4848-BDD92A8BD252}"/>
                </a:ext>
              </a:extLst>
            </p:cNvPr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0;p31">
              <a:extLst>
                <a:ext uri="{FF2B5EF4-FFF2-40B4-BE49-F238E27FC236}">
                  <a16:creationId xmlns:a16="http://schemas.microsoft.com/office/drawing/2014/main" id="{2FB8305B-313B-9DA6-397B-FD10C2E02AD9}"/>
                </a:ext>
              </a:extLst>
            </p:cNvPr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278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 preserve="1" userDrawn="1">
  <p:cSld name="2_1. Conteudo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1010BB96-2C5C-93CB-0DE4-6ADDB142D0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1" name="Espaço Reservado para Texto 7">
            <a:extLst>
              <a:ext uri="{FF2B5EF4-FFF2-40B4-BE49-F238E27FC236}">
                <a16:creationId xmlns:a16="http://schemas.microsoft.com/office/drawing/2014/main" id="{9550BDCE-8C17-2808-26AD-19DADB9A40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6" name="Espaço Reservado para Texto 7">
            <a:extLst>
              <a:ext uri="{FF2B5EF4-FFF2-40B4-BE49-F238E27FC236}">
                <a16:creationId xmlns:a16="http://schemas.microsoft.com/office/drawing/2014/main" id="{24714A58-2E0F-BD3B-F270-0F26F9E6CD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20" name="Espaço Reservado para Texto 7">
            <a:extLst>
              <a:ext uri="{FF2B5EF4-FFF2-40B4-BE49-F238E27FC236}">
                <a16:creationId xmlns:a16="http://schemas.microsoft.com/office/drawing/2014/main" id="{5E0069F1-0137-2FAA-27B5-5B98A6D199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C140BF74-0D8B-686D-7192-D2693E320B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1F1ADA5-0301-ECFD-3277-ECCFF29A2819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Google Shape;69;p32">
            <a:extLst>
              <a:ext uri="{FF2B5EF4-FFF2-40B4-BE49-F238E27FC236}">
                <a16:creationId xmlns:a16="http://schemas.microsoft.com/office/drawing/2014/main" id="{1E9846A1-6619-FFC3-8F2E-CDD83D8E3E5E}"/>
              </a:ext>
            </a:extLst>
          </p:cNvPr>
          <p:cNvSpPr txBox="1"/>
          <p:nvPr userDrawn="1"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2549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preserve="1" userDrawn="1">
  <p:cSld name="3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3;p21">
            <a:extLst>
              <a:ext uri="{FF2B5EF4-FFF2-40B4-BE49-F238E27FC236}">
                <a16:creationId xmlns:a16="http://schemas.microsoft.com/office/drawing/2014/main" id="{04070031-126A-1C18-A638-9AC483966A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E3EABF6E-626A-0802-C919-B97335045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24C57C54-2E58-E7B5-ECF5-2C905E340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BCCA439-C4B5-2772-1B1E-B3EF2478CA20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231;p21">
            <a:extLst>
              <a:ext uri="{FF2B5EF4-FFF2-40B4-BE49-F238E27FC236}">
                <a16:creationId xmlns:a16="http://schemas.microsoft.com/office/drawing/2014/main" id="{41373AC4-2E72-9576-BD0A-EBC4AE3D4496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413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 preserve="1" userDrawn="1">
  <p:cSld name="3_Atividade_Resposta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62;p38">
            <a:extLst>
              <a:ext uri="{FF2B5EF4-FFF2-40B4-BE49-F238E27FC236}">
                <a16:creationId xmlns:a16="http://schemas.microsoft.com/office/drawing/2014/main" id="{7689DC06-EAE3-38FF-04B9-B5AC70E62C0A}"/>
              </a:ext>
            </a:extLst>
          </p:cNvPr>
          <p:cNvSpPr txBox="1"/>
          <p:nvPr userDrawn="1"/>
        </p:nvSpPr>
        <p:spPr>
          <a:xfrm>
            <a:off x="3305837" y="5938617"/>
            <a:ext cx="6190494" cy="24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noProof="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</a:t>
            </a:r>
            <a:endParaRPr lang="pt-BR" sz="1200" b="0" i="0" u="none" strike="noStrike" cap="none" noProof="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644FA7C-8B7D-7E51-0B73-7BDE8ED2A9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2047" y="5795955"/>
            <a:ext cx="363559" cy="436271"/>
          </a:xfrm>
          <a:prstGeom prst="rect">
            <a:avLst/>
          </a:prstGeom>
        </p:spPr>
      </p:pic>
      <p:sp>
        <p:nvSpPr>
          <p:cNvPr id="17" name="Google Shape;550;p38">
            <a:extLst>
              <a:ext uri="{FF2B5EF4-FFF2-40B4-BE49-F238E27FC236}">
                <a16:creationId xmlns:a16="http://schemas.microsoft.com/office/drawing/2014/main" id="{22DB1641-662F-0F15-0F05-AB19823A1C94}"/>
              </a:ext>
            </a:extLst>
          </p:cNvPr>
          <p:cNvSpPr/>
          <p:nvPr userDrawn="1"/>
        </p:nvSpPr>
        <p:spPr>
          <a:xfrm>
            <a:off x="2883290" y="2029006"/>
            <a:ext cx="4046900" cy="3616933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552;p38">
            <a:extLst>
              <a:ext uri="{FF2B5EF4-FFF2-40B4-BE49-F238E27FC236}">
                <a16:creationId xmlns:a16="http://schemas.microsoft.com/office/drawing/2014/main" id="{6499F285-1A38-F587-30AE-F87C7C508E35}"/>
              </a:ext>
            </a:extLst>
          </p:cNvPr>
          <p:cNvSpPr/>
          <p:nvPr userDrawn="1"/>
        </p:nvSpPr>
        <p:spPr>
          <a:xfrm>
            <a:off x="7220006" y="2029006"/>
            <a:ext cx="4046900" cy="3616933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Google Shape;555;p38">
            <a:extLst>
              <a:ext uri="{FF2B5EF4-FFF2-40B4-BE49-F238E27FC236}">
                <a16:creationId xmlns:a16="http://schemas.microsoft.com/office/drawing/2014/main" id="{2BF08877-A4A6-A343-7ADA-9CCC985A9343}"/>
              </a:ext>
            </a:extLst>
          </p:cNvPr>
          <p:cNvSpPr txBox="1"/>
          <p:nvPr userDrawn="1"/>
        </p:nvSpPr>
        <p:spPr>
          <a:xfrm>
            <a:off x="2883290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noProof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</a:p>
        </p:txBody>
      </p:sp>
      <p:sp>
        <p:nvSpPr>
          <p:cNvPr id="20" name="Google Shape;556;p38">
            <a:extLst>
              <a:ext uri="{FF2B5EF4-FFF2-40B4-BE49-F238E27FC236}">
                <a16:creationId xmlns:a16="http://schemas.microsoft.com/office/drawing/2014/main" id="{06DCDA04-B510-0D6E-F21C-78BC9B40087E}"/>
              </a:ext>
            </a:extLst>
          </p:cNvPr>
          <p:cNvSpPr txBox="1"/>
          <p:nvPr userDrawn="1"/>
        </p:nvSpPr>
        <p:spPr>
          <a:xfrm>
            <a:off x="7220007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noProof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</a:p>
        </p:txBody>
      </p:sp>
      <p:sp>
        <p:nvSpPr>
          <p:cNvPr id="21" name="Google Shape;551;p38">
            <a:extLst>
              <a:ext uri="{FF2B5EF4-FFF2-40B4-BE49-F238E27FC236}">
                <a16:creationId xmlns:a16="http://schemas.microsoft.com/office/drawing/2014/main" id="{7E6A8E0A-9183-FB50-4A81-66F4D7EDD5E7}"/>
              </a:ext>
            </a:extLst>
          </p:cNvPr>
          <p:cNvSpPr/>
          <p:nvPr userDrawn="1"/>
        </p:nvSpPr>
        <p:spPr>
          <a:xfrm rot="10800000">
            <a:off x="4522940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553;p38">
            <a:extLst>
              <a:ext uri="{FF2B5EF4-FFF2-40B4-BE49-F238E27FC236}">
                <a16:creationId xmlns:a16="http://schemas.microsoft.com/office/drawing/2014/main" id="{4D2C6640-A50D-4F35-EF25-B49D864B9245}"/>
              </a:ext>
            </a:extLst>
          </p:cNvPr>
          <p:cNvSpPr/>
          <p:nvPr userDrawn="1"/>
        </p:nvSpPr>
        <p:spPr>
          <a:xfrm rot="10800000">
            <a:off x="8859658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9449EC55-4306-D15B-633C-ED1C9E0800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5052" y="1652486"/>
            <a:ext cx="613321" cy="417058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1BEFF44C-BE6A-E4AA-DF79-EF09D79012A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5782" y="1632977"/>
            <a:ext cx="450550" cy="440964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35B43FD-5095-46B3-8EB1-897220C0790B}"/>
              </a:ext>
            </a:extLst>
          </p:cNvPr>
          <p:cNvSpPr/>
          <p:nvPr userDrawn="1"/>
        </p:nvSpPr>
        <p:spPr>
          <a:xfrm>
            <a:off x="200184" y="22452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07;p37">
            <a:extLst>
              <a:ext uri="{FF2B5EF4-FFF2-40B4-BE49-F238E27FC236}">
                <a16:creationId xmlns:a16="http://schemas.microsoft.com/office/drawing/2014/main" id="{B0B941E4-27E1-6459-AFF5-88ED9B4B4A87}"/>
              </a:ext>
            </a:extLst>
          </p:cNvPr>
          <p:cNvSpPr txBox="1"/>
          <p:nvPr userDrawn="1"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18979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 preserve="1" userDrawn="1">
  <p:cSld name="2_Atividade_embranco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0416F6-09BD-9981-848C-F13A11B9AE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4" name="Espaço Reservado para Mídia 3">
            <a:extLst>
              <a:ext uri="{FF2B5EF4-FFF2-40B4-BE49-F238E27FC236}">
                <a16:creationId xmlns:a16="http://schemas.microsoft.com/office/drawing/2014/main" id="{93F045AC-FA97-1D94-5C54-6BC8931024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226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03;p21">
            <a:extLst>
              <a:ext uri="{FF2B5EF4-FFF2-40B4-BE49-F238E27FC236}">
                <a16:creationId xmlns:a16="http://schemas.microsoft.com/office/drawing/2014/main" id="{C2D53C5C-653B-C871-5FD5-4980C285D2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0" y="12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8177CD9-E792-DDEE-DE23-7B769E5A045C}"/>
              </a:ext>
            </a:extLst>
          </p:cNvPr>
          <p:cNvSpPr/>
          <p:nvPr userDrawn="1"/>
        </p:nvSpPr>
        <p:spPr>
          <a:xfrm>
            <a:off x="5260792" y="304269"/>
            <a:ext cx="6553729" cy="556821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A24CA4-AA45-E069-3331-6863E624A858}"/>
              </a:ext>
            </a:extLst>
          </p:cNvPr>
          <p:cNvSpPr txBox="1"/>
          <p:nvPr userDrawn="1"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 userDrawn="1">
  <p:cSld name="5_OqueAprendemo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16;p32">
            <a:extLst>
              <a:ext uri="{FF2B5EF4-FFF2-40B4-BE49-F238E27FC236}">
                <a16:creationId xmlns:a16="http://schemas.microsoft.com/office/drawing/2014/main" id="{7C738FF4-2E01-8DDD-6839-4D26CF39941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7961" t="437" r="51208"/>
          <a:stretch/>
        </p:blipFill>
        <p:spPr>
          <a:xfrm>
            <a:off x="0" y="0"/>
            <a:ext cx="37752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4" name="Google Shape;689;p48">
            <a:extLst>
              <a:ext uri="{FF2B5EF4-FFF2-40B4-BE49-F238E27FC236}">
                <a16:creationId xmlns:a16="http://schemas.microsoft.com/office/drawing/2014/main" id="{3A19ED95-0334-F47C-AF86-3309C91852AB}"/>
              </a:ext>
            </a:extLst>
          </p:cNvPr>
          <p:cNvSpPr txBox="1">
            <a:spLocks/>
          </p:cNvSpPr>
          <p:nvPr userDrawn="1"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"/>
              </a:spcBef>
              <a:buSzPts val="1200"/>
              <a:buFont typeface="Arial" pitchFamily="34" charset="0"/>
              <a:buNone/>
            </a:pPr>
            <a:r>
              <a:rPr lang="pt-BR" sz="8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Getty </a:t>
            </a:r>
            <a:r>
              <a:rPr lang="pt-BR" sz="80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Images</a:t>
            </a:r>
            <a:endParaRPr lang="pt-BR" sz="80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" name="Google Shape;345;p32">
            <a:extLst>
              <a:ext uri="{FF2B5EF4-FFF2-40B4-BE49-F238E27FC236}">
                <a16:creationId xmlns:a16="http://schemas.microsoft.com/office/drawing/2014/main" id="{D958A6C2-8B71-D5A0-1C68-95723A4C4FE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347;p32">
            <a:extLst>
              <a:ext uri="{FF2B5EF4-FFF2-40B4-BE49-F238E27FC236}">
                <a16:creationId xmlns:a16="http://schemas.microsoft.com/office/drawing/2014/main" id="{D60E57C9-84D4-8D99-0D6C-C59B32F7C63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" name="Google Shape;349;p32">
            <a:extLst>
              <a:ext uri="{FF2B5EF4-FFF2-40B4-BE49-F238E27FC236}">
                <a16:creationId xmlns:a16="http://schemas.microsoft.com/office/drawing/2014/main" id="{142C7AEA-387E-A052-1D08-8A416B8497B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233;p39">
            <a:extLst>
              <a:ext uri="{FF2B5EF4-FFF2-40B4-BE49-F238E27FC236}">
                <a16:creationId xmlns:a16="http://schemas.microsoft.com/office/drawing/2014/main" id="{23D223AE-6B47-5244-85DA-E25526DF3862}"/>
              </a:ext>
            </a:extLst>
          </p:cNvPr>
          <p:cNvSpPr txBox="1"/>
          <p:nvPr userDrawn="1"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5;p39">
            <a:extLst>
              <a:ext uri="{FF2B5EF4-FFF2-40B4-BE49-F238E27FC236}">
                <a16:creationId xmlns:a16="http://schemas.microsoft.com/office/drawing/2014/main" id="{607A1E13-022D-D9F1-086C-636AF8EAE3BA}"/>
              </a:ext>
            </a:extLst>
          </p:cNvPr>
          <p:cNvSpPr txBox="1"/>
          <p:nvPr userDrawn="1"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7;p39">
            <a:extLst>
              <a:ext uri="{FF2B5EF4-FFF2-40B4-BE49-F238E27FC236}">
                <a16:creationId xmlns:a16="http://schemas.microsoft.com/office/drawing/2014/main" id="{2E8F90B6-2731-530A-A552-FC88DAE9F7F9}"/>
              </a:ext>
            </a:extLst>
          </p:cNvPr>
          <p:cNvSpPr txBox="1"/>
          <p:nvPr userDrawn="1"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BE2669-C701-CF93-6C9B-1A151924C387}"/>
              </a:ext>
            </a:extLst>
          </p:cNvPr>
          <p:cNvSpPr txBox="1"/>
          <p:nvPr userDrawn="1"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B9F18DD-9821-1E54-73CE-A0A10E9362B8}"/>
              </a:ext>
            </a:extLst>
          </p:cNvPr>
          <p:cNvSpPr/>
          <p:nvPr userDrawn="1"/>
        </p:nvSpPr>
        <p:spPr>
          <a:xfrm>
            <a:off x="1827147" y="369589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Google Shape;353;p32">
            <a:extLst>
              <a:ext uri="{FF2B5EF4-FFF2-40B4-BE49-F238E27FC236}">
                <a16:creationId xmlns:a16="http://schemas.microsoft.com/office/drawing/2014/main" id="{62F5D2C0-4629-0280-CE53-FE5C1AE5A616}"/>
              </a:ext>
            </a:extLst>
          </p:cNvPr>
          <p:cNvSpPr txBox="1"/>
          <p:nvPr userDrawn="1"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lang="pt-BR" sz="2333" b="0" i="0" u="none" strike="noStrike" cap="none" noProof="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558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 userDrawn="1">
  <p:cSld name="4_Atividade_Seminario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;p4">
            <a:extLst>
              <a:ext uri="{FF2B5EF4-FFF2-40B4-BE49-F238E27FC236}">
                <a16:creationId xmlns:a16="http://schemas.microsoft.com/office/drawing/2014/main" id="{96D0DE7F-92AF-A646-0FF2-A77FC5D2471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79131217-7207-B376-583C-711407C3744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>
            <a:spLocks noGrp="1"/>
          </p:cNvSpPr>
          <p:nvPr>
            <p:ph type="body" idx="5"/>
          </p:nvPr>
        </p:nvSpPr>
        <p:spPr>
          <a:xfrm>
            <a:off x="1450528" y="1854200"/>
            <a:ext cx="8305873" cy="3822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" name="Google Shape;624;p42">
            <a:extLst>
              <a:ext uri="{FF2B5EF4-FFF2-40B4-BE49-F238E27FC236}">
                <a16:creationId xmlns:a16="http://schemas.microsoft.com/office/drawing/2014/main" id="{690D8EE8-5EA4-845E-6984-D0C986969508}"/>
              </a:ext>
            </a:extLst>
          </p:cNvPr>
          <p:cNvSpPr txBox="1"/>
          <p:nvPr userDrawn="1"/>
        </p:nvSpPr>
        <p:spPr>
          <a:xfrm>
            <a:off x="1450528" y="1180890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noProof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r>
              <a:rPr lang="en-US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59309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 preserve="1" userDrawn="1">
  <p:cSld name="2_4. Exposição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E4D5C0-2DFD-930A-8F66-D0EE5037040E}"/>
              </a:ext>
            </a:extLst>
          </p:cNvPr>
          <p:cNvSpPr txBox="1"/>
          <p:nvPr userDrawn="1"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1358944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48" r:id="rId2"/>
    <p:sldLayoutId id="2147483731" r:id="rId3"/>
    <p:sldLayoutId id="2147483710" r:id="rId4"/>
    <p:sldLayoutId id="2147483735" r:id="rId5"/>
    <p:sldLayoutId id="2147483713" r:id="rId6"/>
    <p:sldLayoutId id="2147483714" r:id="rId7"/>
    <p:sldLayoutId id="2147483701" r:id="rId8"/>
    <p:sldLayoutId id="2147483658" r:id="rId9"/>
    <p:sldLayoutId id="2147483705" r:id="rId10"/>
    <p:sldLayoutId id="2147483707" r:id="rId11"/>
    <p:sldLayoutId id="214748373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312854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sv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9w0zE8tyTU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emf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34.sv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49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>
          <a:extLst>
            <a:ext uri="{FF2B5EF4-FFF2-40B4-BE49-F238E27FC236}">
              <a16:creationId xmlns:a16="http://schemas.microsoft.com/office/drawing/2014/main" id="{E7CC629F-5B70-0EC3-2341-63A129A4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43;p43">
            <a:extLst>
              <a:ext uri="{FF2B5EF4-FFF2-40B4-BE49-F238E27FC236}">
                <a16:creationId xmlns:a16="http://schemas.microsoft.com/office/drawing/2014/main" id="{00F2E05F-4E78-C49B-B344-9FE49BE19848}"/>
              </a:ext>
            </a:extLst>
          </p:cNvPr>
          <p:cNvSpPr txBox="1">
            <a:spLocks/>
          </p:cNvSpPr>
          <p:nvPr/>
        </p:nvSpPr>
        <p:spPr>
          <a:xfrm>
            <a:off x="613181" y="2135339"/>
            <a:ext cx="6814747" cy="4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Escolha do visual adequado</a:t>
            </a:r>
          </a:p>
        </p:txBody>
      </p:sp>
      <p:sp>
        <p:nvSpPr>
          <p:cNvPr id="8" name="Google Shape;644;p43">
            <a:extLst>
              <a:ext uri="{FF2B5EF4-FFF2-40B4-BE49-F238E27FC236}">
                <a16:creationId xmlns:a16="http://schemas.microsoft.com/office/drawing/2014/main" id="{DE245DF1-58A8-887B-D7BA-D2B159B16FB0}"/>
              </a:ext>
            </a:extLst>
          </p:cNvPr>
          <p:cNvSpPr txBox="1">
            <a:spLocks/>
          </p:cNvSpPr>
          <p:nvPr/>
        </p:nvSpPr>
        <p:spPr>
          <a:xfrm>
            <a:off x="613179" y="3554305"/>
            <a:ext cx="6814747" cy="59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Código da aula: DADOSANO1C3B2S9A3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endParaRPr kumimoji="0" lang="pt-BR" sz="16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9" name="Google Shape;643;p43">
            <a:extLst>
              <a:ext uri="{FF2B5EF4-FFF2-40B4-BE49-F238E27FC236}">
                <a16:creationId xmlns:a16="http://schemas.microsoft.com/office/drawing/2014/main" id="{92B8075E-01D3-017A-CA7D-771BFC4BA2AD}"/>
              </a:ext>
            </a:extLst>
          </p:cNvPr>
          <p:cNvSpPr txBox="1">
            <a:spLocks/>
          </p:cNvSpPr>
          <p:nvPr/>
        </p:nvSpPr>
        <p:spPr>
          <a:xfrm>
            <a:off x="613180" y="1250419"/>
            <a:ext cx="6814747" cy="553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161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Storytelling de dados</a:t>
            </a:r>
          </a:p>
        </p:txBody>
      </p:sp>
      <p:sp>
        <p:nvSpPr>
          <p:cNvPr id="10" name="Google Shape;644;p43">
            <a:extLst>
              <a:ext uri="{FF2B5EF4-FFF2-40B4-BE49-F238E27FC236}">
                <a16:creationId xmlns:a16="http://schemas.microsoft.com/office/drawing/2014/main" id="{35D3002E-963D-7319-F153-E2C42DC0660B}"/>
              </a:ext>
            </a:extLst>
          </p:cNvPr>
          <p:cNvSpPr txBox="1">
            <a:spLocks/>
          </p:cNvSpPr>
          <p:nvPr/>
        </p:nvSpPr>
        <p:spPr>
          <a:xfrm>
            <a:off x="613180" y="2953947"/>
            <a:ext cx="6814747" cy="33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2500"/>
              <a:buNone/>
              <a:defRPr sz="1800">
                <a:solidFill>
                  <a:srgbClr val="BFBFBF"/>
                </a:solidFill>
                <a:latin typeface="Poppins Medium" panose="00000600000000000000" pitchFamily="2" charset="0"/>
                <a:ea typeface="Poppins"/>
                <a:cs typeface="Poppins Medium" panose="00000600000000000000" pitchFamily="2" charset="0"/>
              </a:defRPr>
            </a:lvl1pPr>
            <a:lvl2pPr marL="914400" indent="-406400">
              <a:spcBef>
                <a:spcPts val="560"/>
              </a:spcBef>
              <a:buClr>
                <a:schemeClr val="dk1"/>
              </a:buClr>
              <a:buSzPts val="2800"/>
              <a:buChar char="–"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indent="-381000">
              <a:spcBef>
                <a:spcPts val="480"/>
              </a:spcBef>
              <a:buClr>
                <a:schemeClr val="dk1"/>
              </a:buClr>
              <a:buSzPts val="2400"/>
              <a:buChar char="•"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indent="-355600">
              <a:spcBef>
                <a:spcPts val="400"/>
              </a:spcBef>
              <a:buClr>
                <a:schemeClr val="dk1"/>
              </a:buClr>
              <a:buSzPts val="2000"/>
              <a:buChar char="–"/>
              <a:defRPr sz="2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indent="-355600">
              <a:spcBef>
                <a:spcPts val="400"/>
              </a:spcBef>
              <a:buClr>
                <a:schemeClr val="dk1"/>
              </a:buClr>
              <a:buSzPts val="2000"/>
              <a:buChar char="»"/>
              <a:defRPr sz="2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r>
              <a:rPr lang="pt-BR" dirty="0">
                <a:sym typeface="Poppins"/>
              </a:rPr>
              <a:t>Aula 3: Simplificação visual</a:t>
            </a:r>
          </a:p>
        </p:txBody>
      </p:sp>
    </p:spTree>
    <p:extLst>
      <p:ext uri="{BB962C8B-B14F-4D97-AF65-F5344CB8AC3E}">
        <p14:creationId xmlns:p14="http://schemas.microsoft.com/office/powerpoint/2010/main" val="1843538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F130E-12AF-16AD-CFEA-B7E63ACAA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3C2A8DCD-3F35-E019-2088-46448E3F6A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99" r="949"/>
          <a:stretch/>
        </p:blipFill>
        <p:spPr>
          <a:xfrm>
            <a:off x="-5171" y="1398922"/>
            <a:ext cx="12197171" cy="4987270"/>
          </a:xfrm>
          <a:prstGeom prst="rect">
            <a:avLst/>
          </a:prstGeom>
        </p:spPr>
      </p:pic>
      <p:sp>
        <p:nvSpPr>
          <p:cNvPr id="11" name="Google Shape;298;p3">
            <a:extLst>
              <a:ext uri="{FF2B5EF4-FFF2-40B4-BE49-F238E27FC236}">
                <a16:creationId xmlns:a16="http://schemas.microsoft.com/office/drawing/2014/main" id="{7FC56272-A8C3-3EF0-6CC5-50745668C7DE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02;p3">
            <a:extLst>
              <a:ext uri="{FF2B5EF4-FFF2-40B4-BE49-F238E27FC236}">
                <a16:creationId xmlns:a16="http://schemas.microsoft.com/office/drawing/2014/main" id="{A02CE178-05FF-3C2D-429B-CE688DA87E98}"/>
              </a:ext>
            </a:extLst>
          </p:cNvPr>
          <p:cNvSpPr/>
          <p:nvPr/>
        </p:nvSpPr>
        <p:spPr>
          <a:xfrm rot="-4951757">
            <a:off x="7428646" y="2359254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03;p3">
            <a:extLst>
              <a:ext uri="{FF2B5EF4-FFF2-40B4-BE49-F238E27FC236}">
                <a16:creationId xmlns:a16="http://schemas.microsoft.com/office/drawing/2014/main" id="{91147A16-7C04-B899-2BCC-03BE19E54196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08;p3">
            <a:extLst>
              <a:ext uri="{FF2B5EF4-FFF2-40B4-BE49-F238E27FC236}">
                <a16:creationId xmlns:a16="http://schemas.microsoft.com/office/drawing/2014/main" id="{246C9AE6-61FE-CAFD-813A-926D5962349F}"/>
              </a:ext>
            </a:extLst>
          </p:cNvPr>
          <p:cNvSpPr/>
          <p:nvPr/>
        </p:nvSpPr>
        <p:spPr>
          <a:xfrm rot="4160691">
            <a:off x="9504311" y="4023267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788E8BE8-892C-4143-F243-27F97C25BBC6}"/>
              </a:ext>
            </a:extLst>
          </p:cNvPr>
          <p:cNvGrpSpPr/>
          <p:nvPr/>
        </p:nvGrpSpPr>
        <p:grpSpPr>
          <a:xfrm>
            <a:off x="673557" y="1714872"/>
            <a:ext cx="11429063" cy="4353397"/>
            <a:chOff x="880938" y="2486044"/>
            <a:chExt cx="17143595" cy="6530095"/>
          </a:xfrm>
          <a:solidFill>
            <a:srgbClr val="3E3593"/>
          </a:solidFill>
        </p:grpSpPr>
        <p:sp>
          <p:nvSpPr>
            <p:cNvPr id="3" name="Google Shape;290;p3">
              <a:extLst>
                <a:ext uri="{FF2B5EF4-FFF2-40B4-BE49-F238E27FC236}">
                  <a16:creationId xmlns:a16="http://schemas.microsoft.com/office/drawing/2014/main" id="{7A77C210-495C-6549-E85A-5A36CF3BD5B9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91;p3">
              <a:extLst>
                <a:ext uri="{FF2B5EF4-FFF2-40B4-BE49-F238E27FC236}">
                  <a16:creationId xmlns:a16="http://schemas.microsoft.com/office/drawing/2014/main" id="{FB91A397-45E4-192E-FC95-BEC9C7BA288F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92;p3">
              <a:extLst>
                <a:ext uri="{FF2B5EF4-FFF2-40B4-BE49-F238E27FC236}">
                  <a16:creationId xmlns:a16="http://schemas.microsoft.com/office/drawing/2014/main" id="{583FB9A6-C9CD-140C-6DB6-B633ACF80D64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94;p3">
              <a:extLst>
                <a:ext uri="{FF2B5EF4-FFF2-40B4-BE49-F238E27FC236}">
                  <a16:creationId xmlns:a16="http://schemas.microsoft.com/office/drawing/2014/main" id="{20F94D10-A79D-4151-6F79-C36D5FB12D55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95;p3">
              <a:extLst>
                <a:ext uri="{FF2B5EF4-FFF2-40B4-BE49-F238E27FC236}">
                  <a16:creationId xmlns:a16="http://schemas.microsoft.com/office/drawing/2014/main" id="{542E3D4B-1E7C-E32B-FE05-1C8E436453EC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6;p3">
              <a:extLst>
                <a:ext uri="{FF2B5EF4-FFF2-40B4-BE49-F238E27FC236}">
                  <a16:creationId xmlns:a16="http://schemas.microsoft.com/office/drawing/2014/main" id="{404190D6-C5F7-5449-69C6-C4C6BDEB44CD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7;p3">
              <a:extLst>
                <a:ext uri="{FF2B5EF4-FFF2-40B4-BE49-F238E27FC236}">
                  <a16:creationId xmlns:a16="http://schemas.microsoft.com/office/drawing/2014/main" id="{05D381A8-F29C-EA85-2906-EDAAFEBB7651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9;p3">
              <a:extLst>
                <a:ext uri="{FF2B5EF4-FFF2-40B4-BE49-F238E27FC236}">
                  <a16:creationId xmlns:a16="http://schemas.microsoft.com/office/drawing/2014/main" id="{2416F195-F21D-1017-C018-3A0E7B81D716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00;p3">
              <a:extLst>
                <a:ext uri="{FF2B5EF4-FFF2-40B4-BE49-F238E27FC236}">
                  <a16:creationId xmlns:a16="http://schemas.microsoft.com/office/drawing/2014/main" id="{D2280BB5-CB5C-E24A-636B-053E84D5EB16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01;p3">
              <a:extLst>
                <a:ext uri="{FF2B5EF4-FFF2-40B4-BE49-F238E27FC236}">
                  <a16:creationId xmlns:a16="http://schemas.microsoft.com/office/drawing/2014/main" id="{0782259F-5F94-45B5-702F-C6A356CF0943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4;p3">
              <a:extLst>
                <a:ext uri="{FF2B5EF4-FFF2-40B4-BE49-F238E27FC236}">
                  <a16:creationId xmlns:a16="http://schemas.microsoft.com/office/drawing/2014/main" id="{9275708B-08DD-93DF-78DF-A48CFAB23D3A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5;p3">
              <a:extLst>
                <a:ext uri="{FF2B5EF4-FFF2-40B4-BE49-F238E27FC236}">
                  <a16:creationId xmlns:a16="http://schemas.microsoft.com/office/drawing/2014/main" id="{C4B6ED5F-FCED-BBC6-0B80-C0B61379EADA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6;p3">
              <a:extLst>
                <a:ext uri="{FF2B5EF4-FFF2-40B4-BE49-F238E27FC236}">
                  <a16:creationId xmlns:a16="http://schemas.microsoft.com/office/drawing/2014/main" id="{A3985257-8E6F-1CFC-3EDF-C6B3297F3E97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7;p3">
              <a:extLst>
                <a:ext uri="{FF2B5EF4-FFF2-40B4-BE49-F238E27FC236}">
                  <a16:creationId xmlns:a16="http://schemas.microsoft.com/office/drawing/2014/main" id="{6FBBF20F-BA2F-F4E6-3A6D-485BE029251D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09;p3">
              <a:extLst>
                <a:ext uri="{FF2B5EF4-FFF2-40B4-BE49-F238E27FC236}">
                  <a16:creationId xmlns:a16="http://schemas.microsoft.com/office/drawing/2014/main" id="{31B368A6-4928-C710-DF76-5FFE717378BE}"/>
                </a:ext>
              </a:extLst>
            </p:cNvPr>
            <p:cNvSpPr/>
            <p:nvPr/>
          </p:nvSpPr>
          <p:spPr>
            <a:xfrm rot="-9744855">
              <a:off x="17708747" y="475701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10;p3">
              <a:extLst>
                <a:ext uri="{FF2B5EF4-FFF2-40B4-BE49-F238E27FC236}">
                  <a16:creationId xmlns:a16="http://schemas.microsoft.com/office/drawing/2014/main" id="{45403627-9A12-0379-A2D0-0FD262C84AB0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" name="Google Shape;312;p3">
            <a:extLst>
              <a:ext uri="{FF2B5EF4-FFF2-40B4-BE49-F238E27FC236}">
                <a16:creationId xmlns:a16="http://schemas.microsoft.com/office/drawing/2014/main" id="{F78C36F6-C331-EAAF-F4C8-46D161ECB1C9}"/>
              </a:ext>
            </a:extLst>
          </p:cNvPr>
          <p:cNvCxnSpPr>
            <a:cxnSpLocks/>
          </p:cNvCxnSpPr>
          <p:nvPr/>
        </p:nvCxnSpPr>
        <p:spPr>
          <a:xfrm>
            <a:off x="3201572" y="3321128"/>
            <a:ext cx="89" cy="132328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315;p3">
            <a:extLst>
              <a:ext uri="{FF2B5EF4-FFF2-40B4-BE49-F238E27FC236}">
                <a16:creationId xmlns:a16="http://schemas.microsoft.com/office/drawing/2014/main" id="{8B96DCAB-B1E3-2912-3950-DF04C1BEB718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17;p3">
            <a:extLst>
              <a:ext uri="{FF2B5EF4-FFF2-40B4-BE49-F238E27FC236}">
                <a16:creationId xmlns:a16="http://schemas.microsoft.com/office/drawing/2014/main" id="{316AD9E5-0828-84D8-9CA3-5CFE7277C9DB}"/>
              </a:ext>
            </a:extLst>
          </p:cNvPr>
          <p:cNvSpPr/>
          <p:nvPr/>
        </p:nvSpPr>
        <p:spPr>
          <a:xfrm>
            <a:off x="5874417" y="612475"/>
            <a:ext cx="536093" cy="53609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Calibri"/>
              <a:sym typeface="Arial"/>
            </a:endParaRPr>
          </a:p>
        </p:txBody>
      </p:sp>
      <p:cxnSp>
        <p:nvCxnSpPr>
          <p:cNvPr id="31" name="Google Shape;318;p3">
            <a:extLst>
              <a:ext uri="{FF2B5EF4-FFF2-40B4-BE49-F238E27FC236}">
                <a16:creationId xmlns:a16="http://schemas.microsoft.com/office/drawing/2014/main" id="{5A3D968A-D718-ADB8-62C3-B38799AB8853}"/>
              </a:ext>
            </a:extLst>
          </p:cNvPr>
          <p:cNvCxnSpPr>
            <a:cxnSpLocks/>
            <a:stCxn id="30" idx="4"/>
            <a:endCxn id="11" idx="7"/>
          </p:cNvCxnSpPr>
          <p:nvPr/>
        </p:nvCxnSpPr>
        <p:spPr>
          <a:xfrm flipH="1">
            <a:off x="6117556" y="1148568"/>
            <a:ext cx="24908" cy="558492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Google Shape;320;p3">
            <a:extLst>
              <a:ext uri="{FF2B5EF4-FFF2-40B4-BE49-F238E27FC236}">
                <a16:creationId xmlns:a16="http://schemas.microsoft.com/office/drawing/2014/main" id="{5549F437-9C2B-E3C3-C319-E2DD20D735C7}"/>
              </a:ext>
            </a:extLst>
          </p:cNvPr>
          <p:cNvSpPr/>
          <p:nvPr/>
        </p:nvSpPr>
        <p:spPr>
          <a:xfrm>
            <a:off x="8025148" y="168813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/>
                <a:sym typeface="Poppins"/>
              </a:rPr>
              <a:t>11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21;p3">
            <a:extLst>
              <a:ext uri="{FF2B5EF4-FFF2-40B4-BE49-F238E27FC236}">
                <a16:creationId xmlns:a16="http://schemas.microsoft.com/office/drawing/2014/main" id="{36827AFF-2A89-853B-5676-DC9BEC69AAC5}"/>
              </a:ext>
            </a:extLst>
          </p:cNvPr>
          <p:cNvCxnSpPr>
            <a:cxnSpLocks/>
            <a:stCxn id="33" idx="3"/>
            <a:endCxn id="15" idx="5"/>
          </p:cNvCxnSpPr>
          <p:nvPr/>
        </p:nvCxnSpPr>
        <p:spPr>
          <a:xfrm flipH="1">
            <a:off x="7617385" y="2145716"/>
            <a:ext cx="486272" cy="2546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7" name="Google Shape;324;p3">
            <a:extLst>
              <a:ext uri="{FF2B5EF4-FFF2-40B4-BE49-F238E27FC236}">
                <a16:creationId xmlns:a16="http://schemas.microsoft.com/office/drawing/2014/main" id="{B428D6AA-F76C-4FF3-F659-23B1ABCF305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8855734">
            <a:off x="2792036" y="287496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25;p3">
            <a:extLst>
              <a:ext uri="{FF2B5EF4-FFF2-40B4-BE49-F238E27FC236}">
                <a16:creationId xmlns:a16="http://schemas.microsoft.com/office/drawing/2014/main" id="{6A838297-8F66-E954-6E1F-741C1AE72FA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6529663" y="557220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327;p3">
            <a:extLst>
              <a:ext uri="{FF2B5EF4-FFF2-40B4-BE49-F238E27FC236}">
                <a16:creationId xmlns:a16="http://schemas.microsoft.com/office/drawing/2014/main" id="{D4C58526-B4B4-D8FC-3667-27FB5479F80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7894326" y="1510794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D9B27B8B-7CD4-B349-335C-145D6F5E73AF}"/>
              </a:ext>
            </a:extLst>
          </p:cNvPr>
          <p:cNvSpPr/>
          <p:nvPr/>
        </p:nvSpPr>
        <p:spPr>
          <a:xfrm>
            <a:off x="10174052" y="3851166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/>
                <a:sym typeface="Poppins"/>
              </a:rPr>
              <a:t>13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07CBB5A4-CBCD-F6BE-0B5C-CD9611A76C88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579615" y="4119213"/>
            <a:ext cx="594436" cy="12271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025E8EBE-E05B-6850-9514-B13C4F7121C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8855734">
            <a:off x="5744531" y="43565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313;p3">
            <a:extLst>
              <a:ext uri="{FF2B5EF4-FFF2-40B4-BE49-F238E27FC236}">
                <a16:creationId xmlns:a16="http://schemas.microsoft.com/office/drawing/2014/main" id="{D952B80D-0634-A9A9-49D1-10EF576730FB}"/>
              </a:ext>
            </a:extLst>
          </p:cNvPr>
          <p:cNvSpPr txBox="1"/>
          <p:nvPr/>
        </p:nvSpPr>
        <p:spPr>
          <a:xfrm>
            <a:off x="1409317" y="3795916"/>
            <a:ext cx="1291264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  <a:tabLst/>
              <a:defRPr/>
            </a:pP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Escolha do visual adequado</a:t>
            </a:r>
            <a:endParaRPr kumimoji="0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51" name="Google Shape;316;p3">
            <a:extLst>
              <a:ext uri="{FF2B5EF4-FFF2-40B4-BE49-F238E27FC236}">
                <a16:creationId xmlns:a16="http://schemas.microsoft.com/office/drawing/2014/main" id="{427D8092-32FE-EA04-E2BF-4D9494BA6B5D}"/>
              </a:ext>
            </a:extLst>
          </p:cNvPr>
          <p:cNvSpPr txBox="1"/>
          <p:nvPr/>
        </p:nvSpPr>
        <p:spPr>
          <a:xfrm>
            <a:off x="4573547" y="5929206"/>
            <a:ext cx="224745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  <a:tabLst/>
              <a:defRPr/>
            </a:pP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Interpretando e explicando dados</a:t>
            </a:r>
            <a:endParaRPr kumimoji="0" lang="pt-BR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52" name="Google Shape;319;p3">
            <a:extLst>
              <a:ext uri="{FF2B5EF4-FFF2-40B4-BE49-F238E27FC236}">
                <a16:creationId xmlns:a16="http://schemas.microsoft.com/office/drawing/2014/main" id="{8854CC12-F8EC-5002-5632-BDA3469A0A25}"/>
              </a:ext>
            </a:extLst>
          </p:cNvPr>
          <p:cNvSpPr txBox="1"/>
          <p:nvPr/>
        </p:nvSpPr>
        <p:spPr>
          <a:xfrm>
            <a:off x="6542167" y="563819"/>
            <a:ext cx="1707581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  <a:tabLst/>
              <a:defRPr/>
            </a:pP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Direcionando a atenção</a:t>
            </a:r>
            <a:endParaRPr kumimoji="0" lang="pt-BR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53" name="Google Shape;322;p3">
            <a:extLst>
              <a:ext uri="{FF2B5EF4-FFF2-40B4-BE49-F238E27FC236}">
                <a16:creationId xmlns:a16="http://schemas.microsoft.com/office/drawing/2014/main" id="{593D6748-CD67-112A-E3DB-911BB7D188AD}"/>
              </a:ext>
            </a:extLst>
          </p:cNvPr>
          <p:cNvSpPr txBox="1"/>
          <p:nvPr/>
        </p:nvSpPr>
        <p:spPr>
          <a:xfrm>
            <a:off x="8673545" y="1675838"/>
            <a:ext cx="1585184" cy="58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  <a:tabLst/>
              <a:defRPr/>
            </a:pP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Construindo a narrativa</a:t>
            </a:r>
            <a:endParaRPr kumimoji="0" lang="pt-BR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57" name="Google Shape;335;p3">
            <a:extLst>
              <a:ext uri="{FF2B5EF4-FFF2-40B4-BE49-F238E27FC236}">
                <a16:creationId xmlns:a16="http://schemas.microsoft.com/office/drawing/2014/main" id="{986D6DB0-0CFF-1AAC-E27F-6E0C1BFB31B5}"/>
              </a:ext>
            </a:extLst>
          </p:cNvPr>
          <p:cNvSpPr txBox="1"/>
          <p:nvPr/>
        </p:nvSpPr>
        <p:spPr>
          <a:xfrm>
            <a:off x="10051772" y="4541212"/>
            <a:ext cx="1802461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  <a:tabLst/>
              <a:defRPr/>
            </a:pP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Refinando a comunicação visual</a:t>
            </a:r>
            <a:endParaRPr kumimoji="0" lang="pt-BR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27" name="Google Shape;314;p3">
            <a:extLst>
              <a:ext uri="{FF2B5EF4-FFF2-40B4-BE49-F238E27FC236}">
                <a16:creationId xmlns:a16="http://schemas.microsoft.com/office/drawing/2014/main" id="{9BF8CCAB-7179-3A4E-1F26-8B04C452C99C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/>
                <a:sym typeface="Poppins"/>
              </a:rPr>
              <a:t>12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323;p3">
            <a:extLst>
              <a:ext uri="{FF2B5EF4-FFF2-40B4-BE49-F238E27FC236}">
                <a16:creationId xmlns:a16="http://schemas.microsoft.com/office/drawing/2014/main" id="{0E85290E-0EB5-FAAA-83BD-143BCCBDAD57}"/>
              </a:ext>
            </a:extLst>
          </p:cNvPr>
          <p:cNvSpPr txBox="1"/>
          <p:nvPr/>
        </p:nvSpPr>
        <p:spPr>
          <a:xfrm>
            <a:off x="1406366" y="3489690"/>
            <a:ext cx="1728649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FA161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Arial"/>
              <a:sym typeface="Arial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E0EE9296-2E5D-7456-0693-7B20EBA260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756" y="4531788"/>
            <a:ext cx="258073" cy="224467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780DD395-3C94-7139-33CC-6961F9BF78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4087" y="1445374"/>
            <a:ext cx="242817" cy="37348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29" name="Google Shape;325;p3">
            <a:extLst>
              <a:ext uri="{FF2B5EF4-FFF2-40B4-BE49-F238E27FC236}">
                <a16:creationId xmlns:a16="http://schemas.microsoft.com/office/drawing/2014/main" id="{D5D6CBC2-6BC7-124C-27CC-970B95CD0B4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8855734">
            <a:off x="10046066" y="367767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311;p3">
            <a:extLst>
              <a:ext uri="{FF2B5EF4-FFF2-40B4-BE49-F238E27FC236}">
                <a16:creationId xmlns:a16="http://schemas.microsoft.com/office/drawing/2014/main" id="{50D1444E-D085-9D7F-FB0B-64D63DC64808}"/>
              </a:ext>
            </a:extLst>
          </p:cNvPr>
          <p:cNvSpPr/>
          <p:nvPr/>
        </p:nvSpPr>
        <p:spPr>
          <a:xfrm>
            <a:off x="2933526" y="3055971"/>
            <a:ext cx="536093" cy="536093"/>
          </a:xfrm>
          <a:prstGeom prst="ellipse">
            <a:avLst/>
          </a:prstGeom>
          <a:solidFill>
            <a:srgbClr val="FF0000"/>
          </a:solidFill>
          <a:ln>
            <a:solidFill>
              <a:srgbClr val="EE0000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9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67C7DCD2-2618-C410-8B93-984958903305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Google Shape;329;p3">
            <a:extLst>
              <a:ext uri="{FF2B5EF4-FFF2-40B4-BE49-F238E27FC236}">
                <a16:creationId xmlns:a16="http://schemas.microsoft.com/office/drawing/2014/main" id="{0539C3C5-6F5F-47CF-0FA3-2C87A38D8449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 err="1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 de dados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5C5108DD-597B-6C1B-BFDC-941E82E969B4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Google Shape;331;p3">
            <a:extLst>
              <a:ext uri="{FF2B5EF4-FFF2-40B4-BE49-F238E27FC236}">
                <a16:creationId xmlns:a16="http://schemas.microsoft.com/office/drawing/2014/main" id="{136723CC-2AB4-145F-99FB-6E998BD59541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2   Componente 3</a:t>
            </a:r>
          </a:p>
        </p:txBody>
      </p:sp>
    </p:spTree>
    <p:extLst>
      <p:ext uri="{BB962C8B-B14F-4D97-AF65-F5344CB8AC3E}">
        <p14:creationId xmlns:p14="http://schemas.microsoft.com/office/powerpoint/2010/main" val="3816642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7B176-4582-73DE-4E81-49E5437AC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9B150AD0-E0DA-B325-0F45-9DEC9E51E5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396" t="30197" r="53546" b="6024"/>
          <a:stretch/>
        </p:blipFill>
        <p:spPr>
          <a:xfrm rot="21026348">
            <a:off x="5678584" y="2638764"/>
            <a:ext cx="8603297" cy="4647676"/>
          </a:xfrm>
          <a:prstGeom prst="rect">
            <a:avLst/>
          </a:prstGeom>
        </p:spPr>
      </p:pic>
      <p:sp>
        <p:nvSpPr>
          <p:cNvPr id="7" name="Google Shape;341;p4">
            <a:extLst>
              <a:ext uri="{FF2B5EF4-FFF2-40B4-BE49-F238E27FC236}">
                <a16:creationId xmlns:a16="http://schemas.microsoft.com/office/drawing/2014/main" id="{7CF27B02-8439-24AF-63EB-1CC26B68493B}"/>
              </a:ext>
            </a:extLst>
          </p:cNvPr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2;p4">
            <a:extLst>
              <a:ext uri="{FF2B5EF4-FFF2-40B4-BE49-F238E27FC236}">
                <a16:creationId xmlns:a16="http://schemas.microsoft.com/office/drawing/2014/main" id="{D86ECB4D-FA7E-5314-B2DD-B323559212D4}"/>
              </a:ext>
            </a:extLst>
          </p:cNvPr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36000" tIns="36000" rIns="36000" bIns="36000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tabLst/>
              <a:defRPr/>
            </a:pPr>
            <a:r>
              <a:rPr kumimoji="0" lang="pt-BR" sz="4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kumimoji="0" lang="pt-BR" sz="4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/>
              <a:sym typeface="Arial"/>
            </a:endParaRPr>
          </a:p>
        </p:txBody>
      </p:sp>
      <p:cxnSp>
        <p:nvCxnSpPr>
          <p:cNvPr id="9" name="Google Shape;343;p4">
            <a:extLst>
              <a:ext uri="{FF2B5EF4-FFF2-40B4-BE49-F238E27FC236}">
                <a16:creationId xmlns:a16="http://schemas.microsoft.com/office/drawing/2014/main" id="{04731421-B5D3-4904-E1F3-7B1C1F38CB72}"/>
              </a:ext>
            </a:extLst>
          </p:cNvPr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344;p4">
            <a:extLst>
              <a:ext uri="{FF2B5EF4-FFF2-40B4-BE49-F238E27FC236}">
                <a16:creationId xmlns:a16="http://schemas.microsoft.com/office/drawing/2014/main" id="{BEC19CB1-C086-7A2A-C0E4-01D14F7B7215}"/>
              </a:ext>
            </a:extLst>
          </p:cNvPr>
          <p:cNvSpPr txBox="1"/>
          <p:nvPr/>
        </p:nvSpPr>
        <p:spPr>
          <a:xfrm>
            <a:off x="3361984" y="3310144"/>
            <a:ext cx="4487736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Escolha do visual adequado</a:t>
            </a: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Arial"/>
              <a:cs typeface="Poppins"/>
              <a:sym typeface="Arial"/>
            </a:endParaRPr>
          </a:p>
        </p:txBody>
      </p:sp>
      <p:sp>
        <p:nvSpPr>
          <p:cNvPr id="11" name="Google Shape;345;p4">
            <a:extLst>
              <a:ext uri="{FF2B5EF4-FFF2-40B4-BE49-F238E27FC236}">
                <a16:creationId xmlns:a16="http://schemas.microsoft.com/office/drawing/2014/main" id="{4C0B5044-069E-FDE3-E072-4EDE9CB95869}"/>
              </a:ext>
            </a:extLst>
          </p:cNvPr>
          <p:cNvSpPr txBox="1"/>
          <p:nvPr/>
        </p:nvSpPr>
        <p:spPr>
          <a:xfrm>
            <a:off x="3361984" y="2834485"/>
            <a:ext cx="3838916" cy="4000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pt-BR" sz="2200" b="1" i="0" u="none" strike="noStrike" kern="0" cap="none" spc="0" normalizeH="0" baseline="0" noProof="0" dirty="0">
                <a:ln>
                  <a:noFill/>
                </a:ln>
                <a:solidFill>
                  <a:srgbClr val="FA161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5" name="Google Shape;349;p4">
            <a:extLst>
              <a:ext uri="{FF2B5EF4-FFF2-40B4-BE49-F238E27FC236}">
                <a16:creationId xmlns:a16="http://schemas.microsoft.com/office/drawing/2014/main" id="{C107C08C-1F15-16D3-715C-3EB1556D54B0}"/>
              </a:ext>
            </a:extLst>
          </p:cNvPr>
          <p:cNvSpPr txBox="1"/>
          <p:nvPr/>
        </p:nvSpPr>
        <p:spPr>
          <a:xfrm>
            <a:off x="3361984" y="5324225"/>
            <a:ext cx="5040855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/>
                <a:sym typeface="Poppins"/>
              </a:rPr>
              <a:t>Código da aula: 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/>
                <a:sym typeface="Arial"/>
              </a:rPr>
              <a:t>DADOS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Arial"/>
              </a:rPr>
              <a:t>ANO1C3B2S9A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6" name="Google Shape;350;p4">
            <a:extLst>
              <a:ext uri="{FF2B5EF4-FFF2-40B4-BE49-F238E27FC236}">
                <a16:creationId xmlns:a16="http://schemas.microsoft.com/office/drawing/2014/main" id="{09B6189A-F101-409C-5C2C-B14083E943E2}"/>
              </a:ext>
            </a:extLst>
          </p:cNvPr>
          <p:cNvSpPr txBox="1"/>
          <p:nvPr/>
        </p:nvSpPr>
        <p:spPr>
          <a:xfrm>
            <a:off x="3361984" y="4682804"/>
            <a:ext cx="5473251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/>
                <a:sym typeface="Poppins"/>
              </a:rPr>
              <a:t>Aula 3: Simplificação visual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E6CAD69-8E6A-68E0-20A2-994B558F6692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Google Shape;329;p3">
            <a:extLst>
              <a:ext uri="{FF2B5EF4-FFF2-40B4-BE49-F238E27FC236}">
                <a16:creationId xmlns:a16="http://schemas.microsoft.com/office/drawing/2014/main" id="{F618E884-FA58-9735-4476-A825B9F37762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 err="1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 de dados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E7671AA-D6E4-ED1D-C717-E4B0DA520BF4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Google Shape;331;p3">
            <a:extLst>
              <a:ext uri="{FF2B5EF4-FFF2-40B4-BE49-F238E27FC236}">
                <a16:creationId xmlns:a16="http://schemas.microsoft.com/office/drawing/2014/main" id="{DD65CE7A-D53D-AE68-D7E8-09D1F4AB90A5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2   Componente 3</a:t>
            </a:r>
          </a:p>
        </p:txBody>
      </p:sp>
    </p:spTree>
    <p:extLst>
      <p:ext uri="{BB962C8B-B14F-4D97-AF65-F5344CB8AC3E}">
        <p14:creationId xmlns:p14="http://schemas.microsoft.com/office/powerpoint/2010/main" val="292284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D12C3F81-B407-DA9D-4CB0-9F534CE2E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186B91C-9B04-DADC-C8E7-33AB07BC70A0}"/>
              </a:ext>
            </a:extLst>
          </p:cNvPr>
          <p:cNvSpPr txBox="1"/>
          <p:nvPr/>
        </p:nvSpPr>
        <p:spPr>
          <a:xfrm>
            <a:off x="6215922" y="319790"/>
            <a:ext cx="184731" cy="188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62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26C5AF5A-185F-FD3B-397C-C9E202580E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05563" y="1355465"/>
            <a:ext cx="3945755" cy="101566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Aplicar os conceitos de exemplos e contextos de uso do </a:t>
            </a:r>
            <a:r>
              <a:rPr lang="pt-BR" sz="1500" dirty="0" err="1">
                <a:latin typeface="Poppins" panose="00000500000000000000" pitchFamily="2" charset="0"/>
                <a:cs typeface="Poppins"/>
              </a:rPr>
              <a:t>storytelling</a:t>
            </a:r>
            <a:r>
              <a:rPr lang="pt-BR" sz="1500" dirty="0">
                <a:latin typeface="Poppins" panose="00000500000000000000" pitchFamily="2" charset="0"/>
                <a:cs typeface="Poppins"/>
              </a:rPr>
              <a:t> em atividades práticas que estimulem a comunicação de dados.</a:t>
            </a: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B28385AF-C045-FAD8-4655-87CD9FDAB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5029" y="1355465"/>
            <a:ext cx="3754807" cy="101566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Selecionar e aplicar o tipo de gráfico mais adequado à natureza dos dados e ao propósito comunicacional.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2072FF2E-8206-0325-4215-00EC0E5532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05029" y="3649330"/>
            <a:ext cx="3754807" cy="12464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Explorar diferentes maneiras de representar ideias, mantendo abertura à experimentação e disposição para aprender com os erros e acertos.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A56BC9D6-D52A-9891-1377-F959614A84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5563" y="3344241"/>
            <a:ext cx="4044985" cy="1400383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 lvl="0">
              <a:spcAft>
                <a:spcPts val="600"/>
              </a:spcAft>
            </a:pPr>
            <a:r>
              <a:rPr lang="pt-BR" sz="1500" dirty="0">
                <a:latin typeface="Poppins" panose="00000500000000000000" pitchFamily="2" charset="0"/>
              </a:rPr>
              <a:t>Recurso audiovisual para a exibição de textos, vídeos e imagens.</a:t>
            </a:r>
          </a:p>
          <a:p>
            <a:pPr lvl="0">
              <a:spcAft>
                <a:spcPts val="600"/>
              </a:spcAft>
            </a:pPr>
            <a:r>
              <a:rPr lang="pt-BR" sz="1500" dirty="0">
                <a:latin typeface="Poppins" panose="00000500000000000000" pitchFamily="2" charset="0"/>
              </a:rPr>
              <a:t>Acesso ao laboratório de informática e/ou à internet.</a:t>
            </a:r>
          </a:p>
          <a:p>
            <a:pPr lvl="0">
              <a:spcAft>
                <a:spcPts val="600"/>
              </a:spcAft>
            </a:pPr>
            <a:r>
              <a:rPr lang="pt-BR" sz="1500" dirty="0">
                <a:latin typeface="Poppins" panose="00000500000000000000" pitchFamily="2" charset="0"/>
              </a:rPr>
              <a:t>Roteiro de atividade prática.</a:t>
            </a:r>
          </a:p>
        </p:txBody>
      </p:sp>
    </p:spTree>
    <p:extLst>
      <p:ext uri="{BB962C8B-B14F-4D97-AF65-F5344CB8AC3E}">
        <p14:creationId xmlns:p14="http://schemas.microsoft.com/office/powerpoint/2010/main" val="4223328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20">
            <a:extLst>
              <a:ext uri="{FF2B5EF4-FFF2-40B4-BE49-F238E27FC236}">
                <a16:creationId xmlns:a16="http://schemas.microsoft.com/office/drawing/2014/main" id="{67BE31DA-69F1-7A8B-F5F9-53A278402568}"/>
              </a:ext>
            </a:extLst>
          </p:cNvPr>
          <p:cNvSpPr txBox="1">
            <a:spLocks/>
          </p:cNvSpPr>
          <p:nvPr/>
        </p:nvSpPr>
        <p:spPr>
          <a:xfrm>
            <a:off x="2722418" y="943610"/>
            <a:ext cx="9071264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b="1" dirty="0">
                <a:solidFill>
                  <a:srgbClr val="EE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Batalha dos gráficos inadequados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B8B2207-EF9E-CEDE-DB58-305E8038AFC4}"/>
              </a:ext>
            </a:extLst>
          </p:cNvPr>
          <p:cNvGrpSpPr/>
          <p:nvPr/>
        </p:nvGrpSpPr>
        <p:grpSpPr>
          <a:xfrm>
            <a:off x="8579575" y="101176"/>
            <a:ext cx="3496733" cy="728133"/>
            <a:chOff x="4267346" y="1786858"/>
            <a:chExt cx="3496733" cy="728133"/>
          </a:xfrm>
        </p:grpSpPr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0D828643-8A6D-4A01-15C7-0F57E5998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7346" y="1786858"/>
              <a:ext cx="3496733" cy="728133"/>
            </a:xfrm>
            <a:prstGeom prst="rect">
              <a:avLst/>
            </a:prstGeom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5F2DC0D4-1129-B2DF-8F0F-2A234E0FC20E}"/>
                </a:ext>
              </a:extLst>
            </p:cNvPr>
            <p:cNvSpPr txBox="1"/>
            <p:nvPr/>
          </p:nvSpPr>
          <p:spPr>
            <a:xfrm>
              <a:off x="5432086" y="2037100"/>
              <a:ext cx="2248691" cy="208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l"/>
              <a:r>
                <a:rPr lang="pt-BR" sz="15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COM SUAS PALAVRAS</a:t>
              </a:r>
            </a:p>
          </p:txBody>
        </p:sp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9BF940D7-46F1-6632-E375-E6C0F0420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7859" y="1864433"/>
              <a:ext cx="618067" cy="567267"/>
            </a:xfrm>
            <a:prstGeom prst="rect">
              <a:avLst/>
            </a:prstGeom>
          </p:spPr>
        </p:pic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20AA9510-00D6-416B-A6CC-CF9889FC6846}"/>
              </a:ext>
            </a:extLst>
          </p:cNvPr>
          <p:cNvSpPr txBox="1"/>
          <p:nvPr/>
        </p:nvSpPr>
        <p:spPr>
          <a:xfrm>
            <a:off x="2685143" y="6290108"/>
            <a:ext cx="60960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1E1F2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Produzido pela SEDUC-SP</a:t>
            </a:r>
            <a:endParaRPr lang="pt-BR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E9AC81-F4F1-40C6-AE4B-FE92FF044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600" y="1559209"/>
            <a:ext cx="8519886" cy="474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3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42">
            <a:extLst>
              <a:ext uri="{FF2B5EF4-FFF2-40B4-BE49-F238E27FC236}">
                <a16:creationId xmlns:a16="http://schemas.microsoft.com/office/drawing/2014/main" id="{68DE482A-C4DA-18BF-6503-4CE48CF8D372}"/>
              </a:ext>
            </a:extLst>
          </p:cNvPr>
          <p:cNvSpPr txBox="1">
            <a:spLocks/>
          </p:cNvSpPr>
          <p:nvPr/>
        </p:nvSpPr>
        <p:spPr>
          <a:xfrm>
            <a:off x="738352" y="5208162"/>
            <a:ext cx="1828202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200" b="1" dirty="0">
                <a:latin typeface="Poppins" panose="00000500000000000000" pitchFamily="2" charset="0"/>
                <a:cs typeface="Poppins" pitchFamily="2" charset="77"/>
              </a:rPr>
              <a:t>Roteiro da atividade respondido 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C6FA1301-5759-F62D-4398-186AC4239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893" y="5208162"/>
            <a:ext cx="309197" cy="269907"/>
          </a:xfrm>
          <a:prstGeom prst="rect">
            <a:avLst/>
          </a:prstGeo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2B9C89-2B59-49EB-C8DB-DBBE928DCAD6}"/>
              </a:ext>
            </a:extLst>
          </p:cNvPr>
          <p:cNvSpPr txBox="1">
            <a:spLocks/>
          </p:cNvSpPr>
          <p:nvPr/>
        </p:nvSpPr>
        <p:spPr>
          <a:xfrm>
            <a:off x="743094" y="4026112"/>
            <a:ext cx="1681782" cy="313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pt-BR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Duplas</a:t>
            </a:r>
            <a:endParaRPr lang="pt-BR" sz="1200" b="1" noProof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9260341D-A136-192F-B895-D61683C08115}"/>
              </a:ext>
            </a:extLst>
          </p:cNvPr>
          <p:cNvSpPr txBox="1">
            <a:spLocks/>
          </p:cNvSpPr>
          <p:nvPr/>
        </p:nvSpPr>
        <p:spPr>
          <a:xfrm>
            <a:off x="743094" y="4411619"/>
            <a:ext cx="1681782" cy="313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pt-BR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35</a:t>
            </a:r>
            <a:r>
              <a:rPr lang="pt-BR" sz="12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minutos</a:t>
            </a:r>
          </a:p>
        </p:txBody>
      </p:sp>
      <p:sp>
        <p:nvSpPr>
          <p:cNvPr id="6" name="Espaço Reservado para Texto 3">
            <a:extLst>
              <a:ext uri="{FF2B5EF4-FFF2-40B4-BE49-F238E27FC236}">
                <a16:creationId xmlns:a16="http://schemas.microsoft.com/office/drawing/2014/main" id="{13F6487D-1EF7-F361-1F36-0401695C04B2}"/>
              </a:ext>
            </a:extLst>
          </p:cNvPr>
          <p:cNvSpPr txBox="1">
            <a:spLocks/>
          </p:cNvSpPr>
          <p:nvPr/>
        </p:nvSpPr>
        <p:spPr>
          <a:xfrm>
            <a:off x="743094" y="4804000"/>
            <a:ext cx="1512779" cy="27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2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Próxima aula</a:t>
            </a:r>
          </a:p>
        </p:txBody>
      </p:sp>
      <p:grpSp>
        <p:nvGrpSpPr>
          <p:cNvPr id="7" name="Google Shape;490;p35">
            <a:extLst>
              <a:ext uri="{FF2B5EF4-FFF2-40B4-BE49-F238E27FC236}">
                <a16:creationId xmlns:a16="http://schemas.microsoft.com/office/drawing/2014/main" id="{F8339EE8-7AC5-6463-BD19-0D1346D8CCD7}"/>
              </a:ext>
            </a:extLst>
          </p:cNvPr>
          <p:cNvGrpSpPr/>
          <p:nvPr/>
        </p:nvGrpSpPr>
        <p:grpSpPr>
          <a:xfrm>
            <a:off x="367836" y="4020847"/>
            <a:ext cx="263544" cy="256408"/>
            <a:chOff x="6941066" y="2777637"/>
            <a:chExt cx="456958" cy="452197"/>
          </a:xfrm>
          <a:noFill/>
        </p:grpSpPr>
        <p:grpSp>
          <p:nvGrpSpPr>
            <p:cNvPr id="8" name="Google Shape;491;p35">
              <a:extLst>
                <a:ext uri="{FF2B5EF4-FFF2-40B4-BE49-F238E27FC236}">
                  <a16:creationId xmlns:a16="http://schemas.microsoft.com/office/drawing/2014/main" id="{0F790459-7A09-EF91-3FF1-12CA43CCC6C9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19" name="Google Shape;492;p35">
                <a:extLst>
                  <a:ext uri="{FF2B5EF4-FFF2-40B4-BE49-F238E27FC236}">
                    <a16:creationId xmlns:a16="http://schemas.microsoft.com/office/drawing/2014/main" id="{70F5D80E-725C-A44A-961A-7797221B53B1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493;p35">
                <a:extLst>
                  <a:ext uri="{FF2B5EF4-FFF2-40B4-BE49-F238E27FC236}">
                    <a16:creationId xmlns:a16="http://schemas.microsoft.com/office/drawing/2014/main" id="{312C50F6-7158-08C0-4383-19F7967E0D95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" name="Google Shape;494;p35">
              <a:extLst>
                <a:ext uri="{FF2B5EF4-FFF2-40B4-BE49-F238E27FC236}">
                  <a16:creationId xmlns:a16="http://schemas.microsoft.com/office/drawing/2014/main" id="{6C6CB10A-993D-94D5-185E-2BBE670239A9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17" name="Google Shape;495;p35">
                <a:extLst>
                  <a:ext uri="{FF2B5EF4-FFF2-40B4-BE49-F238E27FC236}">
                    <a16:creationId xmlns:a16="http://schemas.microsoft.com/office/drawing/2014/main" id="{65D18649-8848-B97C-0436-26410C872C23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496;p35">
                <a:extLst>
                  <a:ext uri="{FF2B5EF4-FFF2-40B4-BE49-F238E27FC236}">
                    <a16:creationId xmlns:a16="http://schemas.microsoft.com/office/drawing/2014/main" id="{907F1A99-AE5C-457B-B80D-0FD8A7663B6D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497;p35">
              <a:extLst>
                <a:ext uri="{FF2B5EF4-FFF2-40B4-BE49-F238E27FC236}">
                  <a16:creationId xmlns:a16="http://schemas.microsoft.com/office/drawing/2014/main" id="{78F0CE8B-054E-467C-BC35-96D56808FE0E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14" name="Google Shape;498;p35">
                <a:extLst>
                  <a:ext uri="{FF2B5EF4-FFF2-40B4-BE49-F238E27FC236}">
                    <a16:creationId xmlns:a16="http://schemas.microsoft.com/office/drawing/2014/main" id="{A11A61FB-E370-63FE-2DD3-DE07A1370907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499;p35">
                <a:extLst>
                  <a:ext uri="{FF2B5EF4-FFF2-40B4-BE49-F238E27FC236}">
                    <a16:creationId xmlns:a16="http://schemas.microsoft.com/office/drawing/2014/main" id="{539EDDB8-0E90-73F5-9937-66FD9DF28DAD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500;p35">
                <a:extLst>
                  <a:ext uri="{FF2B5EF4-FFF2-40B4-BE49-F238E27FC236}">
                    <a16:creationId xmlns:a16="http://schemas.microsoft.com/office/drawing/2014/main" id="{1036502E-6E6B-7E94-EEA3-42B240A6FDE7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" name="Google Shape;501;p35">
              <a:extLst>
                <a:ext uri="{FF2B5EF4-FFF2-40B4-BE49-F238E27FC236}">
                  <a16:creationId xmlns:a16="http://schemas.microsoft.com/office/drawing/2014/main" id="{FC320CC2-E6AC-5639-9EB8-6B58B1464B69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12" name="Google Shape;502;p35">
                <a:extLst>
                  <a:ext uri="{FF2B5EF4-FFF2-40B4-BE49-F238E27FC236}">
                    <a16:creationId xmlns:a16="http://schemas.microsoft.com/office/drawing/2014/main" id="{03AD36A1-EA7F-4FEC-33B3-E41537CD79F2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503;p35">
                <a:extLst>
                  <a:ext uri="{FF2B5EF4-FFF2-40B4-BE49-F238E27FC236}">
                    <a16:creationId xmlns:a16="http://schemas.microsoft.com/office/drawing/2014/main" id="{D83D03A8-A27B-7EF5-6DA5-308535D76F7F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1" name="Google Shape;578;p38">
            <a:extLst>
              <a:ext uri="{FF2B5EF4-FFF2-40B4-BE49-F238E27FC236}">
                <a16:creationId xmlns:a16="http://schemas.microsoft.com/office/drawing/2014/main" id="{DBB6EE7E-9ABD-9678-1F29-220A74FC689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6396" y="4401355"/>
            <a:ext cx="266424" cy="26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851C3230-4265-AA67-8028-FAD2C7E8A8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893" y="4793094"/>
            <a:ext cx="289430" cy="284559"/>
          </a:xfrm>
          <a:prstGeom prst="rect">
            <a:avLst/>
          </a:prstGeom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C8B97782-E233-8300-0B52-51F144A3131B}"/>
              </a:ext>
            </a:extLst>
          </p:cNvPr>
          <p:cNvGrpSpPr/>
          <p:nvPr/>
        </p:nvGrpSpPr>
        <p:grpSpPr>
          <a:xfrm>
            <a:off x="11469781" y="-944"/>
            <a:ext cx="722219" cy="719228"/>
            <a:chOff x="11469781" y="-944"/>
            <a:chExt cx="722219" cy="719228"/>
          </a:xfrm>
        </p:grpSpPr>
        <p:sp>
          <p:nvSpPr>
            <p:cNvPr id="24" name="Google Shape;812;p61">
              <a:extLst>
                <a:ext uri="{FF2B5EF4-FFF2-40B4-BE49-F238E27FC236}">
                  <a16:creationId xmlns:a16="http://schemas.microsoft.com/office/drawing/2014/main" id="{37368919-F37B-6D73-D910-0B984887C8D5}"/>
                </a:ext>
              </a:extLst>
            </p:cNvPr>
            <p:cNvSpPr/>
            <p:nvPr/>
          </p:nvSpPr>
          <p:spPr>
            <a:xfrm flipH="1">
              <a:off x="11472465" y="1"/>
              <a:ext cx="719535" cy="718283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6D3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defTabSz="609630">
                <a:defRPr/>
              </a:pPr>
              <a:endParaRPr dirty="0"/>
            </a:p>
          </p:txBody>
        </p:sp>
        <p:pic>
          <p:nvPicPr>
            <p:cNvPr id="25" name="Gráfico 24">
              <a:extLst>
                <a:ext uri="{FF2B5EF4-FFF2-40B4-BE49-F238E27FC236}">
                  <a16:creationId xmlns:a16="http://schemas.microsoft.com/office/drawing/2014/main" id="{36BEA204-9AA8-B54D-2AFA-566E0477C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685107" y="245921"/>
              <a:ext cx="435935" cy="390047"/>
            </a:xfrm>
            <a:prstGeom prst="rect">
              <a:avLst/>
            </a:prstGeom>
          </p:spPr>
        </p:pic>
        <p:sp>
          <p:nvSpPr>
            <p:cNvPr id="26" name="Google Shape;833;p62">
              <a:extLst>
                <a:ext uri="{FF2B5EF4-FFF2-40B4-BE49-F238E27FC236}">
                  <a16:creationId xmlns:a16="http://schemas.microsoft.com/office/drawing/2014/main" id="{76F72A5E-1A71-C512-E396-8D4214CE3576}"/>
                </a:ext>
              </a:extLst>
            </p:cNvPr>
            <p:cNvSpPr txBox="1"/>
            <p:nvPr/>
          </p:nvSpPr>
          <p:spPr>
            <a:xfrm>
              <a:off x="11469781" y="-944"/>
              <a:ext cx="721717" cy="198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 defTabSz="609630">
                <a:lnSpc>
                  <a:spcPct val="107000"/>
                </a:lnSpc>
                <a:buSzPts val="2700"/>
                <a:defRPr/>
              </a:pPr>
              <a:r>
                <a:rPr lang="pt-BR" b="1" dirty="0">
                  <a:solidFill>
                    <a:srgbClr val="FFFFFF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Registro</a:t>
              </a:r>
              <a:endParaRPr sz="80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r" defTabSz="609630">
                <a:lnSpc>
                  <a:spcPct val="107000"/>
                </a:lnSpc>
                <a:spcBef>
                  <a:spcPts val="715"/>
                </a:spcBef>
                <a:buSzPts val="2700"/>
                <a:defRPr/>
              </a:pPr>
              <a:endParaRPr sz="1333" dirty="0">
                <a:solidFill>
                  <a:srgbClr val="FFFFFF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</p:grpSp>
      <p:sp>
        <p:nvSpPr>
          <p:cNvPr id="27" name="Espaço Reservado para Texto 20">
            <a:extLst>
              <a:ext uri="{FF2B5EF4-FFF2-40B4-BE49-F238E27FC236}">
                <a16:creationId xmlns:a16="http://schemas.microsoft.com/office/drawing/2014/main" id="{17883247-6EE9-B589-DCA0-1FE3674C3639}"/>
              </a:ext>
            </a:extLst>
          </p:cNvPr>
          <p:cNvSpPr txBox="1">
            <a:spLocks/>
          </p:cNvSpPr>
          <p:nvPr/>
        </p:nvSpPr>
        <p:spPr>
          <a:xfrm>
            <a:off x="2812023" y="434178"/>
            <a:ext cx="8462113" cy="1077218"/>
          </a:xfrm>
          <a:prstGeom prst="rect">
            <a:avLst/>
          </a:prstGeom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b="1" dirty="0">
                <a:solidFill>
                  <a:srgbClr val="EE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Gráficos simples: removendo ruídos e destacando o foco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494AE6F-57B5-42AE-9FBE-5126A4689F10}"/>
              </a:ext>
            </a:extLst>
          </p:cNvPr>
          <p:cNvSpPr txBox="1"/>
          <p:nvPr/>
        </p:nvSpPr>
        <p:spPr>
          <a:xfrm>
            <a:off x="7276235" y="2901137"/>
            <a:ext cx="3945946" cy="26902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Explorem o contexto e compreendam os conceitos de simplificação e foco visual em gráficos.</a:t>
            </a:r>
          </a:p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Leiam os cenários apresentados e analisem, criticamente, os gráficos propostos.</a:t>
            </a:r>
          </a:p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Discutam sobre as perguntas e suas respostas.</a:t>
            </a:r>
          </a:p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Preencham o </a:t>
            </a:r>
            <a:r>
              <a:rPr lang="pt-BR" sz="1400" dirty="0" err="1">
                <a:latin typeface="Poppins" panose="00000500000000000000" pitchFamily="2" charset="0"/>
                <a:cs typeface="Poppins" panose="00000500000000000000" pitchFamily="2" charset="0"/>
              </a:rPr>
              <a:t>Canva</a:t>
            </a: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 de decisão visual com o problema, a solução e o efeito esperado.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178D16E-C960-EB0F-890A-97AB4211FEB8}"/>
              </a:ext>
            </a:extLst>
          </p:cNvPr>
          <p:cNvSpPr txBox="1"/>
          <p:nvPr/>
        </p:nvSpPr>
        <p:spPr>
          <a:xfrm>
            <a:off x="2989335" y="2901137"/>
            <a:ext cx="3811298" cy="8925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Computador com acesso à internet.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Caderno ou folha.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Canetas ou lápis de cor.</a:t>
            </a:r>
          </a:p>
        </p:txBody>
      </p:sp>
    </p:spTree>
    <p:extLst>
      <p:ext uri="{BB962C8B-B14F-4D97-AF65-F5344CB8AC3E}">
        <p14:creationId xmlns:p14="http://schemas.microsoft.com/office/powerpoint/2010/main" val="2666372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56FD887E-B93D-BDCD-9369-FD95FDE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B3C016AC-DDDD-DD91-73CB-CB42058B3B27}"/>
              </a:ext>
            </a:extLst>
          </p:cNvPr>
          <p:cNvSpPr/>
          <p:nvPr/>
        </p:nvSpPr>
        <p:spPr>
          <a:xfrm>
            <a:off x="3124278" y="321788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9DE43542-FAE4-28BF-0418-7CB783187862}"/>
              </a:ext>
            </a:extLst>
          </p:cNvPr>
          <p:cNvSpPr/>
          <p:nvPr/>
        </p:nvSpPr>
        <p:spPr>
          <a:xfrm>
            <a:off x="6800763" y="321788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82A5993B-A9D7-A8C0-6A63-505441FC9966}"/>
              </a:ext>
            </a:extLst>
          </p:cNvPr>
          <p:cNvSpPr/>
          <p:nvPr/>
        </p:nvSpPr>
        <p:spPr>
          <a:xfrm>
            <a:off x="3124278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52;p64">
            <a:extLst>
              <a:ext uri="{FF2B5EF4-FFF2-40B4-BE49-F238E27FC236}">
                <a16:creationId xmlns:a16="http://schemas.microsoft.com/office/drawing/2014/main" id="{C61B1EC0-ED8B-BCB5-348F-E47EC80E50C3}"/>
              </a:ext>
            </a:extLst>
          </p:cNvPr>
          <p:cNvSpPr txBox="1"/>
          <p:nvPr/>
        </p:nvSpPr>
        <p:spPr>
          <a:xfrm>
            <a:off x="3049892" y="4585248"/>
            <a:ext cx="35438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600" dirty="0">
                <a:latin typeface="Poppins" panose="00000500000000000000" pitchFamily="2" charset="0"/>
              </a:rPr>
              <a:t>Dado principal</a:t>
            </a: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04C5C731-1F24-627B-19CB-5096C80BBF38}"/>
              </a:ext>
            </a:extLst>
          </p:cNvPr>
          <p:cNvSpPr/>
          <p:nvPr/>
        </p:nvSpPr>
        <p:spPr>
          <a:xfrm>
            <a:off x="6800763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54;p64">
            <a:extLst>
              <a:ext uri="{FF2B5EF4-FFF2-40B4-BE49-F238E27FC236}">
                <a16:creationId xmlns:a16="http://schemas.microsoft.com/office/drawing/2014/main" id="{9E3950BC-9B34-CB66-4268-279D817CEEE2}"/>
              </a:ext>
            </a:extLst>
          </p:cNvPr>
          <p:cNvSpPr txBox="1"/>
          <p:nvPr/>
        </p:nvSpPr>
        <p:spPr>
          <a:xfrm>
            <a:off x="3170881" y="3506004"/>
            <a:ext cx="330187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600" dirty="0">
                <a:latin typeface="Poppins" panose="00000500000000000000" pitchFamily="2" charset="0"/>
              </a:rPr>
              <a:t>Excesso visual</a:t>
            </a:r>
          </a:p>
        </p:txBody>
      </p:sp>
      <p:sp>
        <p:nvSpPr>
          <p:cNvPr id="18" name="Google Shape;855;p64">
            <a:extLst>
              <a:ext uri="{FF2B5EF4-FFF2-40B4-BE49-F238E27FC236}">
                <a16:creationId xmlns:a16="http://schemas.microsoft.com/office/drawing/2014/main" id="{6E3D2C29-296A-26DB-453E-18D42E75FC08}"/>
              </a:ext>
            </a:extLst>
          </p:cNvPr>
          <p:cNvSpPr txBox="1"/>
          <p:nvPr/>
        </p:nvSpPr>
        <p:spPr>
          <a:xfrm>
            <a:off x="6949535" y="4585248"/>
            <a:ext cx="309753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600" dirty="0">
                <a:latin typeface="Poppins" panose="00000500000000000000" pitchFamily="2" charset="0"/>
              </a:rPr>
              <a:t>Informação útil</a:t>
            </a:r>
          </a:p>
        </p:txBody>
      </p:sp>
      <p:sp>
        <p:nvSpPr>
          <p:cNvPr id="19" name="Google Shape;856;p64">
            <a:extLst>
              <a:ext uri="{FF2B5EF4-FFF2-40B4-BE49-F238E27FC236}">
                <a16:creationId xmlns:a16="http://schemas.microsoft.com/office/drawing/2014/main" id="{F5FBB34A-2D83-0D0A-5DDE-E4ED71D44ABF}"/>
              </a:ext>
            </a:extLst>
          </p:cNvPr>
          <p:cNvSpPr txBox="1"/>
          <p:nvPr/>
        </p:nvSpPr>
        <p:spPr>
          <a:xfrm>
            <a:off x="6949535" y="3506004"/>
            <a:ext cx="309753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600" dirty="0">
                <a:latin typeface="Poppins" panose="00000500000000000000" pitchFamily="2" charset="0"/>
              </a:rPr>
              <a:t>Eixo de valores</a:t>
            </a:r>
            <a:endParaRPr lang="pt-BR" sz="160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E6AF24B0-A248-71C3-C03C-F9303785060B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defTabSz="609630">
              <a:defRPr/>
            </a:pPr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69C4C47-8BDA-BC4E-4E6A-5DE09A91A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7222916A-2D25-25DB-5ADF-9038E985538B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lnSpc>
                <a:spcPct val="107000"/>
              </a:lnSpc>
              <a:buSzPts val="2700"/>
              <a:defRPr/>
            </a:pPr>
            <a:r>
              <a:rPr lang="pt-BR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 defTabSz="609630">
              <a:lnSpc>
                <a:spcPct val="107000"/>
              </a:lnSpc>
              <a:spcBef>
                <a:spcPts val="715"/>
              </a:spcBef>
              <a:buSzPts val="2700"/>
              <a:defRPr/>
            </a:pPr>
            <a:endParaRPr sz="1333" dirty="0">
              <a:solidFill>
                <a:srgbClr val="FFFFFF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C3DD07AD-3BD0-5FA3-C078-0BCCB00616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24278" y="2114435"/>
            <a:ext cx="6921668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 algn="just"/>
            <a:r>
              <a:rPr lang="pt-BR" sz="3200" dirty="0">
                <a:latin typeface="Poppins" panose="00000500000000000000" pitchFamily="2" charset="0"/>
              </a:rPr>
              <a:t>O que é ruído em um gráfico?</a:t>
            </a:r>
          </a:p>
        </p:txBody>
      </p:sp>
    </p:spTree>
    <p:extLst>
      <p:ext uri="{BB962C8B-B14F-4D97-AF65-F5344CB8AC3E}">
        <p14:creationId xmlns:p14="http://schemas.microsoft.com/office/powerpoint/2010/main" val="3334619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98860A2A-1635-AD94-D72F-A10FF11E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387873AD-68C2-3FBB-E281-ECDE5D5A4FB1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defTabSz="609630">
              <a:defRPr/>
            </a:pPr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C360F39C-C1E1-4594-4EE7-4BFABE364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DF2DEF19-DE1B-4319-D797-DA6EEF918AE9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lnSpc>
                <a:spcPct val="107000"/>
              </a:lnSpc>
              <a:buSzPts val="2700"/>
              <a:defRPr/>
            </a:pPr>
            <a:r>
              <a:rPr lang="pt-BR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 defTabSz="609630">
              <a:lnSpc>
                <a:spcPct val="107000"/>
              </a:lnSpc>
              <a:spcBef>
                <a:spcPts val="715"/>
              </a:spcBef>
              <a:buSzPts val="2700"/>
              <a:defRPr/>
            </a:pPr>
            <a:endParaRPr sz="1333" dirty="0">
              <a:solidFill>
                <a:srgbClr val="FFFFFF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" name="Google Shape;1437;p98">
            <a:extLst>
              <a:ext uri="{FF2B5EF4-FFF2-40B4-BE49-F238E27FC236}">
                <a16:creationId xmlns:a16="http://schemas.microsoft.com/office/drawing/2014/main" id="{A4CA2893-4BDA-71C7-EFB0-1C9E9D7B74D1}"/>
              </a:ext>
            </a:extLst>
          </p:cNvPr>
          <p:cNvSpPr/>
          <p:nvPr/>
        </p:nvSpPr>
        <p:spPr>
          <a:xfrm rot="18556360">
            <a:off x="2537610" y="3437174"/>
            <a:ext cx="477861" cy="383881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34;p98">
            <a:extLst>
              <a:ext uri="{FF2B5EF4-FFF2-40B4-BE49-F238E27FC236}">
                <a16:creationId xmlns:a16="http://schemas.microsoft.com/office/drawing/2014/main" id="{75EAAB19-5867-AE66-E232-713A310C8FC0}"/>
              </a:ext>
            </a:extLst>
          </p:cNvPr>
          <p:cNvSpPr/>
          <p:nvPr/>
        </p:nvSpPr>
        <p:spPr>
          <a:xfrm>
            <a:off x="10243742" y="4426558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34;p98">
            <a:extLst>
              <a:ext uri="{FF2B5EF4-FFF2-40B4-BE49-F238E27FC236}">
                <a16:creationId xmlns:a16="http://schemas.microsoft.com/office/drawing/2014/main" id="{01058E7B-06B0-521A-0484-14766D167A25}"/>
              </a:ext>
            </a:extLst>
          </p:cNvPr>
          <p:cNvSpPr/>
          <p:nvPr/>
        </p:nvSpPr>
        <p:spPr>
          <a:xfrm>
            <a:off x="10243742" y="3347314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4;p98">
            <a:extLst>
              <a:ext uri="{FF2B5EF4-FFF2-40B4-BE49-F238E27FC236}">
                <a16:creationId xmlns:a16="http://schemas.microsoft.com/office/drawing/2014/main" id="{A5D807D9-9A74-3066-5747-CCA5B30A1168}"/>
              </a:ext>
            </a:extLst>
          </p:cNvPr>
          <p:cNvSpPr/>
          <p:nvPr/>
        </p:nvSpPr>
        <p:spPr>
          <a:xfrm>
            <a:off x="2561777" y="4424943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49;p64">
            <a:extLst>
              <a:ext uri="{FF2B5EF4-FFF2-40B4-BE49-F238E27FC236}">
                <a16:creationId xmlns:a16="http://schemas.microsoft.com/office/drawing/2014/main" id="{59504FAE-C3C5-D69F-7FC9-25E93F9AF626}"/>
              </a:ext>
            </a:extLst>
          </p:cNvPr>
          <p:cNvSpPr/>
          <p:nvPr/>
        </p:nvSpPr>
        <p:spPr>
          <a:xfrm>
            <a:off x="3124278" y="321788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50;p64">
            <a:extLst>
              <a:ext uri="{FF2B5EF4-FFF2-40B4-BE49-F238E27FC236}">
                <a16:creationId xmlns:a16="http://schemas.microsoft.com/office/drawing/2014/main" id="{D25B83C5-EC18-57DA-3F06-B0A599ACB121}"/>
              </a:ext>
            </a:extLst>
          </p:cNvPr>
          <p:cNvSpPr/>
          <p:nvPr/>
        </p:nvSpPr>
        <p:spPr>
          <a:xfrm>
            <a:off x="6800763" y="321788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51;p64">
            <a:extLst>
              <a:ext uri="{FF2B5EF4-FFF2-40B4-BE49-F238E27FC236}">
                <a16:creationId xmlns:a16="http://schemas.microsoft.com/office/drawing/2014/main" id="{C245C62C-6835-DBEC-8176-8B0694ED7E29}"/>
              </a:ext>
            </a:extLst>
          </p:cNvPr>
          <p:cNvSpPr/>
          <p:nvPr/>
        </p:nvSpPr>
        <p:spPr>
          <a:xfrm>
            <a:off x="3124278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52;p64">
            <a:extLst>
              <a:ext uri="{FF2B5EF4-FFF2-40B4-BE49-F238E27FC236}">
                <a16:creationId xmlns:a16="http://schemas.microsoft.com/office/drawing/2014/main" id="{4A755F9B-79AA-1525-5360-A2F76986878B}"/>
              </a:ext>
            </a:extLst>
          </p:cNvPr>
          <p:cNvSpPr txBox="1"/>
          <p:nvPr/>
        </p:nvSpPr>
        <p:spPr>
          <a:xfrm>
            <a:off x="3049892" y="4585248"/>
            <a:ext cx="35438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600" dirty="0">
                <a:latin typeface="Poppins" panose="00000500000000000000" pitchFamily="2" charset="0"/>
              </a:rPr>
              <a:t>Dado principal</a:t>
            </a:r>
          </a:p>
        </p:txBody>
      </p:sp>
      <p:sp>
        <p:nvSpPr>
          <p:cNvPr id="24" name="Google Shape;853;p64">
            <a:extLst>
              <a:ext uri="{FF2B5EF4-FFF2-40B4-BE49-F238E27FC236}">
                <a16:creationId xmlns:a16="http://schemas.microsoft.com/office/drawing/2014/main" id="{34904EFF-5EA2-B855-4FE0-63063967BD60}"/>
              </a:ext>
            </a:extLst>
          </p:cNvPr>
          <p:cNvSpPr/>
          <p:nvPr/>
        </p:nvSpPr>
        <p:spPr>
          <a:xfrm>
            <a:off x="6800763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854;p64">
            <a:extLst>
              <a:ext uri="{FF2B5EF4-FFF2-40B4-BE49-F238E27FC236}">
                <a16:creationId xmlns:a16="http://schemas.microsoft.com/office/drawing/2014/main" id="{FF4327FB-F5B2-1826-C905-188B46DC3BC5}"/>
              </a:ext>
            </a:extLst>
          </p:cNvPr>
          <p:cNvSpPr txBox="1"/>
          <p:nvPr/>
        </p:nvSpPr>
        <p:spPr>
          <a:xfrm>
            <a:off x="3170881" y="3506004"/>
            <a:ext cx="330187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600" dirty="0">
                <a:latin typeface="Poppins" panose="00000500000000000000" pitchFamily="2" charset="0"/>
              </a:rPr>
              <a:t>Excesso visual</a:t>
            </a:r>
          </a:p>
        </p:txBody>
      </p:sp>
      <p:sp>
        <p:nvSpPr>
          <p:cNvPr id="26" name="Google Shape;855;p64">
            <a:extLst>
              <a:ext uri="{FF2B5EF4-FFF2-40B4-BE49-F238E27FC236}">
                <a16:creationId xmlns:a16="http://schemas.microsoft.com/office/drawing/2014/main" id="{C0E4C076-8B56-5709-A55B-082E24FE982C}"/>
              </a:ext>
            </a:extLst>
          </p:cNvPr>
          <p:cNvSpPr txBox="1"/>
          <p:nvPr/>
        </p:nvSpPr>
        <p:spPr>
          <a:xfrm>
            <a:off x="6949535" y="4585248"/>
            <a:ext cx="309753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600" dirty="0">
                <a:latin typeface="Poppins" panose="00000500000000000000" pitchFamily="2" charset="0"/>
              </a:rPr>
              <a:t>Informação útil</a:t>
            </a:r>
          </a:p>
        </p:txBody>
      </p:sp>
      <p:sp>
        <p:nvSpPr>
          <p:cNvPr id="27" name="Google Shape;856;p64">
            <a:extLst>
              <a:ext uri="{FF2B5EF4-FFF2-40B4-BE49-F238E27FC236}">
                <a16:creationId xmlns:a16="http://schemas.microsoft.com/office/drawing/2014/main" id="{EE34E0B7-4DA1-39EE-2485-18E4E851C922}"/>
              </a:ext>
            </a:extLst>
          </p:cNvPr>
          <p:cNvSpPr txBox="1"/>
          <p:nvPr/>
        </p:nvSpPr>
        <p:spPr>
          <a:xfrm>
            <a:off x="6949535" y="3506004"/>
            <a:ext cx="309753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600" dirty="0">
                <a:latin typeface="Poppins" panose="00000500000000000000" pitchFamily="2" charset="0"/>
              </a:rPr>
              <a:t>Eixo de valores</a:t>
            </a:r>
            <a:endParaRPr lang="pt-BR" sz="160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2277F6A6-B82D-0F6F-E50F-235677890A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24278" y="2114435"/>
            <a:ext cx="6921668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 algn="just"/>
            <a:r>
              <a:rPr lang="pt-BR" sz="3200" dirty="0">
                <a:latin typeface="Poppins" panose="00000500000000000000" pitchFamily="2" charset="0"/>
              </a:rPr>
              <a:t>O que é ruído em um gráfico?</a:t>
            </a:r>
          </a:p>
        </p:txBody>
      </p:sp>
    </p:spTree>
    <p:extLst>
      <p:ext uri="{BB962C8B-B14F-4D97-AF65-F5344CB8AC3E}">
        <p14:creationId xmlns:p14="http://schemas.microsoft.com/office/powerpoint/2010/main" val="108817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00F765D8-99DE-2A83-E736-0AFC49BC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961B4F0-12EC-E2F2-C0DD-1EBE393A91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19887" y="1808940"/>
            <a:ext cx="6354575" cy="62320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/>
            <a:r>
              <a:rPr lang="pt-BR" sz="1600" dirty="0">
                <a:latin typeface="Poppins" panose="00000500000000000000" pitchFamily="2" charset="0"/>
              </a:rPr>
              <a:t>Compreendemos que ruído visual é todo elemento que distrai e dificulta a leitura dos dados.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1AB578-B64F-815F-9CC9-04A9D46F286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919887" y="3023077"/>
            <a:ext cx="6354575" cy="62320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/>
            <a:r>
              <a:rPr lang="pt-BR" sz="1600" dirty="0">
                <a:latin typeface="Poppins" panose="00000500000000000000" pitchFamily="2" charset="0"/>
              </a:rPr>
              <a:t>Aprendemos a remover excessos para destacar apenas o que realmente importa na mensagem.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E1B0984-4E19-7545-B025-4C4C1638EDB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919887" y="4243201"/>
            <a:ext cx="6354575" cy="62320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/>
            <a:r>
              <a:rPr lang="pt-BR" sz="1600" dirty="0">
                <a:latin typeface="Poppins" panose="00000500000000000000" pitchFamily="2" charset="0"/>
              </a:rPr>
              <a:t>Entendemos que o foco visual orienta o olhar do público e torna o gráfico mais claro e objetivo.</a:t>
            </a:r>
          </a:p>
        </p:txBody>
      </p:sp>
      <p:sp>
        <p:nvSpPr>
          <p:cNvPr id="2" name="Google Shape;741;p22">
            <a:extLst>
              <a:ext uri="{FF2B5EF4-FFF2-40B4-BE49-F238E27FC236}">
                <a16:creationId xmlns:a16="http://schemas.microsoft.com/office/drawing/2014/main" id="{8048E486-2CC1-26AB-5D10-16CFB2500ABD}"/>
              </a:ext>
            </a:extLst>
          </p:cNvPr>
          <p:cNvSpPr txBox="1">
            <a:spLocks/>
          </p:cNvSpPr>
          <p:nvPr/>
        </p:nvSpPr>
        <p:spPr>
          <a:xfrm>
            <a:off x="4561609" y="734021"/>
            <a:ext cx="6972299" cy="630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  <a:buClr>
                <a:schemeClr val="dk1"/>
              </a:buClr>
              <a:buSzPts val="4500"/>
            </a:pPr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Então ficamos assim...</a:t>
            </a:r>
          </a:p>
        </p:txBody>
      </p:sp>
    </p:spTree>
    <p:extLst>
      <p:ext uri="{BB962C8B-B14F-4D97-AF65-F5344CB8AC3E}">
        <p14:creationId xmlns:p14="http://schemas.microsoft.com/office/powerpoint/2010/main" val="822114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21;p53">
            <a:extLst>
              <a:ext uri="{FF2B5EF4-FFF2-40B4-BE49-F238E27FC236}">
                <a16:creationId xmlns:a16="http://schemas.microsoft.com/office/drawing/2014/main" id="{622C50B5-A2EB-20D7-6B76-58DB77432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2690" y="791020"/>
            <a:ext cx="5579875" cy="4001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</a:pPr>
            <a:r>
              <a:rPr lang="pt-BR" sz="2000" b="1" dirty="0">
                <a:latin typeface="Poppins" panose="00000500000000000000" pitchFamily="2" charset="0"/>
              </a:rPr>
              <a:t>Os dados podem contar histórias que realmente convencem?</a:t>
            </a: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br>
              <a:rPr lang="pt-BR" sz="1800" dirty="0">
                <a:latin typeface="Poppins" panose="00000500000000000000" pitchFamily="2" charset="0"/>
              </a:rPr>
            </a:br>
            <a:r>
              <a:rPr lang="pt-BR" sz="1800" dirty="0">
                <a:latin typeface="Poppins" panose="00000500000000000000" pitchFamily="2" charset="0"/>
              </a:rPr>
              <a:t>Sim, é possível! Assista ao vídeo abaixo e veja, de forma simples e com exemplos práticos, como escolher as informações certas para destacar sua mensagem e prender a atenção com seus dados!</a:t>
            </a: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</a:endParaRPr>
          </a:p>
          <a:p>
            <a:pPr marL="285750" indent="-285750">
              <a:spcBef>
                <a:spcPts val="0"/>
              </a:spcBef>
              <a:buClr>
                <a:srgbClr val="0D0D0D"/>
              </a:buClr>
              <a:buSzPct val="110000"/>
              <a:buFont typeface="Arial" panose="020B0604020202020204" pitchFamily="34" charset="0"/>
              <a:buChar char="•"/>
            </a:pPr>
            <a:r>
              <a:rPr lang="pt-BR" sz="1800" dirty="0">
                <a:latin typeface="Poppins" panose="00000500000000000000" pitchFamily="2" charset="0"/>
                <a:cs typeface="Poppins"/>
              </a:rPr>
              <a:t>CORTES ANALYTICS TALKS. Como transformar os dados em uma narrativa envolvente? </a:t>
            </a:r>
            <a:r>
              <a:rPr lang="pt-BR" sz="1800" b="1" dirty="0">
                <a:latin typeface="Poppins" panose="00000500000000000000" pitchFamily="2" charset="0"/>
                <a:cs typeface="Poppins"/>
              </a:rPr>
              <a:t>Youtube</a:t>
            </a:r>
            <a:r>
              <a:rPr lang="pt-BR" sz="1800" dirty="0">
                <a:latin typeface="Poppins" panose="00000500000000000000" pitchFamily="2" charset="0"/>
                <a:cs typeface="Poppins"/>
              </a:rPr>
              <a:t>, 19 jul. 2022. Disponível em: </a:t>
            </a:r>
            <a:r>
              <a:rPr lang="pt-BR" sz="1800" dirty="0">
                <a:latin typeface="Poppins" panose="00000500000000000000" pitchFamily="2" charset="0"/>
                <a:cs typeface="Poppins"/>
                <a:hlinkClick r:id="rId3"/>
              </a:rPr>
              <a:t>https://www.youtube.com/watch?v=d9w0zE8tyTU</a:t>
            </a:r>
            <a:r>
              <a:rPr lang="pt-BR" sz="1800" dirty="0">
                <a:latin typeface="Poppins" panose="00000500000000000000" pitchFamily="2" charset="0"/>
                <a:cs typeface="Poppins"/>
              </a:rPr>
              <a:t>. Acesso em: 6 nov. 2025.</a:t>
            </a:r>
            <a:endParaRPr lang="pt-BR" dirty="0">
              <a:latin typeface="Poppins" panose="00000500000000000000" pitchFamily="2" charset="0"/>
            </a:endParaRPr>
          </a:p>
        </p:txBody>
      </p:sp>
      <p:sp>
        <p:nvSpPr>
          <p:cNvPr id="2" name="Google Shape;145;p12">
            <a:extLst>
              <a:ext uri="{FF2B5EF4-FFF2-40B4-BE49-F238E27FC236}">
                <a16:creationId xmlns:a16="http://schemas.microsoft.com/office/drawing/2014/main" id="{8AFD5CF4-520D-C05E-0436-E4E65A8A0785}"/>
              </a:ext>
            </a:extLst>
          </p:cNvPr>
          <p:cNvSpPr txBox="1"/>
          <p:nvPr/>
        </p:nvSpPr>
        <p:spPr>
          <a:xfrm>
            <a:off x="1024125" y="1786467"/>
            <a:ext cx="3183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6000"/>
            </a:pPr>
            <a:r>
              <a:rPr lang="pt-BR" sz="4000" b="1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Saiba mais</a:t>
            </a:r>
            <a:endParaRPr lang="pt-BR" sz="4000">
              <a:solidFill>
                <a:schemeClr val="bg1"/>
              </a:solidFill>
              <a:latin typeface="Poppins" panose="00000500000000000000" pitchFamily="2" charset="0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819781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B0FC8-FD34-BA20-D723-845BE7E25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946C0D7-34F7-4200-A883-37BEBA4A4E81}"/>
              </a:ext>
            </a:extLst>
          </p:cNvPr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EDE29D-E672-21F0-1418-489801C15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564" y="2106377"/>
            <a:ext cx="9530436" cy="235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700" dirty="0">
                <a:latin typeface="Poppins" panose="00000500000000000000" pitchFamily="2" charset="0"/>
                <a:cs typeface="Poppins"/>
              </a:rPr>
              <a:t>DALE, K. </a:t>
            </a:r>
            <a:r>
              <a:rPr lang="pt-BR" sz="1700" b="1" dirty="0">
                <a:latin typeface="Poppins" panose="00000500000000000000" pitchFamily="2" charset="0"/>
                <a:cs typeface="Poppins"/>
              </a:rPr>
              <a:t>Visualização de dados com Python e </a:t>
            </a:r>
            <a:r>
              <a:rPr lang="pt-BR" sz="1700" b="1" dirty="0" err="1">
                <a:latin typeface="Poppins" panose="00000500000000000000" pitchFamily="2" charset="0"/>
                <a:cs typeface="Poppins"/>
              </a:rPr>
              <a:t>JavaScript</a:t>
            </a:r>
            <a:r>
              <a:rPr lang="pt-BR" sz="1700" dirty="0">
                <a:latin typeface="Poppins" panose="00000500000000000000" pitchFamily="2" charset="0"/>
                <a:cs typeface="Poppins"/>
              </a:rPr>
              <a:t>: raspe, limpe, explore e transforme seus dados. Rio de Janeiro: Alta Books, 2024.</a:t>
            </a:r>
            <a:endParaRPr lang="pt-BR" dirty="0">
              <a:latin typeface="Poppins" panose="00000500000000000000" pitchFamily="2" charset="0"/>
            </a:endParaRP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sz="1700" dirty="0">
                <a:latin typeface="Poppins"/>
                <a:cs typeface="Poppins"/>
              </a:rPr>
              <a:t>KNAFLIC, C. N. </a:t>
            </a:r>
            <a:r>
              <a:rPr lang="pt-BR" sz="1700" b="1" dirty="0" err="1">
                <a:latin typeface="Poppins"/>
                <a:cs typeface="Poppins"/>
              </a:rPr>
              <a:t>Storytelling</a:t>
            </a:r>
            <a:r>
              <a:rPr lang="pt-BR" sz="1700" b="1" dirty="0">
                <a:latin typeface="Poppins"/>
                <a:cs typeface="Poppins"/>
              </a:rPr>
              <a:t> com dados</a:t>
            </a:r>
            <a:r>
              <a:rPr lang="pt-BR" sz="1700" dirty="0">
                <a:latin typeface="Poppins"/>
                <a:cs typeface="Poppins"/>
              </a:rPr>
              <a:t>: um guia sobre visualização de dados para profissionais de negócios. Rio de Janeiro: Alta Books, 2019. </a:t>
            </a:r>
            <a:endParaRPr lang="pt-BR" dirty="0">
              <a:latin typeface="Poppins" panose="00000500000000000000" pitchFamily="2" charset="0"/>
            </a:endParaRP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sz="1700" dirty="0">
                <a:latin typeface="Poppins" panose="00000500000000000000" pitchFamily="2" charset="0"/>
                <a:cs typeface="Poppins"/>
              </a:rPr>
              <a:t>STRACHNYI, K. </a:t>
            </a:r>
            <a:r>
              <a:rPr lang="pt-BR" sz="1700" b="1" dirty="0">
                <a:latin typeface="Poppins" panose="00000500000000000000" pitchFamily="2" charset="0"/>
                <a:cs typeface="Poppins"/>
              </a:rPr>
              <a:t>A cor dos dados</a:t>
            </a:r>
            <a:r>
              <a:rPr lang="pt-BR" sz="1700" dirty="0">
                <a:latin typeface="Poppins" panose="00000500000000000000" pitchFamily="2" charset="0"/>
                <a:cs typeface="Poppins"/>
              </a:rPr>
              <a:t>: um guia para o uso de cores em </a:t>
            </a:r>
            <a:r>
              <a:rPr lang="pt-BR" sz="1700" dirty="0" err="1">
                <a:latin typeface="Poppins" panose="00000500000000000000" pitchFamily="2" charset="0"/>
                <a:cs typeface="Poppins"/>
              </a:rPr>
              <a:t>storytelling</a:t>
            </a:r>
            <a:r>
              <a:rPr lang="pt-BR" sz="1700" dirty="0">
                <a:latin typeface="Poppins" panose="00000500000000000000" pitchFamily="2" charset="0"/>
                <a:cs typeface="Poppins"/>
              </a:rPr>
              <a:t> de dados. São Paulo: </a:t>
            </a:r>
            <a:r>
              <a:rPr lang="pt-BR" sz="1700" dirty="0" err="1">
                <a:latin typeface="Poppins" panose="00000500000000000000" pitchFamily="2" charset="0"/>
                <a:cs typeface="Poppins"/>
              </a:rPr>
              <a:t>Novatec</a:t>
            </a:r>
            <a:r>
              <a:rPr lang="pt-BR" sz="1700" dirty="0">
                <a:latin typeface="Poppins" panose="00000500000000000000" pitchFamily="2" charset="0"/>
                <a:cs typeface="Poppins"/>
              </a:rPr>
              <a:t>, 2023.</a:t>
            </a:r>
            <a:endParaRPr lang="pt-BR" dirty="0">
              <a:latin typeface="Poppins" panose="00000500000000000000" pitchFamily="2" charset="0"/>
            </a:endParaRP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sz="1700" dirty="0">
                <a:latin typeface="Poppins"/>
                <a:cs typeface="Poppins"/>
              </a:rPr>
              <a:t>Identidade visual: imagens © Getty Images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1511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750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4B63AF-44B8-B322-9241-BDA940F2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2F343DEC-D0BA-4B52-833E-2D4FCF13738C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" name="Conector Reto 6">
            <a:extLst>
              <a:ext uri="{FF2B5EF4-FFF2-40B4-BE49-F238E27FC236}">
                <a16:creationId xmlns:a16="http://schemas.microsoft.com/office/drawing/2014/main" id="{FB64FDF1-A35B-47C2-AEE1-6BA7B381D17F}"/>
              </a:ext>
            </a:extLst>
          </p:cNvPr>
          <p:cNvCxnSpPr>
            <a:cxnSpLocks/>
          </p:cNvCxnSpPr>
          <p:nvPr/>
        </p:nvCxnSpPr>
        <p:spPr>
          <a:xfrm flipV="1">
            <a:off x="680042" y="544760"/>
            <a:ext cx="0" cy="5533921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7E067C-5E14-B36A-D0C2-D18162416C89}"/>
              </a:ext>
            </a:extLst>
          </p:cNvPr>
          <p:cNvSpPr txBox="1"/>
          <p:nvPr/>
        </p:nvSpPr>
        <p:spPr>
          <a:xfrm>
            <a:off x="994065" y="3082571"/>
            <a:ext cx="10464415" cy="2369880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  <a:endParaRPr lang="pt-BR" sz="10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Professor, a proposta é relembrar os conceitos, simulando o jogo “batalha naval”.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Apresente a “cartela” para os alunos, explicando como funciona a dinâmica – a pergunta base é: “Quais frases caracterizam um aspecto que torna um gráfico inadequado?”. 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Selecione um aluno e peça a ele para indicar essa frase falando a letra da coluna e o número  da linha (por exemplo, 1D; 4C)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A cada resposta correta, reforce esse aspecto como negativo na construção de um gráfico e reforce a importância de saber identificar esses ruídos.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É importante deixar esses conceitos bem trabalhados, pois eles basearão a atividade prática.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As respostas são apresentadas instantaneamente durante a dinâmica, mas é importante que os alunos relembrem e entendam que: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Gráficos com muitos elementos visuais, como excesso de cores, efeitos 3D, fundos com textura ou rótulos repetidos, atrapalham a leitura dos dados. Esses recursos desviam a atenção do que realmente importa e geram confusão visual, tornando a mensagem menos clara.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Para melhorar, é preciso remover o ruído visual — simplificando cores, eliminando detalhes desnecessários e destacando apenas o essencial. Gráficos limpos, com títulos e legendas objetivos, mantêm o foco nos dados principais e tornam a informação mais clara e fácil de entender.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EACDBB-EBCE-1F6D-BDA2-B1F7C79B1D41}"/>
              </a:ext>
            </a:extLst>
          </p:cNvPr>
          <p:cNvSpPr txBox="1"/>
          <p:nvPr/>
        </p:nvSpPr>
        <p:spPr>
          <a:xfrm>
            <a:off x="985519" y="296229"/>
            <a:ext cx="10361353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pPr algn="l"/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6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6B962F4-A845-4E9C-E79D-7368E4EDE5E1}"/>
              </a:ext>
            </a:extLst>
          </p:cNvPr>
          <p:cNvGrpSpPr/>
          <p:nvPr/>
        </p:nvGrpSpPr>
        <p:grpSpPr>
          <a:xfrm>
            <a:off x="481421" y="1448671"/>
            <a:ext cx="386079" cy="382464"/>
            <a:chOff x="477262" y="1677273"/>
            <a:chExt cx="386079" cy="382464"/>
          </a:xfrm>
        </p:grpSpPr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6F888B52-CA7D-01BD-60B5-00D76E024C50}"/>
                </a:ext>
              </a:extLst>
            </p:cNvPr>
            <p:cNvSpPr/>
            <p:nvPr/>
          </p:nvSpPr>
          <p:spPr>
            <a:xfrm>
              <a:off x="477262" y="1677273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FD4595CB-C206-1DDD-1758-5A3428EC9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95493" y="1770979"/>
              <a:ext cx="154445" cy="193056"/>
            </a:xfrm>
            <a:prstGeom prst="rect">
              <a:avLst/>
            </a:prstGeom>
          </p:spPr>
        </p:pic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BA83063-5B03-BF78-79F1-76C3C2B8B14A}"/>
              </a:ext>
            </a:extLst>
          </p:cNvPr>
          <p:cNvGrpSpPr/>
          <p:nvPr/>
        </p:nvGrpSpPr>
        <p:grpSpPr>
          <a:xfrm>
            <a:off x="481421" y="2038352"/>
            <a:ext cx="386079" cy="382464"/>
            <a:chOff x="488157" y="2308518"/>
            <a:chExt cx="386079" cy="382464"/>
          </a:xfrm>
        </p:grpSpPr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0AD9795D-97DC-EDE9-219E-BC60AB88B58B}"/>
                </a:ext>
              </a:extLst>
            </p:cNvPr>
            <p:cNvSpPr/>
            <p:nvPr/>
          </p:nvSpPr>
          <p:spPr>
            <a:xfrm>
              <a:off x="488157" y="23085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Google Shape;2223;p100">
              <a:extLst>
                <a:ext uri="{FF2B5EF4-FFF2-40B4-BE49-F238E27FC236}">
                  <a16:creationId xmlns:a16="http://schemas.microsoft.com/office/drawing/2014/main" id="{B827DB0A-44C1-732B-166D-98470D1959A8}"/>
                </a:ext>
              </a:extLst>
            </p:cNvPr>
            <p:cNvSpPr>
              <a:spLocks/>
            </p:cNvSpPr>
            <p:nvPr/>
          </p:nvSpPr>
          <p:spPr>
            <a:xfrm>
              <a:off x="557168" y="2386948"/>
              <a:ext cx="245745" cy="226842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A6EBF94-F8F3-6C09-B30F-A68CA1C29C7A}"/>
              </a:ext>
            </a:extLst>
          </p:cNvPr>
          <p:cNvGrpSpPr/>
          <p:nvPr/>
        </p:nvGrpSpPr>
        <p:grpSpPr>
          <a:xfrm>
            <a:off x="481421" y="4341930"/>
            <a:ext cx="386079" cy="382464"/>
            <a:chOff x="485330" y="4208606"/>
            <a:chExt cx="386079" cy="382464"/>
          </a:xfrm>
        </p:grpSpPr>
        <p:sp>
          <p:nvSpPr>
            <p:cNvPr id="18" name="Oval 8">
              <a:extLst>
                <a:ext uri="{FF2B5EF4-FFF2-40B4-BE49-F238E27FC236}">
                  <a16:creationId xmlns:a16="http://schemas.microsoft.com/office/drawing/2014/main" id="{EE3AE88E-97BD-DCED-E7C8-E0FF1A365856}"/>
                </a:ext>
              </a:extLst>
            </p:cNvPr>
            <p:cNvSpPr/>
            <p:nvPr/>
          </p:nvSpPr>
          <p:spPr>
            <a:xfrm>
              <a:off x="485330" y="4208606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9" name="Gráfico 18">
              <a:extLst>
                <a:ext uri="{FF2B5EF4-FFF2-40B4-BE49-F238E27FC236}">
                  <a16:creationId xmlns:a16="http://schemas.microsoft.com/office/drawing/2014/main" id="{9999078B-E916-3AAE-6A1C-BB0D29023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9271" y="4262727"/>
              <a:ext cx="208026" cy="266700"/>
            </a:xfrm>
            <a:prstGeom prst="rect">
              <a:avLst/>
            </a:prstGeom>
          </p:spPr>
        </p:pic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E366321F-3F39-DD99-29A8-668A91615D2D}"/>
              </a:ext>
            </a:extLst>
          </p:cNvPr>
          <p:cNvGrpSpPr/>
          <p:nvPr/>
        </p:nvGrpSpPr>
        <p:grpSpPr>
          <a:xfrm>
            <a:off x="481421" y="3082568"/>
            <a:ext cx="386079" cy="382464"/>
            <a:chOff x="453903" y="3103350"/>
            <a:chExt cx="386079" cy="382464"/>
          </a:xfrm>
        </p:grpSpPr>
        <p:sp>
          <p:nvSpPr>
            <p:cNvPr id="38" name="Oval 9">
              <a:extLst>
                <a:ext uri="{FF2B5EF4-FFF2-40B4-BE49-F238E27FC236}">
                  <a16:creationId xmlns:a16="http://schemas.microsoft.com/office/drawing/2014/main" id="{41EF3F4F-069A-238F-CBC1-1B86BC3B1FDD}"/>
                </a:ext>
              </a:extLst>
            </p:cNvPr>
            <p:cNvSpPr/>
            <p:nvPr/>
          </p:nvSpPr>
          <p:spPr>
            <a:xfrm>
              <a:off x="453903" y="3103350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9" name="Gráfico 38">
              <a:extLst>
                <a:ext uri="{FF2B5EF4-FFF2-40B4-BE49-F238E27FC236}">
                  <a16:creationId xmlns:a16="http://schemas.microsoft.com/office/drawing/2014/main" id="{3D98A2DD-23EC-8313-F9F8-C4E3E4DEC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1968" y="3173805"/>
              <a:ext cx="235296" cy="240643"/>
            </a:xfrm>
            <a:prstGeom prst="rect">
              <a:avLst/>
            </a:prstGeom>
          </p:spPr>
        </p:pic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B5A2FE5B-E7C9-5F77-057B-23DC82CA3157}"/>
              </a:ext>
            </a:extLst>
          </p:cNvPr>
          <p:cNvSpPr txBox="1"/>
          <p:nvPr/>
        </p:nvSpPr>
        <p:spPr>
          <a:xfrm>
            <a:off x="1019342" y="1530978"/>
            <a:ext cx="10464415" cy="2154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10 minutos.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DFB9EF2-DFFA-0F44-98F2-CEA5F5FC8688}"/>
              </a:ext>
            </a:extLst>
          </p:cNvPr>
          <p:cNvSpPr txBox="1"/>
          <p:nvPr/>
        </p:nvSpPr>
        <p:spPr>
          <a:xfrm>
            <a:off x="997110" y="2007102"/>
            <a:ext cx="10855256" cy="830997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Assegure que todos os estudantes tenham a oportunidade de participar. Se necessário, faça rodízio ou direcione perguntas a estudantes que estejam menos ativos para garantir a participação de todos.  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Mantenha um ambiente de respeito, em que todas as opiniões são valorizadas, garantindo que os alunos se sintam confortáveis para expressar seus pontos de vista.  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Conclua a atividade resumindo as principais ideias discutidas e vinculando-as aos objetivos de aprendizagem da aula. 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50417E7-B2F8-4687-9882-F11BB5322EBE}"/>
              </a:ext>
            </a:extLst>
          </p:cNvPr>
          <p:cNvSpPr txBox="1"/>
          <p:nvPr/>
        </p:nvSpPr>
        <p:spPr>
          <a:xfrm>
            <a:off x="997022" y="929961"/>
            <a:ext cx="10498238" cy="369332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Relembre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retomar conhecimentos já adquiridos por meio de atividades simples/exercícios que abordem conceitos previamente trabalhados com os estudantes. 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2C82F968-FCF7-4611-A4E3-471A4E62FEBD}"/>
              </a:ext>
            </a:extLst>
          </p:cNvPr>
          <p:cNvGrpSpPr/>
          <p:nvPr/>
        </p:nvGrpSpPr>
        <p:grpSpPr>
          <a:xfrm>
            <a:off x="481421" y="899318"/>
            <a:ext cx="386079" cy="382464"/>
            <a:chOff x="487003" y="899318"/>
            <a:chExt cx="386079" cy="382464"/>
          </a:xfrm>
        </p:grpSpPr>
        <p:sp>
          <p:nvSpPr>
            <p:cNvPr id="27" name="Oval 12">
              <a:extLst>
                <a:ext uri="{FF2B5EF4-FFF2-40B4-BE49-F238E27FC236}">
                  <a16:creationId xmlns:a16="http://schemas.microsoft.com/office/drawing/2014/main" id="{92CACAFF-EAC8-474E-B7CD-E50048B85105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" name="Google Shape;2216;p100">
              <a:extLst>
                <a:ext uri="{FF2B5EF4-FFF2-40B4-BE49-F238E27FC236}">
                  <a16:creationId xmlns:a16="http://schemas.microsoft.com/office/drawing/2014/main" id="{0BAE55B6-778D-4A2F-B1B1-F300E57863E5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8998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BC4483-D9E9-908A-54F7-A29DC204A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2693D58E-193B-40FE-BDF9-446BE68A0BC1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" name="Conector Reto 6">
            <a:extLst>
              <a:ext uri="{FF2B5EF4-FFF2-40B4-BE49-F238E27FC236}">
                <a16:creationId xmlns:a16="http://schemas.microsoft.com/office/drawing/2014/main" id="{2198A259-2E72-4A68-B361-5E681796A8E7}"/>
              </a:ext>
            </a:extLst>
          </p:cNvPr>
          <p:cNvCxnSpPr>
            <a:cxnSpLocks/>
          </p:cNvCxnSpPr>
          <p:nvPr/>
        </p:nvCxnSpPr>
        <p:spPr>
          <a:xfrm flipV="1">
            <a:off x="680042" y="544761"/>
            <a:ext cx="0" cy="4595650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98875D-2DC4-FDA2-AA21-5C8A35BF45C0}"/>
              </a:ext>
            </a:extLst>
          </p:cNvPr>
          <p:cNvSpPr txBox="1"/>
          <p:nvPr/>
        </p:nvSpPr>
        <p:spPr>
          <a:xfrm>
            <a:off x="985519" y="296229"/>
            <a:ext cx="10361353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pPr algn="l"/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7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5B7FE7AC-9D45-6739-4775-A51DF6C825E7}"/>
              </a:ext>
            </a:extLst>
          </p:cNvPr>
          <p:cNvGrpSpPr/>
          <p:nvPr/>
        </p:nvGrpSpPr>
        <p:grpSpPr>
          <a:xfrm>
            <a:off x="481421" y="1428220"/>
            <a:ext cx="386079" cy="382464"/>
            <a:chOff x="477262" y="1677273"/>
            <a:chExt cx="386079" cy="382464"/>
          </a:xfrm>
        </p:grpSpPr>
        <p:sp>
          <p:nvSpPr>
            <p:cNvPr id="34" name="Oval 11">
              <a:extLst>
                <a:ext uri="{FF2B5EF4-FFF2-40B4-BE49-F238E27FC236}">
                  <a16:creationId xmlns:a16="http://schemas.microsoft.com/office/drawing/2014/main" id="{B54DC768-A73E-6143-D6D3-D5814EC2D0E8}"/>
                </a:ext>
              </a:extLst>
            </p:cNvPr>
            <p:cNvSpPr/>
            <p:nvPr/>
          </p:nvSpPr>
          <p:spPr>
            <a:xfrm>
              <a:off x="477262" y="1677273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F0FFECB7-9FDD-1DEA-DC06-8AA613E09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95493" y="1770979"/>
              <a:ext cx="154445" cy="193056"/>
            </a:xfrm>
            <a:prstGeom prst="rect">
              <a:avLst/>
            </a:prstGeom>
          </p:spPr>
        </p:pic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553D635C-D454-4E85-BCFA-8DEDD0CCF942}"/>
              </a:ext>
            </a:extLst>
          </p:cNvPr>
          <p:cNvGrpSpPr/>
          <p:nvPr/>
        </p:nvGrpSpPr>
        <p:grpSpPr>
          <a:xfrm>
            <a:off x="481421" y="2086514"/>
            <a:ext cx="386079" cy="382464"/>
            <a:chOff x="488157" y="2308518"/>
            <a:chExt cx="386079" cy="382464"/>
          </a:xfrm>
        </p:grpSpPr>
        <p:sp>
          <p:nvSpPr>
            <p:cNvPr id="37" name="Oval 10">
              <a:extLst>
                <a:ext uri="{FF2B5EF4-FFF2-40B4-BE49-F238E27FC236}">
                  <a16:creationId xmlns:a16="http://schemas.microsoft.com/office/drawing/2014/main" id="{8AC48716-35F5-E643-68FA-7DCEBE5BD0E0}"/>
                </a:ext>
              </a:extLst>
            </p:cNvPr>
            <p:cNvSpPr/>
            <p:nvPr/>
          </p:nvSpPr>
          <p:spPr>
            <a:xfrm>
              <a:off x="488157" y="23085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Google Shape;2223;p100">
              <a:extLst>
                <a:ext uri="{FF2B5EF4-FFF2-40B4-BE49-F238E27FC236}">
                  <a16:creationId xmlns:a16="http://schemas.microsoft.com/office/drawing/2014/main" id="{C089D194-0700-A5EC-7265-A00B5684391A}"/>
                </a:ext>
              </a:extLst>
            </p:cNvPr>
            <p:cNvSpPr>
              <a:spLocks/>
            </p:cNvSpPr>
            <p:nvPr/>
          </p:nvSpPr>
          <p:spPr>
            <a:xfrm>
              <a:off x="557168" y="2386948"/>
              <a:ext cx="245745" cy="226842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9BF0F2B1-A955-CC26-1743-15E93295D1FA}"/>
              </a:ext>
            </a:extLst>
          </p:cNvPr>
          <p:cNvGrpSpPr/>
          <p:nvPr/>
        </p:nvGrpSpPr>
        <p:grpSpPr>
          <a:xfrm>
            <a:off x="481421" y="3159098"/>
            <a:ext cx="386079" cy="382464"/>
            <a:chOff x="453903" y="3103350"/>
            <a:chExt cx="386079" cy="382464"/>
          </a:xfrm>
        </p:grpSpPr>
        <p:sp>
          <p:nvSpPr>
            <p:cNvPr id="43" name="Oval 9">
              <a:extLst>
                <a:ext uri="{FF2B5EF4-FFF2-40B4-BE49-F238E27FC236}">
                  <a16:creationId xmlns:a16="http://schemas.microsoft.com/office/drawing/2014/main" id="{0EE6F9CB-884D-5887-8A73-1EA94FAE948B}"/>
                </a:ext>
              </a:extLst>
            </p:cNvPr>
            <p:cNvSpPr/>
            <p:nvPr/>
          </p:nvSpPr>
          <p:spPr>
            <a:xfrm>
              <a:off x="453903" y="3103350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4" name="Gráfico 43">
              <a:extLst>
                <a:ext uri="{FF2B5EF4-FFF2-40B4-BE49-F238E27FC236}">
                  <a16:creationId xmlns:a16="http://schemas.microsoft.com/office/drawing/2014/main" id="{2A29C606-DBBF-09BC-49FF-E1B32DA95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1968" y="3173805"/>
              <a:ext cx="235296" cy="240643"/>
            </a:xfrm>
            <a:prstGeom prst="rect">
              <a:avLst/>
            </a:prstGeom>
          </p:spPr>
        </p:pic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289A0A4-E8F0-4058-96AD-D94BABD1470C}"/>
              </a:ext>
            </a:extLst>
          </p:cNvPr>
          <p:cNvSpPr txBox="1"/>
          <p:nvPr/>
        </p:nvSpPr>
        <p:spPr>
          <a:xfrm>
            <a:off x="997022" y="929961"/>
            <a:ext cx="10498238" cy="4216539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Colocando em prática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levar os estudantes a aplicarem os conhecimentos construídos durante a aula, incentivando-os a promoverem autonomia, senso crítico e criatividade. 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35 minutos.</a:t>
            </a:r>
          </a:p>
          <a:p>
            <a:pPr rtl="0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aos alunos que o foco da atividade é avaliar criticamente a qualidade visual dos gráficos, identificando elementos que prejudicam a leitura e propondo soluções para melhorá-los. 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Reforce que a atividade será realizada no roteiro impresso ou digital, sem necessidade de uso de software nesse momento — o objetivo é pensar como designers de dados, não apenas executar no Excel.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Professor, peça aos alunos que abram o roteiro da atividade.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Organize a turma em duplas, incentivando a troca de ideias e o raciocínio visual coletivo. 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Relembre os conceitos estudados na aula: remoção de ruído visual e foco visual.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Contextualize exemplos rápidos de gráficos “poluídos” e “limpos” para despertar o olhar crítico.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Peça aos alunos que analisem criticamente os dois cenários (vendas mensais e satisfação dos alunos) e discutam sobre as questões.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Depois, eles devem propor melhorias com base nas boas práticas de design visual, preenchendo o </a:t>
            </a:r>
            <a:r>
              <a:rPr lang="pt-BR" sz="1000" dirty="0" err="1">
                <a:latin typeface="Poppins" panose="00000500000000000000" pitchFamily="2" charset="0"/>
                <a:cs typeface="Poppins" panose="00000500000000000000" pitchFamily="2" charset="0"/>
              </a:rPr>
              <a:t>Canva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de decisão visual (ferramenta de preenchimento simples, objetivo e que ajuda a estruturar melhorias antes de colocar a mão na massa).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Circule pela sala para acompanhar as análises e apoiar os grupos que tiverem dificuldade em justificar suas escolhas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Provoque as duplas perguntando se, com as melhorias definidas, os gráficos ficariam mais claros.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Finalize reforçando que gráficos eficazes comunicam mais com menos — clareza, contraste e propósito são a base da boa visualização.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541780FF-629C-46B2-9D6B-D8F745CE3B98}"/>
              </a:ext>
            </a:extLst>
          </p:cNvPr>
          <p:cNvGrpSpPr/>
          <p:nvPr/>
        </p:nvGrpSpPr>
        <p:grpSpPr>
          <a:xfrm>
            <a:off x="481421" y="899318"/>
            <a:ext cx="386079" cy="382464"/>
            <a:chOff x="487003" y="899318"/>
            <a:chExt cx="386079" cy="382464"/>
          </a:xfrm>
        </p:grpSpPr>
        <p:sp>
          <p:nvSpPr>
            <p:cNvPr id="21" name="Oval 12">
              <a:extLst>
                <a:ext uri="{FF2B5EF4-FFF2-40B4-BE49-F238E27FC236}">
                  <a16:creationId xmlns:a16="http://schemas.microsoft.com/office/drawing/2014/main" id="{8E2F0429-7699-48A5-BEF0-80D8F36B6090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" name="Google Shape;2216;p100">
              <a:extLst>
                <a:ext uri="{FF2B5EF4-FFF2-40B4-BE49-F238E27FC236}">
                  <a16:creationId xmlns:a16="http://schemas.microsoft.com/office/drawing/2014/main" id="{D35F5893-11F6-46A2-BC9F-6802E4DCC05D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687C1BA3-7AEF-4B45-9FAA-975F6BEC22B7}"/>
              </a:ext>
            </a:extLst>
          </p:cNvPr>
          <p:cNvGrpSpPr/>
          <p:nvPr/>
        </p:nvGrpSpPr>
        <p:grpSpPr>
          <a:xfrm>
            <a:off x="10232093" y="5926260"/>
            <a:ext cx="1744133" cy="406400"/>
            <a:chOff x="1310514" y="1144195"/>
            <a:chExt cx="1744133" cy="406400"/>
          </a:xfrm>
        </p:grpSpPr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51077CA2-EA5A-41BC-9F6A-F3790014A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10514" y="1144195"/>
              <a:ext cx="1744133" cy="406400"/>
            </a:xfrm>
            <a:prstGeom prst="rect">
              <a:avLst/>
            </a:prstGeom>
          </p:spPr>
        </p:pic>
        <p:grpSp>
          <p:nvGrpSpPr>
            <p:cNvPr id="27" name="Gráfico 85">
              <a:extLst>
                <a:ext uri="{FF2B5EF4-FFF2-40B4-BE49-F238E27FC236}">
                  <a16:creationId xmlns:a16="http://schemas.microsoft.com/office/drawing/2014/main" id="{A85857BF-161D-4AEF-BE45-B5EBC6AFEC44}"/>
                </a:ext>
              </a:extLst>
            </p:cNvPr>
            <p:cNvGrpSpPr/>
            <p:nvPr/>
          </p:nvGrpSpPr>
          <p:grpSpPr>
            <a:xfrm>
              <a:off x="1544140" y="1244659"/>
              <a:ext cx="1172441" cy="199070"/>
              <a:chOff x="2316209" y="1866988"/>
              <a:chExt cx="1758662" cy="298605"/>
            </a:xfrm>
            <a:solidFill>
              <a:srgbClr val="FFFFFF"/>
            </a:solidFill>
          </p:grpSpPr>
          <p:sp>
            <p:nvSpPr>
              <p:cNvPr id="28" name="Forma Livre 47">
                <a:extLst>
                  <a:ext uri="{FF2B5EF4-FFF2-40B4-BE49-F238E27FC236}">
                    <a16:creationId xmlns:a16="http://schemas.microsoft.com/office/drawing/2014/main" id="{28588BBC-CB0A-41D0-8B42-1225D4DA70CE}"/>
                  </a:ext>
                </a:extLst>
              </p:cNvPr>
              <p:cNvSpPr/>
              <p:nvPr/>
            </p:nvSpPr>
            <p:spPr>
              <a:xfrm>
                <a:off x="2316209" y="1900613"/>
                <a:ext cx="256393" cy="263805"/>
              </a:xfrm>
              <a:custGeom>
                <a:avLst/>
                <a:gdLst>
                  <a:gd name="connsiteX0" fmla="*/ 16815 w 256393"/>
                  <a:gd name="connsiteY0" fmla="*/ 63645 h 263805"/>
                  <a:gd name="connsiteX1" fmla="*/ 63695 w 256393"/>
                  <a:gd name="connsiteY1" fmla="*/ 16771 h 263805"/>
                  <a:gd name="connsiteX2" fmla="*/ 131891 w 256393"/>
                  <a:gd name="connsiteY2" fmla="*/ 0 h 263805"/>
                  <a:gd name="connsiteX3" fmla="*/ 211892 w 256393"/>
                  <a:gd name="connsiteY3" fmla="*/ 24318 h 263805"/>
                  <a:gd name="connsiteX4" fmla="*/ 256394 w 256393"/>
                  <a:gd name="connsiteY4" fmla="*/ 90730 h 263805"/>
                  <a:gd name="connsiteX5" fmla="*/ 186159 w 256393"/>
                  <a:gd name="connsiteY5" fmla="*/ 90730 h 263805"/>
                  <a:gd name="connsiteX6" fmla="*/ 163909 w 256393"/>
                  <a:gd name="connsiteY6" fmla="*/ 65993 h 263805"/>
                  <a:gd name="connsiteX7" fmla="*/ 131212 w 256393"/>
                  <a:gd name="connsiteY7" fmla="*/ 57524 h 263805"/>
                  <a:gd name="connsiteX8" fmla="*/ 83398 w 256393"/>
                  <a:gd name="connsiteY8" fmla="*/ 77817 h 263805"/>
                  <a:gd name="connsiteX9" fmla="*/ 65054 w 256393"/>
                  <a:gd name="connsiteY9" fmla="*/ 132071 h 263805"/>
                  <a:gd name="connsiteX10" fmla="*/ 83398 w 256393"/>
                  <a:gd name="connsiteY10" fmla="*/ 186324 h 263805"/>
                  <a:gd name="connsiteX11" fmla="*/ 131212 w 256393"/>
                  <a:gd name="connsiteY11" fmla="*/ 206617 h 263805"/>
                  <a:gd name="connsiteX12" fmla="*/ 163909 w 256393"/>
                  <a:gd name="connsiteY12" fmla="*/ 198148 h 263805"/>
                  <a:gd name="connsiteX13" fmla="*/ 186159 w 256393"/>
                  <a:gd name="connsiteY13" fmla="*/ 173411 h 263805"/>
                  <a:gd name="connsiteX14" fmla="*/ 256394 w 256393"/>
                  <a:gd name="connsiteY14" fmla="*/ 173411 h 263805"/>
                  <a:gd name="connsiteX15" fmla="*/ 211892 w 256393"/>
                  <a:gd name="connsiteY15" fmla="*/ 239656 h 263805"/>
                  <a:gd name="connsiteX16" fmla="*/ 131891 w 256393"/>
                  <a:gd name="connsiteY16" fmla="*/ 263806 h 263805"/>
                  <a:gd name="connsiteX17" fmla="*/ 63695 w 256393"/>
                  <a:gd name="connsiteY17" fmla="*/ 247035 h 263805"/>
                  <a:gd name="connsiteX18" fmla="*/ 16815 w 256393"/>
                  <a:gd name="connsiteY18" fmla="*/ 200328 h 263805"/>
                  <a:gd name="connsiteX19" fmla="*/ 0 w 256393"/>
                  <a:gd name="connsiteY19" fmla="*/ 132071 h 263805"/>
                  <a:gd name="connsiteX20" fmla="*/ 16815 w 256393"/>
                  <a:gd name="connsiteY20" fmla="*/ 63645 h 263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6393" h="263805">
                    <a:moveTo>
                      <a:pt x="16815" y="63645"/>
                    </a:moveTo>
                    <a:cubicBezTo>
                      <a:pt x="28026" y="43604"/>
                      <a:pt x="43652" y="28007"/>
                      <a:pt x="63695" y="16771"/>
                    </a:cubicBezTo>
                    <a:cubicBezTo>
                      <a:pt x="83738" y="5618"/>
                      <a:pt x="106498" y="0"/>
                      <a:pt x="131891" y="0"/>
                    </a:cubicBezTo>
                    <a:cubicBezTo>
                      <a:pt x="163059" y="0"/>
                      <a:pt x="189726" y="8134"/>
                      <a:pt x="211892" y="24318"/>
                    </a:cubicBezTo>
                    <a:cubicBezTo>
                      <a:pt x="234058" y="40586"/>
                      <a:pt x="248920" y="62723"/>
                      <a:pt x="256394" y="90730"/>
                    </a:cubicBezTo>
                    <a:lnTo>
                      <a:pt x="186159" y="90730"/>
                    </a:lnTo>
                    <a:cubicBezTo>
                      <a:pt x="180894" y="79913"/>
                      <a:pt x="173505" y="71696"/>
                      <a:pt x="163909" y="65993"/>
                    </a:cubicBezTo>
                    <a:cubicBezTo>
                      <a:pt x="154312" y="60375"/>
                      <a:pt x="143441" y="57524"/>
                      <a:pt x="131212" y="57524"/>
                    </a:cubicBezTo>
                    <a:cubicBezTo>
                      <a:pt x="111509" y="57524"/>
                      <a:pt x="95543" y="64316"/>
                      <a:pt x="83398" y="77817"/>
                    </a:cubicBezTo>
                    <a:cubicBezTo>
                      <a:pt x="71169" y="91317"/>
                      <a:pt x="65054" y="109430"/>
                      <a:pt x="65054" y="132071"/>
                    </a:cubicBezTo>
                    <a:cubicBezTo>
                      <a:pt x="65054" y="154711"/>
                      <a:pt x="71169" y="172824"/>
                      <a:pt x="83398" y="186324"/>
                    </a:cubicBezTo>
                    <a:cubicBezTo>
                      <a:pt x="95627" y="199825"/>
                      <a:pt x="111509" y="206617"/>
                      <a:pt x="131212" y="206617"/>
                    </a:cubicBezTo>
                    <a:cubicBezTo>
                      <a:pt x="143441" y="206617"/>
                      <a:pt x="154312" y="203766"/>
                      <a:pt x="163909" y="198148"/>
                    </a:cubicBezTo>
                    <a:cubicBezTo>
                      <a:pt x="173505" y="192530"/>
                      <a:pt x="180894" y="184228"/>
                      <a:pt x="186159" y="173411"/>
                    </a:cubicBezTo>
                    <a:lnTo>
                      <a:pt x="256394" y="173411"/>
                    </a:lnTo>
                    <a:cubicBezTo>
                      <a:pt x="248920" y="201418"/>
                      <a:pt x="234058" y="223556"/>
                      <a:pt x="211892" y="239656"/>
                    </a:cubicBezTo>
                    <a:cubicBezTo>
                      <a:pt x="189726" y="255756"/>
                      <a:pt x="163059" y="263806"/>
                      <a:pt x="131891" y="263806"/>
                    </a:cubicBezTo>
                    <a:cubicBezTo>
                      <a:pt x="106498" y="263806"/>
                      <a:pt x="83738" y="258188"/>
                      <a:pt x="63695" y="247035"/>
                    </a:cubicBezTo>
                    <a:cubicBezTo>
                      <a:pt x="43652" y="235882"/>
                      <a:pt x="28026" y="220285"/>
                      <a:pt x="16815" y="200328"/>
                    </a:cubicBezTo>
                    <a:cubicBezTo>
                      <a:pt x="5605" y="180371"/>
                      <a:pt x="0" y="157646"/>
                      <a:pt x="0" y="132071"/>
                    </a:cubicBezTo>
                    <a:cubicBezTo>
                      <a:pt x="0" y="106495"/>
                      <a:pt x="5605" y="83687"/>
                      <a:pt x="16815" y="636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39" name="Forma Livre 48">
                <a:extLst>
                  <a:ext uri="{FF2B5EF4-FFF2-40B4-BE49-F238E27FC236}">
                    <a16:creationId xmlns:a16="http://schemas.microsoft.com/office/drawing/2014/main" id="{7D22F34C-F1E0-497D-8B24-5D6027087707}"/>
                  </a:ext>
                </a:extLst>
              </p:cNvPr>
              <p:cNvSpPr/>
              <p:nvPr/>
            </p:nvSpPr>
            <p:spPr>
              <a:xfrm>
                <a:off x="2599100" y="1953777"/>
                <a:ext cx="216733" cy="211816"/>
              </a:xfrm>
              <a:custGeom>
                <a:avLst/>
                <a:gdLst>
                  <a:gd name="connsiteX0" fmla="*/ 52485 w 216733"/>
                  <a:gd name="connsiteY0" fmla="*/ 198903 h 211816"/>
                  <a:gd name="connsiteX1" fmla="*/ 14013 w 216733"/>
                  <a:gd name="connsiteY1" fmla="*/ 162007 h 211816"/>
                  <a:gd name="connsiteX2" fmla="*/ 0 w 216733"/>
                  <a:gd name="connsiteY2" fmla="*/ 105908 h 211816"/>
                  <a:gd name="connsiteX3" fmla="*/ 14183 w 216733"/>
                  <a:gd name="connsiteY3" fmla="*/ 49977 h 211816"/>
                  <a:gd name="connsiteX4" fmla="*/ 53079 w 216733"/>
                  <a:gd name="connsiteY4" fmla="*/ 12914 h 211816"/>
                  <a:gd name="connsiteX5" fmla="*/ 108367 w 216733"/>
                  <a:gd name="connsiteY5" fmla="*/ 0 h 211816"/>
                  <a:gd name="connsiteX6" fmla="*/ 163654 w 216733"/>
                  <a:gd name="connsiteY6" fmla="*/ 12914 h 211816"/>
                  <a:gd name="connsiteX7" fmla="*/ 202550 w 216733"/>
                  <a:gd name="connsiteY7" fmla="*/ 49977 h 211816"/>
                  <a:gd name="connsiteX8" fmla="*/ 216733 w 216733"/>
                  <a:gd name="connsiteY8" fmla="*/ 105908 h 211816"/>
                  <a:gd name="connsiteX9" fmla="*/ 202380 w 216733"/>
                  <a:gd name="connsiteY9" fmla="*/ 161839 h 211816"/>
                  <a:gd name="connsiteX10" fmla="*/ 163144 w 216733"/>
                  <a:gd name="connsiteY10" fmla="*/ 198903 h 211816"/>
                  <a:gd name="connsiteX11" fmla="*/ 107687 w 216733"/>
                  <a:gd name="connsiteY11" fmla="*/ 211816 h 211816"/>
                  <a:gd name="connsiteX12" fmla="*/ 52570 w 216733"/>
                  <a:gd name="connsiteY12" fmla="*/ 198903 h 211816"/>
                  <a:gd name="connsiteX13" fmla="*/ 138855 w 216733"/>
                  <a:gd name="connsiteY13" fmla="*/ 143894 h 211816"/>
                  <a:gd name="connsiteX14" fmla="*/ 151764 w 216733"/>
                  <a:gd name="connsiteY14" fmla="*/ 105908 h 211816"/>
                  <a:gd name="connsiteX15" fmla="*/ 139280 w 216733"/>
                  <a:gd name="connsiteY15" fmla="*/ 67922 h 211816"/>
                  <a:gd name="connsiteX16" fmla="*/ 108451 w 216733"/>
                  <a:gd name="connsiteY16" fmla="*/ 54673 h 211816"/>
                  <a:gd name="connsiteX17" fmla="*/ 77453 w 216733"/>
                  <a:gd name="connsiteY17" fmla="*/ 67754 h 211816"/>
                  <a:gd name="connsiteX18" fmla="*/ 65139 w 216733"/>
                  <a:gd name="connsiteY18" fmla="*/ 105908 h 211816"/>
                  <a:gd name="connsiteX19" fmla="*/ 77283 w 216733"/>
                  <a:gd name="connsiteY19" fmla="*/ 143894 h 211816"/>
                  <a:gd name="connsiteX20" fmla="*/ 107772 w 216733"/>
                  <a:gd name="connsiteY20" fmla="*/ 157143 h 211816"/>
                  <a:gd name="connsiteX21" fmla="*/ 138940 w 216733"/>
                  <a:gd name="connsiteY21" fmla="*/ 143894 h 211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6733" h="211816">
                    <a:moveTo>
                      <a:pt x="52485" y="198903"/>
                    </a:moveTo>
                    <a:cubicBezTo>
                      <a:pt x="36179" y="190266"/>
                      <a:pt x="23355" y="178023"/>
                      <a:pt x="14013" y="162007"/>
                    </a:cubicBezTo>
                    <a:cubicBezTo>
                      <a:pt x="4671" y="145991"/>
                      <a:pt x="0" y="127291"/>
                      <a:pt x="0" y="105908"/>
                    </a:cubicBezTo>
                    <a:cubicBezTo>
                      <a:pt x="0" y="84525"/>
                      <a:pt x="4756" y="66077"/>
                      <a:pt x="14183" y="49977"/>
                    </a:cubicBezTo>
                    <a:cubicBezTo>
                      <a:pt x="23610" y="33877"/>
                      <a:pt x="36603" y="21467"/>
                      <a:pt x="53079" y="12914"/>
                    </a:cubicBezTo>
                    <a:cubicBezTo>
                      <a:pt x="69555" y="4277"/>
                      <a:pt x="87984" y="0"/>
                      <a:pt x="108367" y="0"/>
                    </a:cubicBezTo>
                    <a:cubicBezTo>
                      <a:pt x="128749" y="0"/>
                      <a:pt x="147263" y="4277"/>
                      <a:pt x="163654" y="12914"/>
                    </a:cubicBezTo>
                    <a:cubicBezTo>
                      <a:pt x="180130" y="21551"/>
                      <a:pt x="193038" y="33877"/>
                      <a:pt x="202550" y="49977"/>
                    </a:cubicBezTo>
                    <a:cubicBezTo>
                      <a:pt x="211977" y="66077"/>
                      <a:pt x="216733" y="84693"/>
                      <a:pt x="216733" y="105908"/>
                    </a:cubicBezTo>
                    <a:cubicBezTo>
                      <a:pt x="216733" y="127123"/>
                      <a:pt x="211892" y="145739"/>
                      <a:pt x="202380" y="161839"/>
                    </a:cubicBezTo>
                    <a:cubicBezTo>
                      <a:pt x="192784" y="177939"/>
                      <a:pt x="179705" y="190349"/>
                      <a:pt x="163144" y="198903"/>
                    </a:cubicBezTo>
                    <a:cubicBezTo>
                      <a:pt x="146584" y="207540"/>
                      <a:pt x="128069" y="211816"/>
                      <a:pt x="107687" y="211816"/>
                    </a:cubicBezTo>
                    <a:cubicBezTo>
                      <a:pt x="87305" y="211816"/>
                      <a:pt x="68876" y="207540"/>
                      <a:pt x="52570" y="198903"/>
                    </a:cubicBezTo>
                    <a:close/>
                    <a:moveTo>
                      <a:pt x="138855" y="143894"/>
                    </a:moveTo>
                    <a:cubicBezTo>
                      <a:pt x="147433" y="135006"/>
                      <a:pt x="151764" y="122344"/>
                      <a:pt x="151764" y="105908"/>
                    </a:cubicBezTo>
                    <a:cubicBezTo>
                      <a:pt x="151764" y="89473"/>
                      <a:pt x="147603" y="76727"/>
                      <a:pt x="139280" y="67922"/>
                    </a:cubicBezTo>
                    <a:cubicBezTo>
                      <a:pt x="130957" y="59033"/>
                      <a:pt x="120681" y="54673"/>
                      <a:pt x="108451" y="54673"/>
                    </a:cubicBezTo>
                    <a:cubicBezTo>
                      <a:pt x="96222" y="54673"/>
                      <a:pt x="85691" y="59033"/>
                      <a:pt x="77453" y="67754"/>
                    </a:cubicBezTo>
                    <a:cubicBezTo>
                      <a:pt x="69215" y="76475"/>
                      <a:pt x="65139" y="89221"/>
                      <a:pt x="65139" y="105908"/>
                    </a:cubicBezTo>
                    <a:cubicBezTo>
                      <a:pt x="65139" y="122595"/>
                      <a:pt x="69215" y="135089"/>
                      <a:pt x="77283" y="143894"/>
                    </a:cubicBezTo>
                    <a:cubicBezTo>
                      <a:pt x="85351" y="152783"/>
                      <a:pt x="95543" y="157143"/>
                      <a:pt x="107772" y="157143"/>
                    </a:cubicBezTo>
                    <a:cubicBezTo>
                      <a:pt x="120001" y="157143"/>
                      <a:pt x="130362" y="152699"/>
                      <a:pt x="138940" y="1438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0" name="Forma Livre 49">
                <a:extLst>
                  <a:ext uri="{FF2B5EF4-FFF2-40B4-BE49-F238E27FC236}">
                    <a16:creationId xmlns:a16="http://schemas.microsoft.com/office/drawing/2014/main" id="{3D10666D-9373-4A88-A6B6-95CF9839EBD9}"/>
                  </a:ext>
                </a:extLst>
              </p:cNvPr>
              <p:cNvSpPr/>
              <p:nvPr/>
            </p:nvSpPr>
            <p:spPr>
              <a:xfrm>
                <a:off x="2849888" y="1954616"/>
                <a:ext cx="207391" cy="208042"/>
              </a:xfrm>
              <a:custGeom>
                <a:avLst/>
                <a:gdLst>
                  <a:gd name="connsiteX0" fmla="*/ 185565 w 207391"/>
                  <a:gd name="connsiteY0" fmla="*/ 23312 h 208042"/>
                  <a:gd name="connsiteX1" fmla="*/ 207391 w 207391"/>
                  <a:gd name="connsiteY1" fmla="*/ 87712 h 208042"/>
                  <a:gd name="connsiteX2" fmla="*/ 207391 w 207391"/>
                  <a:gd name="connsiteY2" fmla="*/ 208043 h 208042"/>
                  <a:gd name="connsiteX3" fmla="*/ 143866 w 207391"/>
                  <a:gd name="connsiteY3" fmla="*/ 208043 h 208042"/>
                  <a:gd name="connsiteX4" fmla="*/ 143866 w 207391"/>
                  <a:gd name="connsiteY4" fmla="*/ 96265 h 208042"/>
                  <a:gd name="connsiteX5" fmla="*/ 132995 w 207391"/>
                  <a:gd name="connsiteY5" fmla="*/ 64149 h 208042"/>
                  <a:gd name="connsiteX6" fmla="*/ 103865 w 207391"/>
                  <a:gd name="connsiteY6" fmla="*/ 52744 h 208042"/>
                  <a:gd name="connsiteX7" fmla="*/ 74736 w 207391"/>
                  <a:gd name="connsiteY7" fmla="*/ 64149 h 208042"/>
                  <a:gd name="connsiteX8" fmla="*/ 63865 w 207391"/>
                  <a:gd name="connsiteY8" fmla="*/ 96265 h 208042"/>
                  <a:gd name="connsiteX9" fmla="*/ 63865 w 207391"/>
                  <a:gd name="connsiteY9" fmla="*/ 208043 h 208042"/>
                  <a:gd name="connsiteX10" fmla="*/ 0 w 207391"/>
                  <a:gd name="connsiteY10" fmla="*/ 208043 h 208042"/>
                  <a:gd name="connsiteX11" fmla="*/ 0 w 207391"/>
                  <a:gd name="connsiteY11" fmla="*/ 2180 h 208042"/>
                  <a:gd name="connsiteX12" fmla="*/ 63865 w 207391"/>
                  <a:gd name="connsiteY12" fmla="*/ 2180 h 208042"/>
                  <a:gd name="connsiteX13" fmla="*/ 63865 w 207391"/>
                  <a:gd name="connsiteY13" fmla="*/ 29517 h 208042"/>
                  <a:gd name="connsiteX14" fmla="*/ 90022 w 207391"/>
                  <a:gd name="connsiteY14" fmla="*/ 7966 h 208042"/>
                  <a:gd name="connsiteX15" fmla="*/ 127050 w 207391"/>
                  <a:gd name="connsiteY15" fmla="*/ 0 h 208042"/>
                  <a:gd name="connsiteX16" fmla="*/ 185565 w 207391"/>
                  <a:gd name="connsiteY16" fmla="*/ 23395 h 208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7391" h="208042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7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1" name="Forma Livre 50">
                <a:extLst>
                  <a:ext uri="{FF2B5EF4-FFF2-40B4-BE49-F238E27FC236}">
                    <a16:creationId xmlns:a16="http://schemas.microsoft.com/office/drawing/2014/main" id="{F0461A88-E9E6-423A-B2F4-384161166B0D}"/>
                  </a:ext>
                </a:extLst>
              </p:cNvPr>
              <p:cNvSpPr/>
              <p:nvPr/>
            </p:nvSpPr>
            <p:spPr>
              <a:xfrm>
                <a:off x="3086409" y="1906483"/>
                <a:ext cx="131551" cy="256175"/>
              </a:xfrm>
              <a:custGeom>
                <a:avLst/>
                <a:gdLst>
                  <a:gd name="connsiteX0" fmla="*/ 131551 w 131551"/>
                  <a:gd name="connsiteY0" fmla="*/ 202676 h 256175"/>
                  <a:gd name="connsiteX1" fmla="*/ 131551 w 131551"/>
                  <a:gd name="connsiteY1" fmla="*/ 256175 h 256175"/>
                  <a:gd name="connsiteX2" fmla="*/ 99024 w 131551"/>
                  <a:gd name="connsiteY2" fmla="*/ 256175 h 256175"/>
                  <a:gd name="connsiteX3" fmla="*/ 44841 w 131551"/>
                  <a:gd name="connsiteY3" fmla="*/ 239404 h 256175"/>
                  <a:gd name="connsiteX4" fmla="*/ 25393 w 131551"/>
                  <a:gd name="connsiteY4" fmla="*/ 184564 h 256175"/>
                  <a:gd name="connsiteX5" fmla="*/ 25393 w 131551"/>
                  <a:gd name="connsiteY5" fmla="*/ 102638 h 256175"/>
                  <a:gd name="connsiteX6" fmla="*/ 0 w 131551"/>
                  <a:gd name="connsiteY6" fmla="*/ 102638 h 256175"/>
                  <a:gd name="connsiteX7" fmla="*/ 0 w 131551"/>
                  <a:gd name="connsiteY7" fmla="*/ 50229 h 256175"/>
                  <a:gd name="connsiteX8" fmla="*/ 25393 w 131551"/>
                  <a:gd name="connsiteY8" fmla="*/ 50229 h 256175"/>
                  <a:gd name="connsiteX9" fmla="*/ 25393 w 131551"/>
                  <a:gd name="connsiteY9" fmla="*/ 0 h 256175"/>
                  <a:gd name="connsiteX10" fmla="*/ 89343 w 131551"/>
                  <a:gd name="connsiteY10" fmla="*/ 0 h 256175"/>
                  <a:gd name="connsiteX11" fmla="*/ 89343 w 131551"/>
                  <a:gd name="connsiteY11" fmla="*/ 50229 h 256175"/>
                  <a:gd name="connsiteX12" fmla="*/ 131212 w 131551"/>
                  <a:gd name="connsiteY12" fmla="*/ 50229 h 256175"/>
                  <a:gd name="connsiteX13" fmla="*/ 131212 w 131551"/>
                  <a:gd name="connsiteY13" fmla="*/ 102638 h 256175"/>
                  <a:gd name="connsiteX14" fmla="*/ 89343 w 131551"/>
                  <a:gd name="connsiteY14" fmla="*/ 102638 h 256175"/>
                  <a:gd name="connsiteX15" fmla="*/ 89343 w 131551"/>
                  <a:gd name="connsiteY15" fmla="*/ 185318 h 256175"/>
                  <a:gd name="connsiteX16" fmla="*/ 93844 w 131551"/>
                  <a:gd name="connsiteY16" fmla="*/ 198567 h 256175"/>
                  <a:gd name="connsiteX17" fmla="*/ 108791 w 131551"/>
                  <a:gd name="connsiteY17" fmla="*/ 202592 h 256175"/>
                  <a:gd name="connsiteX18" fmla="*/ 131551 w 131551"/>
                  <a:gd name="connsiteY18" fmla="*/ 202592 h 256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551" h="256175">
                    <a:moveTo>
                      <a:pt x="131551" y="202676"/>
                    </a:moveTo>
                    <a:lnTo>
                      <a:pt x="131551" y="256175"/>
                    </a:lnTo>
                    <a:lnTo>
                      <a:pt x="99024" y="256175"/>
                    </a:lnTo>
                    <a:cubicBezTo>
                      <a:pt x="75839" y="256175"/>
                      <a:pt x="57750" y="250557"/>
                      <a:pt x="44841" y="239404"/>
                    </a:cubicBezTo>
                    <a:cubicBezTo>
                      <a:pt x="31932" y="228252"/>
                      <a:pt x="25393" y="209971"/>
                      <a:pt x="25393" y="184564"/>
                    </a:cubicBezTo>
                    <a:lnTo>
                      <a:pt x="25393" y="102638"/>
                    </a:lnTo>
                    <a:lnTo>
                      <a:pt x="0" y="102638"/>
                    </a:lnTo>
                    <a:lnTo>
                      <a:pt x="0" y="50229"/>
                    </a:lnTo>
                    <a:lnTo>
                      <a:pt x="25393" y="50229"/>
                    </a:lnTo>
                    <a:lnTo>
                      <a:pt x="25393" y="0"/>
                    </a:lnTo>
                    <a:lnTo>
                      <a:pt x="89343" y="0"/>
                    </a:lnTo>
                    <a:lnTo>
                      <a:pt x="89343" y="50229"/>
                    </a:lnTo>
                    <a:lnTo>
                      <a:pt x="131212" y="50229"/>
                    </a:lnTo>
                    <a:lnTo>
                      <a:pt x="131212" y="102638"/>
                    </a:lnTo>
                    <a:lnTo>
                      <a:pt x="89343" y="102638"/>
                    </a:lnTo>
                    <a:lnTo>
                      <a:pt x="89343" y="185318"/>
                    </a:lnTo>
                    <a:cubicBezTo>
                      <a:pt x="89343" y="191440"/>
                      <a:pt x="90872" y="195884"/>
                      <a:pt x="93844" y="198567"/>
                    </a:cubicBezTo>
                    <a:cubicBezTo>
                      <a:pt x="96816" y="201251"/>
                      <a:pt x="101827" y="202592"/>
                      <a:pt x="108791" y="202592"/>
                    </a:cubicBezTo>
                    <a:lnTo>
                      <a:pt x="131551" y="20259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5" name="Forma Livre 51">
                <a:extLst>
                  <a:ext uri="{FF2B5EF4-FFF2-40B4-BE49-F238E27FC236}">
                    <a16:creationId xmlns:a16="http://schemas.microsoft.com/office/drawing/2014/main" id="{F5F69E15-8189-445D-B7C6-878D54DFA20E}"/>
                  </a:ext>
                </a:extLst>
              </p:cNvPr>
              <p:cNvSpPr/>
              <p:nvPr/>
            </p:nvSpPr>
            <p:spPr>
              <a:xfrm>
                <a:off x="3247515" y="1866988"/>
                <a:ext cx="75754" cy="295586"/>
              </a:xfrm>
              <a:custGeom>
                <a:avLst/>
                <a:gdLst>
                  <a:gd name="connsiteX0" fmla="*/ 10616 w 75754"/>
                  <a:gd name="connsiteY0" fmla="*/ 58530 h 295586"/>
                  <a:gd name="connsiteX1" fmla="*/ 0 w 75754"/>
                  <a:gd name="connsiteY1" fmla="*/ 34380 h 295586"/>
                  <a:gd name="connsiteX2" fmla="*/ 10616 w 75754"/>
                  <a:gd name="connsiteY2" fmla="*/ 9811 h 295586"/>
                  <a:gd name="connsiteX3" fmla="*/ 38047 w 75754"/>
                  <a:gd name="connsiteY3" fmla="*/ 0 h 295586"/>
                  <a:gd name="connsiteX4" fmla="*/ 65139 w 75754"/>
                  <a:gd name="connsiteY4" fmla="*/ 9811 h 295586"/>
                  <a:gd name="connsiteX5" fmla="*/ 75755 w 75754"/>
                  <a:gd name="connsiteY5" fmla="*/ 34380 h 295586"/>
                  <a:gd name="connsiteX6" fmla="*/ 65139 w 75754"/>
                  <a:gd name="connsiteY6" fmla="*/ 58530 h 295586"/>
                  <a:gd name="connsiteX7" fmla="*/ 38047 w 75754"/>
                  <a:gd name="connsiteY7" fmla="*/ 68341 h 295586"/>
                  <a:gd name="connsiteX8" fmla="*/ 10616 w 75754"/>
                  <a:gd name="connsiteY8" fmla="*/ 58530 h 295586"/>
                  <a:gd name="connsiteX9" fmla="*/ 69895 w 75754"/>
                  <a:gd name="connsiteY9" fmla="*/ 89724 h 295586"/>
                  <a:gd name="connsiteX10" fmla="*/ 69895 w 75754"/>
                  <a:gd name="connsiteY10" fmla="*/ 295587 h 295586"/>
                  <a:gd name="connsiteX11" fmla="*/ 5945 w 75754"/>
                  <a:gd name="connsiteY11" fmla="*/ 295587 h 295586"/>
                  <a:gd name="connsiteX12" fmla="*/ 5945 w 75754"/>
                  <a:gd name="connsiteY12" fmla="*/ 89724 h 295586"/>
                  <a:gd name="connsiteX13" fmla="*/ 69895 w 75754"/>
                  <a:gd name="connsiteY13" fmla="*/ 89724 h 29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5754" h="295586">
                    <a:moveTo>
                      <a:pt x="10616" y="58530"/>
                    </a:moveTo>
                    <a:cubicBezTo>
                      <a:pt x="3482" y="51990"/>
                      <a:pt x="0" y="43940"/>
                      <a:pt x="0" y="34380"/>
                    </a:cubicBezTo>
                    <a:cubicBezTo>
                      <a:pt x="0" y="24821"/>
                      <a:pt x="3567" y="16352"/>
                      <a:pt x="10616" y="9811"/>
                    </a:cubicBezTo>
                    <a:cubicBezTo>
                      <a:pt x="17665" y="3270"/>
                      <a:pt x="26837" y="0"/>
                      <a:pt x="38047" y="0"/>
                    </a:cubicBezTo>
                    <a:cubicBezTo>
                      <a:pt x="49257" y="0"/>
                      <a:pt x="58005" y="3270"/>
                      <a:pt x="65139" y="9811"/>
                    </a:cubicBezTo>
                    <a:cubicBezTo>
                      <a:pt x="72273" y="16352"/>
                      <a:pt x="75755" y="24485"/>
                      <a:pt x="75755" y="34380"/>
                    </a:cubicBezTo>
                    <a:cubicBezTo>
                      <a:pt x="75755" y="44275"/>
                      <a:pt x="72188" y="52074"/>
                      <a:pt x="65139" y="58530"/>
                    </a:cubicBezTo>
                    <a:cubicBezTo>
                      <a:pt x="58090" y="64987"/>
                      <a:pt x="49003" y="68341"/>
                      <a:pt x="38047" y="68341"/>
                    </a:cubicBezTo>
                    <a:cubicBezTo>
                      <a:pt x="27092" y="68341"/>
                      <a:pt x="17665" y="65071"/>
                      <a:pt x="10616" y="58530"/>
                    </a:cubicBezTo>
                    <a:close/>
                    <a:moveTo>
                      <a:pt x="69895" y="89724"/>
                    </a:moveTo>
                    <a:lnTo>
                      <a:pt x="69895" y="295587"/>
                    </a:lnTo>
                    <a:lnTo>
                      <a:pt x="5945" y="295587"/>
                    </a:lnTo>
                    <a:lnTo>
                      <a:pt x="5945" y="89724"/>
                    </a:lnTo>
                    <a:lnTo>
                      <a:pt x="69895" y="8972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6" name="Forma Livre 52">
                <a:extLst>
                  <a:ext uri="{FF2B5EF4-FFF2-40B4-BE49-F238E27FC236}">
                    <a16:creationId xmlns:a16="http://schemas.microsoft.com/office/drawing/2014/main" id="{B5205C1E-1C06-4A33-AE20-63BFCE8A836C}"/>
                  </a:ext>
                </a:extLst>
              </p:cNvPr>
              <p:cNvSpPr/>
              <p:nvPr/>
            </p:nvSpPr>
            <p:spPr>
              <a:xfrm>
                <a:off x="3363695" y="1954616"/>
                <a:ext cx="207391" cy="208042"/>
              </a:xfrm>
              <a:custGeom>
                <a:avLst/>
                <a:gdLst>
                  <a:gd name="connsiteX0" fmla="*/ 185565 w 207391"/>
                  <a:gd name="connsiteY0" fmla="*/ 23312 h 208042"/>
                  <a:gd name="connsiteX1" fmla="*/ 207391 w 207391"/>
                  <a:gd name="connsiteY1" fmla="*/ 87712 h 208042"/>
                  <a:gd name="connsiteX2" fmla="*/ 207391 w 207391"/>
                  <a:gd name="connsiteY2" fmla="*/ 208043 h 208042"/>
                  <a:gd name="connsiteX3" fmla="*/ 143866 w 207391"/>
                  <a:gd name="connsiteY3" fmla="*/ 208043 h 208042"/>
                  <a:gd name="connsiteX4" fmla="*/ 143866 w 207391"/>
                  <a:gd name="connsiteY4" fmla="*/ 96265 h 208042"/>
                  <a:gd name="connsiteX5" fmla="*/ 132995 w 207391"/>
                  <a:gd name="connsiteY5" fmla="*/ 64149 h 208042"/>
                  <a:gd name="connsiteX6" fmla="*/ 103865 w 207391"/>
                  <a:gd name="connsiteY6" fmla="*/ 52744 h 208042"/>
                  <a:gd name="connsiteX7" fmla="*/ 74736 w 207391"/>
                  <a:gd name="connsiteY7" fmla="*/ 64149 h 208042"/>
                  <a:gd name="connsiteX8" fmla="*/ 63865 w 207391"/>
                  <a:gd name="connsiteY8" fmla="*/ 96265 h 208042"/>
                  <a:gd name="connsiteX9" fmla="*/ 63865 w 207391"/>
                  <a:gd name="connsiteY9" fmla="*/ 208043 h 208042"/>
                  <a:gd name="connsiteX10" fmla="*/ 0 w 207391"/>
                  <a:gd name="connsiteY10" fmla="*/ 208043 h 208042"/>
                  <a:gd name="connsiteX11" fmla="*/ 0 w 207391"/>
                  <a:gd name="connsiteY11" fmla="*/ 2180 h 208042"/>
                  <a:gd name="connsiteX12" fmla="*/ 63865 w 207391"/>
                  <a:gd name="connsiteY12" fmla="*/ 2180 h 208042"/>
                  <a:gd name="connsiteX13" fmla="*/ 63865 w 207391"/>
                  <a:gd name="connsiteY13" fmla="*/ 29517 h 208042"/>
                  <a:gd name="connsiteX14" fmla="*/ 90022 w 207391"/>
                  <a:gd name="connsiteY14" fmla="*/ 7966 h 208042"/>
                  <a:gd name="connsiteX15" fmla="*/ 127050 w 207391"/>
                  <a:gd name="connsiteY15" fmla="*/ 0 h 208042"/>
                  <a:gd name="connsiteX16" fmla="*/ 185565 w 207391"/>
                  <a:gd name="connsiteY16" fmla="*/ 23395 h 208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7391" h="208042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6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7" name="Forma Livre 53">
                <a:extLst>
                  <a:ext uri="{FF2B5EF4-FFF2-40B4-BE49-F238E27FC236}">
                    <a16:creationId xmlns:a16="http://schemas.microsoft.com/office/drawing/2014/main" id="{42BCBE17-0E58-4B4C-9642-6F769659FFA6}"/>
                  </a:ext>
                </a:extLst>
              </p:cNvPr>
              <p:cNvSpPr/>
              <p:nvPr/>
            </p:nvSpPr>
            <p:spPr>
              <a:xfrm>
                <a:off x="3613804" y="1956712"/>
                <a:ext cx="207900" cy="208126"/>
              </a:xfrm>
              <a:custGeom>
                <a:avLst/>
                <a:gdLst>
                  <a:gd name="connsiteX0" fmla="*/ 207731 w 207900"/>
                  <a:gd name="connsiteY0" fmla="*/ 0 h 208126"/>
                  <a:gd name="connsiteX1" fmla="*/ 207731 w 207900"/>
                  <a:gd name="connsiteY1" fmla="*/ 205863 h 208126"/>
                  <a:gd name="connsiteX2" fmla="*/ 143781 w 207900"/>
                  <a:gd name="connsiteY2" fmla="*/ 205863 h 208126"/>
                  <a:gd name="connsiteX3" fmla="*/ 143781 w 207900"/>
                  <a:gd name="connsiteY3" fmla="*/ 177855 h 208126"/>
                  <a:gd name="connsiteX4" fmla="*/ 117454 w 207900"/>
                  <a:gd name="connsiteY4" fmla="*/ 199825 h 208126"/>
                  <a:gd name="connsiteX5" fmla="*/ 80680 w 207900"/>
                  <a:gd name="connsiteY5" fmla="*/ 208127 h 208126"/>
                  <a:gd name="connsiteX6" fmla="*/ 38472 w 207900"/>
                  <a:gd name="connsiteY6" fmla="*/ 197645 h 208126"/>
                  <a:gd name="connsiteX7" fmla="*/ 10106 w 207900"/>
                  <a:gd name="connsiteY7" fmla="*/ 167206 h 208126"/>
                  <a:gd name="connsiteX8" fmla="*/ 0 w 207900"/>
                  <a:gd name="connsiteY8" fmla="*/ 120331 h 208126"/>
                  <a:gd name="connsiteX9" fmla="*/ 0 w 207900"/>
                  <a:gd name="connsiteY9" fmla="*/ 0 h 208126"/>
                  <a:gd name="connsiteX10" fmla="*/ 63525 w 207900"/>
                  <a:gd name="connsiteY10" fmla="*/ 0 h 208126"/>
                  <a:gd name="connsiteX11" fmla="*/ 63525 w 207900"/>
                  <a:gd name="connsiteY11" fmla="*/ 111778 h 208126"/>
                  <a:gd name="connsiteX12" fmla="*/ 74396 w 207900"/>
                  <a:gd name="connsiteY12" fmla="*/ 143894 h 208126"/>
                  <a:gd name="connsiteX13" fmla="*/ 103526 w 207900"/>
                  <a:gd name="connsiteY13" fmla="*/ 155298 h 208126"/>
                  <a:gd name="connsiteX14" fmla="*/ 133080 w 207900"/>
                  <a:gd name="connsiteY14" fmla="*/ 143894 h 208126"/>
                  <a:gd name="connsiteX15" fmla="*/ 143951 w 207900"/>
                  <a:gd name="connsiteY15" fmla="*/ 111778 h 208126"/>
                  <a:gd name="connsiteX16" fmla="*/ 143951 w 207900"/>
                  <a:gd name="connsiteY16" fmla="*/ 0 h 208126"/>
                  <a:gd name="connsiteX17" fmla="*/ 207901 w 207900"/>
                  <a:gd name="connsiteY17" fmla="*/ 0 h 208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07900" h="208126">
                    <a:moveTo>
                      <a:pt x="207731" y="0"/>
                    </a:moveTo>
                    <a:lnTo>
                      <a:pt x="207731" y="205863"/>
                    </a:lnTo>
                    <a:lnTo>
                      <a:pt x="143781" y="205863"/>
                    </a:lnTo>
                    <a:lnTo>
                      <a:pt x="143781" y="177855"/>
                    </a:lnTo>
                    <a:cubicBezTo>
                      <a:pt x="137326" y="186995"/>
                      <a:pt x="128494" y="194291"/>
                      <a:pt x="117454" y="199825"/>
                    </a:cubicBezTo>
                    <a:cubicBezTo>
                      <a:pt x="106328" y="205359"/>
                      <a:pt x="94099" y="208127"/>
                      <a:pt x="80680" y="208127"/>
                    </a:cubicBezTo>
                    <a:cubicBezTo>
                      <a:pt x="64714" y="208127"/>
                      <a:pt x="50616" y="204605"/>
                      <a:pt x="38472" y="197645"/>
                    </a:cubicBezTo>
                    <a:cubicBezTo>
                      <a:pt x="26242" y="190601"/>
                      <a:pt x="16816" y="180455"/>
                      <a:pt x="10106" y="167206"/>
                    </a:cubicBezTo>
                    <a:cubicBezTo>
                      <a:pt x="3397" y="153957"/>
                      <a:pt x="0" y="138276"/>
                      <a:pt x="0" y="120331"/>
                    </a:cubicBezTo>
                    <a:lnTo>
                      <a:pt x="0" y="0"/>
                    </a:lnTo>
                    <a:lnTo>
                      <a:pt x="63525" y="0"/>
                    </a:lnTo>
                    <a:lnTo>
                      <a:pt x="63525" y="111778"/>
                    </a:lnTo>
                    <a:cubicBezTo>
                      <a:pt x="63525" y="125530"/>
                      <a:pt x="67092" y="136263"/>
                      <a:pt x="74396" y="143894"/>
                    </a:cubicBezTo>
                    <a:cubicBezTo>
                      <a:pt x="81615" y="151525"/>
                      <a:pt x="91381" y="155298"/>
                      <a:pt x="103526" y="155298"/>
                    </a:cubicBezTo>
                    <a:cubicBezTo>
                      <a:pt x="115670" y="155298"/>
                      <a:pt x="125776" y="151441"/>
                      <a:pt x="133080" y="143894"/>
                    </a:cubicBezTo>
                    <a:cubicBezTo>
                      <a:pt x="140299" y="136263"/>
                      <a:pt x="143951" y="125530"/>
                      <a:pt x="143951" y="111778"/>
                    </a:cubicBezTo>
                    <a:lnTo>
                      <a:pt x="143951" y="0"/>
                    </a:lnTo>
                    <a:lnTo>
                      <a:pt x="20790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8" name="Forma Livre 54">
                <a:extLst>
                  <a:ext uri="{FF2B5EF4-FFF2-40B4-BE49-F238E27FC236}">
                    <a16:creationId xmlns:a16="http://schemas.microsoft.com/office/drawing/2014/main" id="{9D5342E5-C090-4660-ABDF-D82062EFED1E}"/>
                  </a:ext>
                </a:extLst>
              </p:cNvPr>
              <p:cNvSpPr/>
              <p:nvPr/>
            </p:nvSpPr>
            <p:spPr>
              <a:xfrm>
                <a:off x="3854826" y="1953777"/>
                <a:ext cx="220045" cy="211732"/>
              </a:xfrm>
              <a:custGeom>
                <a:avLst/>
                <a:gdLst>
                  <a:gd name="connsiteX0" fmla="*/ 12144 w 220045"/>
                  <a:gd name="connsiteY0" fmla="*/ 49810 h 211732"/>
                  <a:gd name="connsiteX1" fmla="*/ 45181 w 220045"/>
                  <a:gd name="connsiteY1" fmla="*/ 12914 h 211732"/>
                  <a:gd name="connsiteX2" fmla="*/ 91891 w 220045"/>
                  <a:gd name="connsiteY2" fmla="*/ 0 h 211732"/>
                  <a:gd name="connsiteX3" fmla="*/ 130532 w 220045"/>
                  <a:gd name="connsiteY3" fmla="*/ 8889 h 211732"/>
                  <a:gd name="connsiteX4" fmla="*/ 156180 w 220045"/>
                  <a:gd name="connsiteY4" fmla="*/ 32116 h 211732"/>
                  <a:gd name="connsiteX5" fmla="*/ 156180 w 220045"/>
                  <a:gd name="connsiteY5" fmla="*/ 2935 h 211732"/>
                  <a:gd name="connsiteX6" fmla="*/ 220045 w 220045"/>
                  <a:gd name="connsiteY6" fmla="*/ 2935 h 211732"/>
                  <a:gd name="connsiteX7" fmla="*/ 220045 w 220045"/>
                  <a:gd name="connsiteY7" fmla="*/ 208797 h 211732"/>
                  <a:gd name="connsiteX8" fmla="*/ 156180 w 220045"/>
                  <a:gd name="connsiteY8" fmla="*/ 208797 h 211732"/>
                  <a:gd name="connsiteX9" fmla="*/ 156180 w 220045"/>
                  <a:gd name="connsiteY9" fmla="*/ 179616 h 211732"/>
                  <a:gd name="connsiteX10" fmla="*/ 130193 w 220045"/>
                  <a:gd name="connsiteY10" fmla="*/ 202844 h 211732"/>
                  <a:gd name="connsiteX11" fmla="*/ 91551 w 220045"/>
                  <a:gd name="connsiteY11" fmla="*/ 211732 h 211732"/>
                  <a:gd name="connsiteX12" fmla="*/ 45181 w 220045"/>
                  <a:gd name="connsiteY12" fmla="*/ 198651 h 211732"/>
                  <a:gd name="connsiteX13" fmla="*/ 12144 w 220045"/>
                  <a:gd name="connsiteY13" fmla="*/ 161420 h 211732"/>
                  <a:gd name="connsiteX14" fmla="*/ 0 w 220045"/>
                  <a:gd name="connsiteY14" fmla="*/ 105489 h 211732"/>
                  <a:gd name="connsiteX15" fmla="*/ 12144 w 220045"/>
                  <a:gd name="connsiteY15" fmla="*/ 49726 h 211732"/>
                  <a:gd name="connsiteX16" fmla="*/ 142932 w 220045"/>
                  <a:gd name="connsiteY16" fmla="*/ 68593 h 211732"/>
                  <a:gd name="connsiteX17" fmla="*/ 110575 w 220045"/>
                  <a:gd name="connsiteY17" fmla="*/ 54925 h 211732"/>
                  <a:gd name="connsiteX18" fmla="*/ 78218 w 220045"/>
                  <a:gd name="connsiteY18" fmla="*/ 68425 h 211732"/>
                  <a:gd name="connsiteX19" fmla="*/ 64969 w 220045"/>
                  <a:gd name="connsiteY19" fmla="*/ 105489 h 211732"/>
                  <a:gd name="connsiteX20" fmla="*/ 78218 w 220045"/>
                  <a:gd name="connsiteY20" fmla="*/ 142972 h 211732"/>
                  <a:gd name="connsiteX21" fmla="*/ 110575 w 220045"/>
                  <a:gd name="connsiteY21" fmla="*/ 156808 h 211732"/>
                  <a:gd name="connsiteX22" fmla="*/ 142932 w 220045"/>
                  <a:gd name="connsiteY22" fmla="*/ 143139 h 211732"/>
                  <a:gd name="connsiteX23" fmla="*/ 156180 w 220045"/>
                  <a:gd name="connsiteY23" fmla="*/ 105908 h 211732"/>
                  <a:gd name="connsiteX24" fmla="*/ 142932 w 220045"/>
                  <a:gd name="connsiteY24" fmla="*/ 68677 h 211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20045" h="211732">
                    <a:moveTo>
                      <a:pt x="12144" y="49810"/>
                    </a:moveTo>
                    <a:cubicBezTo>
                      <a:pt x="20213" y="33793"/>
                      <a:pt x="31253" y="21551"/>
                      <a:pt x="45181" y="12914"/>
                    </a:cubicBezTo>
                    <a:cubicBezTo>
                      <a:pt x="59109" y="4277"/>
                      <a:pt x="74736" y="0"/>
                      <a:pt x="91891" y="0"/>
                    </a:cubicBezTo>
                    <a:cubicBezTo>
                      <a:pt x="106583" y="0"/>
                      <a:pt x="119492" y="2935"/>
                      <a:pt x="130532" y="8889"/>
                    </a:cubicBezTo>
                    <a:cubicBezTo>
                      <a:pt x="141658" y="14758"/>
                      <a:pt x="150150" y="22557"/>
                      <a:pt x="156180" y="32116"/>
                    </a:cubicBezTo>
                    <a:lnTo>
                      <a:pt x="156180" y="2935"/>
                    </a:lnTo>
                    <a:lnTo>
                      <a:pt x="220045" y="2935"/>
                    </a:lnTo>
                    <a:lnTo>
                      <a:pt x="220045" y="208797"/>
                    </a:lnTo>
                    <a:lnTo>
                      <a:pt x="156180" y="208797"/>
                    </a:lnTo>
                    <a:lnTo>
                      <a:pt x="156180" y="179616"/>
                    </a:lnTo>
                    <a:cubicBezTo>
                      <a:pt x="149981" y="189175"/>
                      <a:pt x="141318" y="196974"/>
                      <a:pt x="130193" y="202844"/>
                    </a:cubicBezTo>
                    <a:cubicBezTo>
                      <a:pt x="119067" y="208714"/>
                      <a:pt x="106243" y="211732"/>
                      <a:pt x="91551" y="211732"/>
                    </a:cubicBezTo>
                    <a:cubicBezTo>
                      <a:pt x="74566" y="211732"/>
                      <a:pt x="59194" y="207372"/>
                      <a:pt x="45181" y="198651"/>
                    </a:cubicBezTo>
                    <a:cubicBezTo>
                      <a:pt x="31168" y="189930"/>
                      <a:pt x="20213" y="177520"/>
                      <a:pt x="12144" y="161420"/>
                    </a:cubicBezTo>
                    <a:cubicBezTo>
                      <a:pt x="4076" y="145320"/>
                      <a:pt x="0" y="126704"/>
                      <a:pt x="0" y="105489"/>
                    </a:cubicBezTo>
                    <a:cubicBezTo>
                      <a:pt x="0" y="84274"/>
                      <a:pt x="4076" y="65742"/>
                      <a:pt x="12144" y="49726"/>
                    </a:cubicBezTo>
                    <a:close/>
                    <a:moveTo>
                      <a:pt x="142932" y="68593"/>
                    </a:moveTo>
                    <a:cubicBezTo>
                      <a:pt x="134099" y="59537"/>
                      <a:pt x="123314" y="54925"/>
                      <a:pt x="110575" y="54925"/>
                    </a:cubicBezTo>
                    <a:cubicBezTo>
                      <a:pt x="97836" y="54925"/>
                      <a:pt x="87050" y="59453"/>
                      <a:pt x="78218" y="68425"/>
                    </a:cubicBezTo>
                    <a:cubicBezTo>
                      <a:pt x="69385" y="77398"/>
                      <a:pt x="64969" y="89808"/>
                      <a:pt x="64969" y="105489"/>
                    </a:cubicBezTo>
                    <a:cubicBezTo>
                      <a:pt x="64969" y="121170"/>
                      <a:pt x="69385" y="133748"/>
                      <a:pt x="78218" y="142972"/>
                    </a:cubicBezTo>
                    <a:cubicBezTo>
                      <a:pt x="87050" y="152196"/>
                      <a:pt x="97836" y="156808"/>
                      <a:pt x="110575" y="156808"/>
                    </a:cubicBezTo>
                    <a:cubicBezTo>
                      <a:pt x="123314" y="156808"/>
                      <a:pt x="134014" y="152280"/>
                      <a:pt x="142932" y="143139"/>
                    </a:cubicBezTo>
                    <a:cubicBezTo>
                      <a:pt x="151764" y="134083"/>
                      <a:pt x="156180" y="121589"/>
                      <a:pt x="156180" y="105908"/>
                    </a:cubicBezTo>
                    <a:cubicBezTo>
                      <a:pt x="156180" y="90227"/>
                      <a:pt x="151764" y="77733"/>
                      <a:pt x="142932" y="686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2959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38F84C-B4FE-8B36-75CF-6E49F097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46DB1BA4-2F0B-4D19-AD6F-3F79369C23B8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6B2C9FE-BF54-9B13-F7F8-6685B6FE90EB}"/>
              </a:ext>
            </a:extLst>
          </p:cNvPr>
          <p:cNvSpPr txBox="1"/>
          <p:nvPr/>
        </p:nvSpPr>
        <p:spPr>
          <a:xfrm>
            <a:off x="985519" y="296229"/>
            <a:ext cx="10361353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pPr algn="l"/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7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17B7D7C-DE1D-42A4-9080-DDE804AD7AF7}"/>
              </a:ext>
            </a:extLst>
          </p:cNvPr>
          <p:cNvSpPr txBox="1"/>
          <p:nvPr/>
        </p:nvSpPr>
        <p:spPr>
          <a:xfrm>
            <a:off x="997022" y="929961"/>
            <a:ext cx="10498238" cy="4832092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Professor, os alunos devem enviar o roteiro preenchido ao AVA.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Cada </a:t>
            </a:r>
            <a:r>
              <a:rPr lang="pt-BR" sz="1000" dirty="0" err="1">
                <a:latin typeface="Poppins" panose="00000500000000000000" pitchFamily="2" charset="0"/>
                <a:cs typeface="Poppins" panose="00000500000000000000" pitchFamily="2" charset="0"/>
              </a:rPr>
              <a:t>Canva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será preenchido de acordo com o olhar de cada dupla, porém, é possível guiar a avaliação, para cada cenário, com base nas análises apresentadas abaixo. 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Cenário 1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1. Quais elementos visuais tornam esse gráfico difícil de ler?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Resposta esperada do aluno: “O gráfico tem cores muito fortes e muito efeito 3D, o que deixa a leitura confusa, dificulta a interpretação dos dados e cansa os olhos.”.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Análise pedagógica: o aluno deve demonstrar que entende o conceito de ruído visual, identificando corretamente os elementos que dificultam a interpretação dos dados. O professor pode observar se o estudante consegue distinguir entre informação útil e excesso decorativo.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2. Como você simplificaria esse gráfico sem perder informação importante?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Resposta esperada do aluno: “Eu retiraria o 3D, usaria cores mais neutras, deixaria o fundo branco e mostraria apenas os rótulos principais. Assim, o gráfico ficaria mais limpo e fácil de entender.”.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Análise pedagógica: o aluno precisa propor ajustes visuais coerentes, mostrando compreensão de que simplificar não é “tirar dados”, mas deixar a mensagem mais clara e direta. O professor deve verificar se há raciocínio crítico sobre clareza e equilíbrio visual.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Cenário 2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1. Como você poderia destacar o item com maior índice de satisfação sem exagerar no visual?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Resposta esperada do aluno: “Usaria uma cor diferente apenas na barra com maior valor e manteria as outras em tons neutros. Também colocaria um título explicando que esse item foi o mais bem avaliado.”.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Análise pedagógica: o professor deve avaliar se o aluno compreende o uso estratégico do foco visual, entendendo que destacar é guiar a atenção, e não chamar a atenção em excesso. A resposta deve revelar intencionalidade na escolha do destaque.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2. Por que o foco visual ajuda na comunicação de dados?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Resposta esperada do aluno: “Porque ele direciona o olhar do público para o dado mais importante e ajuda a entender a mensagem rapidamente.”.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Análise pedagógica: o professor deve observar se o aluno reconhece que o foco visual tem função narrativa — ou seja, ajuda a contar a história por trás dos dados. O destaque deve reforçar o que é essencial, mantendo a harmonia e a credibilidade visual da informação.</a:t>
            </a:r>
          </a:p>
        </p:txBody>
      </p:sp>
      <p:cxnSp>
        <p:nvCxnSpPr>
          <p:cNvPr id="11" name="Conector Reto 6">
            <a:extLst>
              <a:ext uri="{FF2B5EF4-FFF2-40B4-BE49-F238E27FC236}">
                <a16:creationId xmlns:a16="http://schemas.microsoft.com/office/drawing/2014/main" id="{F7715CF7-060B-4CE7-8D7F-9909AB9AB85C}"/>
              </a:ext>
            </a:extLst>
          </p:cNvPr>
          <p:cNvCxnSpPr>
            <a:cxnSpLocks/>
          </p:cNvCxnSpPr>
          <p:nvPr/>
        </p:nvCxnSpPr>
        <p:spPr>
          <a:xfrm flipV="1">
            <a:off x="680042" y="544760"/>
            <a:ext cx="0" cy="5533921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1B67576-A70E-42C3-8119-4ED3E175CDE2}"/>
              </a:ext>
            </a:extLst>
          </p:cNvPr>
          <p:cNvSpPr/>
          <p:nvPr/>
        </p:nvSpPr>
        <p:spPr>
          <a:xfrm>
            <a:off x="481421" y="899318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Gráfico 40">
            <a:extLst>
              <a:ext uri="{FF2B5EF4-FFF2-40B4-BE49-F238E27FC236}">
                <a16:creationId xmlns:a16="http://schemas.microsoft.com/office/drawing/2014/main" id="{CD4DD169-F3B8-5FFC-58A0-83750DB80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363" y="961339"/>
            <a:ext cx="208026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68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739F1D-34C4-B53D-7079-2E88911B5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812BD343-C705-47E2-AA53-96D0760D5E97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8" name="Conector Reto 6">
            <a:extLst>
              <a:ext uri="{FF2B5EF4-FFF2-40B4-BE49-F238E27FC236}">
                <a16:creationId xmlns:a16="http://schemas.microsoft.com/office/drawing/2014/main" id="{685268C1-EB5B-4836-9831-DA56D64AD9B1}"/>
              </a:ext>
            </a:extLst>
          </p:cNvPr>
          <p:cNvCxnSpPr>
            <a:cxnSpLocks/>
          </p:cNvCxnSpPr>
          <p:nvPr/>
        </p:nvCxnSpPr>
        <p:spPr>
          <a:xfrm flipV="1">
            <a:off x="680042" y="544761"/>
            <a:ext cx="0" cy="1919765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24E4DB3-2831-F4CA-8EFC-F6279F2749F8}"/>
              </a:ext>
            </a:extLst>
          </p:cNvPr>
          <p:cNvSpPr txBox="1"/>
          <p:nvPr/>
        </p:nvSpPr>
        <p:spPr>
          <a:xfrm>
            <a:off x="987533" y="286968"/>
            <a:ext cx="10044084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8 e 9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05125527-0332-2802-963B-A0BF7629C77F}"/>
              </a:ext>
            </a:extLst>
          </p:cNvPr>
          <p:cNvGrpSpPr/>
          <p:nvPr/>
        </p:nvGrpSpPr>
        <p:grpSpPr>
          <a:xfrm>
            <a:off x="487091" y="1274971"/>
            <a:ext cx="386079" cy="382464"/>
            <a:chOff x="492761" y="1367402"/>
            <a:chExt cx="386079" cy="38246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4B0D658-432A-15F4-FC96-FAAD9D1FFC38}"/>
                </a:ext>
              </a:extLst>
            </p:cNvPr>
            <p:cNvSpPr/>
            <p:nvPr/>
          </p:nvSpPr>
          <p:spPr>
            <a:xfrm>
              <a:off x="492761" y="1367402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6" name="Imagem 45">
              <a:extLst>
                <a:ext uri="{FF2B5EF4-FFF2-40B4-BE49-F238E27FC236}">
                  <a16:creationId xmlns:a16="http://schemas.microsoft.com/office/drawing/2014/main" id="{674FA4E6-4896-6871-E37F-D6C51C418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4144" y="1465345"/>
              <a:ext cx="154445" cy="193056"/>
            </a:xfrm>
            <a:prstGeom prst="rect">
              <a:avLst/>
            </a:prstGeom>
          </p:spPr>
        </p:pic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B90889A-C7A2-B02D-1670-691DEBE107B8}"/>
              </a:ext>
            </a:extLst>
          </p:cNvPr>
          <p:cNvGrpSpPr/>
          <p:nvPr/>
        </p:nvGrpSpPr>
        <p:grpSpPr>
          <a:xfrm>
            <a:off x="487091" y="1768001"/>
            <a:ext cx="386079" cy="382464"/>
            <a:chOff x="487686" y="1911129"/>
            <a:chExt cx="386079" cy="382464"/>
          </a:xfrm>
        </p:grpSpPr>
        <p:sp>
          <p:nvSpPr>
            <p:cNvPr id="24" name="Oval 8">
              <a:extLst>
                <a:ext uri="{FF2B5EF4-FFF2-40B4-BE49-F238E27FC236}">
                  <a16:creationId xmlns:a16="http://schemas.microsoft.com/office/drawing/2014/main" id="{06F39E72-53B5-676F-25FD-AF3B6F042188}"/>
                </a:ext>
              </a:extLst>
            </p:cNvPr>
            <p:cNvSpPr/>
            <p:nvPr/>
          </p:nvSpPr>
          <p:spPr>
            <a:xfrm>
              <a:off x="487686" y="1911129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5" name="Gráfico 24">
              <a:extLst>
                <a:ext uri="{FF2B5EF4-FFF2-40B4-BE49-F238E27FC236}">
                  <a16:creationId xmlns:a16="http://schemas.microsoft.com/office/drawing/2014/main" id="{BA5F42E2-2AFE-19CB-50CE-34858590F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627" y="1965250"/>
              <a:ext cx="208026" cy="266700"/>
            </a:xfrm>
            <a:prstGeom prst="rect">
              <a:avLst/>
            </a:prstGeom>
          </p:spPr>
        </p:pic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6ACDEDA-FDD5-44D9-A4ED-779CA1BC3CD5}"/>
              </a:ext>
            </a:extLst>
          </p:cNvPr>
          <p:cNvSpPr txBox="1"/>
          <p:nvPr/>
        </p:nvSpPr>
        <p:spPr>
          <a:xfrm>
            <a:off x="997022" y="929961"/>
            <a:ext cx="10498238" cy="1292662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mobilizar os estudantes em relação aos conhecimentos apresentados e construídos em aula. É registro. 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2 minutos.</a:t>
            </a: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Resposta certa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Excesso visual.</a:t>
            </a:r>
          </a:p>
          <a:p>
            <a:pPr defTabSz="609630">
              <a:buClrTx/>
              <a:defRPr/>
            </a:pPr>
            <a:r>
              <a:rPr lang="pt-BR" sz="10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Feedback: 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ruído em um gráfico é o excesso visual, ou seja, elementos desnecessários que distraem o leitor e dificultam a compreensão dos dados principais.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B77725C-E0A8-4F93-9983-05B914580E36}"/>
              </a:ext>
            </a:extLst>
          </p:cNvPr>
          <p:cNvGrpSpPr/>
          <p:nvPr/>
        </p:nvGrpSpPr>
        <p:grpSpPr>
          <a:xfrm>
            <a:off x="487091" y="899318"/>
            <a:ext cx="386079" cy="382464"/>
            <a:chOff x="487003" y="899318"/>
            <a:chExt cx="386079" cy="382464"/>
          </a:xfrm>
        </p:grpSpPr>
        <p:sp>
          <p:nvSpPr>
            <p:cNvPr id="30" name="Oval 12">
              <a:extLst>
                <a:ext uri="{FF2B5EF4-FFF2-40B4-BE49-F238E27FC236}">
                  <a16:creationId xmlns:a16="http://schemas.microsoft.com/office/drawing/2014/main" id="{085A90BE-61BF-4368-B21E-84528D2D520B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" name="Google Shape;2216;p100">
              <a:extLst>
                <a:ext uri="{FF2B5EF4-FFF2-40B4-BE49-F238E27FC236}">
                  <a16:creationId xmlns:a16="http://schemas.microsoft.com/office/drawing/2014/main" id="{95704A0E-04EE-4332-978E-67ABAA25BFBA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9030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EA8C97-2617-3802-C746-E44BEEF96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CF0CE32-8043-75D1-324D-71FF186AEF6B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8" name="Conector Reto 6">
            <a:extLst>
              <a:ext uri="{FF2B5EF4-FFF2-40B4-BE49-F238E27FC236}">
                <a16:creationId xmlns:a16="http://schemas.microsoft.com/office/drawing/2014/main" id="{870234B2-4BCF-4F98-9E60-48245A672493}"/>
              </a:ext>
            </a:extLst>
          </p:cNvPr>
          <p:cNvCxnSpPr>
            <a:cxnSpLocks/>
          </p:cNvCxnSpPr>
          <p:nvPr/>
        </p:nvCxnSpPr>
        <p:spPr>
          <a:xfrm flipV="1">
            <a:off x="680042" y="544761"/>
            <a:ext cx="0" cy="3520612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072C26-C1C2-57FB-3E13-0A0102CB51A9}"/>
              </a:ext>
            </a:extLst>
          </p:cNvPr>
          <p:cNvSpPr txBox="1"/>
          <p:nvPr/>
        </p:nvSpPr>
        <p:spPr>
          <a:xfrm>
            <a:off x="985520" y="290753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10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220997-5680-3EE9-31F8-C823457069B8}"/>
              </a:ext>
            </a:extLst>
          </p:cNvPr>
          <p:cNvSpPr/>
          <p:nvPr/>
        </p:nvSpPr>
        <p:spPr>
          <a:xfrm>
            <a:off x="489631" y="3427513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51F6E0-924B-ADAC-203F-4E992BB3CAAB}"/>
              </a:ext>
            </a:extLst>
          </p:cNvPr>
          <p:cNvSpPr/>
          <p:nvPr/>
        </p:nvSpPr>
        <p:spPr>
          <a:xfrm>
            <a:off x="489631" y="253288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79D296-122C-71D4-51BA-1E91605CAC60}"/>
              </a:ext>
            </a:extLst>
          </p:cNvPr>
          <p:cNvSpPr/>
          <p:nvPr/>
        </p:nvSpPr>
        <p:spPr>
          <a:xfrm>
            <a:off x="489631" y="177596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2967FF-AA17-326E-D1AD-78E8E5FE9FBF}"/>
              </a:ext>
            </a:extLst>
          </p:cNvPr>
          <p:cNvSpPr/>
          <p:nvPr/>
        </p:nvSpPr>
        <p:spPr>
          <a:xfrm>
            <a:off x="489631" y="130240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8955346-9036-4745-9ACD-E46BD8FEC1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5448" y="1396112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2D09C702-BDA6-C8E0-EBCC-28AE85F18329}"/>
              </a:ext>
            </a:extLst>
          </p:cNvPr>
          <p:cNvSpPr>
            <a:spLocks/>
          </p:cNvSpPr>
          <p:nvPr/>
        </p:nvSpPr>
        <p:spPr>
          <a:xfrm>
            <a:off x="559798" y="1854397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AE133374-B945-D4A2-3F70-BEDF82DC6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022" y="2603342"/>
            <a:ext cx="235296" cy="240643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AB19B4B3-2360-D2B8-3869-F78BF1F268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657" y="3481634"/>
            <a:ext cx="208026" cy="2667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B1E641E-69F1-4C74-FA77-5BA22D13858A}"/>
              </a:ext>
            </a:extLst>
          </p:cNvPr>
          <p:cNvSpPr/>
          <p:nvPr/>
        </p:nvSpPr>
        <p:spPr>
          <a:xfrm>
            <a:off x="0" y="4229065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478D90-FA72-7F38-D7B7-A2B638E8F42E}"/>
              </a:ext>
            </a:extLst>
          </p:cNvPr>
          <p:cNvSpPr txBox="1"/>
          <p:nvPr/>
        </p:nvSpPr>
        <p:spPr>
          <a:xfrm>
            <a:off x="985520" y="4239225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11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19" name="Conector Reto 6">
            <a:extLst>
              <a:ext uri="{FF2B5EF4-FFF2-40B4-BE49-F238E27FC236}">
                <a16:creationId xmlns:a16="http://schemas.microsoft.com/office/drawing/2014/main" id="{99563082-63C2-05B8-669D-EC58DE9C753E}"/>
              </a:ext>
            </a:extLst>
          </p:cNvPr>
          <p:cNvCxnSpPr>
            <a:cxnSpLocks/>
          </p:cNvCxnSpPr>
          <p:nvPr/>
        </p:nvCxnSpPr>
        <p:spPr>
          <a:xfrm flipH="1" flipV="1">
            <a:off x="690880" y="4479794"/>
            <a:ext cx="1" cy="162710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2C297846-F591-0422-EEF4-6567F6A68D7D}"/>
              </a:ext>
            </a:extLst>
          </p:cNvPr>
          <p:cNvSpPr/>
          <p:nvPr/>
        </p:nvSpPr>
        <p:spPr>
          <a:xfrm>
            <a:off x="497841" y="5250878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2">
            <a:extLst>
              <a:ext uri="{FF2B5EF4-FFF2-40B4-BE49-F238E27FC236}">
                <a16:creationId xmlns:a16="http://schemas.microsoft.com/office/drawing/2014/main" id="{44E9C299-0DEC-4A68-AF45-DC5062C0D619}"/>
              </a:ext>
            </a:extLst>
          </p:cNvPr>
          <p:cNvSpPr/>
          <p:nvPr/>
        </p:nvSpPr>
        <p:spPr>
          <a:xfrm>
            <a:off x="497841" y="478239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Google Shape;2216;p100">
            <a:extLst>
              <a:ext uri="{FF2B5EF4-FFF2-40B4-BE49-F238E27FC236}">
                <a16:creationId xmlns:a16="http://schemas.microsoft.com/office/drawing/2014/main" id="{E3F125EF-A4BE-38C6-81AD-E47496A13455}"/>
              </a:ext>
            </a:extLst>
          </p:cNvPr>
          <p:cNvSpPr/>
          <p:nvPr/>
        </p:nvSpPr>
        <p:spPr>
          <a:xfrm>
            <a:off x="569897" y="4880953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88B2F8B3-F082-BBC8-86C8-88D00988C3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072" y="5344584"/>
            <a:ext cx="154445" cy="193056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A7D1C8CB-411A-0415-7417-4737BBBE8798}"/>
              </a:ext>
            </a:extLst>
          </p:cNvPr>
          <p:cNvSpPr txBox="1"/>
          <p:nvPr/>
        </p:nvSpPr>
        <p:spPr>
          <a:xfrm>
            <a:off x="1000171" y="4902112"/>
            <a:ext cx="10251440" cy="984885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apresenta recursos extraclasse para que os estudantes complementem sua formação. Incentive-os a continuarem explorando o tema da aula.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908E873-4ED8-4E61-B261-34C386CA1A6F}"/>
              </a:ext>
            </a:extLst>
          </p:cNvPr>
          <p:cNvSpPr txBox="1"/>
          <p:nvPr/>
        </p:nvSpPr>
        <p:spPr>
          <a:xfrm>
            <a:off x="997022" y="929961"/>
            <a:ext cx="10498238" cy="28315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hoje?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reforçar e esclarecer os principais conceitos discutidos, incentivando os estudantes a recordarem e articularem os principais pontos da aula. 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da sala de aula: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Mantenha um ambiente de diálogo aberto e respeitoso.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Seja direto e objetivo nas explicações para manter a atividade de acordo com o tempo estipulado.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Engaje os estudantes, rapidamente, pedindo confirmações ou reações breves às definições apresentadas.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aos estudantes que esse é um momento de reflexão e esclarecimento sobre os conceitos abordados na aula.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Informe que será feita uma rápida revisão para assegurar o entendimento correto das definições e dos conceitos.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 slide com a definição sintética de cada conceito principal discutido na aula, ampliando a explicação com as informações que achar necessárias.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Finalize resumindo os pontos principais e reiterando a importância de cada conceito e como ele se encaixa no contexto maior da aula.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é esperado: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estudantes devem sair da aula com entendimento claro e preciso dos conceitos principais.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5B7A3AD-5FEB-47E6-9CBC-149068557220}"/>
              </a:ext>
            </a:extLst>
          </p:cNvPr>
          <p:cNvGrpSpPr/>
          <p:nvPr/>
        </p:nvGrpSpPr>
        <p:grpSpPr>
          <a:xfrm>
            <a:off x="489631" y="899318"/>
            <a:ext cx="386079" cy="382464"/>
            <a:chOff x="487003" y="899318"/>
            <a:chExt cx="386079" cy="382464"/>
          </a:xfrm>
        </p:grpSpPr>
        <p:sp>
          <p:nvSpPr>
            <p:cNvPr id="30" name="Oval 12">
              <a:extLst>
                <a:ext uri="{FF2B5EF4-FFF2-40B4-BE49-F238E27FC236}">
                  <a16:creationId xmlns:a16="http://schemas.microsoft.com/office/drawing/2014/main" id="{FD256B48-A250-4F63-8B69-4CCCCDDC4404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" name="Google Shape;2216;p100">
              <a:extLst>
                <a:ext uri="{FF2B5EF4-FFF2-40B4-BE49-F238E27FC236}">
                  <a16:creationId xmlns:a16="http://schemas.microsoft.com/office/drawing/2014/main" id="{AF4D81E8-A267-481D-8935-D4A6687776FA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4101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94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USAR ES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F221F30FA1D846BC6503DE840D959B" ma:contentTypeVersion="12" ma:contentTypeDescription="Crie um novo documento." ma:contentTypeScope="" ma:versionID="537770d7633b02d79c49f6b6c2eecac7">
  <xsd:schema xmlns:xsd="http://www.w3.org/2001/XMLSchema" xmlns:xs="http://www.w3.org/2001/XMLSchema" xmlns:p="http://schemas.microsoft.com/office/2006/metadata/properties" xmlns:ns2="4facdbb2-8ef9-464d-a709-26ca1c337062" xmlns:ns3="d8db0f09-d57f-4353-8fed-87a30f195225" targetNamespace="http://schemas.microsoft.com/office/2006/metadata/properties" ma:root="true" ma:fieldsID="6d1a9d74efd7620238f953ebb8c6db07" ns2:_="" ns3:_="">
    <xsd:import namespace="4facdbb2-8ef9-464d-a709-26ca1c337062"/>
    <xsd:import namespace="d8db0f09-d57f-4353-8fed-87a30f1952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cdbb2-8ef9-464d-a709-26ca1c3370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a85b3961-dbc6-48b8-bc39-d380478928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db0f09-d57f-4353-8fed-87a30f1952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3f1f100-ca14-4443-a663-a0783b3478eb}" ma:internalName="TaxCatchAll" ma:showField="CatchAllData" ma:web="d8db0f09-d57f-4353-8fed-87a30f1952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acdbb2-8ef9-464d-a709-26ca1c337062">
      <Terms xmlns="http://schemas.microsoft.com/office/infopath/2007/PartnerControls"/>
    </lcf76f155ced4ddcb4097134ff3c332f>
    <TaxCatchAll xmlns="d8db0f09-d57f-4353-8fed-87a30f195225" xsi:nil="true"/>
  </documentManagement>
</p:properties>
</file>

<file path=customXml/itemProps1.xml><?xml version="1.0" encoding="utf-8"?>
<ds:datastoreItem xmlns:ds="http://schemas.openxmlformats.org/officeDocument/2006/customXml" ds:itemID="{E1955DAB-E143-48D2-8194-E221EBE228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acdbb2-8ef9-464d-a709-26ca1c337062"/>
    <ds:schemaRef ds:uri="d8db0f09-d57f-4353-8fed-87a30f1952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7590F2-902A-4FFC-B993-9715B30E05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661F7A-1649-4A39-91A5-A3893F5678E5}">
  <ds:schemaRefs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schemas.microsoft.com/office/2006/metadata/properties"/>
    <ds:schemaRef ds:uri="d8db0f09-d57f-4353-8fed-87a30f195225"/>
    <ds:schemaRef ds:uri="4facdbb2-8ef9-464d-a709-26ca1c337062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7810</TotalTime>
  <Words>1957</Words>
  <Application>Microsoft Office PowerPoint</Application>
  <PresentationFormat>Widescreen</PresentationFormat>
  <Paragraphs>186</Paragraphs>
  <Slides>19</Slides>
  <Notes>15</Notes>
  <HiddenSlides>7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Poppins Light</vt:lpstr>
      <vt:lpstr>Poppins</vt:lpstr>
      <vt:lpstr>Calibri</vt:lpstr>
      <vt:lpstr>Arial</vt:lpstr>
      <vt:lpstr>Poppins Bold</vt:lpstr>
      <vt:lpstr>Office Theme</vt:lpstr>
      <vt:lpstr>USAR ESTE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Caco Bressane Ilustração e Design</dc:creator>
  <cp:lastModifiedBy>LUCA SANTIAGO ROCHA</cp:lastModifiedBy>
  <cp:revision>195</cp:revision>
  <dcterms:modified xsi:type="dcterms:W3CDTF">2026-01-29T12:06:43Z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0x0101000AF221F30FA1D846BC6503DE840D959B</vt:lpwstr>
  </property>
  <property fmtid="{D5CDD505-2E9C-101B-9397-08002B2CF9AE}" pid="3" name="MediaServiceImageTags">
    <vt:lpwstr/>
  </property>
  <property fmtid="{D5CDD505-2E9C-101B-9397-08002B2CF9AE}" pid="4" name="Order">
    <vt:lpwstr>378100.000000000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