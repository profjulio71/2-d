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4"/>
    <p:sldMasterId id="2147483767" r:id="rId5"/>
  </p:sldMasterIdLst>
  <p:notesMasterIdLst>
    <p:notesMasterId r:id="rId25"/>
  </p:notesMasterIdLst>
  <p:handoutMasterIdLst>
    <p:handoutMasterId r:id="rId26"/>
  </p:handoutMasterIdLst>
  <p:sldIdLst>
    <p:sldId id="1240" r:id="rId6"/>
    <p:sldId id="1486" r:id="rId7"/>
    <p:sldId id="1487" r:id="rId8"/>
    <p:sldId id="1488" r:id="rId9"/>
    <p:sldId id="1489" r:id="rId10"/>
    <p:sldId id="1490" r:id="rId11"/>
    <p:sldId id="1491" r:id="rId12"/>
    <p:sldId id="1256" r:id="rId13"/>
    <p:sldId id="1455" r:id="rId14"/>
    <p:sldId id="1259" r:id="rId15"/>
    <p:sldId id="1456" r:id="rId16"/>
    <p:sldId id="1463" r:id="rId17"/>
    <p:sldId id="1262" r:id="rId18"/>
    <p:sldId id="1477" r:id="rId19"/>
    <p:sldId id="1503" r:id="rId20"/>
    <p:sldId id="1478" r:id="rId21"/>
    <p:sldId id="1504" r:id="rId22"/>
    <p:sldId id="1346" r:id="rId23"/>
    <p:sldId id="1268" r:id="rId24"/>
  </p:sldIdLst>
  <p:sldSz cx="12192000" cy="6858000"/>
  <p:notesSz cx="6858000" cy="9144000"/>
  <p:embeddedFontLst>
    <p:embeddedFont>
      <p:font typeface="Poppins" panose="00000500000000000000" pitchFamily="2" charset="0"/>
      <p:regular r:id="rId27"/>
      <p:bold r:id="rId28"/>
      <p:italic r:id="rId29"/>
      <p:boldItalic r:id="rId30"/>
    </p:embeddedFont>
    <p:embeddedFont>
      <p:font typeface="Poppins Bold" panose="00000800000000000000" pitchFamily="2" charset="0"/>
      <p:regular r:id="rId31"/>
      <p:bold r:id="rId32"/>
      <p:italic r:id="rId33"/>
      <p:boldItalic r:id="rId34"/>
    </p:embeddedFont>
    <p:embeddedFont>
      <p:font typeface="Poppins Light" panose="000004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85" userDrawn="1">
          <p15:clr>
            <a:srgbClr val="A4A3A4"/>
          </p15:clr>
        </p15:guide>
        <p15:guide id="2" pos="667" userDrawn="1">
          <p15:clr>
            <a:srgbClr val="A4A3A4"/>
          </p15:clr>
        </p15:guide>
        <p15:guide id="3" orient="horz" pos="424" userDrawn="1">
          <p15:clr>
            <a:srgbClr val="A4A3A4"/>
          </p15:clr>
        </p15:guide>
        <p15:guide id="4" orient="horz" pos="10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93F123-A5E2-A62B-D9E3-D9303D1BB86B}" name="Gustavo Cruz dos Reis" initials="GC" userId="S::greis@vanzolini-ead.org.br::837664e1-438f-44d7-9e01-7f6012fe004f" providerId="AD"/>
  <p188:author id="{8EC25B63-2C85-9DB5-AB9D-5F3D63E2707A}" name="Erika Rosa de Araújo" initials="ER" userId="S::erika_araujo@vanzolini-ead.org.br::5b52b1c9-51d4-48d4-888b-26776a653382" providerId="AD"/>
  <p188:author id="{C6975768-E079-2129-EF66-8C7D8D20589C}" name="Usuário Convidado" initials="UC" userId="S::urn:spo:anon#9c1a6640c4cf430e37b8e52984f4ed92aa1896e2c9d3b1637fd5ce4c8fd5c9d5::" providerId="AD"/>
  <p188:author id="{B6690975-A9C3-148A-D4A5-4CBF6A2ABB4E}" name="Flavia Alessandra Soares de Oliveira" initials="FA" userId="S::flavia.oliveira@vanzolini-ead.org.br::c69a92dc-e5a9-4a45-ac8e-5266805fcaf4" providerId="AD"/>
  <p188:author id="{5609E583-6F6E-D26E-3483-A990B1ED9307}" name="Alice Girodo Elias" initials="AE" userId="S::alice_elias@vanzolini-ead.org.br::83a86b8d-5fdd-48ae-8c3d-d7029cde8382" providerId="AD"/>
  <p188:author id="{0C7EEB85-7C9A-1B88-BDB5-D1B42911E338}" name="mateus pereira" initials="mp" userId="0d193232d40e37e9" providerId="Windows Live"/>
  <p188:author id="{8DD8E787-7B43-E508-6891-C6122D24A71C}" name="Douglas José Mendonça" initials="DM" userId="4153c5f748151241" providerId="Windows Live"/>
  <p188:author id="{EA7E6897-FBE9-9C70-C068-FD298403604C}" name="JOSE AVELINO PLACCA" initials="JP" userId="S::jose.placca@fatec.sp.gov.br::5607103a-18bc-4249-a88b-cf9b68ce5d63" providerId="AD"/>
  <p188:author id="{359923D3-91D8-2A84-C320-E37824E7A0A2}" name="Sandra Alves Menezes" initials="SAM" userId="c70d3e3594991db2" providerId="Windows Live"/>
  <p188:author id="{E0388DF7-5B9F-86E5-E6C5-3F344187204B}" name="Eloisa Dalbem" initials="ED" userId="S::eldalbem@vanzolini-ead.org.br::9ae0c03a-8642-493e-97df-c9fd93e6c39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rya Bueno" initials="SB" lastIdx="1" clrIdx="0">
    <p:extLst>
      <p:ext uri="{19B8F6BF-5375-455C-9EA6-DF929625EA0E}">
        <p15:presenceInfo xmlns:p15="http://schemas.microsoft.com/office/powerpoint/2012/main" userId="6e21e9d7a184f473" providerId="Windows Live"/>
      </p:ext>
    </p:extLst>
  </p:cmAuthor>
  <p:cmAuthor id="2" name="Luiza " initials="LEL" lastIdx="8" clrIdx="1">
    <p:extLst>
      <p:ext uri="{19B8F6BF-5375-455C-9EA6-DF929625EA0E}">
        <p15:presenceInfo xmlns:p15="http://schemas.microsoft.com/office/powerpoint/2012/main" userId="Luiza 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E8E7"/>
    <a:srgbClr val="AAA6D3"/>
    <a:srgbClr val="312F67"/>
    <a:srgbClr val="4AB6FF"/>
    <a:srgbClr val="9278FF"/>
    <a:srgbClr val="3E3593"/>
    <a:srgbClr val="EE0000"/>
    <a:srgbClr val="FF0000"/>
    <a:srgbClr val="EC4E58"/>
    <a:srgbClr val="E83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C30A05-8F78-F34C-3ABA-C0A3739C74C2}" v="108" dt="2025-11-05T19:57:46.765"/>
    <p1510:client id="{DCB9493D-7162-CF88-D013-E87FC7C7B5DA}" v="27" dt="2025-11-06T17:50:27.643"/>
  </p1510:revLst>
</p1510:revInfo>
</file>

<file path=ppt/tableStyles.xml><?xml version="1.0" encoding="utf-8"?>
<a:tblStyleLst xmlns:a="http://schemas.openxmlformats.org/drawingml/2006/main" def="{58B62AC2-CBFF-4FEF-A790-FB120B6FE34D}">
  <a:tblStyle styleId="{58B62AC2-CBFF-4FEF-A790-FB120B6FE3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737" autoAdjust="0"/>
  </p:normalViewPr>
  <p:slideViewPr>
    <p:cSldViewPr snapToGrid="0">
      <p:cViewPr>
        <p:scale>
          <a:sx n="66" d="100"/>
          <a:sy n="66" d="100"/>
        </p:scale>
        <p:origin x="1224" y="365"/>
      </p:cViewPr>
      <p:guideLst>
        <p:guide orient="horz" pos="485"/>
        <p:guide pos="667"/>
        <p:guide orient="horz" pos="424"/>
        <p:guide orient="horz" pos="10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9" Type="http://schemas.openxmlformats.org/officeDocument/2006/relationships/commentAuthors" Target="commentAuthors.xml"/><Relationship Id="rId21" Type="http://schemas.openxmlformats.org/officeDocument/2006/relationships/slide" Target="slides/slide16.xml"/><Relationship Id="rId34" Type="http://schemas.openxmlformats.org/officeDocument/2006/relationships/font" Target="fonts/font8.fntdata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presProps" Target="presProps.xml"/><Relationship Id="rId45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5.fntdata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0" Type="http://schemas.openxmlformats.org/officeDocument/2006/relationships/slide" Target="slides/slide15.xml"/><Relationship Id="rId4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820016A-23B3-8332-53D6-57FE04C281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78ABBCA-ED84-8C3A-7D17-F6393BAD02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E6816-8789-481E-B2F2-61889E0E8584}" type="datetimeFigureOut">
              <a:rPr lang="pt-BR" smtClean="0"/>
              <a:t>29/01/2026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40203C-C3C0-C509-C3D9-F91275DBAE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A17361-C8A0-CABB-2146-B5B19E39C2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4F6E5-A54A-42CC-B250-9D06C7C52C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438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		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5387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>
          <a:extLst>
            <a:ext uri="{FF2B5EF4-FFF2-40B4-BE49-F238E27FC236}">
              <a16:creationId xmlns:a16="http://schemas.microsoft.com/office/drawing/2014/main" id="{40A4D88A-F5E8-63F1-D1CE-CE9AC2B88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:notes">
            <a:extLst>
              <a:ext uri="{FF2B5EF4-FFF2-40B4-BE49-F238E27FC236}">
                <a16:creationId xmlns:a16="http://schemas.microsoft.com/office/drawing/2014/main" id="{5B2777F4-1802-1A31-28CE-FC083D4867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1" name="Google Shape;641;p1:notes">
            <a:extLst>
              <a:ext uri="{FF2B5EF4-FFF2-40B4-BE49-F238E27FC236}">
                <a16:creationId xmlns:a16="http://schemas.microsoft.com/office/drawing/2014/main" id="{750699BD-C60F-1410-373C-7B053F0937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7139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85839-8E76-8399-680D-82E1D822D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1A0442B-ED6E-0FCA-38C8-F7E4F8941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4655765-F523-2DF0-DA4D-6BD8A64EF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FC0EF4-D7B0-0266-0F9B-B55874F105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2602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C2DC0CC8-44A0-8EC5-B07B-96684452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:notes">
            <a:extLst>
              <a:ext uri="{FF2B5EF4-FFF2-40B4-BE49-F238E27FC236}">
                <a16:creationId xmlns:a16="http://schemas.microsoft.com/office/drawing/2014/main" id="{56205403-E4CA-D347-36D9-80405AD9CA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2" name="Google Shape;652;p3:notes">
            <a:extLst>
              <a:ext uri="{FF2B5EF4-FFF2-40B4-BE49-F238E27FC236}">
                <a16:creationId xmlns:a16="http://schemas.microsoft.com/office/drawing/2014/main" id="{5D86ADE8-DCAF-8A14-4E35-548BD42AA7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5108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7B7453D5-FE37-90F7-0117-6A1069A4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E55E856E-71F6-FFFC-27FF-C20FE327B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C790690E-A198-1BF4-E669-670C98910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4254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173FAAB7-2D9B-4391-A14F-D2F130ED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5138C6D7-BB53-A0BD-1568-1AEFFF5B8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53CAB155-B18A-EFBE-D7EC-B50984A9A9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1578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>
          <a:extLst>
            <a:ext uri="{FF2B5EF4-FFF2-40B4-BE49-F238E27FC236}">
              <a16:creationId xmlns:a16="http://schemas.microsoft.com/office/drawing/2014/main" id="{65F4DAEE-9901-3731-8F08-D283C215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e5198b4dfb_0_1:notes">
            <a:extLst>
              <a:ext uri="{FF2B5EF4-FFF2-40B4-BE49-F238E27FC236}">
                <a16:creationId xmlns:a16="http://schemas.microsoft.com/office/drawing/2014/main" id="{74B7CBA6-3C74-A542-6503-85E3ED027E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pt-BR" dirty="0"/>
          </a:p>
        </p:txBody>
      </p:sp>
      <p:sp>
        <p:nvSpPr>
          <p:cNvPr id="724" name="Google Shape;724;g1e5198b4dfb_0_1:notes">
            <a:extLst>
              <a:ext uri="{FF2B5EF4-FFF2-40B4-BE49-F238E27FC236}">
                <a16:creationId xmlns:a16="http://schemas.microsoft.com/office/drawing/2014/main" id="{D3DB5D40-7473-12E9-B92C-1A646EAD8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6987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>
          <a:extLst>
            <a:ext uri="{FF2B5EF4-FFF2-40B4-BE49-F238E27FC236}">
              <a16:creationId xmlns:a16="http://schemas.microsoft.com/office/drawing/2014/main" id="{538F41C0-02CD-6BD4-23BB-3CA660EBD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1:notes">
            <a:extLst>
              <a:ext uri="{FF2B5EF4-FFF2-40B4-BE49-F238E27FC236}">
                <a16:creationId xmlns:a16="http://schemas.microsoft.com/office/drawing/2014/main" id="{D9A9EEBA-9FA7-8581-9247-790D6D863D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9" name="Google Shape;719;p11:notes">
            <a:extLst>
              <a:ext uri="{FF2B5EF4-FFF2-40B4-BE49-F238E27FC236}">
                <a16:creationId xmlns:a16="http://schemas.microsoft.com/office/drawing/2014/main" id="{B8D11C72-26FD-36DF-8993-7A3494A42E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5668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0914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005BA-9673-3CE5-E471-BD8D9D1CB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9AEDF9B-3B64-F9FA-87FF-E5415ABAB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7F12B5-DFA6-ED46-B10B-A04243AB1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2BC3A8-1828-CEC7-3F21-F9E0EEA8D3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7085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B4B81-DF78-F5CF-986C-80A365461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D18D361-BA8C-D6E0-5E39-D48894965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8586C6E-E1B7-9A41-8418-3020FFE63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AAE30-D3FA-6CF2-C57D-E770792F9D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22422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C7DC-534C-A743-564A-36BFE5B5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DA9700-483F-8BAD-11FB-ED38CEEF2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1993076-5792-8D26-09F6-2EEB492B5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13543E-A356-DE1C-B0EE-5D53FEA1B5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869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9C437-FF34-EADB-A143-64D8E7040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ED70F5-BECD-41BB-D9D6-61D066E1F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91CC0B4-1C38-680D-DD7D-9344E6A55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04D731-0F78-7125-AC31-74FC42E0A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83209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8C99D-7419-30A7-6CA3-94577F9FE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D20E2B-936B-3DCF-7751-A559B0426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0613880-6B96-23B9-F2AD-2959FC88D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E6155A-EDE7-6002-17EE-157ED2E13A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78316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5657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6A3E6D48-FFEA-D36C-B167-CCAA9C7319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4E42761-A7B4-419B-7934-5BFDC310532A}"/>
              </a:ext>
            </a:extLst>
          </p:cNvPr>
          <p:cNvSpPr/>
          <p:nvPr userDrawn="1"/>
        </p:nvSpPr>
        <p:spPr>
          <a:xfrm>
            <a:off x="5802699" y="1543035"/>
            <a:ext cx="4205858" cy="3044205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0D8FB80E-FED7-F954-0FFB-71E699FC2303}"/>
              </a:ext>
            </a:extLst>
          </p:cNvPr>
          <p:cNvSpPr txBox="1"/>
          <p:nvPr userDrawn="1"/>
        </p:nvSpPr>
        <p:spPr>
          <a:xfrm>
            <a:off x="2149362" y="2398780"/>
            <a:ext cx="3401671" cy="157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10"/>
              </a:lnSpc>
            </a:pPr>
            <a:r>
              <a:rPr lang="pt-BR" sz="4266" noProof="0">
                <a:solidFill>
                  <a:srgbClr val="000000"/>
                </a:solidFill>
                <a:latin typeface="Poppins Bold"/>
              </a:rPr>
              <a:t>Educação Profissional Paulista</a:t>
            </a: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1036E91F-7663-4368-9E7C-6FB0EE2234A8}"/>
              </a:ext>
            </a:extLst>
          </p:cNvPr>
          <p:cNvSpPr txBox="1"/>
          <p:nvPr userDrawn="1"/>
        </p:nvSpPr>
        <p:spPr>
          <a:xfrm>
            <a:off x="6069602" y="2317274"/>
            <a:ext cx="3578455" cy="57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64"/>
              </a:lnSpc>
            </a:pPr>
            <a:r>
              <a:rPr lang="pt-BR" sz="3334" noProof="0">
                <a:solidFill>
                  <a:srgbClr val="FFFFFF"/>
                </a:solidFill>
                <a:latin typeface="Poppins Light"/>
              </a:rPr>
              <a:t>Técnico em 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97250F30-D565-1415-0E0B-A56C94F36005}"/>
              </a:ext>
            </a:extLst>
          </p:cNvPr>
          <p:cNvSpPr txBox="1"/>
          <p:nvPr userDrawn="1"/>
        </p:nvSpPr>
        <p:spPr>
          <a:xfrm>
            <a:off x="6116401" y="2879829"/>
            <a:ext cx="3578455" cy="102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Ciência de</a:t>
            </a:r>
          </a:p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Dados</a:t>
            </a:r>
          </a:p>
        </p:txBody>
      </p: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54130EA6-199B-0010-A6D0-6590948C36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566" t="26436" r="13369" b="26176"/>
          <a:stretch>
            <a:fillRect/>
          </a:stretch>
        </p:blipFill>
        <p:spPr>
          <a:xfrm>
            <a:off x="4828111" y="5385674"/>
            <a:ext cx="2535779" cy="11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67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userDrawn="1">
  <p:cSld name="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;p2">
            <a:extLst>
              <a:ext uri="{FF2B5EF4-FFF2-40B4-BE49-F238E27FC236}">
                <a16:creationId xmlns:a16="http://schemas.microsoft.com/office/drawing/2014/main" id="{8CB10600-AE46-1112-BF1F-89FEDCD2380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12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75B702A-F262-A7EC-1544-D890D7BAB549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74693EBA-5D03-E0ED-2160-C7E6C699853B}"/>
              </a:ext>
            </a:extLst>
          </p:cNvPr>
          <p:cNvGrpSpPr/>
          <p:nvPr userDrawn="1"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12" name="Retângulo: Cantos Superiores Arredondados 11">
              <a:extLst>
                <a:ext uri="{FF2B5EF4-FFF2-40B4-BE49-F238E27FC236}">
                  <a16:creationId xmlns:a16="http://schemas.microsoft.com/office/drawing/2014/main" id="{3DAB0FA3-010E-5D1E-0A4F-A2649946D814}"/>
                </a:ext>
              </a:extLst>
            </p:cNvPr>
            <p:cNvSpPr/>
            <p:nvPr userDrawn="1"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0B47600D-8715-56C9-4DEE-31E42D77CE73}"/>
                </a:ext>
              </a:extLst>
            </p:cNvPr>
            <p:cNvSpPr/>
            <p:nvPr userDrawn="1"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7FF83FF2-0724-D9DC-7CD0-182689ECEB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2566" t="26436" r="13369" b="26176"/>
          <a:stretch>
            <a:fillRect/>
          </a:stretch>
        </p:blipFill>
        <p:spPr>
          <a:xfrm>
            <a:off x="10534930" y="6126882"/>
            <a:ext cx="1539046" cy="696429"/>
          </a:xfrm>
          <a:prstGeom prst="rect">
            <a:avLst/>
          </a:prstGeom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49AAF11-B72B-97A9-1F7C-C67A99490D6A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0F1B3D50-DC92-3A67-76A1-F73245CB2E46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C68FF844-3B0E-96DC-B386-28AC68986408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5BE544CF-9272-626A-F581-F5C1570A48C3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preserve="1" userDrawn="1">
  <p:cSld name="2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;p2">
            <a:extLst>
              <a:ext uri="{FF2B5EF4-FFF2-40B4-BE49-F238E27FC236}">
                <a16:creationId xmlns:a16="http://schemas.microsoft.com/office/drawing/2014/main" id="{2B6AE7D7-B8DA-6755-5775-2A63763FAFE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70740A45-0B97-0845-D41C-8954A70D9A46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05B0822B-EA31-B628-9BCD-BCE40BF3539B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F0513886-3B1D-A654-6B9F-495DAED7F022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E61243E1-C99D-44F8-C4C1-60BA8723DD1B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9BF948C-C5B4-16BC-404A-5132FF290922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15" name="Google Shape;643;p43">
            <a:extLst>
              <a:ext uri="{FF2B5EF4-FFF2-40B4-BE49-F238E27FC236}">
                <a16:creationId xmlns:a16="http://schemas.microsoft.com/office/drawing/2014/main" id="{E35AD63A-F8AF-02C1-2D2C-842A4624A944}"/>
              </a:ext>
            </a:extLst>
          </p:cNvPr>
          <p:cNvSpPr txBox="1">
            <a:spLocks/>
          </p:cNvSpPr>
          <p:nvPr userDrawn="1"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3000">
                <a:solidFill>
                  <a:srgbClr val="FF161F"/>
                </a:solidFill>
              </a:rPr>
              <a:t>Orientações ao Professor</a:t>
            </a:r>
          </a:p>
        </p:txBody>
      </p:sp>
    </p:spTree>
    <p:extLst>
      <p:ext uri="{BB962C8B-B14F-4D97-AF65-F5344CB8AC3E}">
        <p14:creationId xmlns:p14="http://schemas.microsoft.com/office/powerpoint/2010/main" val="4191410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 preserve="1" userDrawn="1">
  <p:cSld name="2_1. Conteud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22;p4">
            <a:extLst>
              <a:ext uri="{FF2B5EF4-FFF2-40B4-BE49-F238E27FC236}">
                <a16:creationId xmlns:a16="http://schemas.microsoft.com/office/drawing/2014/main" id="{0441BF1F-C7EE-076D-0E64-5ADFC9612C2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3;p4">
            <a:extLst>
              <a:ext uri="{FF2B5EF4-FFF2-40B4-BE49-F238E27FC236}">
                <a16:creationId xmlns:a16="http://schemas.microsoft.com/office/drawing/2014/main" id="{9951514B-0229-7045-2962-7AE28BD6721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Conector reto 136">
            <a:extLst>
              <a:ext uri="{FF2B5EF4-FFF2-40B4-BE49-F238E27FC236}">
                <a16:creationId xmlns:a16="http://schemas.microsoft.com/office/drawing/2014/main" id="{28ED8E59-867A-4118-491D-688DDC058D38}"/>
              </a:ext>
            </a:extLst>
          </p:cNvPr>
          <p:cNvCxnSpPr/>
          <p:nvPr userDrawn="1"/>
        </p:nvCxnSpPr>
        <p:spPr>
          <a:xfrm>
            <a:off x="6090044" y="840916"/>
            <a:ext cx="0" cy="5101049"/>
          </a:xfrm>
          <a:prstGeom prst="line">
            <a:avLst/>
          </a:prstGeom>
          <a:ln w="381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30;p31">
            <a:extLst>
              <a:ext uri="{FF2B5EF4-FFF2-40B4-BE49-F238E27FC236}">
                <a16:creationId xmlns:a16="http://schemas.microsoft.com/office/drawing/2014/main" id="{FB7070B6-E757-A6E0-8016-A32842AE691E}"/>
              </a:ext>
            </a:extLst>
          </p:cNvPr>
          <p:cNvSpPr txBox="1"/>
          <p:nvPr userDrawn="1"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29;p31">
            <a:extLst>
              <a:ext uri="{FF2B5EF4-FFF2-40B4-BE49-F238E27FC236}">
                <a16:creationId xmlns:a16="http://schemas.microsoft.com/office/drawing/2014/main" id="{741C94F6-1F01-E259-385F-4E743D12E89E}"/>
              </a:ext>
            </a:extLst>
          </p:cNvPr>
          <p:cNvSpPr txBox="1"/>
          <p:nvPr userDrawn="1"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" name="Google Shape;27;p31">
            <a:extLst>
              <a:ext uri="{FF2B5EF4-FFF2-40B4-BE49-F238E27FC236}">
                <a16:creationId xmlns:a16="http://schemas.microsoft.com/office/drawing/2014/main" id="{D3A1B340-B3C1-6E5A-098C-780E2B17C68B}"/>
              </a:ext>
            </a:extLst>
          </p:cNvPr>
          <p:cNvSpPr txBox="1"/>
          <p:nvPr userDrawn="1"/>
        </p:nvSpPr>
        <p:spPr>
          <a:xfrm>
            <a:off x="1433188" y="2836870"/>
            <a:ext cx="3369028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" name="Google Shape;28;p31">
            <a:extLst>
              <a:ext uri="{FF2B5EF4-FFF2-40B4-BE49-F238E27FC236}">
                <a16:creationId xmlns:a16="http://schemas.microsoft.com/office/drawing/2014/main" id="{5B559A0E-AD04-115A-BF39-7DBA374B9335}"/>
              </a:ext>
            </a:extLst>
          </p:cNvPr>
          <p:cNvSpPr txBox="1"/>
          <p:nvPr userDrawn="1"/>
        </p:nvSpPr>
        <p:spPr>
          <a:xfrm>
            <a:off x="1445466" y="4991389"/>
            <a:ext cx="3267249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Google Shape;29;p31">
            <a:extLst>
              <a:ext uri="{FF2B5EF4-FFF2-40B4-BE49-F238E27FC236}">
                <a16:creationId xmlns:a16="http://schemas.microsoft.com/office/drawing/2014/main" id="{EE47DDFB-5B6D-7333-B980-89821CD5C453}"/>
              </a:ext>
            </a:extLst>
          </p:cNvPr>
          <p:cNvSpPr txBox="1"/>
          <p:nvPr userDrawn="1"/>
        </p:nvSpPr>
        <p:spPr>
          <a:xfrm>
            <a:off x="7467011" y="3115942"/>
            <a:ext cx="4381080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40945717-DA64-748C-A1D1-9DD06F304E75}"/>
              </a:ext>
            </a:extLst>
          </p:cNvPr>
          <p:cNvSpPr txBox="1"/>
          <p:nvPr userDrawn="1"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56" name="Google Shape;359;p5">
            <a:extLst>
              <a:ext uri="{FF2B5EF4-FFF2-40B4-BE49-F238E27FC236}">
                <a16:creationId xmlns:a16="http://schemas.microsoft.com/office/drawing/2014/main" id="{0B37A977-D54F-7CA4-065E-4F5646195719}"/>
              </a:ext>
            </a:extLst>
          </p:cNvPr>
          <p:cNvSpPr txBox="1"/>
          <p:nvPr userDrawn="1"/>
        </p:nvSpPr>
        <p:spPr>
          <a:xfrm>
            <a:off x="1395562" y="5421233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50 minutos.</a:t>
            </a:r>
          </a:p>
        </p:txBody>
      </p:sp>
      <p:sp>
        <p:nvSpPr>
          <p:cNvPr id="57" name="Espaço Reservado para Texto 7">
            <a:extLst>
              <a:ext uri="{FF2B5EF4-FFF2-40B4-BE49-F238E27FC236}">
                <a16:creationId xmlns:a16="http://schemas.microsoft.com/office/drawing/2014/main" id="{9D3B3D7B-3AB2-D2E0-42C8-BEE1A273FF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</p:spPr>
        <p:txBody>
          <a:bodyPr/>
          <a:lstStyle>
            <a:lvl1pPr marL="228611" indent="-228611">
              <a:buClr>
                <a:schemeClr val="tx1"/>
              </a:buClr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8" name="Espaço Reservado para Texto 7">
            <a:extLst>
              <a:ext uri="{FF2B5EF4-FFF2-40B4-BE49-F238E27FC236}">
                <a16:creationId xmlns:a16="http://schemas.microsoft.com/office/drawing/2014/main" id="{2B4474D7-F7C1-8A04-F7F3-06AE90E020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9" name="Espaço Reservado para Texto 7">
            <a:extLst>
              <a:ext uri="{FF2B5EF4-FFF2-40B4-BE49-F238E27FC236}">
                <a16:creationId xmlns:a16="http://schemas.microsoft.com/office/drawing/2014/main" id="{750A0485-F79D-BB58-9F3F-FA9A89265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7375" y="3649330"/>
            <a:ext cx="4044985" cy="1590171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0" name="Espaço Reservado para Texto 7">
            <a:extLst>
              <a:ext uri="{FF2B5EF4-FFF2-40B4-BE49-F238E27FC236}">
                <a16:creationId xmlns:a16="http://schemas.microsoft.com/office/drawing/2014/main" id="{E690A38C-21A5-1DD3-8FD9-05A05F954A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3515" y="3415678"/>
            <a:ext cx="4044985" cy="1045573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1" name="Google Shape;26;p31">
            <a:extLst>
              <a:ext uri="{FF2B5EF4-FFF2-40B4-BE49-F238E27FC236}">
                <a16:creationId xmlns:a16="http://schemas.microsoft.com/office/drawing/2014/main" id="{94671E74-5053-0B75-2554-2EC14FBC543F}"/>
              </a:ext>
            </a:extLst>
          </p:cNvPr>
          <p:cNvSpPr/>
          <p:nvPr userDrawn="1"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42;p31">
            <a:extLst>
              <a:ext uri="{FF2B5EF4-FFF2-40B4-BE49-F238E27FC236}">
                <a16:creationId xmlns:a16="http://schemas.microsoft.com/office/drawing/2014/main" id="{9872EE60-7A4F-1BA5-6C65-F74323570E69}"/>
              </a:ext>
            </a:extLst>
          </p:cNvPr>
          <p:cNvSpPr/>
          <p:nvPr userDrawn="1"/>
        </p:nvSpPr>
        <p:spPr>
          <a:xfrm>
            <a:off x="514540" y="2891946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44;p31">
            <a:extLst>
              <a:ext uri="{FF2B5EF4-FFF2-40B4-BE49-F238E27FC236}">
                <a16:creationId xmlns:a16="http://schemas.microsoft.com/office/drawing/2014/main" id="{E7AF0D48-4EAB-4341-56B9-E5180E18D687}"/>
              </a:ext>
            </a:extLst>
          </p:cNvPr>
          <p:cNvGrpSpPr/>
          <p:nvPr userDrawn="1"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71" name="Google Shape;45;p31">
              <a:extLst>
                <a:ext uri="{FF2B5EF4-FFF2-40B4-BE49-F238E27FC236}">
                  <a16:creationId xmlns:a16="http://schemas.microsoft.com/office/drawing/2014/main" id="{25EE43B4-55D5-638C-B8E0-7683EE07DEFE}"/>
                </a:ext>
              </a:extLst>
            </p:cNvPr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75" name="Google Shape;46;p31">
                <a:extLst>
                  <a:ext uri="{FF2B5EF4-FFF2-40B4-BE49-F238E27FC236}">
                    <a16:creationId xmlns:a16="http://schemas.microsoft.com/office/drawing/2014/main" id="{D06AC268-D753-3703-84A7-70B8CEE1953D}"/>
                  </a:ext>
                </a:extLst>
              </p:cNvPr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47;p31">
                <a:extLst>
                  <a:ext uri="{FF2B5EF4-FFF2-40B4-BE49-F238E27FC236}">
                    <a16:creationId xmlns:a16="http://schemas.microsoft.com/office/drawing/2014/main" id="{3CA9B3D1-6574-F459-2D19-20757E9DA548}"/>
                  </a:ext>
                </a:extLst>
              </p:cNvPr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" name="Google Shape;48;p31">
              <a:extLst>
                <a:ext uri="{FF2B5EF4-FFF2-40B4-BE49-F238E27FC236}">
                  <a16:creationId xmlns:a16="http://schemas.microsoft.com/office/drawing/2014/main" id="{9C48133A-5E44-59D4-D07A-9F4DA1DB4FB6}"/>
                </a:ext>
              </a:extLst>
            </p:cNvPr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49;p31">
              <a:extLst>
                <a:ext uri="{FF2B5EF4-FFF2-40B4-BE49-F238E27FC236}">
                  <a16:creationId xmlns:a16="http://schemas.microsoft.com/office/drawing/2014/main" id="{52692079-AC69-2A35-9041-6474957E1B76}"/>
                </a:ext>
              </a:extLst>
            </p:cNvPr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50;p31">
              <a:extLst>
                <a:ext uri="{FF2B5EF4-FFF2-40B4-BE49-F238E27FC236}">
                  <a16:creationId xmlns:a16="http://schemas.microsoft.com/office/drawing/2014/main" id="{DF1F27D0-EFFF-7207-95F6-31380C6AD755}"/>
                </a:ext>
              </a:extLst>
            </p:cNvPr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43;p31">
            <a:extLst>
              <a:ext uri="{FF2B5EF4-FFF2-40B4-BE49-F238E27FC236}">
                <a16:creationId xmlns:a16="http://schemas.microsoft.com/office/drawing/2014/main" id="{6105EC4C-2897-6550-3658-7F87FDA2E46D}"/>
              </a:ext>
            </a:extLst>
          </p:cNvPr>
          <p:cNvSpPr/>
          <p:nvPr userDrawn="1"/>
        </p:nvSpPr>
        <p:spPr>
          <a:xfrm>
            <a:off x="516205" y="5041837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51;p31">
            <a:extLst>
              <a:ext uri="{FF2B5EF4-FFF2-40B4-BE49-F238E27FC236}">
                <a16:creationId xmlns:a16="http://schemas.microsoft.com/office/drawing/2014/main" id="{73A799AF-B157-40EC-DCBE-B8FCFBE7F3C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658917" y="5200319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41;p31">
            <a:extLst>
              <a:ext uri="{FF2B5EF4-FFF2-40B4-BE49-F238E27FC236}">
                <a16:creationId xmlns:a16="http://schemas.microsoft.com/office/drawing/2014/main" id="{B3B56EED-70D4-931C-A420-FE71A037A5B3}"/>
              </a:ext>
            </a:extLst>
          </p:cNvPr>
          <p:cNvSpPr/>
          <p:nvPr userDrawn="1"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52;p31">
            <a:extLst>
              <a:ext uri="{FF2B5EF4-FFF2-40B4-BE49-F238E27FC236}">
                <a16:creationId xmlns:a16="http://schemas.microsoft.com/office/drawing/2014/main" id="{150405F6-AD92-3E93-A0F2-62123F63C231}"/>
              </a:ext>
            </a:extLst>
          </p:cNvPr>
          <p:cNvGrpSpPr/>
          <p:nvPr userDrawn="1"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81" name="Google Shape;53;p31">
              <a:extLst>
                <a:ext uri="{FF2B5EF4-FFF2-40B4-BE49-F238E27FC236}">
                  <a16:creationId xmlns:a16="http://schemas.microsoft.com/office/drawing/2014/main" id="{E89D22AA-CDF5-F8EF-533A-455BBF7ED376}"/>
                </a:ext>
              </a:extLst>
            </p:cNvPr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" name="Google Shape;54;p31">
              <a:extLst>
                <a:ext uri="{FF2B5EF4-FFF2-40B4-BE49-F238E27FC236}">
                  <a16:creationId xmlns:a16="http://schemas.microsoft.com/office/drawing/2014/main" id="{34CAB52C-B8E8-A6A1-22C9-58CFDA6BF939}"/>
                </a:ext>
              </a:extLst>
            </p:cNvPr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83" name="Google Shape;55;p31">
                <a:extLst>
                  <a:ext uri="{FF2B5EF4-FFF2-40B4-BE49-F238E27FC236}">
                    <a16:creationId xmlns:a16="http://schemas.microsoft.com/office/drawing/2014/main" id="{0380A354-0C36-FBBD-5A99-BEB6A92922F2}"/>
                  </a:ext>
                </a:extLst>
              </p:cNvPr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56;p31">
                <a:extLst>
                  <a:ext uri="{FF2B5EF4-FFF2-40B4-BE49-F238E27FC236}">
                    <a16:creationId xmlns:a16="http://schemas.microsoft.com/office/drawing/2014/main" id="{B3EF03DC-1D7C-1510-0CD0-0F69395B797F}"/>
                  </a:ext>
                </a:extLst>
              </p:cNvPr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57;p31">
                <a:extLst>
                  <a:ext uri="{FF2B5EF4-FFF2-40B4-BE49-F238E27FC236}">
                    <a16:creationId xmlns:a16="http://schemas.microsoft.com/office/drawing/2014/main" id="{42F9CEE5-E68B-076C-BB6F-7A025F686840}"/>
                  </a:ext>
                </a:extLst>
              </p:cNvPr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58;p31">
                <a:extLst>
                  <a:ext uri="{FF2B5EF4-FFF2-40B4-BE49-F238E27FC236}">
                    <a16:creationId xmlns:a16="http://schemas.microsoft.com/office/drawing/2014/main" id="{99B7DFE5-0CDE-9C9C-3FD3-49285C4CFB39}"/>
                  </a:ext>
                </a:extLst>
              </p:cNvPr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59;p31">
                <a:extLst>
                  <a:ext uri="{FF2B5EF4-FFF2-40B4-BE49-F238E27FC236}">
                    <a16:creationId xmlns:a16="http://schemas.microsoft.com/office/drawing/2014/main" id="{0F963431-0407-0C32-190B-BA13628B3689}"/>
                  </a:ext>
                </a:extLst>
              </p:cNvPr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60;p31">
                <a:extLst>
                  <a:ext uri="{FF2B5EF4-FFF2-40B4-BE49-F238E27FC236}">
                    <a16:creationId xmlns:a16="http://schemas.microsoft.com/office/drawing/2014/main" id="{F439FC39-5565-97D2-9A14-46058DB5EF62}"/>
                  </a:ext>
                </a:extLst>
              </p:cNvPr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9" name="Google Shape;41;p31">
            <a:extLst>
              <a:ext uri="{FF2B5EF4-FFF2-40B4-BE49-F238E27FC236}">
                <a16:creationId xmlns:a16="http://schemas.microsoft.com/office/drawing/2014/main" id="{4FB79224-C783-AB92-7785-7C018D12A249}"/>
              </a:ext>
            </a:extLst>
          </p:cNvPr>
          <p:cNvSpPr/>
          <p:nvPr userDrawn="1"/>
        </p:nvSpPr>
        <p:spPr>
          <a:xfrm>
            <a:off x="6537750" y="314469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2215;p100">
            <a:extLst>
              <a:ext uri="{FF2B5EF4-FFF2-40B4-BE49-F238E27FC236}">
                <a16:creationId xmlns:a16="http://schemas.microsoft.com/office/drawing/2014/main" id="{0E0D728E-3A33-4EF4-5212-177932EB7D37}"/>
              </a:ext>
            </a:extLst>
          </p:cNvPr>
          <p:cNvSpPr/>
          <p:nvPr userDrawn="1"/>
        </p:nvSpPr>
        <p:spPr>
          <a:xfrm>
            <a:off x="6637986" y="3252609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C464C-51C2-DB3D-4C1D-F67CB5B688F7}"/>
              </a:ext>
            </a:extLst>
          </p:cNvPr>
          <p:cNvSpPr txBox="1"/>
          <p:nvPr userDrawn="1"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7" name="Google Shape;34;p31">
            <a:extLst>
              <a:ext uri="{FF2B5EF4-FFF2-40B4-BE49-F238E27FC236}">
                <a16:creationId xmlns:a16="http://schemas.microsoft.com/office/drawing/2014/main" id="{C430FFE2-579C-F0FF-C290-CF4D2EB9FE97}"/>
              </a:ext>
            </a:extLst>
          </p:cNvPr>
          <p:cNvGrpSpPr/>
          <p:nvPr userDrawn="1"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9" name="Google Shape;35;p31">
              <a:extLst>
                <a:ext uri="{FF2B5EF4-FFF2-40B4-BE49-F238E27FC236}">
                  <a16:creationId xmlns:a16="http://schemas.microsoft.com/office/drawing/2014/main" id="{75DCD9A7-81F9-4D17-9997-5B22594BE3C9}"/>
                </a:ext>
              </a:extLst>
            </p:cNvPr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4" name="Google Shape;36;p31">
                <a:extLst>
                  <a:ext uri="{FF2B5EF4-FFF2-40B4-BE49-F238E27FC236}">
                    <a16:creationId xmlns:a16="http://schemas.microsoft.com/office/drawing/2014/main" id="{90EABD33-493E-E54A-1A23-1BA99D60F8B0}"/>
                  </a:ext>
                </a:extLst>
              </p:cNvPr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37;p31">
                <a:extLst>
                  <a:ext uri="{FF2B5EF4-FFF2-40B4-BE49-F238E27FC236}">
                    <a16:creationId xmlns:a16="http://schemas.microsoft.com/office/drawing/2014/main" id="{A8D933AC-72DA-D72F-77D3-A7207C548944}"/>
                  </a:ext>
                </a:extLst>
              </p:cNvPr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38;p31">
                <a:extLst>
                  <a:ext uri="{FF2B5EF4-FFF2-40B4-BE49-F238E27FC236}">
                    <a16:creationId xmlns:a16="http://schemas.microsoft.com/office/drawing/2014/main" id="{4A4515EE-AAD5-6566-FB77-56CD51465C34}"/>
                  </a:ext>
                </a:extLst>
              </p:cNvPr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" name="Google Shape;39;p31">
              <a:extLst>
                <a:ext uri="{FF2B5EF4-FFF2-40B4-BE49-F238E27FC236}">
                  <a16:creationId xmlns:a16="http://schemas.microsoft.com/office/drawing/2014/main" id="{C178D74F-1BD9-301F-4848-BDD92A8BD252}"/>
                </a:ext>
              </a:extLst>
            </p:cNvPr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40;p31">
              <a:extLst>
                <a:ext uri="{FF2B5EF4-FFF2-40B4-BE49-F238E27FC236}">
                  <a16:creationId xmlns:a16="http://schemas.microsoft.com/office/drawing/2014/main" id="{2FB8305B-313B-9DA6-397B-FD10C2E02AD9}"/>
                </a:ext>
              </a:extLst>
            </p:cNvPr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6278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 preserve="1" userDrawn="1">
  <p:cSld name="3_Ativida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03;p21">
            <a:extLst>
              <a:ext uri="{FF2B5EF4-FFF2-40B4-BE49-F238E27FC236}">
                <a16:creationId xmlns:a16="http://schemas.microsoft.com/office/drawing/2014/main" id="{04070031-126A-1C18-A638-9AC483966AB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E9625F-D19E-624E-A52E-3E35C3F742DF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E3EABF6E-626A-0802-C919-B97335045E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25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24C57C54-2E58-E7B5-ECF5-2C905E340D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1467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8561C3A-F8AF-259A-BE3A-A988EE85BD54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C380143-5536-5406-8143-6BFDB517A088}"/>
              </a:ext>
            </a:extLst>
          </p:cNvPr>
          <p:cNvSpPr/>
          <p:nvPr userDrawn="1"/>
        </p:nvSpPr>
        <p:spPr>
          <a:xfrm>
            <a:off x="200184" y="44804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Google Shape;231;p21">
            <a:extLst>
              <a:ext uri="{FF2B5EF4-FFF2-40B4-BE49-F238E27FC236}">
                <a16:creationId xmlns:a16="http://schemas.microsoft.com/office/drawing/2014/main" id="{1EEEF43E-A3FD-237E-65F0-5FE1778B61F4}"/>
              </a:ext>
            </a:extLst>
          </p:cNvPr>
          <p:cNvSpPr txBox="1"/>
          <p:nvPr userDrawn="1"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Pause 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rgbClr val="FFFFFF"/>
                </a:solidFill>
                <a:latin typeface="Poppins"/>
                <a:ea typeface="Poppins Light"/>
                <a:cs typeface="Poppins"/>
                <a:sym typeface="Poppins"/>
              </a:rPr>
              <a:t>responda</a:t>
            </a:r>
            <a:endParaRPr lang="pt-BR" sz="2333" b="0" i="0" u="none" strike="noStrike" cap="none" noProof="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374130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 preserve="1" userDrawn="1">
  <p:cSld name="3_Atividade_Resposta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62;p38">
            <a:extLst>
              <a:ext uri="{FF2B5EF4-FFF2-40B4-BE49-F238E27FC236}">
                <a16:creationId xmlns:a16="http://schemas.microsoft.com/office/drawing/2014/main" id="{7689DC06-EAE3-38FF-04B9-B5AC70E62C0A}"/>
              </a:ext>
            </a:extLst>
          </p:cNvPr>
          <p:cNvSpPr txBox="1"/>
          <p:nvPr userDrawn="1"/>
        </p:nvSpPr>
        <p:spPr>
          <a:xfrm>
            <a:off x="3305837" y="5938617"/>
            <a:ext cx="6190494" cy="246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 noProof="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</a:t>
            </a:r>
            <a:endParaRPr lang="pt-BR" sz="1200" b="0" i="0" u="none" strike="noStrike" cap="none" noProof="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644FA7C-8B7D-7E51-0B73-7BDE8ED2A9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2047" y="5795955"/>
            <a:ext cx="363559" cy="436271"/>
          </a:xfrm>
          <a:prstGeom prst="rect">
            <a:avLst/>
          </a:prstGeom>
        </p:spPr>
      </p:pic>
      <p:sp>
        <p:nvSpPr>
          <p:cNvPr id="17" name="Google Shape;550;p38">
            <a:extLst>
              <a:ext uri="{FF2B5EF4-FFF2-40B4-BE49-F238E27FC236}">
                <a16:creationId xmlns:a16="http://schemas.microsoft.com/office/drawing/2014/main" id="{22DB1641-662F-0F15-0F05-AB19823A1C94}"/>
              </a:ext>
            </a:extLst>
          </p:cNvPr>
          <p:cNvSpPr/>
          <p:nvPr userDrawn="1"/>
        </p:nvSpPr>
        <p:spPr>
          <a:xfrm>
            <a:off x="2883290" y="2029006"/>
            <a:ext cx="4046900" cy="3616933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Google Shape;552;p38">
            <a:extLst>
              <a:ext uri="{FF2B5EF4-FFF2-40B4-BE49-F238E27FC236}">
                <a16:creationId xmlns:a16="http://schemas.microsoft.com/office/drawing/2014/main" id="{6499F285-1A38-F587-30AE-F87C7C508E35}"/>
              </a:ext>
            </a:extLst>
          </p:cNvPr>
          <p:cNvSpPr/>
          <p:nvPr userDrawn="1"/>
        </p:nvSpPr>
        <p:spPr>
          <a:xfrm>
            <a:off x="7220006" y="2029006"/>
            <a:ext cx="4046900" cy="3616933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Google Shape;555;p38">
            <a:extLst>
              <a:ext uri="{FF2B5EF4-FFF2-40B4-BE49-F238E27FC236}">
                <a16:creationId xmlns:a16="http://schemas.microsoft.com/office/drawing/2014/main" id="{2BF08877-A4A6-A343-7ADA-9CCC985A9343}"/>
              </a:ext>
            </a:extLst>
          </p:cNvPr>
          <p:cNvSpPr txBox="1"/>
          <p:nvPr userDrawn="1"/>
        </p:nvSpPr>
        <p:spPr>
          <a:xfrm>
            <a:off x="2883290" y="2509149"/>
            <a:ext cx="4046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noProof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</a:p>
        </p:txBody>
      </p:sp>
      <p:sp>
        <p:nvSpPr>
          <p:cNvPr id="20" name="Google Shape;556;p38">
            <a:extLst>
              <a:ext uri="{FF2B5EF4-FFF2-40B4-BE49-F238E27FC236}">
                <a16:creationId xmlns:a16="http://schemas.microsoft.com/office/drawing/2014/main" id="{06DCDA04-B510-0D6E-F21C-78BC9B40087E}"/>
              </a:ext>
            </a:extLst>
          </p:cNvPr>
          <p:cNvSpPr txBox="1"/>
          <p:nvPr userDrawn="1"/>
        </p:nvSpPr>
        <p:spPr>
          <a:xfrm>
            <a:off x="7220007" y="2509149"/>
            <a:ext cx="40468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noProof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</a:p>
        </p:txBody>
      </p:sp>
      <p:sp>
        <p:nvSpPr>
          <p:cNvPr id="21" name="Google Shape;551;p38">
            <a:extLst>
              <a:ext uri="{FF2B5EF4-FFF2-40B4-BE49-F238E27FC236}">
                <a16:creationId xmlns:a16="http://schemas.microsoft.com/office/drawing/2014/main" id="{7E6A8E0A-9183-FB50-4A81-66F4D7EDD5E7}"/>
              </a:ext>
            </a:extLst>
          </p:cNvPr>
          <p:cNvSpPr/>
          <p:nvPr userDrawn="1"/>
        </p:nvSpPr>
        <p:spPr>
          <a:xfrm rot="10800000">
            <a:off x="4522940" y="1517749"/>
            <a:ext cx="767598" cy="84949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553;p38">
            <a:extLst>
              <a:ext uri="{FF2B5EF4-FFF2-40B4-BE49-F238E27FC236}">
                <a16:creationId xmlns:a16="http://schemas.microsoft.com/office/drawing/2014/main" id="{4D2C6640-A50D-4F35-EF25-B49D864B9245}"/>
              </a:ext>
            </a:extLst>
          </p:cNvPr>
          <p:cNvSpPr/>
          <p:nvPr userDrawn="1"/>
        </p:nvSpPr>
        <p:spPr>
          <a:xfrm rot="10800000">
            <a:off x="8859658" y="1517749"/>
            <a:ext cx="767598" cy="84949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9449EC55-4306-D15B-633C-ED1C9E0800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5052" y="1652486"/>
            <a:ext cx="613321" cy="417058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1BEFF44C-BE6A-E4AA-DF79-EF09D79012A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5782" y="1632977"/>
            <a:ext cx="450550" cy="440964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BAEFC0D-FA2F-0DF5-23AB-8ED20D56DD5A}"/>
              </a:ext>
            </a:extLst>
          </p:cNvPr>
          <p:cNvSpPr/>
          <p:nvPr userDrawn="1"/>
        </p:nvSpPr>
        <p:spPr>
          <a:xfrm>
            <a:off x="200184" y="22452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207;p37">
            <a:extLst>
              <a:ext uri="{FF2B5EF4-FFF2-40B4-BE49-F238E27FC236}">
                <a16:creationId xmlns:a16="http://schemas.microsoft.com/office/drawing/2014/main" id="{70EE04CC-FD63-718C-1216-3C21EB20D0E0}"/>
              </a:ext>
            </a:extLst>
          </p:cNvPr>
          <p:cNvSpPr txBox="1"/>
          <p:nvPr userDrawn="1"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18979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 preserve="1" userDrawn="1">
  <p:cSld name="2_Atividade_embranco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F0416F6-09BD-9981-848C-F13A11B9AE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/>
          </a:p>
        </p:txBody>
      </p:sp>
      <p:sp>
        <p:nvSpPr>
          <p:cNvPr id="4" name="Espaço Reservado para Mídia 3">
            <a:extLst>
              <a:ext uri="{FF2B5EF4-FFF2-40B4-BE49-F238E27FC236}">
                <a16:creationId xmlns:a16="http://schemas.microsoft.com/office/drawing/2014/main" id="{93F045AC-FA97-1D94-5C54-6BC8931024B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8226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03;p21">
            <a:extLst>
              <a:ext uri="{FF2B5EF4-FFF2-40B4-BE49-F238E27FC236}">
                <a16:creationId xmlns:a16="http://schemas.microsoft.com/office/drawing/2014/main" id="{C2D53C5C-653B-C871-5FD5-4980C285D26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0" y="12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DC31020-F09C-2C2B-A350-55980DF885A2}"/>
              </a:ext>
            </a:extLst>
          </p:cNvPr>
          <p:cNvSpPr/>
          <p:nvPr userDrawn="1"/>
        </p:nvSpPr>
        <p:spPr>
          <a:xfrm>
            <a:off x="5260792" y="304269"/>
            <a:ext cx="6553729" cy="556821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Google Shape;146;p12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A24CA4-AA45-E069-3331-6863E624A858}"/>
              </a:ext>
            </a:extLst>
          </p:cNvPr>
          <p:cNvSpPr txBox="1"/>
          <p:nvPr userDrawn="1"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 userDrawn="1">
  <p:cSld name="5_OqueAprendemos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316;p32">
            <a:extLst>
              <a:ext uri="{FF2B5EF4-FFF2-40B4-BE49-F238E27FC236}">
                <a16:creationId xmlns:a16="http://schemas.microsoft.com/office/drawing/2014/main" id="{7C738FF4-2E01-8DDD-6839-4D26CF39941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7961" t="437" r="51208"/>
          <a:stretch/>
        </p:blipFill>
        <p:spPr>
          <a:xfrm>
            <a:off x="0" y="0"/>
            <a:ext cx="37752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4" name="Google Shape;689;p48">
            <a:extLst>
              <a:ext uri="{FF2B5EF4-FFF2-40B4-BE49-F238E27FC236}">
                <a16:creationId xmlns:a16="http://schemas.microsoft.com/office/drawing/2014/main" id="{3A19ED95-0334-F47C-AF86-3309C91852AB}"/>
              </a:ext>
            </a:extLst>
          </p:cNvPr>
          <p:cNvSpPr txBox="1">
            <a:spLocks/>
          </p:cNvSpPr>
          <p:nvPr userDrawn="1"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40"/>
              </a:spcBef>
              <a:buSzPts val="1200"/>
              <a:buFont typeface="Arial" pitchFamily="34" charset="0"/>
              <a:buNone/>
            </a:pPr>
            <a:r>
              <a:rPr lang="pt-BR" sz="8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© Getty </a:t>
            </a:r>
            <a:r>
              <a:rPr lang="pt-BR" sz="80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Images</a:t>
            </a:r>
            <a:endParaRPr lang="pt-BR" sz="80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" name="Google Shape;345;p32">
            <a:extLst>
              <a:ext uri="{FF2B5EF4-FFF2-40B4-BE49-F238E27FC236}">
                <a16:creationId xmlns:a16="http://schemas.microsoft.com/office/drawing/2014/main" id="{D958A6C2-8B71-D5A0-1C68-95723A4C4FE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" name="Google Shape;347;p32">
            <a:extLst>
              <a:ext uri="{FF2B5EF4-FFF2-40B4-BE49-F238E27FC236}">
                <a16:creationId xmlns:a16="http://schemas.microsoft.com/office/drawing/2014/main" id="{D60E57C9-84D4-8D99-0D6C-C59B32F7C63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" name="Google Shape;349;p32">
            <a:extLst>
              <a:ext uri="{FF2B5EF4-FFF2-40B4-BE49-F238E27FC236}">
                <a16:creationId xmlns:a16="http://schemas.microsoft.com/office/drawing/2014/main" id="{142C7AEA-387E-A052-1D08-8A416B8497B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" name="Google Shape;233;p39">
            <a:extLst>
              <a:ext uri="{FF2B5EF4-FFF2-40B4-BE49-F238E27FC236}">
                <a16:creationId xmlns:a16="http://schemas.microsoft.com/office/drawing/2014/main" id="{23D223AE-6B47-5244-85DA-E25526DF3862}"/>
              </a:ext>
            </a:extLst>
          </p:cNvPr>
          <p:cNvSpPr txBox="1"/>
          <p:nvPr userDrawn="1"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35;p39">
            <a:extLst>
              <a:ext uri="{FF2B5EF4-FFF2-40B4-BE49-F238E27FC236}">
                <a16:creationId xmlns:a16="http://schemas.microsoft.com/office/drawing/2014/main" id="{607A1E13-022D-D9F1-086C-636AF8EAE3BA}"/>
              </a:ext>
            </a:extLst>
          </p:cNvPr>
          <p:cNvSpPr txBox="1"/>
          <p:nvPr userDrawn="1"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37;p39">
            <a:extLst>
              <a:ext uri="{FF2B5EF4-FFF2-40B4-BE49-F238E27FC236}">
                <a16:creationId xmlns:a16="http://schemas.microsoft.com/office/drawing/2014/main" id="{2E8F90B6-2731-530A-A552-FC88DAE9F7F9}"/>
              </a:ext>
            </a:extLst>
          </p:cNvPr>
          <p:cNvSpPr txBox="1"/>
          <p:nvPr userDrawn="1"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BE2669-C701-CF93-6C9B-1A151924C387}"/>
              </a:ext>
            </a:extLst>
          </p:cNvPr>
          <p:cNvSpPr txBox="1"/>
          <p:nvPr userDrawn="1"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56BF0D3-6D57-E684-3D8D-018282421870}"/>
              </a:ext>
            </a:extLst>
          </p:cNvPr>
          <p:cNvSpPr/>
          <p:nvPr userDrawn="1"/>
        </p:nvSpPr>
        <p:spPr>
          <a:xfrm>
            <a:off x="1827147" y="369589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Google Shape;353;p32">
            <a:extLst>
              <a:ext uri="{FF2B5EF4-FFF2-40B4-BE49-F238E27FC236}">
                <a16:creationId xmlns:a16="http://schemas.microsoft.com/office/drawing/2014/main" id="{39D4C37B-E867-0D36-A4E9-1DE1FC983F48}"/>
              </a:ext>
            </a:extLst>
          </p:cNvPr>
          <p:cNvSpPr txBox="1"/>
          <p:nvPr userDrawn="1"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lang="pt-BR" sz="2333" b="0" i="0" u="none" strike="noStrike" cap="none" noProof="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05588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 userDrawn="1">
  <p:cSld name="4_Atividade_Seminario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;p4">
            <a:extLst>
              <a:ext uri="{FF2B5EF4-FFF2-40B4-BE49-F238E27FC236}">
                <a16:creationId xmlns:a16="http://schemas.microsoft.com/office/drawing/2014/main" id="{96D0DE7F-92AF-A646-0FF2-A77FC5D2471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;p4">
            <a:extLst>
              <a:ext uri="{FF2B5EF4-FFF2-40B4-BE49-F238E27FC236}">
                <a16:creationId xmlns:a16="http://schemas.microsoft.com/office/drawing/2014/main" id="{79131217-7207-B376-583C-711407C3744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 txBox="1">
            <a:spLocks noGrp="1"/>
          </p:cNvSpPr>
          <p:nvPr>
            <p:ph type="body" idx="5"/>
          </p:nvPr>
        </p:nvSpPr>
        <p:spPr>
          <a:xfrm>
            <a:off x="1450528" y="1854200"/>
            <a:ext cx="8305873" cy="3822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" name="Google Shape;624;p42">
            <a:extLst>
              <a:ext uri="{FF2B5EF4-FFF2-40B4-BE49-F238E27FC236}">
                <a16:creationId xmlns:a16="http://schemas.microsoft.com/office/drawing/2014/main" id="{690D8EE8-5EA4-845E-6984-D0C986969508}"/>
              </a:ext>
            </a:extLst>
          </p:cNvPr>
          <p:cNvSpPr txBox="1"/>
          <p:nvPr userDrawn="1"/>
        </p:nvSpPr>
        <p:spPr>
          <a:xfrm>
            <a:off x="1450528" y="1180890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noProof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r>
              <a:rPr lang="en-US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59309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 preserve="1" userDrawn="1">
  <p:cSld name="2_4. Exposição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7E4D5C0-2DFD-930A-8F66-D0EE5037040E}"/>
              </a:ext>
            </a:extLst>
          </p:cNvPr>
          <p:cNvSpPr txBox="1"/>
          <p:nvPr userDrawn="1"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1358944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 preserve="1" userDrawn="1">
  <p:cSld name="1_3. Conteud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3;p10">
            <a:extLst>
              <a:ext uri="{FF2B5EF4-FFF2-40B4-BE49-F238E27FC236}">
                <a16:creationId xmlns:a16="http://schemas.microsoft.com/office/drawing/2014/main" id="{E45E975B-4DB9-7BB6-9FF1-63E53B5F386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822" r="42786"/>
          <a:stretch/>
        </p:blipFill>
        <p:spPr>
          <a:xfrm>
            <a:off x="2" y="0"/>
            <a:ext cx="30956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7077C90-2A5C-F5A6-9808-1BAD06145827}"/>
              </a:ext>
            </a:extLst>
          </p:cNvPr>
          <p:cNvSpPr/>
          <p:nvPr userDrawn="1"/>
        </p:nvSpPr>
        <p:spPr>
          <a:xfrm>
            <a:off x="200184" y="22452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629DCF7-1539-BE5D-0ABA-0CD8677BB09A}"/>
              </a:ext>
            </a:extLst>
          </p:cNvPr>
          <p:cNvSpPr txBox="1"/>
          <p:nvPr userDrawn="1"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314794-8596-FE32-82EB-2F568421EAEA}"/>
              </a:ext>
            </a:extLst>
          </p:cNvPr>
          <p:cNvSpPr txBox="1"/>
          <p:nvPr userDrawn="1"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4A6E52-4093-C5F1-BF0B-4A76F9BCA87A}"/>
              </a:ext>
            </a:extLst>
          </p:cNvPr>
          <p:cNvSpPr txBox="1"/>
          <p:nvPr userDrawn="1"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5" name="Google Shape;69;p32">
            <a:extLst>
              <a:ext uri="{FF2B5EF4-FFF2-40B4-BE49-F238E27FC236}">
                <a16:creationId xmlns:a16="http://schemas.microsoft.com/office/drawing/2014/main" id="{07D774CC-AEE0-AAA5-E348-DAFD716E0666}"/>
              </a:ext>
            </a:extLst>
          </p:cNvPr>
          <p:cNvSpPr txBox="1"/>
          <p:nvPr userDrawn="1"/>
        </p:nvSpPr>
        <p:spPr>
          <a:xfrm>
            <a:off x="602058" y="879021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lang="pt-BR"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2B528574-1FD1-7B70-2B2F-0F4F07E103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Poppins" pitchFamily="2" charset="77"/>
                <a:cs typeface="Poppins" pitchFamily="2" charset="77"/>
              </a:defRPr>
            </a:lvl1pPr>
            <a:lvl2pPr>
              <a:defRPr sz="1600" b="0" i="0">
                <a:latin typeface="Poppins" pitchFamily="2" charset="77"/>
                <a:cs typeface="Poppins" pitchFamily="2" charset="77"/>
              </a:defRPr>
            </a:lvl2pPr>
            <a:lvl3pPr>
              <a:defRPr sz="1600" b="0" i="0">
                <a:latin typeface="Poppins" pitchFamily="2" charset="77"/>
                <a:cs typeface="Poppins" pitchFamily="2" charset="77"/>
              </a:defRPr>
            </a:lvl3pPr>
            <a:lvl4pPr>
              <a:defRPr sz="1600" b="0" i="0">
                <a:latin typeface="Poppins" pitchFamily="2" charset="77"/>
                <a:cs typeface="Poppins" pitchFamily="2" charset="77"/>
              </a:defRPr>
            </a:lvl4pPr>
            <a:lvl5pPr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endParaRPr lang="pt-BR"/>
          </a:p>
        </p:txBody>
      </p:sp>
      <p:sp>
        <p:nvSpPr>
          <p:cNvPr id="11" name="Espaço Reservado para Texto 9">
            <a:extLst>
              <a:ext uri="{FF2B5EF4-FFF2-40B4-BE49-F238E27FC236}">
                <a16:creationId xmlns:a16="http://schemas.microsoft.com/office/drawing/2014/main" id="{ACFD55BC-1BD9-04E3-9059-B617F5BF54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Poppins" pitchFamily="2" charset="77"/>
                <a:cs typeface="Poppins" pitchFamily="2" charset="77"/>
              </a:defRPr>
            </a:lvl1pPr>
            <a:lvl2pPr>
              <a:defRPr sz="1600" b="0" i="0">
                <a:latin typeface="Poppins" pitchFamily="2" charset="77"/>
                <a:cs typeface="Poppins" pitchFamily="2" charset="77"/>
              </a:defRPr>
            </a:lvl2pPr>
            <a:lvl3pPr>
              <a:defRPr sz="1600" b="0" i="0">
                <a:latin typeface="Poppins" pitchFamily="2" charset="77"/>
                <a:cs typeface="Poppins" pitchFamily="2" charset="77"/>
              </a:defRPr>
            </a:lvl3pPr>
            <a:lvl4pPr>
              <a:defRPr sz="1600" b="0" i="0">
                <a:latin typeface="Poppins" pitchFamily="2" charset="77"/>
                <a:cs typeface="Poppins" pitchFamily="2" charset="77"/>
              </a:defRPr>
            </a:lvl4pPr>
            <a:lvl5pPr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6720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48" r:id="rId2"/>
    <p:sldLayoutId id="2147483731" r:id="rId3"/>
    <p:sldLayoutId id="2147483710" r:id="rId4"/>
    <p:sldLayoutId id="2147483713" r:id="rId5"/>
    <p:sldLayoutId id="2147483714" r:id="rId6"/>
    <p:sldLayoutId id="2147483701" r:id="rId7"/>
    <p:sldLayoutId id="2147483658" r:id="rId8"/>
    <p:sldLayoutId id="2147483705" r:id="rId9"/>
    <p:sldLayoutId id="2147483707" r:id="rId10"/>
    <p:sldLayoutId id="214748373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3128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provatotal.com.br/interpretacao-graficos-tabelas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emf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32.sv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886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>
          <a:extLst>
            <a:ext uri="{FF2B5EF4-FFF2-40B4-BE49-F238E27FC236}">
              <a16:creationId xmlns:a16="http://schemas.microsoft.com/office/drawing/2014/main" id="{5CA9778E-22DA-0924-0287-58ECA4587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43;p43">
            <a:extLst>
              <a:ext uri="{FF2B5EF4-FFF2-40B4-BE49-F238E27FC236}">
                <a16:creationId xmlns:a16="http://schemas.microsoft.com/office/drawing/2014/main" id="{CD2B6337-A3C5-CFD3-FFEC-60AAA8321C68}"/>
              </a:ext>
            </a:extLst>
          </p:cNvPr>
          <p:cNvSpPr txBox="1">
            <a:spLocks/>
          </p:cNvSpPr>
          <p:nvPr/>
        </p:nvSpPr>
        <p:spPr>
          <a:xfrm>
            <a:off x="613181" y="2135339"/>
            <a:ext cx="6814747" cy="46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Escolha do visual adequado</a:t>
            </a:r>
          </a:p>
        </p:txBody>
      </p:sp>
      <p:sp>
        <p:nvSpPr>
          <p:cNvPr id="8" name="Google Shape;644;p43">
            <a:extLst>
              <a:ext uri="{FF2B5EF4-FFF2-40B4-BE49-F238E27FC236}">
                <a16:creationId xmlns:a16="http://schemas.microsoft.com/office/drawing/2014/main" id="{9BC0B258-E852-D349-8299-EF478B09C29A}"/>
              </a:ext>
            </a:extLst>
          </p:cNvPr>
          <p:cNvSpPr txBox="1">
            <a:spLocks/>
          </p:cNvSpPr>
          <p:nvPr/>
        </p:nvSpPr>
        <p:spPr>
          <a:xfrm>
            <a:off x="613179" y="3848773"/>
            <a:ext cx="6814747" cy="33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Código da aula: DADOSANO1C3B2S9A2</a:t>
            </a:r>
            <a:endParaRPr kumimoji="0" lang="pt-BR" sz="16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9" name="Google Shape;643;p43">
            <a:extLst>
              <a:ext uri="{FF2B5EF4-FFF2-40B4-BE49-F238E27FC236}">
                <a16:creationId xmlns:a16="http://schemas.microsoft.com/office/drawing/2014/main" id="{9B7CE347-9848-07CB-4BC1-050DBDF9C044}"/>
              </a:ext>
            </a:extLst>
          </p:cNvPr>
          <p:cNvSpPr txBox="1">
            <a:spLocks/>
          </p:cNvSpPr>
          <p:nvPr/>
        </p:nvSpPr>
        <p:spPr>
          <a:xfrm>
            <a:off x="613180" y="1250419"/>
            <a:ext cx="6814747" cy="553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161F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Storytelling de dados</a:t>
            </a:r>
          </a:p>
        </p:txBody>
      </p:sp>
      <p:sp>
        <p:nvSpPr>
          <p:cNvPr id="10" name="Google Shape;644;p43">
            <a:extLst>
              <a:ext uri="{FF2B5EF4-FFF2-40B4-BE49-F238E27FC236}">
                <a16:creationId xmlns:a16="http://schemas.microsoft.com/office/drawing/2014/main" id="{74CB8199-3A00-4601-6C44-58010405E004}"/>
              </a:ext>
            </a:extLst>
          </p:cNvPr>
          <p:cNvSpPr txBox="1">
            <a:spLocks/>
          </p:cNvSpPr>
          <p:nvPr/>
        </p:nvSpPr>
        <p:spPr>
          <a:xfrm>
            <a:off x="613180" y="3041031"/>
            <a:ext cx="6814747" cy="33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dk1"/>
              </a:buClr>
              <a:buSzPts val="2500"/>
              <a:buNone/>
              <a:defRPr sz="1800">
                <a:solidFill>
                  <a:srgbClr val="BFBFBF"/>
                </a:solidFill>
                <a:latin typeface="Poppins Medium" panose="00000600000000000000" pitchFamily="2" charset="0"/>
                <a:ea typeface="Poppins"/>
                <a:cs typeface="Poppins Medium" panose="00000600000000000000" pitchFamily="2" charset="0"/>
              </a:defRPr>
            </a:lvl1pPr>
            <a:lvl2pPr marL="914400" indent="-406400">
              <a:spcBef>
                <a:spcPts val="560"/>
              </a:spcBef>
              <a:buClr>
                <a:schemeClr val="dk1"/>
              </a:buClr>
              <a:buSzPts val="2800"/>
              <a:buChar char="–"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indent="-381000">
              <a:spcBef>
                <a:spcPts val="480"/>
              </a:spcBef>
              <a:buClr>
                <a:schemeClr val="dk1"/>
              </a:buClr>
              <a:buSzPts val="2400"/>
              <a:buChar char="•"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indent="-355600">
              <a:spcBef>
                <a:spcPts val="400"/>
              </a:spcBef>
              <a:buClr>
                <a:schemeClr val="dk1"/>
              </a:buClr>
              <a:buSzPts val="2000"/>
              <a:buChar char="–"/>
              <a:defRPr sz="2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indent="-355600">
              <a:spcBef>
                <a:spcPts val="400"/>
              </a:spcBef>
              <a:buClr>
                <a:schemeClr val="dk1"/>
              </a:buClr>
              <a:buSzPts val="2000"/>
              <a:buChar char="»"/>
              <a:defRPr sz="2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indent="-355600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indent="-355600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indent="-355600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indent="-355600">
              <a:spcBef>
                <a:spcPts val="400"/>
              </a:spcBef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r>
              <a:rPr lang="pt-BR" dirty="0">
                <a:sym typeface="Poppins"/>
              </a:rPr>
              <a:t>Aula 2: Evitar gráficos inadequados</a:t>
            </a:r>
          </a:p>
        </p:txBody>
      </p:sp>
    </p:spTree>
    <p:extLst>
      <p:ext uri="{BB962C8B-B14F-4D97-AF65-F5344CB8AC3E}">
        <p14:creationId xmlns:p14="http://schemas.microsoft.com/office/powerpoint/2010/main" val="1780233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6A3A-CC65-31B7-CA8A-1CA863DAE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DDC5C1E7-3FA0-5658-233D-D99B89D5E6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99" r="949"/>
          <a:stretch/>
        </p:blipFill>
        <p:spPr>
          <a:xfrm>
            <a:off x="-5171" y="1383424"/>
            <a:ext cx="12197171" cy="4987270"/>
          </a:xfrm>
          <a:prstGeom prst="rect">
            <a:avLst/>
          </a:prstGeom>
        </p:spPr>
      </p:pic>
      <p:sp>
        <p:nvSpPr>
          <p:cNvPr id="11" name="Google Shape;298;p3">
            <a:extLst>
              <a:ext uri="{FF2B5EF4-FFF2-40B4-BE49-F238E27FC236}">
                <a16:creationId xmlns:a16="http://schemas.microsoft.com/office/drawing/2014/main" id="{D42CCE8C-384C-C917-DBB4-8621FBC35A1C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02;p3">
            <a:extLst>
              <a:ext uri="{FF2B5EF4-FFF2-40B4-BE49-F238E27FC236}">
                <a16:creationId xmlns:a16="http://schemas.microsoft.com/office/drawing/2014/main" id="{06EAC4EB-893C-BDA9-48F0-B0CA1E24614A}"/>
              </a:ext>
            </a:extLst>
          </p:cNvPr>
          <p:cNvSpPr/>
          <p:nvPr/>
        </p:nvSpPr>
        <p:spPr>
          <a:xfrm rot="-4951757">
            <a:off x="7428646" y="2359254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03;p3">
            <a:extLst>
              <a:ext uri="{FF2B5EF4-FFF2-40B4-BE49-F238E27FC236}">
                <a16:creationId xmlns:a16="http://schemas.microsoft.com/office/drawing/2014/main" id="{D6FDCBC1-521E-3344-4C12-B4237CEB44BA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08;p3">
            <a:extLst>
              <a:ext uri="{FF2B5EF4-FFF2-40B4-BE49-F238E27FC236}">
                <a16:creationId xmlns:a16="http://schemas.microsoft.com/office/drawing/2014/main" id="{D91E6C93-D8AB-15F3-F688-69E79D750F6C}"/>
              </a:ext>
            </a:extLst>
          </p:cNvPr>
          <p:cNvSpPr/>
          <p:nvPr/>
        </p:nvSpPr>
        <p:spPr>
          <a:xfrm rot="4160691">
            <a:off x="9504311" y="4023267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3960A873-CAD3-D704-071B-82A3F2EAA2FC}"/>
              </a:ext>
            </a:extLst>
          </p:cNvPr>
          <p:cNvGrpSpPr/>
          <p:nvPr/>
        </p:nvGrpSpPr>
        <p:grpSpPr>
          <a:xfrm>
            <a:off x="673557" y="1714872"/>
            <a:ext cx="11429063" cy="4353397"/>
            <a:chOff x="880938" y="2486044"/>
            <a:chExt cx="17143595" cy="6530095"/>
          </a:xfrm>
          <a:solidFill>
            <a:srgbClr val="3E3593"/>
          </a:solidFill>
        </p:grpSpPr>
        <p:sp>
          <p:nvSpPr>
            <p:cNvPr id="3" name="Google Shape;290;p3">
              <a:extLst>
                <a:ext uri="{FF2B5EF4-FFF2-40B4-BE49-F238E27FC236}">
                  <a16:creationId xmlns:a16="http://schemas.microsoft.com/office/drawing/2014/main" id="{3ADB8C19-1880-9731-A301-131BE38086FC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91;p3">
              <a:extLst>
                <a:ext uri="{FF2B5EF4-FFF2-40B4-BE49-F238E27FC236}">
                  <a16:creationId xmlns:a16="http://schemas.microsoft.com/office/drawing/2014/main" id="{D55F48C8-C4E0-8869-5873-4598AE3663DD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92;p3">
              <a:extLst>
                <a:ext uri="{FF2B5EF4-FFF2-40B4-BE49-F238E27FC236}">
                  <a16:creationId xmlns:a16="http://schemas.microsoft.com/office/drawing/2014/main" id="{8C13F825-7E37-C4CE-EE2F-854055582FD2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94;p3">
              <a:extLst>
                <a:ext uri="{FF2B5EF4-FFF2-40B4-BE49-F238E27FC236}">
                  <a16:creationId xmlns:a16="http://schemas.microsoft.com/office/drawing/2014/main" id="{1C73A6F1-BBBF-476B-F713-81585D7FB177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95;p3">
              <a:extLst>
                <a:ext uri="{FF2B5EF4-FFF2-40B4-BE49-F238E27FC236}">
                  <a16:creationId xmlns:a16="http://schemas.microsoft.com/office/drawing/2014/main" id="{5E8C0B1B-10B3-0AAA-A01F-C572A79C7368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6;p3">
              <a:extLst>
                <a:ext uri="{FF2B5EF4-FFF2-40B4-BE49-F238E27FC236}">
                  <a16:creationId xmlns:a16="http://schemas.microsoft.com/office/drawing/2014/main" id="{24AF8E45-CCE9-B8A3-BFCE-5318765DB2A0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7;p3">
              <a:extLst>
                <a:ext uri="{FF2B5EF4-FFF2-40B4-BE49-F238E27FC236}">
                  <a16:creationId xmlns:a16="http://schemas.microsoft.com/office/drawing/2014/main" id="{0ADECE8E-B6D4-3BAC-E5A6-5909C4D82F1D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9;p3">
              <a:extLst>
                <a:ext uri="{FF2B5EF4-FFF2-40B4-BE49-F238E27FC236}">
                  <a16:creationId xmlns:a16="http://schemas.microsoft.com/office/drawing/2014/main" id="{4DD19036-9EED-A659-79CE-50FDF78008B6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00;p3">
              <a:extLst>
                <a:ext uri="{FF2B5EF4-FFF2-40B4-BE49-F238E27FC236}">
                  <a16:creationId xmlns:a16="http://schemas.microsoft.com/office/drawing/2014/main" id="{CB0CC9BD-7363-93CF-EEEE-2DD3F721B13D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01;p3">
              <a:extLst>
                <a:ext uri="{FF2B5EF4-FFF2-40B4-BE49-F238E27FC236}">
                  <a16:creationId xmlns:a16="http://schemas.microsoft.com/office/drawing/2014/main" id="{007A9CA4-A2D1-D25E-F163-58C12F1DE3C5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4;p3">
              <a:extLst>
                <a:ext uri="{FF2B5EF4-FFF2-40B4-BE49-F238E27FC236}">
                  <a16:creationId xmlns:a16="http://schemas.microsoft.com/office/drawing/2014/main" id="{3907C1F2-7AC2-02D9-9854-7BF2DBB1FC3B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5;p3">
              <a:extLst>
                <a:ext uri="{FF2B5EF4-FFF2-40B4-BE49-F238E27FC236}">
                  <a16:creationId xmlns:a16="http://schemas.microsoft.com/office/drawing/2014/main" id="{148FD171-48C7-DA90-14D1-2A56AF8B562A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6;p3">
              <a:extLst>
                <a:ext uri="{FF2B5EF4-FFF2-40B4-BE49-F238E27FC236}">
                  <a16:creationId xmlns:a16="http://schemas.microsoft.com/office/drawing/2014/main" id="{145031F9-49EA-60CD-9ADD-84B0DD733A38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7;p3">
              <a:extLst>
                <a:ext uri="{FF2B5EF4-FFF2-40B4-BE49-F238E27FC236}">
                  <a16:creationId xmlns:a16="http://schemas.microsoft.com/office/drawing/2014/main" id="{CDF183F0-30DD-7805-609C-84E7CB79A767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09;p3">
              <a:extLst>
                <a:ext uri="{FF2B5EF4-FFF2-40B4-BE49-F238E27FC236}">
                  <a16:creationId xmlns:a16="http://schemas.microsoft.com/office/drawing/2014/main" id="{92C4CF39-C73B-2DDD-8E0D-F0E256483889}"/>
                </a:ext>
              </a:extLst>
            </p:cNvPr>
            <p:cNvSpPr/>
            <p:nvPr/>
          </p:nvSpPr>
          <p:spPr>
            <a:xfrm rot="-9744855">
              <a:off x="17708747" y="475701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310;p3">
              <a:extLst>
                <a:ext uri="{FF2B5EF4-FFF2-40B4-BE49-F238E27FC236}">
                  <a16:creationId xmlns:a16="http://schemas.microsoft.com/office/drawing/2014/main" id="{26EEDA5F-5D9A-48F0-33F9-7F3A875929FA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E3809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5" name="Google Shape;312;p3">
            <a:extLst>
              <a:ext uri="{FF2B5EF4-FFF2-40B4-BE49-F238E27FC236}">
                <a16:creationId xmlns:a16="http://schemas.microsoft.com/office/drawing/2014/main" id="{17DFFE66-4792-436C-B213-A9360B8628B1}"/>
              </a:ext>
            </a:extLst>
          </p:cNvPr>
          <p:cNvCxnSpPr>
            <a:cxnSpLocks/>
          </p:cNvCxnSpPr>
          <p:nvPr/>
        </p:nvCxnSpPr>
        <p:spPr>
          <a:xfrm>
            <a:off x="3201572" y="3321128"/>
            <a:ext cx="89" cy="132328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Google Shape;315;p3">
            <a:extLst>
              <a:ext uri="{FF2B5EF4-FFF2-40B4-BE49-F238E27FC236}">
                <a16:creationId xmlns:a16="http://schemas.microsoft.com/office/drawing/2014/main" id="{2045C307-CF01-C3A1-4693-65731953EAA9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17;p3">
            <a:extLst>
              <a:ext uri="{FF2B5EF4-FFF2-40B4-BE49-F238E27FC236}">
                <a16:creationId xmlns:a16="http://schemas.microsoft.com/office/drawing/2014/main" id="{4BAF0D1F-114C-BDBC-1269-CD3BA0A56589}"/>
              </a:ext>
            </a:extLst>
          </p:cNvPr>
          <p:cNvSpPr/>
          <p:nvPr/>
        </p:nvSpPr>
        <p:spPr>
          <a:xfrm>
            <a:off x="5874417" y="612475"/>
            <a:ext cx="536093" cy="53609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/>
                <a:sym typeface="Poppins"/>
              </a:rPr>
              <a:t>10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Calibri"/>
              <a:sym typeface="Arial"/>
            </a:endParaRPr>
          </a:p>
        </p:txBody>
      </p:sp>
      <p:cxnSp>
        <p:nvCxnSpPr>
          <p:cNvPr id="31" name="Google Shape;318;p3">
            <a:extLst>
              <a:ext uri="{FF2B5EF4-FFF2-40B4-BE49-F238E27FC236}">
                <a16:creationId xmlns:a16="http://schemas.microsoft.com/office/drawing/2014/main" id="{B11C36EB-F88D-D20A-A9A4-FA4A9BCD8631}"/>
              </a:ext>
            </a:extLst>
          </p:cNvPr>
          <p:cNvCxnSpPr>
            <a:cxnSpLocks/>
            <a:stCxn id="30" idx="4"/>
            <a:endCxn id="11" idx="7"/>
          </p:cNvCxnSpPr>
          <p:nvPr/>
        </p:nvCxnSpPr>
        <p:spPr>
          <a:xfrm flipH="1">
            <a:off x="6117556" y="1148568"/>
            <a:ext cx="24908" cy="558492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Google Shape;320;p3">
            <a:extLst>
              <a:ext uri="{FF2B5EF4-FFF2-40B4-BE49-F238E27FC236}">
                <a16:creationId xmlns:a16="http://schemas.microsoft.com/office/drawing/2014/main" id="{8BF56616-A552-5BEC-5582-FA1CD31D70E2}"/>
              </a:ext>
            </a:extLst>
          </p:cNvPr>
          <p:cNvSpPr/>
          <p:nvPr/>
        </p:nvSpPr>
        <p:spPr>
          <a:xfrm>
            <a:off x="8025148" y="1688132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/>
                <a:sym typeface="Poppins"/>
              </a:rPr>
              <a:t>11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21;p3">
            <a:extLst>
              <a:ext uri="{FF2B5EF4-FFF2-40B4-BE49-F238E27FC236}">
                <a16:creationId xmlns:a16="http://schemas.microsoft.com/office/drawing/2014/main" id="{7CF94897-084C-46A0-CED9-1E5D88584517}"/>
              </a:ext>
            </a:extLst>
          </p:cNvPr>
          <p:cNvCxnSpPr>
            <a:cxnSpLocks/>
            <a:stCxn id="33" idx="3"/>
            <a:endCxn id="15" idx="5"/>
          </p:cNvCxnSpPr>
          <p:nvPr/>
        </p:nvCxnSpPr>
        <p:spPr>
          <a:xfrm flipH="1">
            <a:off x="7617385" y="2145716"/>
            <a:ext cx="486272" cy="25467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7" name="Google Shape;324;p3">
            <a:extLst>
              <a:ext uri="{FF2B5EF4-FFF2-40B4-BE49-F238E27FC236}">
                <a16:creationId xmlns:a16="http://schemas.microsoft.com/office/drawing/2014/main" id="{5AEE0203-8DBB-1568-806C-DE0E372C1DA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8855734">
            <a:off x="2792036" y="287496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25;p3">
            <a:extLst>
              <a:ext uri="{FF2B5EF4-FFF2-40B4-BE49-F238E27FC236}">
                <a16:creationId xmlns:a16="http://schemas.microsoft.com/office/drawing/2014/main" id="{772C5D64-9F32-97DF-8741-DEF3CF044C2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6529663" y="557220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327;p3">
            <a:extLst>
              <a:ext uri="{FF2B5EF4-FFF2-40B4-BE49-F238E27FC236}">
                <a16:creationId xmlns:a16="http://schemas.microsoft.com/office/drawing/2014/main" id="{F7546EA8-0DBC-17B8-6BF8-CEA5244AF9A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7894326" y="1510794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A4D5401C-1EBD-71F9-BC58-E05E8443932A}"/>
              </a:ext>
            </a:extLst>
          </p:cNvPr>
          <p:cNvSpPr/>
          <p:nvPr/>
        </p:nvSpPr>
        <p:spPr>
          <a:xfrm>
            <a:off x="10174052" y="3851166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/>
                <a:sym typeface="Poppins"/>
              </a:rPr>
              <a:t>13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C89FB047-E465-A4A3-BAED-97BABB929097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579615" y="4119213"/>
            <a:ext cx="594436" cy="12271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7" name="Google Shape;334;p3">
            <a:extLst>
              <a:ext uri="{FF2B5EF4-FFF2-40B4-BE49-F238E27FC236}">
                <a16:creationId xmlns:a16="http://schemas.microsoft.com/office/drawing/2014/main" id="{E47F11A3-FFF8-83A2-0ED9-D7DB1A58E4C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8855734">
            <a:off x="5744531" y="435653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313;p3">
            <a:extLst>
              <a:ext uri="{FF2B5EF4-FFF2-40B4-BE49-F238E27FC236}">
                <a16:creationId xmlns:a16="http://schemas.microsoft.com/office/drawing/2014/main" id="{6B33E49A-AE01-BF06-76A5-DD9C0C83D9A9}"/>
              </a:ext>
            </a:extLst>
          </p:cNvPr>
          <p:cNvSpPr txBox="1"/>
          <p:nvPr/>
        </p:nvSpPr>
        <p:spPr>
          <a:xfrm>
            <a:off x="1409317" y="3795916"/>
            <a:ext cx="1291264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  <a:tabLst/>
              <a:defRPr/>
            </a:pPr>
            <a:r>
              <a:rPr kumimoji="0" lang="pt-BR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Escolha do visual adequado</a:t>
            </a:r>
            <a:endParaRPr kumimoji="0" sz="1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itchFamily="2" charset="77"/>
              <a:sym typeface="Arial"/>
            </a:endParaRPr>
          </a:p>
        </p:txBody>
      </p:sp>
      <p:sp>
        <p:nvSpPr>
          <p:cNvPr id="51" name="Google Shape;316;p3">
            <a:extLst>
              <a:ext uri="{FF2B5EF4-FFF2-40B4-BE49-F238E27FC236}">
                <a16:creationId xmlns:a16="http://schemas.microsoft.com/office/drawing/2014/main" id="{D2C92DA1-78F4-375E-C351-6C63EF33DD92}"/>
              </a:ext>
            </a:extLst>
          </p:cNvPr>
          <p:cNvSpPr txBox="1"/>
          <p:nvPr/>
        </p:nvSpPr>
        <p:spPr>
          <a:xfrm>
            <a:off x="4573547" y="5929206"/>
            <a:ext cx="2247454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  <a:tabLst/>
              <a:defRPr/>
            </a:pPr>
            <a:r>
              <a:rPr kumimoji="0" lang="pt-BR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Interpretando e explicando dados</a:t>
            </a:r>
            <a:endParaRPr kumimoji="0" lang="pt-BR" sz="1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itchFamily="2" charset="77"/>
              <a:sym typeface="Arial"/>
            </a:endParaRPr>
          </a:p>
        </p:txBody>
      </p:sp>
      <p:sp>
        <p:nvSpPr>
          <p:cNvPr id="52" name="Google Shape;319;p3">
            <a:extLst>
              <a:ext uri="{FF2B5EF4-FFF2-40B4-BE49-F238E27FC236}">
                <a16:creationId xmlns:a16="http://schemas.microsoft.com/office/drawing/2014/main" id="{39A2E87A-7CF6-0DBC-A920-1C9888541B98}"/>
              </a:ext>
            </a:extLst>
          </p:cNvPr>
          <p:cNvSpPr txBox="1"/>
          <p:nvPr/>
        </p:nvSpPr>
        <p:spPr>
          <a:xfrm>
            <a:off x="6542167" y="679931"/>
            <a:ext cx="3574290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  <a:tabLst/>
              <a:defRPr/>
            </a:pPr>
            <a:r>
              <a:rPr kumimoji="0" lang="pt-BR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Direcionando a atenção</a:t>
            </a:r>
            <a:endParaRPr kumimoji="0" lang="pt-BR" sz="1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itchFamily="2" charset="77"/>
              <a:sym typeface="Arial"/>
            </a:endParaRPr>
          </a:p>
        </p:txBody>
      </p:sp>
      <p:sp>
        <p:nvSpPr>
          <p:cNvPr id="53" name="Google Shape;322;p3">
            <a:extLst>
              <a:ext uri="{FF2B5EF4-FFF2-40B4-BE49-F238E27FC236}">
                <a16:creationId xmlns:a16="http://schemas.microsoft.com/office/drawing/2014/main" id="{53C86F2B-DB50-3286-5879-9A1B05A92E92}"/>
              </a:ext>
            </a:extLst>
          </p:cNvPr>
          <p:cNvSpPr txBox="1"/>
          <p:nvPr/>
        </p:nvSpPr>
        <p:spPr>
          <a:xfrm>
            <a:off x="8673545" y="1675838"/>
            <a:ext cx="1585184" cy="58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  <a:tabLst/>
              <a:defRPr/>
            </a:pPr>
            <a:r>
              <a:rPr kumimoji="0" lang="pt-BR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Construindo a narrativa</a:t>
            </a:r>
            <a:endParaRPr kumimoji="0" lang="pt-BR" sz="1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itchFamily="2" charset="77"/>
              <a:sym typeface="Arial"/>
            </a:endParaRPr>
          </a:p>
        </p:txBody>
      </p:sp>
      <p:sp>
        <p:nvSpPr>
          <p:cNvPr id="57" name="Google Shape;335;p3">
            <a:extLst>
              <a:ext uri="{FF2B5EF4-FFF2-40B4-BE49-F238E27FC236}">
                <a16:creationId xmlns:a16="http://schemas.microsoft.com/office/drawing/2014/main" id="{4C619FC5-F860-69FE-AB7D-CAD269EF3365}"/>
              </a:ext>
            </a:extLst>
          </p:cNvPr>
          <p:cNvSpPr txBox="1"/>
          <p:nvPr/>
        </p:nvSpPr>
        <p:spPr>
          <a:xfrm>
            <a:off x="10051772" y="4541212"/>
            <a:ext cx="1802461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  <a:tabLst/>
              <a:defRPr/>
            </a:pPr>
            <a:r>
              <a:rPr kumimoji="0" lang="pt-BR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Refinando a comunicação visual</a:t>
            </a:r>
            <a:endParaRPr kumimoji="0" lang="pt-BR" sz="1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itchFamily="2" charset="77"/>
              <a:sym typeface="Arial"/>
            </a:endParaRPr>
          </a:p>
        </p:txBody>
      </p:sp>
      <p:sp>
        <p:nvSpPr>
          <p:cNvPr id="27" name="Google Shape;314;p3">
            <a:extLst>
              <a:ext uri="{FF2B5EF4-FFF2-40B4-BE49-F238E27FC236}">
                <a16:creationId xmlns:a16="http://schemas.microsoft.com/office/drawing/2014/main" id="{A511C347-82F3-BD92-D7A9-D1CB36218654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/>
                <a:sym typeface="Poppins"/>
              </a:rPr>
              <a:t>12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323;p3">
            <a:extLst>
              <a:ext uri="{FF2B5EF4-FFF2-40B4-BE49-F238E27FC236}">
                <a16:creationId xmlns:a16="http://schemas.microsoft.com/office/drawing/2014/main" id="{317FAC63-5428-8ECC-BAED-95E9E7020281}"/>
              </a:ext>
            </a:extLst>
          </p:cNvPr>
          <p:cNvSpPr txBox="1"/>
          <p:nvPr/>
        </p:nvSpPr>
        <p:spPr>
          <a:xfrm>
            <a:off x="1406366" y="3489690"/>
            <a:ext cx="1728649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FA161E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Arial"/>
              <a:sym typeface="Arial"/>
            </a:endParaRP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2E36D025-2184-51CD-BA05-E1E2B99D40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3756" y="4531788"/>
            <a:ext cx="258073" cy="224467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FE8F9ADF-247E-915E-CD81-777D33EA65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4087" y="1445374"/>
            <a:ext cx="242817" cy="373480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29" name="Google Shape;325;p3">
            <a:extLst>
              <a:ext uri="{FF2B5EF4-FFF2-40B4-BE49-F238E27FC236}">
                <a16:creationId xmlns:a16="http://schemas.microsoft.com/office/drawing/2014/main" id="{5AEAFDDC-D8E4-BA63-1F7D-8C46C8D8027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8855734">
            <a:off x="10046066" y="3677671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311;p3">
            <a:extLst>
              <a:ext uri="{FF2B5EF4-FFF2-40B4-BE49-F238E27FC236}">
                <a16:creationId xmlns:a16="http://schemas.microsoft.com/office/drawing/2014/main" id="{C10AA17E-5C9D-50B2-1EB7-45023D522F5A}"/>
              </a:ext>
            </a:extLst>
          </p:cNvPr>
          <p:cNvSpPr/>
          <p:nvPr/>
        </p:nvSpPr>
        <p:spPr>
          <a:xfrm>
            <a:off x="2933526" y="3055971"/>
            <a:ext cx="536093" cy="536093"/>
          </a:xfrm>
          <a:prstGeom prst="ellipse">
            <a:avLst/>
          </a:prstGeom>
          <a:solidFill>
            <a:srgbClr val="FF0000"/>
          </a:solidFill>
          <a:ln>
            <a:solidFill>
              <a:srgbClr val="EE0000"/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9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751545A-EAB1-AB21-9DD2-3A71E2199C43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Google Shape;329;p3">
            <a:extLst>
              <a:ext uri="{FF2B5EF4-FFF2-40B4-BE49-F238E27FC236}">
                <a16:creationId xmlns:a16="http://schemas.microsoft.com/office/drawing/2014/main" id="{C250ACA8-EB1F-5052-8E0B-D4427FEE9D2C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>
              <a:buSzPts val="2000"/>
            </a:pPr>
            <a:r>
              <a:rPr lang="pt-BR" sz="1300" b="1" dirty="0" err="1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Storytelling</a:t>
            </a:r>
            <a:r>
              <a:rPr lang="pt-BR" sz="1300" b="1" dirty="0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 de dados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4953BD07-E520-1CE1-F423-6D09A0252390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Google Shape;331;p3">
            <a:extLst>
              <a:ext uri="{FF2B5EF4-FFF2-40B4-BE49-F238E27FC236}">
                <a16:creationId xmlns:a16="http://schemas.microsoft.com/office/drawing/2014/main" id="{8CBE390A-7BB2-C23C-FD1F-4F5F78B770E4}"/>
              </a:ext>
            </a:extLst>
          </p:cNvPr>
          <p:cNvSpPr txBox="1"/>
          <p:nvPr/>
        </p:nvSpPr>
        <p:spPr>
          <a:xfrm>
            <a:off x="2160045" y="891153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2   Componente 3</a:t>
            </a:r>
          </a:p>
        </p:txBody>
      </p:sp>
    </p:spTree>
    <p:extLst>
      <p:ext uri="{BB962C8B-B14F-4D97-AF65-F5344CB8AC3E}">
        <p14:creationId xmlns:p14="http://schemas.microsoft.com/office/powerpoint/2010/main" val="2041964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67A6E-E3B9-101F-05B1-DF91EB44B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F99B8BBE-1DD7-C659-DD6D-80AD317DF8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396" t="30197" r="53546" b="6024"/>
          <a:stretch/>
        </p:blipFill>
        <p:spPr>
          <a:xfrm rot="21026348">
            <a:off x="5678584" y="2638764"/>
            <a:ext cx="8603297" cy="4647676"/>
          </a:xfrm>
          <a:prstGeom prst="rect">
            <a:avLst/>
          </a:prstGeom>
        </p:spPr>
      </p:pic>
      <p:sp>
        <p:nvSpPr>
          <p:cNvPr id="7" name="Google Shape;341;p4">
            <a:extLst>
              <a:ext uri="{FF2B5EF4-FFF2-40B4-BE49-F238E27FC236}">
                <a16:creationId xmlns:a16="http://schemas.microsoft.com/office/drawing/2014/main" id="{4DD48448-1AB9-AECD-B778-EED091E6784A}"/>
              </a:ext>
            </a:extLst>
          </p:cNvPr>
          <p:cNvSpPr/>
          <p:nvPr/>
        </p:nvSpPr>
        <p:spPr>
          <a:xfrm rot="-3438299">
            <a:off x="10617267" y="5326573"/>
            <a:ext cx="408000" cy="4080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42;p4">
            <a:extLst>
              <a:ext uri="{FF2B5EF4-FFF2-40B4-BE49-F238E27FC236}">
                <a16:creationId xmlns:a16="http://schemas.microsoft.com/office/drawing/2014/main" id="{7D059DAC-3D07-4EF8-67D8-538AA958E366}"/>
              </a:ext>
            </a:extLst>
          </p:cNvPr>
          <p:cNvSpPr/>
          <p:nvPr/>
        </p:nvSpPr>
        <p:spPr>
          <a:xfrm>
            <a:off x="9084502" y="3402930"/>
            <a:ext cx="1317209" cy="1317209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36000" tIns="36000" rIns="36000" bIns="36000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tabLst/>
              <a:defRPr/>
            </a:pPr>
            <a:r>
              <a:rPr kumimoji="0" lang="pt-BR" sz="4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Calibri"/>
                <a:cs typeface="Poppins"/>
                <a:sym typeface="Poppins"/>
              </a:rPr>
              <a:t>9</a:t>
            </a:r>
            <a:endParaRPr kumimoji="0" lang="pt-BR" sz="4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/>
              <a:sym typeface="Arial"/>
            </a:endParaRPr>
          </a:p>
        </p:txBody>
      </p:sp>
      <p:cxnSp>
        <p:nvCxnSpPr>
          <p:cNvPr id="9" name="Google Shape;343;p4">
            <a:extLst>
              <a:ext uri="{FF2B5EF4-FFF2-40B4-BE49-F238E27FC236}">
                <a16:creationId xmlns:a16="http://schemas.microsoft.com/office/drawing/2014/main" id="{E2E10917-EE83-CC98-8D11-CDFA8629DA58}"/>
              </a:ext>
            </a:extLst>
          </p:cNvPr>
          <p:cNvCxnSpPr/>
          <p:nvPr/>
        </p:nvCxnSpPr>
        <p:spPr>
          <a:xfrm>
            <a:off x="10016903" y="4528943"/>
            <a:ext cx="634075" cy="900448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344;p4">
            <a:extLst>
              <a:ext uri="{FF2B5EF4-FFF2-40B4-BE49-F238E27FC236}">
                <a16:creationId xmlns:a16="http://schemas.microsoft.com/office/drawing/2014/main" id="{E2327AEB-547A-25FE-DF13-5623BBA11FD9}"/>
              </a:ext>
            </a:extLst>
          </p:cNvPr>
          <p:cNvSpPr txBox="1"/>
          <p:nvPr/>
        </p:nvSpPr>
        <p:spPr>
          <a:xfrm>
            <a:off x="3361984" y="3310144"/>
            <a:ext cx="4487736" cy="3385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Escolha do visual adequado</a:t>
            </a: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Arial"/>
              <a:cs typeface="Poppins"/>
              <a:sym typeface="Arial"/>
            </a:endParaRPr>
          </a:p>
        </p:txBody>
      </p:sp>
      <p:sp>
        <p:nvSpPr>
          <p:cNvPr id="11" name="Google Shape;345;p4">
            <a:extLst>
              <a:ext uri="{FF2B5EF4-FFF2-40B4-BE49-F238E27FC236}">
                <a16:creationId xmlns:a16="http://schemas.microsoft.com/office/drawing/2014/main" id="{B7CF418E-6B20-B323-8A61-867B58C44A41}"/>
              </a:ext>
            </a:extLst>
          </p:cNvPr>
          <p:cNvSpPr txBox="1"/>
          <p:nvPr/>
        </p:nvSpPr>
        <p:spPr>
          <a:xfrm>
            <a:off x="3361984" y="2834485"/>
            <a:ext cx="3838916" cy="4000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tabLst/>
              <a:defRPr/>
            </a:pPr>
            <a:r>
              <a:rPr kumimoji="0" lang="pt-BR" sz="2200" b="1" i="0" u="none" strike="noStrike" kern="0" cap="none" spc="0" normalizeH="0" baseline="0" noProof="0" dirty="0">
                <a:ln>
                  <a:noFill/>
                </a:ln>
                <a:solidFill>
                  <a:srgbClr val="FA161E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5" name="Google Shape;349;p4">
            <a:extLst>
              <a:ext uri="{FF2B5EF4-FFF2-40B4-BE49-F238E27FC236}">
                <a16:creationId xmlns:a16="http://schemas.microsoft.com/office/drawing/2014/main" id="{E757BD1B-AF11-46F9-867C-7071ECDA4A8F}"/>
              </a:ext>
            </a:extLst>
          </p:cNvPr>
          <p:cNvSpPr txBox="1"/>
          <p:nvPr/>
        </p:nvSpPr>
        <p:spPr>
          <a:xfrm>
            <a:off x="3361984" y="5324225"/>
            <a:ext cx="5040855" cy="3385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/>
                <a:sym typeface="Poppins"/>
              </a:rPr>
              <a:t>Código da aula: 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/>
                <a:sym typeface="Arial"/>
              </a:rPr>
              <a:t>DADOS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Arial"/>
              </a:rPr>
              <a:t>ANO1C3B2S9A2</a:t>
            </a: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6" name="Google Shape;350;p4">
            <a:extLst>
              <a:ext uri="{FF2B5EF4-FFF2-40B4-BE49-F238E27FC236}">
                <a16:creationId xmlns:a16="http://schemas.microsoft.com/office/drawing/2014/main" id="{4F7AD7A5-ED71-304B-B174-13376ACF3426}"/>
              </a:ext>
            </a:extLst>
          </p:cNvPr>
          <p:cNvSpPr txBox="1"/>
          <p:nvPr/>
        </p:nvSpPr>
        <p:spPr>
          <a:xfrm>
            <a:off x="3361984" y="4682804"/>
            <a:ext cx="5473251" cy="3385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/>
                <a:sym typeface="Poppins"/>
              </a:rPr>
              <a:t>Aula 2: Evitar gráficos inadequados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5601A7C-1B3D-3233-51DB-1B50CC831833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Google Shape;329;p3">
            <a:extLst>
              <a:ext uri="{FF2B5EF4-FFF2-40B4-BE49-F238E27FC236}">
                <a16:creationId xmlns:a16="http://schemas.microsoft.com/office/drawing/2014/main" id="{C082CB46-6E70-CBEA-7BD4-BC0FD729402B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>
              <a:buSzPts val="2000"/>
            </a:pPr>
            <a:r>
              <a:rPr lang="pt-BR" sz="1300" b="1" dirty="0" err="1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Storytelling</a:t>
            </a:r>
            <a:r>
              <a:rPr lang="pt-BR" sz="1300" b="1" dirty="0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 de dados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C0A75E5-4BAA-2E40-5747-CB4302993D56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Google Shape;331;p3">
            <a:extLst>
              <a:ext uri="{FF2B5EF4-FFF2-40B4-BE49-F238E27FC236}">
                <a16:creationId xmlns:a16="http://schemas.microsoft.com/office/drawing/2014/main" id="{313ECFA4-F6FA-B446-820C-C124E18DA56F}"/>
              </a:ext>
            </a:extLst>
          </p:cNvPr>
          <p:cNvSpPr txBox="1"/>
          <p:nvPr/>
        </p:nvSpPr>
        <p:spPr>
          <a:xfrm>
            <a:off x="2160045" y="891153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2   Componente 3</a:t>
            </a:r>
          </a:p>
        </p:txBody>
      </p:sp>
    </p:spTree>
    <p:extLst>
      <p:ext uri="{BB962C8B-B14F-4D97-AF65-F5344CB8AC3E}">
        <p14:creationId xmlns:p14="http://schemas.microsoft.com/office/powerpoint/2010/main" val="2201045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D78554BD-F7EF-3BAB-A813-ABF4CD1A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DDC5D50-E08E-8CA0-3646-645A36A6A1DB}"/>
              </a:ext>
            </a:extLst>
          </p:cNvPr>
          <p:cNvSpPr txBox="1"/>
          <p:nvPr/>
        </p:nvSpPr>
        <p:spPr>
          <a:xfrm>
            <a:off x="6215922" y="319790"/>
            <a:ext cx="184731" cy="188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62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8BDA268B-56CF-34D7-8AC8-03A46EEE51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05563" y="1355465"/>
            <a:ext cx="3754807" cy="7848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lvl1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Criar narrativas com dados aplicando os conceitos trabalhados em sala.</a:t>
            </a:r>
          </a:p>
        </p:txBody>
      </p:sp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0EEE40D8-DA12-39DE-C65B-482C9F52A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05029" y="1355465"/>
            <a:ext cx="3754807" cy="101566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Selecionar e aplicar o tipo de gráfico mais adequado à natureza dos dados e ao propósito comunicacional.</a:t>
            </a:r>
          </a:p>
        </p:txBody>
      </p:sp>
      <p:sp>
        <p:nvSpPr>
          <p:cNvPr id="7" name="Espaço Reservado para Texto 7">
            <a:extLst>
              <a:ext uri="{FF2B5EF4-FFF2-40B4-BE49-F238E27FC236}">
                <a16:creationId xmlns:a16="http://schemas.microsoft.com/office/drawing/2014/main" id="{2094F997-F792-A5E8-85B9-08D09497CB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05029" y="3649330"/>
            <a:ext cx="3754807" cy="12464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Explorar diferentes maneiras de representar ideias, mantendo abertura à experimentação e disposição para aprender com os erros e acertos.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0495B0B7-4092-99E7-BA62-2C2BB012B5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5563" y="3344241"/>
            <a:ext cx="4044985" cy="1400383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pPr lvl="0">
              <a:spcAft>
                <a:spcPts val="600"/>
              </a:spcAft>
            </a:pPr>
            <a:r>
              <a:rPr lang="pt-BR" sz="1500" dirty="0">
                <a:latin typeface="Poppins" panose="00000500000000000000" pitchFamily="2" charset="0"/>
              </a:rPr>
              <a:t>Recurso audiovisual para a exibição de textos, vídeos e imagens.</a:t>
            </a:r>
          </a:p>
          <a:p>
            <a:pPr lvl="0">
              <a:spcAft>
                <a:spcPts val="600"/>
              </a:spcAft>
            </a:pPr>
            <a:r>
              <a:rPr lang="pt-BR" sz="1500" dirty="0">
                <a:latin typeface="Poppins" panose="00000500000000000000" pitchFamily="2" charset="0"/>
              </a:rPr>
              <a:t>Acesso ao laboratório de informática e/ou à internet.</a:t>
            </a:r>
          </a:p>
          <a:p>
            <a:pPr lvl="0">
              <a:spcAft>
                <a:spcPts val="600"/>
              </a:spcAft>
            </a:pPr>
            <a:r>
              <a:rPr lang="pt-BR" sz="1500" dirty="0">
                <a:latin typeface="Poppins" panose="00000500000000000000" pitchFamily="2" charset="0"/>
              </a:rPr>
              <a:t>Roteiro de atividade prática.</a:t>
            </a:r>
          </a:p>
        </p:txBody>
      </p:sp>
    </p:spTree>
    <p:extLst>
      <p:ext uri="{BB962C8B-B14F-4D97-AF65-F5344CB8AC3E}">
        <p14:creationId xmlns:p14="http://schemas.microsoft.com/office/powerpoint/2010/main" val="2388956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F0B2762-0110-4EF8-B062-AB6294B3B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584" y="2076263"/>
            <a:ext cx="6458502" cy="4052394"/>
          </a:xfrm>
          <a:prstGeom prst="rect">
            <a:avLst/>
          </a:prstGeom>
        </p:spPr>
      </p:pic>
      <p:sp>
        <p:nvSpPr>
          <p:cNvPr id="9" name="Espaço Reservado para Texto 42">
            <a:extLst>
              <a:ext uri="{FF2B5EF4-FFF2-40B4-BE49-F238E27FC236}">
                <a16:creationId xmlns:a16="http://schemas.microsoft.com/office/drawing/2014/main" id="{C5E52773-B6DC-3C4D-E103-38CF7EB31B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87881" y="484280"/>
            <a:ext cx="7764068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O jogo dos gráficos</a:t>
            </a:r>
          </a:p>
        </p:txBody>
      </p:sp>
      <p:sp>
        <p:nvSpPr>
          <p:cNvPr id="16" name="Espaço Reservado para Texto 20">
            <a:extLst>
              <a:ext uri="{FF2B5EF4-FFF2-40B4-BE49-F238E27FC236}">
                <a16:creationId xmlns:a16="http://schemas.microsoft.com/office/drawing/2014/main" id="{E5195EE4-F0A5-D2BC-1114-70B2704394CD}"/>
              </a:ext>
            </a:extLst>
          </p:cNvPr>
          <p:cNvSpPr txBox="1">
            <a:spLocks/>
          </p:cNvSpPr>
          <p:nvPr/>
        </p:nvSpPr>
        <p:spPr>
          <a:xfrm>
            <a:off x="3487881" y="1220645"/>
            <a:ext cx="7956876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33" b="0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dirty="0">
                <a:latin typeface="Poppins" panose="00000500000000000000" pitchFamily="2" charset="0"/>
              </a:rPr>
              <a:t>Escolher o gráfico mais adequado permite representar os dados de forma clara e facilita a compreensão das tendências e dos padrões sem sobrecarregar o público com informações excessivas.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90059384-02DE-34AD-28B9-FC6B43912488}"/>
              </a:ext>
            </a:extLst>
          </p:cNvPr>
          <p:cNvGrpSpPr/>
          <p:nvPr/>
        </p:nvGrpSpPr>
        <p:grpSpPr>
          <a:xfrm>
            <a:off x="8486056" y="96661"/>
            <a:ext cx="3596668" cy="728133"/>
            <a:chOff x="4267346" y="2630138"/>
            <a:chExt cx="3596668" cy="728133"/>
          </a:xfrm>
        </p:grpSpPr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A12FA993-60F0-0676-5B02-899915B2F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7346" y="2630138"/>
              <a:ext cx="3496733" cy="728133"/>
            </a:xfrm>
            <a:prstGeom prst="rect">
              <a:avLst/>
            </a:prstGeom>
          </p:spPr>
        </p:pic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6BD119CF-54F6-FFB1-2F15-82741786F53C}"/>
                </a:ext>
              </a:extLst>
            </p:cNvPr>
            <p:cNvSpPr txBox="1"/>
            <p:nvPr/>
          </p:nvSpPr>
          <p:spPr>
            <a:xfrm>
              <a:off x="5342001" y="2874687"/>
              <a:ext cx="2522013" cy="208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l"/>
              <a:r>
                <a:rPr lang="pt-BR" sz="1500" b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TODO MUNDO ESCREVE</a:t>
              </a:r>
            </a:p>
          </p:txBody>
        </p:sp>
        <p:pic>
          <p:nvPicPr>
            <p:cNvPr id="20" name="Imagem 19">
              <a:extLst>
                <a:ext uri="{FF2B5EF4-FFF2-40B4-BE49-F238E27FC236}">
                  <a16:creationId xmlns:a16="http://schemas.microsoft.com/office/drawing/2014/main" id="{02C101D1-6F3B-3D5E-C54A-C5115B91E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80594" y="2711946"/>
              <a:ext cx="558800" cy="558800"/>
            </a:xfrm>
            <a:prstGeom prst="rect">
              <a:avLst/>
            </a:prstGeom>
          </p:spPr>
        </p:pic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C7D1EF2-7649-436A-8129-E9BE35DB049F}"/>
              </a:ext>
            </a:extLst>
          </p:cNvPr>
          <p:cNvSpPr txBox="1"/>
          <p:nvPr/>
        </p:nvSpPr>
        <p:spPr>
          <a:xfrm>
            <a:off x="3617559" y="6136180"/>
            <a:ext cx="5279698" cy="261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pt-BR" sz="1100" dirty="0">
                <a:latin typeface="Poppins" panose="00000500000000000000" pitchFamily="2" charset="0"/>
                <a:cs typeface="Poppins"/>
              </a:rPr>
              <a:t>Produzido pela SEDUC-SP com auxílio da ferramenta Microsoft Excel.</a:t>
            </a:r>
            <a:endParaRPr lang="pt-BR" sz="1100" dirty="0"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062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42">
            <a:extLst>
              <a:ext uri="{FF2B5EF4-FFF2-40B4-BE49-F238E27FC236}">
                <a16:creationId xmlns:a16="http://schemas.microsoft.com/office/drawing/2014/main" id="{51B807EC-1AB3-911E-E715-D8F6C4A8F66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784763" y="379148"/>
            <a:ext cx="835429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Como escolher o melhor gráfico e sua visualização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DC6282-3670-836C-D71C-A730303D6EB1}"/>
              </a:ext>
            </a:extLst>
          </p:cNvPr>
          <p:cNvSpPr txBox="1"/>
          <p:nvPr/>
        </p:nvSpPr>
        <p:spPr>
          <a:xfrm>
            <a:off x="7276235" y="2901137"/>
            <a:ext cx="3945946" cy="26902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28600" indent="-228600">
              <a:lnSpc>
                <a:spcPct val="110000"/>
              </a:lnSpc>
              <a:buFont typeface="+mj-lt"/>
              <a:buAutoNum type="arabicPeriod"/>
            </a:pP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Leiam o contexto sobre o uso correto dos gráficos e erros comuns na visualização de dados.</a:t>
            </a:r>
          </a:p>
          <a:p>
            <a:pPr marL="228600" indent="-228600">
              <a:lnSpc>
                <a:spcPct val="110000"/>
              </a:lnSpc>
              <a:buFont typeface="+mj-lt"/>
              <a:buAutoNum type="arabicPeriod"/>
            </a:pP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Analisem os cenários, observem os gráficos, respondam às perguntas e identifiquem o tipo mais adequado para cada caso.</a:t>
            </a:r>
          </a:p>
          <a:p>
            <a:pPr marL="228600" indent="-228600">
              <a:lnSpc>
                <a:spcPct val="110000"/>
              </a:lnSpc>
              <a:buFont typeface="+mj-lt"/>
              <a:buAutoNum type="arabicPeriod"/>
            </a:pP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Recriem os dois gráficos com formato, cores, título e legenda adequados, explicando por que suas escolhas melhoram a comunicação dos dados.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9ABB6FE-83AF-E8C0-0898-DDFE839DE1A7}"/>
              </a:ext>
            </a:extLst>
          </p:cNvPr>
          <p:cNvSpPr txBox="1"/>
          <p:nvPr/>
        </p:nvSpPr>
        <p:spPr>
          <a:xfrm>
            <a:off x="2989335" y="2901137"/>
            <a:ext cx="3811298" cy="8925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Computador com acesso à internet.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Caderno ou folha.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Canetas ou lápis de cor.</a:t>
            </a:r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FEEF4E73-092A-945B-85A0-F07255377717}"/>
              </a:ext>
            </a:extLst>
          </p:cNvPr>
          <p:cNvSpPr txBox="1">
            <a:spLocks/>
          </p:cNvSpPr>
          <p:nvPr/>
        </p:nvSpPr>
        <p:spPr>
          <a:xfrm>
            <a:off x="731524" y="4587222"/>
            <a:ext cx="1681782" cy="313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7" tIns="45701" rIns="91427" bIns="4570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pt-BR" sz="1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Duplas</a:t>
            </a:r>
            <a:endParaRPr lang="pt-BR" sz="1200" b="1" noProof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Espaço Reservado para Texto 3">
            <a:extLst>
              <a:ext uri="{FF2B5EF4-FFF2-40B4-BE49-F238E27FC236}">
                <a16:creationId xmlns:a16="http://schemas.microsoft.com/office/drawing/2014/main" id="{64999450-C990-9832-1D46-9F2BF80E9572}"/>
              </a:ext>
            </a:extLst>
          </p:cNvPr>
          <p:cNvSpPr txBox="1">
            <a:spLocks/>
          </p:cNvSpPr>
          <p:nvPr/>
        </p:nvSpPr>
        <p:spPr>
          <a:xfrm>
            <a:off x="731524" y="4972729"/>
            <a:ext cx="1681782" cy="313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7" tIns="45701" rIns="91427" bIns="4570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pt-BR" sz="12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35 minutos</a:t>
            </a:r>
          </a:p>
        </p:txBody>
      </p:sp>
      <p:sp>
        <p:nvSpPr>
          <p:cNvPr id="12" name="Espaço Reservado para Texto 3">
            <a:extLst>
              <a:ext uri="{FF2B5EF4-FFF2-40B4-BE49-F238E27FC236}">
                <a16:creationId xmlns:a16="http://schemas.microsoft.com/office/drawing/2014/main" id="{B0FBD359-CE07-A4F4-F6F3-FBC74C5A2DD7}"/>
              </a:ext>
            </a:extLst>
          </p:cNvPr>
          <p:cNvSpPr txBox="1">
            <a:spLocks/>
          </p:cNvSpPr>
          <p:nvPr/>
        </p:nvSpPr>
        <p:spPr>
          <a:xfrm>
            <a:off x="731524" y="5365110"/>
            <a:ext cx="1512779" cy="27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7" tIns="45701" rIns="91427" bIns="4570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2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Próxima aula</a:t>
            </a:r>
          </a:p>
        </p:txBody>
      </p:sp>
      <p:grpSp>
        <p:nvGrpSpPr>
          <p:cNvPr id="13" name="Google Shape;490;p35">
            <a:extLst>
              <a:ext uri="{FF2B5EF4-FFF2-40B4-BE49-F238E27FC236}">
                <a16:creationId xmlns:a16="http://schemas.microsoft.com/office/drawing/2014/main" id="{B1D8C393-7B24-BC9C-3DC7-7D8E3F8A87E6}"/>
              </a:ext>
            </a:extLst>
          </p:cNvPr>
          <p:cNvGrpSpPr/>
          <p:nvPr/>
        </p:nvGrpSpPr>
        <p:grpSpPr>
          <a:xfrm>
            <a:off x="356266" y="4581957"/>
            <a:ext cx="263544" cy="256408"/>
            <a:chOff x="6941066" y="2777637"/>
            <a:chExt cx="456958" cy="452197"/>
          </a:xfrm>
          <a:noFill/>
        </p:grpSpPr>
        <p:grpSp>
          <p:nvGrpSpPr>
            <p:cNvPr id="14" name="Google Shape;491;p35">
              <a:extLst>
                <a:ext uri="{FF2B5EF4-FFF2-40B4-BE49-F238E27FC236}">
                  <a16:creationId xmlns:a16="http://schemas.microsoft.com/office/drawing/2014/main" id="{0278F2C6-85E1-1CAA-613D-DD5793A23394}"/>
                </a:ext>
              </a:extLst>
            </p:cNvPr>
            <p:cNvGrpSpPr/>
            <p:nvPr/>
          </p:nvGrpSpPr>
          <p:grpSpPr>
            <a:xfrm>
              <a:off x="7226665" y="3067995"/>
              <a:ext cx="171359" cy="161839"/>
              <a:chOff x="7226665" y="3067995"/>
              <a:chExt cx="171359" cy="161839"/>
            </a:xfrm>
            <a:grpFill/>
          </p:grpSpPr>
          <p:sp>
            <p:nvSpPr>
              <p:cNvPr id="28" name="Google Shape;492;p35">
                <a:extLst>
                  <a:ext uri="{FF2B5EF4-FFF2-40B4-BE49-F238E27FC236}">
                    <a16:creationId xmlns:a16="http://schemas.microsoft.com/office/drawing/2014/main" id="{9DB46966-4F83-B9B3-D99B-E18F274FE06C}"/>
                  </a:ext>
                </a:extLst>
              </p:cNvPr>
              <p:cNvSpPr/>
              <p:nvPr/>
            </p:nvSpPr>
            <p:spPr>
              <a:xfrm>
                <a:off x="7269504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493;p35">
                <a:extLst>
                  <a:ext uri="{FF2B5EF4-FFF2-40B4-BE49-F238E27FC236}">
                    <a16:creationId xmlns:a16="http://schemas.microsoft.com/office/drawing/2014/main" id="{0AD464E3-D3C0-7F40-165B-746F1413B196}"/>
                  </a:ext>
                </a:extLst>
              </p:cNvPr>
              <p:cNvSpPr/>
              <p:nvPr/>
            </p:nvSpPr>
            <p:spPr>
              <a:xfrm>
                <a:off x="7226665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" name="Google Shape;494;p35">
              <a:extLst>
                <a:ext uri="{FF2B5EF4-FFF2-40B4-BE49-F238E27FC236}">
                  <a16:creationId xmlns:a16="http://schemas.microsoft.com/office/drawing/2014/main" id="{2D21F898-A19B-EC10-8C1B-794F5E24A8B5}"/>
                </a:ext>
              </a:extLst>
            </p:cNvPr>
            <p:cNvGrpSpPr/>
            <p:nvPr/>
          </p:nvGrpSpPr>
          <p:grpSpPr>
            <a:xfrm>
              <a:off x="6941066" y="3067995"/>
              <a:ext cx="171359" cy="161839"/>
              <a:chOff x="6941066" y="3067995"/>
              <a:chExt cx="171359" cy="161839"/>
            </a:xfrm>
            <a:grpFill/>
          </p:grpSpPr>
          <p:sp>
            <p:nvSpPr>
              <p:cNvPr id="26" name="Google Shape;495;p35">
                <a:extLst>
                  <a:ext uri="{FF2B5EF4-FFF2-40B4-BE49-F238E27FC236}">
                    <a16:creationId xmlns:a16="http://schemas.microsoft.com/office/drawing/2014/main" id="{6B864795-6149-8360-A3AB-A6555707F578}"/>
                  </a:ext>
                </a:extLst>
              </p:cNvPr>
              <p:cNvSpPr/>
              <p:nvPr/>
            </p:nvSpPr>
            <p:spPr>
              <a:xfrm>
                <a:off x="6983906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496;p35">
                <a:extLst>
                  <a:ext uri="{FF2B5EF4-FFF2-40B4-BE49-F238E27FC236}">
                    <a16:creationId xmlns:a16="http://schemas.microsoft.com/office/drawing/2014/main" id="{612C3279-EE7C-30EE-A08E-04B218EEA9F5}"/>
                  </a:ext>
                </a:extLst>
              </p:cNvPr>
              <p:cNvSpPr/>
              <p:nvPr/>
            </p:nvSpPr>
            <p:spPr>
              <a:xfrm>
                <a:off x="6941066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497;p35">
              <a:extLst>
                <a:ext uri="{FF2B5EF4-FFF2-40B4-BE49-F238E27FC236}">
                  <a16:creationId xmlns:a16="http://schemas.microsoft.com/office/drawing/2014/main" id="{F8D8BDA6-2603-EE84-6860-4B9F230EC4E0}"/>
                </a:ext>
              </a:extLst>
            </p:cNvPr>
            <p:cNvGrpSpPr/>
            <p:nvPr/>
          </p:nvGrpSpPr>
          <p:grpSpPr>
            <a:xfrm>
              <a:off x="7103153" y="2977080"/>
              <a:ext cx="132861" cy="96151"/>
              <a:chOff x="7103153" y="2977080"/>
              <a:chExt cx="132861" cy="96151"/>
            </a:xfrm>
            <a:grpFill/>
          </p:grpSpPr>
          <p:sp>
            <p:nvSpPr>
              <p:cNvPr id="20" name="Google Shape;498;p35">
                <a:extLst>
                  <a:ext uri="{FF2B5EF4-FFF2-40B4-BE49-F238E27FC236}">
                    <a16:creationId xmlns:a16="http://schemas.microsoft.com/office/drawing/2014/main" id="{65F55D05-15E3-B0D6-E5C4-6E0274CB4876}"/>
                  </a:ext>
                </a:extLst>
              </p:cNvPr>
              <p:cNvSpPr/>
              <p:nvPr/>
            </p:nvSpPr>
            <p:spPr>
              <a:xfrm>
                <a:off x="7169069" y="2977080"/>
                <a:ext cx="951" cy="5807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8071" extrusionOk="0">
                    <a:moveTo>
                      <a:pt x="476" y="58072"/>
                    </a:moveTo>
                    <a:cubicBezTo>
                      <a:pt x="476" y="58072"/>
                      <a:pt x="0" y="57881"/>
                      <a:pt x="0" y="57596"/>
                    </a:cubicBezTo>
                    <a:lnTo>
                      <a:pt x="0" y="476"/>
                    </a:lnTo>
                    <a:cubicBezTo>
                      <a:pt x="0" y="476"/>
                      <a:pt x="190" y="0"/>
                      <a:pt x="476" y="0"/>
                    </a:cubicBezTo>
                    <a:cubicBezTo>
                      <a:pt x="761" y="0"/>
                      <a:pt x="952" y="190"/>
                      <a:pt x="952" y="476"/>
                    </a:cubicBezTo>
                    <a:lnTo>
                      <a:pt x="952" y="57596"/>
                    </a:lnTo>
                    <a:cubicBezTo>
                      <a:pt x="952" y="57596"/>
                      <a:pt x="761" y="58072"/>
                      <a:pt x="476" y="58072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499;p35">
                <a:extLst>
                  <a:ext uri="{FF2B5EF4-FFF2-40B4-BE49-F238E27FC236}">
                    <a16:creationId xmlns:a16="http://schemas.microsoft.com/office/drawing/2014/main" id="{CEF3BE39-28B9-6D66-9FC5-0CE5BE49203A}"/>
                  </a:ext>
                </a:extLst>
              </p:cNvPr>
              <p:cNvSpPr/>
              <p:nvPr/>
            </p:nvSpPr>
            <p:spPr>
              <a:xfrm>
                <a:off x="7169145" y="3034257"/>
                <a:ext cx="66869" cy="38973"/>
              </a:xfrm>
              <a:custGeom>
                <a:avLst/>
                <a:gdLst/>
                <a:ahLst/>
                <a:cxnLst/>
                <a:rect l="l" t="t" r="r" b="b"/>
                <a:pathLst>
                  <a:path w="66869" h="38973" extrusionOk="0">
                    <a:moveTo>
                      <a:pt x="66373" y="38974"/>
                    </a:moveTo>
                    <a:cubicBezTo>
                      <a:pt x="66373" y="38974"/>
                      <a:pt x="66183" y="38974"/>
                      <a:pt x="66183" y="38974"/>
                    </a:cubicBezTo>
                    <a:lnTo>
                      <a:pt x="210" y="894"/>
                    </a:lnTo>
                    <a:cubicBezTo>
                      <a:pt x="210" y="894"/>
                      <a:pt x="-76" y="513"/>
                      <a:pt x="19" y="228"/>
                    </a:cubicBezTo>
                    <a:cubicBezTo>
                      <a:pt x="115" y="37"/>
                      <a:pt x="400" y="-58"/>
                      <a:pt x="686" y="37"/>
                    </a:cubicBezTo>
                    <a:lnTo>
                      <a:pt x="66659" y="38117"/>
                    </a:lnTo>
                    <a:cubicBezTo>
                      <a:pt x="66659" y="38117"/>
                      <a:pt x="66945" y="38498"/>
                      <a:pt x="66850" y="38784"/>
                    </a:cubicBezTo>
                    <a:cubicBezTo>
                      <a:pt x="66850" y="38974"/>
                      <a:pt x="66564" y="38974"/>
                      <a:pt x="66469" y="38974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500;p35">
                <a:extLst>
                  <a:ext uri="{FF2B5EF4-FFF2-40B4-BE49-F238E27FC236}">
                    <a16:creationId xmlns:a16="http://schemas.microsoft.com/office/drawing/2014/main" id="{3CD9B5FD-6153-2834-553D-7D4F1F9AC5B3}"/>
                  </a:ext>
                </a:extLst>
              </p:cNvPr>
              <p:cNvSpPr/>
              <p:nvPr/>
            </p:nvSpPr>
            <p:spPr>
              <a:xfrm>
                <a:off x="7103153" y="3034295"/>
                <a:ext cx="66904" cy="38936"/>
              </a:xfrm>
              <a:custGeom>
                <a:avLst/>
                <a:gdLst/>
                <a:ahLst/>
                <a:cxnLst/>
                <a:rect l="l" t="t" r="r" b="b"/>
                <a:pathLst>
                  <a:path w="66904" h="38936" extrusionOk="0">
                    <a:moveTo>
                      <a:pt x="418" y="38937"/>
                    </a:moveTo>
                    <a:cubicBezTo>
                      <a:pt x="418" y="38937"/>
                      <a:pt x="133" y="38937"/>
                      <a:pt x="37" y="38746"/>
                    </a:cubicBezTo>
                    <a:cubicBezTo>
                      <a:pt x="-58" y="38556"/>
                      <a:pt x="37" y="38270"/>
                      <a:pt x="228" y="38080"/>
                    </a:cubicBezTo>
                    <a:lnTo>
                      <a:pt x="66201" y="0"/>
                    </a:lnTo>
                    <a:cubicBezTo>
                      <a:pt x="66201" y="0"/>
                      <a:pt x="66677" y="0"/>
                      <a:pt x="66867" y="190"/>
                    </a:cubicBezTo>
                    <a:cubicBezTo>
                      <a:pt x="66963" y="381"/>
                      <a:pt x="66867" y="666"/>
                      <a:pt x="66677" y="857"/>
                    </a:cubicBezTo>
                    <a:lnTo>
                      <a:pt x="704" y="38937"/>
                    </a:lnTo>
                    <a:cubicBezTo>
                      <a:pt x="704" y="38937"/>
                      <a:pt x="513" y="38937"/>
                      <a:pt x="513" y="38937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" name="Google Shape;501;p35">
              <a:extLst>
                <a:ext uri="{FF2B5EF4-FFF2-40B4-BE49-F238E27FC236}">
                  <a16:creationId xmlns:a16="http://schemas.microsoft.com/office/drawing/2014/main" id="{F50FB113-56E0-3290-93A7-5DF6909D5385}"/>
                </a:ext>
              </a:extLst>
            </p:cNvPr>
            <p:cNvGrpSpPr/>
            <p:nvPr/>
          </p:nvGrpSpPr>
          <p:grpSpPr>
            <a:xfrm>
              <a:off x="7083865" y="2777637"/>
              <a:ext cx="171359" cy="161838"/>
              <a:chOff x="7083865" y="2777637"/>
              <a:chExt cx="171359" cy="161838"/>
            </a:xfrm>
            <a:grpFill/>
          </p:grpSpPr>
          <p:sp>
            <p:nvSpPr>
              <p:cNvPr id="18" name="Google Shape;502;p35">
                <a:extLst>
                  <a:ext uri="{FF2B5EF4-FFF2-40B4-BE49-F238E27FC236}">
                    <a16:creationId xmlns:a16="http://schemas.microsoft.com/office/drawing/2014/main" id="{8C2A8DC7-B699-03D0-396D-2BDDEADED8F9}"/>
                  </a:ext>
                </a:extLst>
              </p:cNvPr>
              <p:cNvSpPr/>
              <p:nvPr/>
            </p:nvSpPr>
            <p:spPr>
              <a:xfrm>
                <a:off x="7126705" y="2777637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503;p35">
                <a:extLst>
                  <a:ext uri="{FF2B5EF4-FFF2-40B4-BE49-F238E27FC236}">
                    <a16:creationId xmlns:a16="http://schemas.microsoft.com/office/drawing/2014/main" id="{BF355617-A1AF-3E13-7303-4956F79860AC}"/>
                  </a:ext>
                </a:extLst>
              </p:cNvPr>
              <p:cNvSpPr/>
              <p:nvPr/>
            </p:nvSpPr>
            <p:spPr>
              <a:xfrm>
                <a:off x="7083865" y="2871884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8" rIns="60950" bIns="30468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609645">
                  <a:buSzPts val="1800"/>
                  <a:defRPr/>
                </a:pPr>
                <a:endParaRPr lang="pt-BR" sz="1200" noProof="0" dirty="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0" name="Google Shape;578;p38">
            <a:extLst>
              <a:ext uri="{FF2B5EF4-FFF2-40B4-BE49-F238E27FC236}">
                <a16:creationId xmlns:a16="http://schemas.microsoft.com/office/drawing/2014/main" id="{CDC80238-434F-AEE9-D164-0B2FBE30647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826" y="4962465"/>
            <a:ext cx="266424" cy="26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2349F3C2-6E13-1A7A-02F2-3146108D8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323" y="5354204"/>
            <a:ext cx="289430" cy="28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559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56FD887E-B93D-BDCD-9369-FD95FDE3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B3C016AC-DDDD-DD91-73CB-CB42058B3B27}"/>
              </a:ext>
            </a:extLst>
          </p:cNvPr>
          <p:cNvSpPr/>
          <p:nvPr/>
        </p:nvSpPr>
        <p:spPr>
          <a:xfrm>
            <a:off x="3166587" y="321083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9DE43542-FAE4-28BF-0418-7CB783187862}"/>
              </a:ext>
            </a:extLst>
          </p:cNvPr>
          <p:cNvSpPr/>
          <p:nvPr/>
        </p:nvSpPr>
        <p:spPr>
          <a:xfrm>
            <a:off x="6791992" y="321083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82A5993B-A9D7-A8C0-6A63-505441FC9966}"/>
              </a:ext>
            </a:extLst>
          </p:cNvPr>
          <p:cNvSpPr/>
          <p:nvPr/>
        </p:nvSpPr>
        <p:spPr>
          <a:xfrm>
            <a:off x="3166587" y="4286736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52;p64">
            <a:extLst>
              <a:ext uri="{FF2B5EF4-FFF2-40B4-BE49-F238E27FC236}">
                <a16:creationId xmlns:a16="http://schemas.microsoft.com/office/drawing/2014/main" id="{C61B1EC0-ED8B-BCB5-348F-E47EC80E50C3}"/>
              </a:ext>
            </a:extLst>
          </p:cNvPr>
          <p:cNvSpPr txBox="1"/>
          <p:nvPr/>
        </p:nvSpPr>
        <p:spPr>
          <a:xfrm>
            <a:off x="3315359" y="4574857"/>
            <a:ext cx="30975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solidFill>
                  <a:schemeClr val="lt1"/>
                </a:solidFill>
                <a:latin typeface="Poppins" panose="00000500000000000000" pitchFamily="2" charset="0"/>
                <a:sym typeface="Poppins"/>
              </a:rPr>
              <a:t>Pizza</a:t>
            </a: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04C5C731-1F24-627B-19CB-5096C80BBF38}"/>
              </a:ext>
            </a:extLst>
          </p:cNvPr>
          <p:cNvSpPr/>
          <p:nvPr/>
        </p:nvSpPr>
        <p:spPr>
          <a:xfrm>
            <a:off x="6791992" y="4286736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54;p64">
            <a:extLst>
              <a:ext uri="{FF2B5EF4-FFF2-40B4-BE49-F238E27FC236}">
                <a16:creationId xmlns:a16="http://schemas.microsoft.com/office/drawing/2014/main" id="{9E3950BC-9B34-CB66-4268-279D817CEEE2}"/>
              </a:ext>
            </a:extLst>
          </p:cNvPr>
          <p:cNvSpPr txBox="1"/>
          <p:nvPr/>
        </p:nvSpPr>
        <p:spPr>
          <a:xfrm>
            <a:off x="6827291" y="4574857"/>
            <a:ext cx="33244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solidFill>
                  <a:schemeClr val="lt1"/>
                </a:solidFill>
                <a:latin typeface="Poppins" panose="00000500000000000000" pitchFamily="2" charset="0"/>
                <a:sym typeface="Poppins"/>
              </a:rPr>
              <a:t>Dispersão</a:t>
            </a:r>
          </a:p>
        </p:txBody>
      </p:sp>
      <p:sp>
        <p:nvSpPr>
          <p:cNvPr id="18" name="Google Shape;855;p64">
            <a:extLst>
              <a:ext uri="{FF2B5EF4-FFF2-40B4-BE49-F238E27FC236}">
                <a16:creationId xmlns:a16="http://schemas.microsoft.com/office/drawing/2014/main" id="{6E3D2C29-296A-26DB-453E-18D42E75FC08}"/>
              </a:ext>
            </a:extLst>
          </p:cNvPr>
          <p:cNvSpPr txBox="1"/>
          <p:nvPr/>
        </p:nvSpPr>
        <p:spPr>
          <a:xfrm>
            <a:off x="3315359" y="3437399"/>
            <a:ext cx="309753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pt-BR" sz="1800" dirty="0">
                <a:latin typeface="Poppins" panose="00000500000000000000" pitchFamily="2" charset="0"/>
              </a:rPr>
              <a:t>Barras</a:t>
            </a:r>
            <a:endParaRPr lang="pt-BR" sz="1800" dirty="0">
              <a:solidFill>
                <a:schemeClr val="lt1"/>
              </a:solidFill>
              <a:latin typeface="Poppins" panose="00000500000000000000" pitchFamily="2" charset="0"/>
            </a:endParaRPr>
          </a:p>
        </p:txBody>
      </p:sp>
      <p:sp>
        <p:nvSpPr>
          <p:cNvPr id="19" name="Google Shape;856;p64">
            <a:extLst>
              <a:ext uri="{FF2B5EF4-FFF2-40B4-BE49-F238E27FC236}">
                <a16:creationId xmlns:a16="http://schemas.microsoft.com/office/drawing/2014/main" id="{F5FBB34A-2D83-0D0A-5DDE-E4ED71D44ABF}"/>
              </a:ext>
            </a:extLst>
          </p:cNvPr>
          <p:cNvSpPr txBox="1"/>
          <p:nvPr/>
        </p:nvSpPr>
        <p:spPr>
          <a:xfrm>
            <a:off x="6940764" y="3498955"/>
            <a:ext cx="30975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latin typeface="Poppins" panose="00000500000000000000" pitchFamily="2" charset="0"/>
              </a:rPr>
              <a:t>Linha</a:t>
            </a:r>
            <a:endParaRPr lang="pt-BR" sz="1800" dirty="0">
              <a:solidFill>
                <a:schemeClr val="lt1"/>
              </a:solidFill>
              <a:latin typeface="Poppins" panose="00000500000000000000" pitchFamily="2" charset="0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5B85AB8A-2E84-D704-0571-EB90DDCABC1B}"/>
              </a:ext>
            </a:extLst>
          </p:cNvPr>
          <p:cNvGrpSpPr/>
          <p:nvPr/>
        </p:nvGrpSpPr>
        <p:grpSpPr>
          <a:xfrm>
            <a:off x="11469781" y="-944"/>
            <a:ext cx="722219" cy="719228"/>
            <a:chOff x="11469781" y="-944"/>
            <a:chExt cx="722219" cy="719228"/>
          </a:xfrm>
        </p:grpSpPr>
        <p:sp>
          <p:nvSpPr>
            <p:cNvPr id="4" name="Google Shape;812;p61">
              <a:extLst>
                <a:ext uri="{FF2B5EF4-FFF2-40B4-BE49-F238E27FC236}">
                  <a16:creationId xmlns:a16="http://schemas.microsoft.com/office/drawing/2014/main" id="{E6AF24B0-A248-71C3-C03C-F9303785060B}"/>
                </a:ext>
              </a:extLst>
            </p:cNvPr>
            <p:cNvSpPr/>
            <p:nvPr/>
          </p:nvSpPr>
          <p:spPr>
            <a:xfrm flipH="1">
              <a:off x="11472465" y="1"/>
              <a:ext cx="719535" cy="718283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6D3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defTabSz="609630">
                <a:defRPr/>
              </a:pPr>
              <a:endParaRPr dirty="0"/>
            </a:p>
          </p:txBody>
        </p:sp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B69C4C47-8BDA-BC4E-4E6A-5DE09A91A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685107" y="245921"/>
              <a:ext cx="435935" cy="390047"/>
            </a:xfrm>
            <a:prstGeom prst="rect">
              <a:avLst/>
            </a:prstGeom>
          </p:spPr>
        </p:pic>
        <p:sp>
          <p:nvSpPr>
            <p:cNvPr id="7" name="Google Shape;833;p62">
              <a:extLst>
                <a:ext uri="{FF2B5EF4-FFF2-40B4-BE49-F238E27FC236}">
                  <a16:creationId xmlns:a16="http://schemas.microsoft.com/office/drawing/2014/main" id="{7222916A-2D25-25DB-5ADF-9038E985538B}"/>
                </a:ext>
              </a:extLst>
            </p:cNvPr>
            <p:cNvSpPr txBox="1"/>
            <p:nvPr/>
          </p:nvSpPr>
          <p:spPr>
            <a:xfrm>
              <a:off x="11469781" y="-944"/>
              <a:ext cx="721717" cy="198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algn="ctr" defTabSz="609630">
                <a:lnSpc>
                  <a:spcPct val="107000"/>
                </a:lnSpc>
                <a:buSzPts val="2700"/>
                <a:defRPr/>
              </a:pPr>
              <a:r>
                <a:rPr lang="pt-BR" b="1" dirty="0">
                  <a:solidFill>
                    <a:srgbClr val="FFFFFF"/>
                  </a:solidFill>
                  <a:latin typeface="Poppins" panose="00000500000000000000" pitchFamily="2" charset="0"/>
                  <a:ea typeface="Poppins"/>
                  <a:cs typeface="Poppins" panose="00000500000000000000" pitchFamily="2" charset="0"/>
                  <a:sym typeface="Poppins"/>
                </a:rPr>
                <a:t>Registro</a:t>
              </a:r>
              <a:endParaRPr sz="80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r" defTabSz="609630">
                <a:lnSpc>
                  <a:spcPct val="107000"/>
                </a:lnSpc>
                <a:spcBef>
                  <a:spcPts val="715"/>
                </a:spcBef>
                <a:buSzPts val="2700"/>
                <a:defRPr/>
              </a:pPr>
              <a:endParaRPr sz="1333" dirty="0">
                <a:solidFill>
                  <a:srgbClr val="FFFFFF"/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endParaRPr>
            </a:p>
          </p:txBody>
        </p:sp>
      </p:grp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5AD4D758-99CB-CACD-FE5F-23F77947C3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53622" y="1409339"/>
            <a:ext cx="6884676" cy="156966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marL="0" lvl="4" indent="0"/>
            <a:r>
              <a:rPr lang="pt-BR" sz="3200" dirty="0">
                <a:latin typeface="Poppins" panose="00000500000000000000" pitchFamily="2" charset="0"/>
              </a:rPr>
              <a:t>Qual gráfico NÃO é o mais adequado para mostrar mudanças ao longo do tempo?</a:t>
            </a:r>
          </a:p>
        </p:txBody>
      </p:sp>
    </p:spTree>
    <p:extLst>
      <p:ext uri="{BB962C8B-B14F-4D97-AF65-F5344CB8AC3E}">
        <p14:creationId xmlns:p14="http://schemas.microsoft.com/office/powerpoint/2010/main" val="3275431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7">
          <a:extLst>
            <a:ext uri="{FF2B5EF4-FFF2-40B4-BE49-F238E27FC236}">
              <a16:creationId xmlns:a16="http://schemas.microsoft.com/office/drawing/2014/main" id="{012715AF-6866-654D-B03E-91BC055E4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73F83D36-0D0A-396B-445E-50A936E210CB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defTabSz="609630">
              <a:defRPr/>
            </a:pPr>
            <a:endParaRPr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565E1B9F-3C3D-1333-8430-69176B403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88F704CC-0BFE-9A41-079D-50B1B1DB80D2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 defTabSz="609630">
              <a:lnSpc>
                <a:spcPct val="107000"/>
              </a:lnSpc>
              <a:buSzPts val="2700"/>
              <a:defRPr/>
            </a:pPr>
            <a:r>
              <a:rPr lang="pt-BR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 defTabSz="609630">
              <a:lnSpc>
                <a:spcPct val="107000"/>
              </a:lnSpc>
              <a:spcBef>
                <a:spcPts val="715"/>
              </a:spcBef>
              <a:buSzPts val="2700"/>
              <a:defRPr/>
            </a:pPr>
            <a:endParaRPr sz="1333" dirty="0">
              <a:solidFill>
                <a:srgbClr val="FFFFFF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2" name="Google Shape;1436;p98">
            <a:extLst>
              <a:ext uri="{FF2B5EF4-FFF2-40B4-BE49-F238E27FC236}">
                <a16:creationId xmlns:a16="http://schemas.microsoft.com/office/drawing/2014/main" id="{CFEBBFC8-4F00-8218-C050-A358DDA09B4D}"/>
              </a:ext>
            </a:extLst>
          </p:cNvPr>
          <p:cNvSpPr/>
          <p:nvPr/>
        </p:nvSpPr>
        <p:spPr>
          <a:xfrm>
            <a:off x="2585495" y="3340265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36;p98">
            <a:extLst>
              <a:ext uri="{FF2B5EF4-FFF2-40B4-BE49-F238E27FC236}">
                <a16:creationId xmlns:a16="http://schemas.microsoft.com/office/drawing/2014/main" id="{6FFBA77E-6D6A-8145-24BA-A87A44FE07E0}"/>
              </a:ext>
            </a:extLst>
          </p:cNvPr>
          <p:cNvSpPr/>
          <p:nvPr/>
        </p:nvSpPr>
        <p:spPr>
          <a:xfrm>
            <a:off x="10242742" y="3340265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436;p98">
            <a:extLst>
              <a:ext uri="{FF2B5EF4-FFF2-40B4-BE49-F238E27FC236}">
                <a16:creationId xmlns:a16="http://schemas.microsoft.com/office/drawing/2014/main" id="{B280E8D1-F169-21C6-DB02-798B883CCA7F}"/>
              </a:ext>
            </a:extLst>
          </p:cNvPr>
          <p:cNvSpPr/>
          <p:nvPr/>
        </p:nvSpPr>
        <p:spPr>
          <a:xfrm>
            <a:off x="10242742" y="4426556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437;p98">
            <a:extLst>
              <a:ext uri="{FF2B5EF4-FFF2-40B4-BE49-F238E27FC236}">
                <a16:creationId xmlns:a16="http://schemas.microsoft.com/office/drawing/2014/main" id="{33DE6EA5-0FB6-15E8-B368-0E65229FE9BE}"/>
              </a:ext>
            </a:extLst>
          </p:cNvPr>
          <p:cNvSpPr/>
          <p:nvPr/>
        </p:nvSpPr>
        <p:spPr>
          <a:xfrm rot="18556360">
            <a:off x="2661402" y="4496015"/>
            <a:ext cx="385459" cy="265917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49;p64">
            <a:extLst>
              <a:ext uri="{FF2B5EF4-FFF2-40B4-BE49-F238E27FC236}">
                <a16:creationId xmlns:a16="http://schemas.microsoft.com/office/drawing/2014/main" id="{E60986E8-5E98-357D-7E13-067E14D6201F}"/>
              </a:ext>
            </a:extLst>
          </p:cNvPr>
          <p:cNvSpPr/>
          <p:nvPr/>
        </p:nvSpPr>
        <p:spPr>
          <a:xfrm>
            <a:off x="3166587" y="321083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50;p64">
            <a:extLst>
              <a:ext uri="{FF2B5EF4-FFF2-40B4-BE49-F238E27FC236}">
                <a16:creationId xmlns:a16="http://schemas.microsoft.com/office/drawing/2014/main" id="{C0C2468D-C1C9-5C28-8D07-E2213FEB9652}"/>
              </a:ext>
            </a:extLst>
          </p:cNvPr>
          <p:cNvSpPr/>
          <p:nvPr/>
        </p:nvSpPr>
        <p:spPr>
          <a:xfrm>
            <a:off x="6791992" y="321083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851;p64">
            <a:extLst>
              <a:ext uri="{FF2B5EF4-FFF2-40B4-BE49-F238E27FC236}">
                <a16:creationId xmlns:a16="http://schemas.microsoft.com/office/drawing/2014/main" id="{3029ED0C-C827-B2D9-6B2C-6DF1A7A85398}"/>
              </a:ext>
            </a:extLst>
          </p:cNvPr>
          <p:cNvSpPr/>
          <p:nvPr/>
        </p:nvSpPr>
        <p:spPr>
          <a:xfrm>
            <a:off x="3166587" y="4286736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852;p64">
            <a:extLst>
              <a:ext uri="{FF2B5EF4-FFF2-40B4-BE49-F238E27FC236}">
                <a16:creationId xmlns:a16="http://schemas.microsoft.com/office/drawing/2014/main" id="{04299C97-6E7C-6849-D979-B4D924C0DCDE}"/>
              </a:ext>
            </a:extLst>
          </p:cNvPr>
          <p:cNvSpPr txBox="1"/>
          <p:nvPr/>
        </p:nvSpPr>
        <p:spPr>
          <a:xfrm>
            <a:off x="3315359" y="4574857"/>
            <a:ext cx="30975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solidFill>
                  <a:schemeClr val="lt1"/>
                </a:solidFill>
                <a:latin typeface="Poppins" panose="00000500000000000000" pitchFamily="2" charset="0"/>
                <a:sym typeface="Poppins"/>
              </a:rPr>
              <a:t>Pizza</a:t>
            </a:r>
          </a:p>
        </p:txBody>
      </p:sp>
      <p:sp>
        <p:nvSpPr>
          <p:cNvPr id="24" name="Google Shape;853;p64">
            <a:extLst>
              <a:ext uri="{FF2B5EF4-FFF2-40B4-BE49-F238E27FC236}">
                <a16:creationId xmlns:a16="http://schemas.microsoft.com/office/drawing/2014/main" id="{ABD6CEA2-665C-4E76-E41B-3120740B03CE}"/>
              </a:ext>
            </a:extLst>
          </p:cNvPr>
          <p:cNvSpPr/>
          <p:nvPr/>
        </p:nvSpPr>
        <p:spPr>
          <a:xfrm>
            <a:off x="6791992" y="4286736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854;p64">
            <a:extLst>
              <a:ext uri="{FF2B5EF4-FFF2-40B4-BE49-F238E27FC236}">
                <a16:creationId xmlns:a16="http://schemas.microsoft.com/office/drawing/2014/main" id="{1B2A81C7-2419-6B6F-A7E6-E6D227B31C1C}"/>
              </a:ext>
            </a:extLst>
          </p:cNvPr>
          <p:cNvSpPr txBox="1"/>
          <p:nvPr/>
        </p:nvSpPr>
        <p:spPr>
          <a:xfrm>
            <a:off x="6827291" y="4574857"/>
            <a:ext cx="33244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solidFill>
                  <a:schemeClr val="lt1"/>
                </a:solidFill>
                <a:latin typeface="Poppins" panose="00000500000000000000" pitchFamily="2" charset="0"/>
                <a:sym typeface="Poppins"/>
              </a:rPr>
              <a:t>Dispersão</a:t>
            </a:r>
          </a:p>
        </p:txBody>
      </p:sp>
      <p:sp>
        <p:nvSpPr>
          <p:cNvPr id="26" name="Google Shape;855;p64">
            <a:extLst>
              <a:ext uri="{FF2B5EF4-FFF2-40B4-BE49-F238E27FC236}">
                <a16:creationId xmlns:a16="http://schemas.microsoft.com/office/drawing/2014/main" id="{DB9F05B7-F5D0-8488-F30C-99A1ECBB24A8}"/>
              </a:ext>
            </a:extLst>
          </p:cNvPr>
          <p:cNvSpPr txBox="1"/>
          <p:nvPr/>
        </p:nvSpPr>
        <p:spPr>
          <a:xfrm>
            <a:off x="3315359" y="3437399"/>
            <a:ext cx="309753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pt-BR" sz="1800" dirty="0">
                <a:latin typeface="Poppins" panose="00000500000000000000" pitchFamily="2" charset="0"/>
              </a:rPr>
              <a:t>Barras</a:t>
            </a:r>
            <a:endParaRPr lang="pt-BR" sz="1800" dirty="0">
              <a:solidFill>
                <a:schemeClr val="lt1"/>
              </a:solidFill>
              <a:latin typeface="Poppins" panose="00000500000000000000" pitchFamily="2" charset="0"/>
            </a:endParaRPr>
          </a:p>
        </p:txBody>
      </p:sp>
      <p:sp>
        <p:nvSpPr>
          <p:cNvPr id="27" name="Google Shape;856;p64">
            <a:extLst>
              <a:ext uri="{FF2B5EF4-FFF2-40B4-BE49-F238E27FC236}">
                <a16:creationId xmlns:a16="http://schemas.microsoft.com/office/drawing/2014/main" id="{8759664B-F9A7-0DF9-048F-148DA042DF13}"/>
              </a:ext>
            </a:extLst>
          </p:cNvPr>
          <p:cNvSpPr txBox="1"/>
          <p:nvPr/>
        </p:nvSpPr>
        <p:spPr>
          <a:xfrm>
            <a:off x="6940764" y="3498955"/>
            <a:ext cx="30975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latin typeface="Poppins" panose="00000500000000000000" pitchFamily="2" charset="0"/>
              </a:rPr>
              <a:t>Linha</a:t>
            </a:r>
            <a:endParaRPr lang="pt-BR" sz="1800" dirty="0">
              <a:solidFill>
                <a:schemeClr val="lt1"/>
              </a:solidFill>
              <a:latin typeface="Poppins" panose="00000500000000000000" pitchFamily="2" charset="0"/>
            </a:endParaRP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9ECFD410-1C22-376E-24AC-D413CFBB65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53622" y="1409339"/>
            <a:ext cx="6884676" cy="156966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marL="0" lvl="4" indent="0"/>
            <a:r>
              <a:rPr lang="pt-BR" sz="3200" dirty="0">
                <a:latin typeface="Poppins" panose="00000500000000000000" pitchFamily="2" charset="0"/>
              </a:rPr>
              <a:t>Qual gráfico NÃO é o mais adequado para mostrar mudanças ao longo do tempo?</a:t>
            </a:r>
          </a:p>
        </p:txBody>
      </p:sp>
    </p:spTree>
    <p:extLst>
      <p:ext uri="{BB962C8B-B14F-4D97-AF65-F5344CB8AC3E}">
        <p14:creationId xmlns:p14="http://schemas.microsoft.com/office/powerpoint/2010/main" val="2850788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>
          <a:extLst>
            <a:ext uri="{FF2B5EF4-FFF2-40B4-BE49-F238E27FC236}">
              <a16:creationId xmlns:a16="http://schemas.microsoft.com/office/drawing/2014/main" id="{00F765D8-99DE-2A83-E736-0AFC49BC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961B4F0-12EC-E2F2-C0DD-1EBE393A91A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40669" y="1816783"/>
            <a:ext cx="6354575" cy="961761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Aprendemos que gráficos inadequados podem distorcer a mensagem e dificultar a interpretação dos dados.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C1AB578-B64F-815F-9CC9-04A9D46F286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940669" y="3047486"/>
            <a:ext cx="6665976" cy="961761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Vimos que erros comuns incluem usar o gráfico errado para o tipo de dado, como gráfico de pizza com muitas categorias.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E1B0984-4E19-7545-B025-4C4C1638EDB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940668" y="4273287"/>
            <a:ext cx="6665976" cy="961761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Entendemos que a simplicidade é chave, e que gráficos sobrecarregados com informações podem confundir mais do que ajudar.</a:t>
            </a:r>
          </a:p>
        </p:txBody>
      </p:sp>
      <p:sp>
        <p:nvSpPr>
          <p:cNvPr id="10" name="Google Shape;741;p22">
            <a:extLst>
              <a:ext uri="{FF2B5EF4-FFF2-40B4-BE49-F238E27FC236}">
                <a16:creationId xmlns:a16="http://schemas.microsoft.com/office/drawing/2014/main" id="{15629CED-56CE-DEB8-317A-7002687E7E06}"/>
              </a:ext>
            </a:extLst>
          </p:cNvPr>
          <p:cNvSpPr txBox="1">
            <a:spLocks/>
          </p:cNvSpPr>
          <p:nvPr/>
        </p:nvSpPr>
        <p:spPr>
          <a:xfrm>
            <a:off x="4561609" y="734021"/>
            <a:ext cx="6972299" cy="630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  <a:buClr>
                <a:schemeClr val="dk1"/>
              </a:buClr>
              <a:buSzPts val="4500"/>
            </a:pPr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Então ficamos assim...</a:t>
            </a:r>
          </a:p>
        </p:txBody>
      </p:sp>
    </p:spTree>
    <p:extLst>
      <p:ext uri="{BB962C8B-B14F-4D97-AF65-F5344CB8AC3E}">
        <p14:creationId xmlns:p14="http://schemas.microsoft.com/office/powerpoint/2010/main" val="3788879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>
          <a:extLst>
            <a:ext uri="{FF2B5EF4-FFF2-40B4-BE49-F238E27FC236}">
              <a16:creationId xmlns:a16="http://schemas.microsoft.com/office/drawing/2014/main" id="{8D7A0B40-6AE2-1987-24A2-DD994AD29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21;p53">
            <a:extLst>
              <a:ext uri="{FF2B5EF4-FFF2-40B4-BE49-F238E27FC236}">
                <a16:creationId xmlns:a16="http://schemas.microsoft.com/office/drawing/2014/main" id="{88EF8A89-8E1A-61B7-519B-CFD992171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02301" y="1050793"/>
            <a:ext cx="5644572" cy="3693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marL="0" lvl="0" indent="0">
              <a:spcBef>
                <a:spcPts val="0"/>
              </a:spcBef>
              <a:buClr>
                <a:schemeClr val="lt1"/>
              </a:buClr>
            </a:pPr>
            <a:r>
              <a:rPr lang="pt-BR" sz="2000" b="1" dirty="0">
                <a:latin typeface="Poppins" panose="00000500000000000000" pitchFamily="2" charset="0"/>
              </a:rPr>
              <a:t>Bora interpretar gráficos?</a:t>
            </a:r>
          </a:p>
          <a:p>
            <a:pPr marL="0" lvl="0" indent="0">
              <a:spcBef>
                <a:spcPts val="0"/>
              </a:spcBef>
              <a:buClr>
                <a:schemeClr val="lt1"/>
              </a:buClr>
            </a:pPr>
            <a:endParaRPr lang="pt-BR" sz="1800" dirty="0">
              <a:latin typeface="Poppins" panose="00000500000000000000" pitchFamily="2" charset="0"/>
            </a:endParaRPr>
          </a:p>
          <a:p>
            <a:pPr marL="0" lvl="0" indent="0">
              <a:spcBef>
                <a:spcPts val="0"/>
              </a:spcBef>
              <a:buClr>
                <a:schemeClr val="lt1"/>
              </a:buClr>
            </a:pPr>
            <a:r>
              <a:rPr lang="pt-BR" sz="1800" dirty="0">
                <a:latin typeface="Poppins" panose="00000500000000000000" pitchFamily="2" charset="0"/>
              </a:rPr>
              <a:t>Acesse o artigo abaixo e explore algumas explicações claras sobre interpretação de gráficos e tabelas, com exemplos práticos que ajudam a compreender melhor o foco visual e a remoção de ruídos na apresentação de dados.</a:t>
            </a:r>
          </a:p>
          <a:p>
            <a:pPr marL="0" lvl="0" indent="0">
              <a:spcBef>
                <a:spcPts val="0"/>
              </a:spcBef>
              <a:buClr>
                <a:schemeClr val="lt1"/>
              </a:buClr>
            </a:pPr>
            <a:endParaRPr lang="pt-BR" sz="1800" dirty="0">
              <a:latin typeface="Poppins" panose="00000500000000000000" pitchFamily="2" charset="0"/>
            </a:endParaRPr>
          </a:p>
          <a:p>
            <a:pPr marL="285750" indent="-285750">
              <a:spcBef>
                <a:spcPts val="0"/>
              </a:spcBef>
              <a:buClr>
                <a:srgbClr val="0D0D0D"/>
              </a:buClr>
              <a:buSzPct val="110000"/>
              <a:buFont typeface="Arial" panose="020B0604020202020204" pitchFamily="34" charset="0"/>
              <a:buChar char="•"/>
            </a:pPr>
            <a:r>
              <a:rPr lang="pt-BR" sz="1800" dirty="0">
                <a:latin typeface="Poppins" panose="00000500000000000000" pitchFamily="2" charset="0"/>
                <a:cs typeface="Poppins"/>
              </a:rPr>
              <a:t>DAVID, A. Dicas fundamentais para interpretar gráficos e tabelas. </a:t>
            </a:r>
            <a:r>
              <a:rPr lang="pt-BR" sz="1800" b="1" dirty="0">
                <a:latin typeface="Poppins" panose="00000500000000000000" pitchFamily="2" charset="0"/>
                <a:cs typeface="Poppins"/>
              </a:rPr>
              <a:t>Aprova Total</a:t>
            </a:r>
            <a:r>
              <a:rPr lang="pt-BR" sz="1800" dirty="0">
                <a:latin typeface="Poppins" panose="00000500000000000000" pitchFamily="2" charset="0"/>
                <a:cs typeface="Poppins"/>
              </a:rPr>
              <a:t>, 14 set. 2023. Disponível em: </a:t>
            </a:r>
            <a:r>
              <a:rPr lang="pt-BR" sz="1800" dirty="0">
                <a:latin typeface="Poppins" panose="00000500000000000000" pitchFamily="2" charset="0"/>
                <a:cs typeface="Poppins"/>
                <a:hlinkClick r:id="rId3"/>
              </a:rPr>
              <a:t>https://aprovatotal.com.br/interpretacao-graficos-tabelas/</a:t>
            </a:r>
            <a:r>
              <a:rPr lang="pt-BR" sz="1800" dirty="0">
                <a:latin typeface="Poppins" panose="00000500000000000000" pitchFamily="2" charset="0"/>
                <a:cs typeface="Poppins"/>
              </a:rPr>
              <a:t>. Acesso em: 5 nov. 2025.</a:t>
            </a:r>
            <a:endParaRPr lang="pt-BR" dirty="0">
              <a:latin typeface="Poppins" panose="00000500000000000000" pitchFamily="2" charset="0"/>
            </a:endParaRPr>
          </a:p>
        </p:txBody>
      </p:sp>
      <p:sp>
        <p:nvSpPr>
          <p:cNvPr id="2" name="Google Shape;145;p12">
            <a:extLst>
              <a:ext uri="{FF2B5EF4-FFF2-40B4-BE49-F238E27FC236}">
                <a16:creationId xmlns:a16="http://schemas.microsoft.com/office/drawing/2014/main" id="{94D24353-A36E-E67D-4AD9-FCD37859C726}"/>
              </a:ext>
            </a:extLst>
          </p:cNvPr>
          <p:cNvSpPr txBox="1"/>
          <p:nvPr/>
        </p:nvSpPr>
        <p:spPr>
          <a:xfrm>
            <a:off x="1024125" y="1786467"/>
            <a:ext cx="3183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6000"/>
            </a:pPr>
            <a:r>
              <a:rPr lang="pt-BR" sz="4000" b="1">
                <a:solidFill>
                  <a:schemeClr val="bg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Saiba mais</a:t>
            </a:r>
            <a:endParaRPr lang="pt-BR" sz="4000">
              <a:solidFill>
                <a:schemeClr val="bg1"/>
              </a:solidFill>
              <a:latin typeface="Poppins" panose="00000500000000000000" pitchFamily="2" charset="0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870600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7AE1C-853B-0B4F-F48D-8F30E70A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A79093B-042C-BD3B-EF6F-799F1168BCA3}"/>
              </a:ext>
            </a:extLst>
          </p:cNvPr>
          <p:cNvSpPr txBox="1"/>
          <p:nvPr/>
        </p:nvSpPr>
        <p:spPr>
          <a:xfrm>
            <a:off x="3245708" y="13921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9ACDFC-91DB-A252-A96D-2CC5121B8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564" y="2106378"/>
            <a:ext cx="9530436" cy="235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1700" dirty="0">
                <a:latin typeface="Poppins" panose="00000500000000000000" pitchFamily="2" charset="0"/>
              </a:rPr>
              <a:t>DALE, K. </a:t>
            </a:r>
            <a:r>
              <a:rPr lang="pt-BR" sz="1700" b="1" dirty="0">
                <a:latin typeface="Poppins" panose="00000500000000000000" pitchFamily="2" charset="0"/>
              </a:rPr>
              <a:t>Visualização de dados com Python e </a:t>
            </a:r>
            <a:r>
              <a:rPr lang="pt-BR" sz="1700" b="1" dirty="0" err="1">
                <a:latin typeface="Poppins" panose="00000500000000000000" pitchFamily="2" charset="0"/>
              </a:rPr>
              <a:t>JavaScript</a:t>
            </a:r>
            <a:r>
              <a:rPr lang="pt-BR" sz="1700" dirty="0">
                <a:latin typeface="Poppins" panose="00000500000000000000" pitchFamily="2" charset="0"/>
              </a:rPr>
              <a:t>: raspe, limpe, explore e transforme seus dados. Rio de Janeiro: Alta Books, 2024.</a:t>
            </a:r>
            <a:endParaRPr lang="pt-BR" sz="900" dirty="0">
              <a:latin typeface="Poppins" panose="00000500000000000000" pitchFamily="2" charset="0"/>
            </a:endParaRPr>
          </a:p>
          <a:p>
            <a:endParaRPr lang="pt-BR" sz="900" dirty="0">
              <a:latin typeface="Poppins" panose="00000500000000000000" pitchFamily="2" charset="0"/>
            </a:endParaRPr>
          </a:p>
          <a:p>
            <a:r>
              <a:rPr lang="pt-BR" sz="1700" dirty="0">
                <a:latin typeface="Poppins"/>
              </a:rPr>
              <a:t>KNAFLIC, C. N. </a:t>
            </a:r>
            <a:r>
              <a:rPr lang="pt-BR" sz="1700" b="1" dirty="0" err="1">
                <a:latin typeface="Poppins"/>
              </a:rPr>
              <a:t>Storytelling</a:t>
            </a:r>
            <a:r>
              <a:rPr lang="pt-BR" sz="1700" b="1" dirty="0">
                <a:latin typeface="Poppins"/>
              </a:rPr>
              <a:t> com dados</a:t>
            </a:r>
            <a:r>
              <a:rPr lang="pt-BR" sz="1700" dirty="0">
                <a:latin typeface="Poppins"/>
              </a:rPr>
              <a:t>: um guia sobre visualização de dados para profissionais de negócios. Rio de Janeiro: Alta Books, 2019. </a:t>
            </a:r>
            <a:endParaRPr lang="pt-BR" sz="900" dirty="0">
              <a:latin typeface="Poppins" panose="00000500000000000000" pitchFamily="2" charset="0"/>
            </a:endParaRPr>
          </a:p>
          <a:p>
            <a:endParaRPr lang="pt-BR" sz="900" dirty="0">
              <a:latin typeface="Poppins" panose="00000500000000000000" pitchFamily="2" charset="0"/>
            </a:endParaRPr>
          </a:p>
          <a:p>
            <a:r>
              <a:rPr lang="pt-BR" sz="1700" dirty="0">
                <a:latin typeface="Poppins" panose="00000500000000000000" pitchFamily="2" charset="0"/>
              </a:rPr>
              <a:t>STRACHNYI, K. </a:t>
            </a:r>
            <a:r>
              <a:rPr lang="pt-BR" sz="1700" b="1" dirty="0">
                <a:latin typeface="Poppins" panose="00000500000000000000" pitchFamily="2" charset="0"/>
              </a:rPr>
              <a:t>A cor dos dados</a:t>
            </a:r>
            <a:r>
              <a:rPr lang="pt-BR" sz="1700" dirty="0">
                <a:latin typeface="Poppins" panose="00000500000000000000" pitchFamily="2" charset="0"/>
              </a:rPr>
              <a:t>: um guia para o uso de cores em </a:t>
            </a:r>
            <a:r>
              <a:rPr lang="pt-BR" sz="1700" dirty="0" err="1">
                <a:latin typeface="Poppins" panose="00000500000000000000" pitchFamily="2" charset="0"/>
              </a:rPr>
              <a:t>storytelling</a:t>
            </a:r>
            <a:r>
              <a:rPr lang="pt-BR" sz="1700" dirty="0">
                <a:latin typeface="Poppins" panose="00000500000000000000" pitchFamily="2" charset="0"/>
              </a:rPr>
              <a:t> de dados. São Paulo: </a:t>
            </a:r>
            <a:r>
              <a:rPr lang="pt-BR" sz="1700" dirty="0" err="1">
                <a:latin typeface="Poppins" panose="00000500000000000000" pitchFamily="2" charset="0"/>
              </a:rPr>
              <a:t>Novatec</a:t>
            </a:r>
            <a:r>
              <a:rPr lang="pt-BR" sz="1700" dirty="0">
                <a:latin typeface="Poppins" panose="00000500000000000000" pitchFamily="2" charset="0"/>
              </a:rPr>
              <a:t>, 2023.</a:t>
            </a:r>
            <a:endParaRPr lang="pt-BR" sz="900" dirty="0">
              <a:latin typeface="Poppins" panose="00000500000000000000" pitchFamily="2" charset="0"/>
            </a:endParaRPr>
          </a:p>
          <a:p>
            <a:endParaRPr lang="pt-BR" sz="900" dirty="0">
              <a:latin typeface="Poppins" panose="00000500000000000000" pitchFamily="2" charset="0"/>
            </a:endParaRPr>
          </a:p>
          <a:p>
            <a:r>
              <a:rPr lang="pt-BR" sz="1700" dirty="0">
                <a:latin typeface="Poppins"/>
              </a:rPr>
              <a:t>Identidade visual: imagens © Getty Images</a:t>
            </a:r>
            <a:endParaRPr lang="pt-BR" dirty="0"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882966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030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6BB9E14-02D2-A561-0326-A9DC2D6CE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5784D259-6C00-46E6-AE90-9D507391B98C}"/>
              </a:ext>
            </a:extLst>
          </p:cNvPr>
          <p:cNvSpPr/>
          <p:nvPr/>
        </p:nvSpPr>
        <p:spPr>
          <a:xfrm>
            <a:off x="0" y="280593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5" name="Conector Reto 6">
            <a:extLst>
              <a:ext uri="{FF2B5EF4-FFF2-40B4-BE49-F238E27FC236}">
                <a16:creationId xmlns:a16="http://schemas.microsoft.com/office/drawing/2014/main" id="{C3B26F03-830F-4AD6-9097-3BC6BDDEE96D}"/>
              </a:ext>
            </a:extLst>
          </p:cNvPr>
          <p:cNvCxnSpPr>
            <a:cxnSpLocks/>
          </p:cNvCxnSpPr>
          <p:nvPr/>
        </p:nvCxnSpPr>
        <p:spPr>
          <a:xfrm flipV="1">
            <a:off x="680042" y="557117"/>
            <a:ext cx="0" cy="5533921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057A953F-6B87-9FA0-939A-D0724FEA242E}"/>
              </a:ext>
            </a:extLst>
          </p:cNvPr>
          <p:cNvSpPr txBox="1"/>
          <p:nvPr/>
        </p:nvSpPr>
        <p:spPr>
          <a:xfrm>
            <a:off x="994065" y="3082571"/>
            <a:ext cx="10464415" cy="3139321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  <a:endParaRPr lang="pt-BR" sz="1000" kern="100" dirty="0">
              <a:latin typeface="Poppins" panose="00000500000000000000" pitchFamily="2" charset="0"/>
              <a:ea typeface="Aptos" panose="020B0004020202020204" pitchFamily="34" charset="0"/>
              <a:cs typeface="Poppins" panose="00000500000000000000" pitchFamily="2" charset="0"/>
            </a:endParaRPr>
          </a:p>
          <a:p>
            <a:pPr fontAlgn="base"/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Professor, a proposta é relembrar os conceitos, simulando um “jogo de memória”, mas com elementos trabalhados sobre gráficos.</a:t>
            </a:r>
          </a:p>
          <a:p>
            <a:pPr fontAlgn="base"/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Apresente a imagem para os alunos e explique que eles devem relembrar e preencher os campos vazios.</a:t>
            </a:r>
          </a:p>
          <a:p>
            <a:pPr fontAlgn="base"/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Na coluna da esquerda, estão os quatro gráficos trabalhados. Nas demais colunas, as principais informações sobre eles.</a:t>
            </a:r>
          </a:p>
          <a:p>
            <a:pPr fontAlgn="base"/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Selecione um aluno para responder ao primeiro campo – com a própria palavra dele, não sendo necessário uma resposta decorada – e, depois, veja se mais alunos concordam ou discordam. </a:t>
            </a:r>
          </a:p>
          <a:p>
            <a:pPr fontAlgn="base"/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Repita o mesmo para os demais campos até que tenham a tabela completa.</a:t>
            </a:r>
          </a:p>
          <a:p>
            <a:pPr fontAlgn="base"/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É importante reforçar os conceitos aprendidos, pois os alunos precisarão fixá-los bem para as demais aulas. </a:t>
            </a:r>
          </a:p>
          <a:p>
            <a:pPr fontAlgn="base"/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Destaque que os gráficos devem representar as informações de forma clara e compreensível, facilitando a leitura e a identificação de padrões ou comparações.</a:t>
            </a: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 de respostas: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Comparar categorias diferentes, representadas por barras (valor).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Saber quantos doces há em cada pote para descobrir qual tem a maior quantidade.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Apresentar a proporção de partes em relação a um todo.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Saber o tempo que você gastou em atividades no dia (estudo, lazer, trabalho).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Exibe a evolução ao longo do tempo, período, continuidade.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Saber a variação de preço de um lanche durante a semana.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Apresenta a relação entre duas coisas, em que cada ponto é uma combinação de dois valores.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Saber se estudar mais melhora as notas, comparando o tempo com as notas obtidas.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E71FB75-7F52-D12E-18CF-A00A331AA5D6}"/>
              </a:ext>
            </a:extLst>
          </p:cNvPr>
          <p:cNvSpPr txBox="1"/>
          <p:nvPr/>
        </p:nvSpPr>
        <p:spPr>
          <a:xfrm>
            <a:off x="985519" y="289623"/>
            <a:ext cx="10361353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spAutoFit/>
          </a:bodyPr>
          <a:lstStyle/>
          <a:p>
            <a:pPr algn="l"/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</a:t>
            </a:r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6</a:t>
            </a:r>
            <a:endParaRPr lang="pt-BR" sz="3000" b="1" noProof="0" dirty="0">
              <a:solidFill>
                <a:schemeClr val="bg1"/>
              </a:solidFill>
              <a:latin typeface="Poppins" panose="00000500000000000000" pitchFamily="2" charset="0"/>
              <a:cs typeface="Poppins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2DED77A3-78DD-0F93-970D-14DA652720B1}"/>
              </a:ext>
            </a:extLst>
          </p:cNvPr>
          <p:cNvGrpSpPr/>
          <p:nvPr/>
        </p:nvGrpSpPr>
        <p:grpSpPr>
          <a:xfrm>
            <a:off x="481421" y="1448671"/>
            <a:ext cx="386079" cy="382464"/>
            <a:chOff x="477262" y="1677273"/>
            <a:chExt cx="386079" cy="382464"/>
          </a:xfrm>
        </p:grpSpPr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1EF66BBC-9E7A-A51D-B738-57295468341A}"/>
                </a:ext>
              </a:extLst>
            </p:cNvPr>
            <p:cNvSpPr/>
            <p:nvPr/>
          </p:nvSpPr>
          <p:spPr>
            <a:xfrm>
              <a:off x="477262" y="1677273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1F23EB32-6011-2DEA-E2B9-2902D2406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95493" y="1770979"/>
              <a:ext cx="154445" cy="193056"/>
            </a:xfrm>
            <a:prstGeom prst="rect">
              <a:avLst/>
            </a:prstGeom>
          </p:spPr>
        </p:pic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CCE502AA-74C1-2384-640B-4775CFFB07B2}"/>
              </a:ext>
            </a:extLst>
          </p:cNvPr>
          <p:cNvGrpSpPr/>
          <p:nvPr/>
        </p:nvGrpSpPr>
        <p:grpSpPr>
          <a:xfrm>
            <a:off x="481421" y="2038352"/>
            <a:ext cx="386079" cy="382464"/>
            <a:chOff x="488157" y="2308518"/>
            <a:chExt cx="386079" cy="382464"/>
          </a:xfrm>
        </p:grpSpPr>
        <p:sp>
          <p:nvSpPr>
            <p:cNvPr id="14" name="Oval 10">
              <a:extLst>
                <a:ext uri="{FF2B5EF4-FFF2-40B4-BE49-F238E27FC236}">
                  <a16:creationId xmlns:a16="http://schemas.microsoft.com/office/drawing/2014/main" id="{B862028F-DD02-D86E-9A28-317587FEA2C2}"/>
                </a:ext>
              </a:extLst>
            </p:cNvPr>
            <p:cNvSpPr/>
            <p:nvPr/>
          </p:nvSpPr>
          <p:spPr>
            <a:xfrm>
              <a:off x="488157" y="23085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" name="Google Shape;2223;p100">
              <a:extLst>
                <a:ext uri="{FF2B5EF4-FFF2-40B4-BE49-F238E27FC236}">
                  <a16:creationId xmlns:a16="http://schemas.microsoft.com/office/drawing/2014/main" id="{8C327ACD-B5A4-6A8B-7883-D1E68366B728}"/>
                </a:ext>
              </a:extLst>
            </p:cNvPr>
            <p:cNvSpPr>
              <a:spLocks/>
            </p:cNvSpPr>
            <p:nvPr/>
          </p:nvSpPr>
          <p:spPr>
            <a:xfrm>
              <a:off x="557168" y="2386948"/>
              <a:ext cx="245745" cy="226842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4CD57115-C80D-EE52-AAD8-38F862B614EB}"/>
              </a:ext>
            </a:extLst>
          </p:cNvPr>
          <p:cNvGrpSpPr/>
          <p:nvPr/>
        </p:nvGrpSpPr>
        <p:grpSpPr>
          <a:xfrm>
            <a:off x="481421" y="4651899"/>
            <a:ext cx="386079" cy="382464"/>
            <a:chOff x="485330" y="4208606"/>
            <a:chExt cx="386079" cy="382464"/>
          </a:xfrm>
        </p:grpSpPr>
        <p:sp>
          <p:nvSpPr>
            <p:cNvPr id="18" name="Oval 8">
              <a:extLst>
                <a:ext uri="{FF2B5EF4-FFF2-40B4-BE49-F238E27FC236}">
                  <a16:creationId xmlns:a16="http://schemas.microsoft.com/office/drawing/2014/main" id="{E763B9FA-51D5-AB99-CC42-8188BBA9D854}"/>
                </a:ext>
              </a:extLst>
            </p:cNvPr>
            <p:cNvSpPr/>
            <p:nvPr/>
          </p:nvSpPr>
          <p:spPr>
            <a:xfrm>
              <a:off x="485330" y="4208606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9" name="Gráfico 18">
              <a:extLst>
                <a:ext uri="{FF2B5EF4-FFF2-40B4-BE49-F238E27FC236}">
                  <a16:creationId xmlns:a16="http://schemas.microsoft.com/office/drawing/2014/main" id="{0549FD49-817E-9643-9126-C4D642EB4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9271" y="4262727"/>
              <a:ext cx="208026" cy="266700"/>
            </a:xfrm>
            <a:prstGeom prst="rect">
              <a:avLst/>
            </a:prstGeom>
          </p:spPr>
        </p:pic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D16E088A-D104-FA27-13AA-030326AB6BBD}"/>
              </a:ext>
            </a:extLst>
          </p:cNvPr>
          <p:cNvGrpSpPr/>
          <p:nvPr/>
        </p:nvGrpSpPr>
        <p:grpSpPr>
          <a:xfrm>
            <a:off x="481421" y="2989580"/>
            <a:ext cx="386079" cy="382464"/>
            <a:chOff x="453903" y="3103350"/>
            <a:chExt cx="386079" cy="382464"/>
          </a:xfrm>
        </p:grpSpPr>
        <p:sp>
          <p:nvSpPr>
            <p:cNvPr id="38" name="Oval 9">
              <a:extLst>
                <a:ext uri="{FF2B5EF4-FFF2-40B4-BE49-F238E27FC236}">
                  <a16:creationId xmlns:a16="http://schemas.microsoft.com/office/drawing/2014/main" id="{209BA559-0FF1-68EE-A4C5-E793EEED26E3}"/>
                </a:ext>
              </a:extLst>
            </p:cNvPr>
            <p:cNvSpPr/>
            <p:nvPr/>
          </p:nvSpPr>
          <p:spPr>
            <a:xfrm>
              <a:off x="453903" y="3103350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9" name="Gráfico 38">
              <a:extLst>
                <a:ext uri="{FF2B5EF4-FFF2-40B4-BE49-F238E27FC236}">
                  <a16:creationId xmlns:a16="http://schemas.microsoft.com/office/drawing/2014/main" id="{88684CBD-DDFE-EF1A-104D-7007749B9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21968" y="3173805"/>
              <a:ext cx="235296" cy="240643"/>
            </a:xfrm>
            <a:prstGeom prst="rect">
              <a:avLst/>
            </a:prstGeom>
          </p:spPr>
        </p:pic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C6C7B7C3-B6B2-0213-5F83-8FAC8A3064BD}"/>
              </a:ext>
            </a:extLst>
          </p:cNvPr>
          <p:cNvSpPr txBox="1"/>
          <p:nvPr/>
        </p:nvSpPr>
        <p:spPr>
          <a:xfrm>
            <a:off x="1019342" y="1530978"/>
            <a:ext cx="10464415" cy="215444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10 minutos.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CA4EFFD-19B1-0C8A-09AA-D293DFBD2D8B}"/>
              </a:ext>
            </a:extLst>
          </p:cNvPr>
          <p:cNvSpPr txBox="1"/>
          <p:nvPr/>
        </p:nvSpPr>
        <p:spPr>
          <a:xfrm>
            <a:off x="997110" y="2007102"/>
            <a:ext cx="10855256" cy="830997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Assegure que todos os estudantes tenham a oportunidade de participar. Se necessário, faça rodízio ou direcione perguntas a estudantes que estejam menos ativos para garantir a participação de todos.  </a:t>
            </a:r>
          </a:p>
          <a:p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Mantenha um ambiente de respeito, em que todas as opiniões são valorizadas, garantindo que os alunos se sintam confortáveis para expressar seus pontos de vista.  </a:t>
            </a:r>
          </a:p>
          <a:p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Conclua a atividade resumindo as principais ideias discutidas e vinculando-as aos objetivos de aprendizagem da aula. 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84D58EC-30B1-4A8A-98D9-F5FEC7C49DD4}"/>
              </a:ext>
            </a:extLst>
          </p:cNvPr>
          <p:cNvSpPr txBox="1"/>
          <p:nvPr/>
        </p:nvSpPr>
        <p:spPr>
          <a:xfrm>
            <a:off x="997022" y="929961"/>
            <a:ext cx="10498238" cy="369332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Relembre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retomar conhecimentos já adquiridos por meio de atividades simples/exercícios que abordem conceitos previamente trabalhados com os estudantes. 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70E5B302-7FBE-4868-BC6E-BCF639534C73}"/>
              </a:ext>
            </a:extLst>
          </p:cNvPr>
          <p:cNvGrpSpPr/>
          <p:nvPr/>
        </p:nvGrpSpPr>
        <p:grpSpPr>
          <a:xfrm>
            <a:off x="481421" y="899318"/>
            <a:ext cx="386079" cy="382464"/>
            <a:chOff x="487003" y="899318"/>
            <a:chExt cx="386079" cy="382464"/>
          </a:xfrm>
        </p:grpSpPr>
        <p:sp>
          <p:nvSpPr>
            <p:cNvPr id="27" name="Oval 12">
              <a:extLst>
                <a:ext uri="{FF2B5EF4-FFF2-40B4-BE49-F238E27FC236}">
                  <a16:creationId xmlns:a16="http://schemas.microsoft.com/office/drawing/2014/main" id="{B88D8667-7C1D-4551-92E2-31B8DC724952}"/>
                </a:ext>
              </a:extLst>
            </p:cNvPr>
            <p:cNvSpPr/>
            <p:nvPr/>
          </p:nvSpPr>
          <p:spPr>
            <a:xfrm>
              <a:off x="487003" y="8993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" name="Google Shape;2216;p100">
              <a:extLst>
                <a:ext uri="{FF2B5EF4-FFF2-40B4-BE49-F238E27FC236}">
                  <a16:creationId xmlns:a16="http://schemas.microsoft.com/office/drawing/2014/main" id="{7C5933F0-BEC9-449C-8CF1-32FBD63F9BB8}"/>
                </a:ext>
              </a:extLst>
            </p:cNvPr>
            <p:cNvSpPr/>
            <p:nvPr/>
          </p:nvSpPr>
          <p:spPr>
            <a:xfrm>
              <a:off x="559059" y="997874"/>
              <a:ext cx="237235" cy="200737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2920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3F6D458-5F86-48C5-E994-674E3858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DE4DE52B-E787-4E3F-951A-9240117BCFBF}"/>
              </a:ext>
            </a:extLst>
          </p:cNvPr>
          <p:cNvSpPr/>
          <p:nvPr/>
        </p:nvSpPr>
        <p:spPr>
          <a:xfrm>
            <a:off x="0" y="280593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3" name="Conector Reto 6">
            <a:extLst>
              <a:ext uri="{FF2B5EF4-FFF2-40B4-BE49-F238E27FC236}">
                <a16:creationId xmlns:a16="http://schemas.microsoft.com/office/drawing/2014/main" id="{E6ABFD9C-964B-47DA-97F3-0D856D1ED37B}"/>
              </a:ext>
            </a:extLst>
          </p:cNvPr>
          <p:cNvCxnSpPr>
            <a:cxnSpLocks/>
          </p:cNvCxnSpPr>
          <p:nvPr/>
        </p:nvCxnSpPr>
        <p:spPr>
          <a:xfrm flipV="1">
            <a:off x="680042" y="544760"/>
            <a:ext cx="0" cy="5533921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43B31C-AD8A-2CF9-B6AD-E454490F90EA}"/>
              </a:ext>
            </a:extLst>
          </p:cNvPr>
          <p:cNvSpPr txBox="1"/>
          <p:nvPr/>
        </p:nvSpPr>
        <p:spPr>
          <a:xfrm>
            <a:off x="985519" y="296229"/>
            <a:ext cx="10361353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spAutoFit/>
          </a:bodyPr>
          <a:lstStyle/>
          <a:p>
            <a:pPr algn="l"/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</a:t>
            </a:r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7</a:t>
            </a:r>
            <a:endParaRPr lang="pt-BR" sz="3000" b="1" noProof="0" dirty="0">
              <a:solidFill>
                <a:schemeClr val="bg1"/>
              </a:solidFill>
              <a:latin typeface="Poppins" panose="00000500000000000000" pitchFamily="2" charset="0"/>
              <a:cs typeface="Poppins"/>
            </a:endParaRP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44B1FAB7-84A6-7D4F-4F92-C9C751DA2D22}"/>
              </a:ext>
            </a:extLst>
          </p:cNvPr>
          <p:cNvGrpSpPr/>
          <p:nvPr/>
        </p:nvGrpSpPr>
        <p:grpSpPr>
          <a:xfrm>
            <a:off x="481421" y="1442733"/>
            <a:ext cx="386079" cy="382464"/>
            <a:chOff x="477262" y="1677273"/>
            <a:chExt cx="386079" cy="382464"/>
          </a:xfrm>
        </p:grpSpPr>
        <p:sp>
          <p:nvSpPr>
            <p:cNvPr id="34" name="Oval 11">
              <a:extLst>
                <a:ext uri="{FF2B5EF4-FFF2-40B4-BE49-F238E27FC236}">
                  <a16:creationId xmlns:a16="http://schemas.microsoft.com/office/drawing/2014/main" id="{C0AC423A-FADE-1B5C-B0A1-D68263B872E9}"/>
                </a:ext>
              </a:extLst>
            </p:cNvPr>
            <p:cNvSpPr/>
            <p:nvPr/>
          </p:nvSpPr>
          <p:spPr>
            <a:xfrm>
              <a:off x="477262" y="1677273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5" name="Imagem 34">
              <a:extLst>
                <a:ext uri="{FF2B5EF4-FFF2-40B4-BE49-F238E27FC236}">
                  <a16:creationId xmlns:a16="http://schemas.microsoft.com/office/drawing/2014/main" id="{11E3C893-C594-359F-3C9E-B150FE11C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95493" y="1770979"/>
              <a:ext cx="154445" cy="193056"/>
            </a:xfrm>
            <a:prstGeom prst="rect">
              <a:avLst/>
            </a:prstGeom>
          </p:spPr>
        </p:pic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F56DDF5A-3C90-2C0F-9599-C092F0DD035B}"/>
              </a:ext>
            </a:extLst>
          </p:cNvPr>
          <p:cNvGrpSpPr/>
          <p:nvPr/>
        </p:nvGrpSpPr>
        <p:grpSpPr>
          <a:xfrm>
            <a:off x="481421" y="2115544"/>
            <a:ext cx="386079" cy="382464"/>
            <a:chOff x="488157" y="2308518"/>
            <a:chExt cx="386079" cy="382464"/>
          </a:xfrm>
        </p:grpSpPr>
        <p:sp>
          <p:nvSpPr>
            <p:cNvPr id="37" name="Oval 10">
              <a:extLst>
                <a:ext uri="{FF2B5EF4-FFF2-40B4-BE49-F238E27FC236}">
                  <a16:creationId xmlns:a16="http://schemas.microsoft.com/office/drawing/2014/main" id="{239D9A44-786E-E74E-5E7B-2C99A28851C2}"/>
                </a:ext>
              </a:extLst>
            </p:cNvPr>
            <p:cNvSpPr/>
            <p:nvPr/>
          </p:nvSpPr>
          <p:spPr>
            <a:xfrm>
              <a:off x="488157" y="23085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Google Shape;2223;p100">
              <a:extLst>
                <a:ext uri="{FF2B5EF4-FFF2-40B4-BE49-F238E27FC236}">
                  <a16:creationId xmlns:a16="http://schemas.microsoft.com/office/drawing/2014/main" id="{DE57BAEA-FB20-06F2-1BDC-6A8D8691948A}"/>
                </a:ext>
              </a:extLst>
            </p:cNvPr>
            <p:cNvSpPr>
              <a:spLocks/>
            </p:cNvSpPr>
            <p:nvPr/>
          </p:nvSpPr>
          <p:spPr>
            <a:xfrm>
              <a:off x="557168" y="2386948"/>
              <a:ext cx="245745" cy="226842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C3A28CF0-D844-ED99-B1B6-DC52E73C1755}"/>
              </a:ext>
            </a:extLst>
          </p:cNvPr>
          <p:cNvGrpSpPr/>
          <p:nvPr/>
        </p:nvGrpSpPr>
        <p:grpSpPr>
          <a:xfrm>
            <a:off x="481421" y="2813462"/>
            <a:ext cx="386079" cy="382464"/>
            <a:chOff x="453903" y="3103350"/>
            <a:chExt cx="386079" cy="382464"/>
          </a:xfrm>
        </p:grpSpPr>
        <p:sp>
          <p:nvSpPr>
            <p:cNvPr id="43" name="Oval 9">
              <a:extLst>
                <a:ext uri="{FF2B5EF4-FFF2-40B4-BE49-F238E27FC236}">
                  <a16:creationId xmlns:a16="http://schemas.microsoft.com/office/drawing/2014/main" id="{A4BB93AC-71AC-EA74-E6A9-E186E216BE31}"/>
                </a:ext>
              </a:extLst>
            </p:cNvPr>
            <p:cNvSpPr/>
            <p:nvPr/>
          </p:nvSpPr>
          <p:spPr>
            <a:xfrm>
              <a:off x="453903" y="3103350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4" name="Gráfico 43">
              <a:extLst>
                <a:ext uri="{FF2B5EF4-FFF2-40B4-BE49-F238E27FC236}">
                  <a16:creationId xmlns:a16="http://schemas.microsoft.com/office/drawing/2014/main" id="{26CDC9D8-2E52-3496-E538-14311614C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1968" y="3173805"/>
              <a:ext cx="235296" cy="240643"/>
            </a:xfrm>
            <a:prstGeom prst="rect">
              <a:avLst/>
            </a:prstGeom>
          </p:spPr>
        </p:pic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60495A4-545E-491B-97FF-24221FD25465}"/>
              </a:ext>
            </a:extLst>
          </p:cNvPr>
          <p:cNvSpPr txBox="1"/>
          <p:nvPr/>
        </p:nvSpPr>
        <p:spPr>
          <a:xfrm>
            <a:off x="997022" y="929961"/>
            <a:ext cx="10498238" cy="4062651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Colocando em prática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é levar os estudantes a aplicarem os conhecimentos construídos durante a aula, incentivando-os a promover autonomia, senso crítico, criatividade. </a:t>
            </a: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35 minutos.</a:t>
            </a:r>
          </a:p>
          <a:p>
            <a:pPr rtl="0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Explique aos alunos que o exercício não envolve o uso de software, mas sim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a construção do raciocínio estratégico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por trás de uma boa apresentação de dados.</a:t>
            </a:r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Professor, peça aos alunos que abram o roteiro da atividade.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Explore o contexto, reforçando conceitos importantes sobre o que seriam gráficos adequados.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os cenários de análise de dados (meios de transporte e acessos ao dashboard), destacando como cada um requer um tipo de gráfico diferente.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Explique que o desafio é identificar erros e gráficos inadequados, justificando as escolhas que melhor representam os dados.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As duplas devem observar os dados e responder às perguntas do roteiro, discutindo qual gráfico comunica melhor cada situação.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Incentive-os a identificarem erros na forma de representação que possam distorcer a análise.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Após análise, as duplas devem recriar uma versão adequada para os gráficos no caderno, na mão mesmo – não é necessário que seja alinhado, mas que se apresente de forma mais adequada.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Circule pela sala para ouvir as discussões, tirar dúvidas e garantir que estão focados em criar um objetivo claro e uma ação específica.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Estimule a turma a refletir: “Esse gráfico comunica bem a informação?” ou “Há algo que possa gerar confusão na leitura?”.</a:t>
            </a:r>
          </a:p>
          <a:p>
            <a:pPr lvl="1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Encerre destacando que em ciência de dados, o gráfico é parte essencial da mensagem, devendo sempre ser claro, proporcional e fiel aos dados originais.</a:t>
            </a: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789C4C66-787D-4338-B6A5-DB38768A83A0}"/>
              </a:ext>
            </a:extLst>
          </p:cNvPr>
          <p:cNvGrpSpPr/>
          <p:nvPr/>
        </p:nvGrpSpPr>
        <p:grpSpPr>
          <a:xfrm>
            <a:off x="481421" y="899318"/>
            <a:ext cx="386079" cy="382464"/>
            <a:chOff x="487003" y="899318"/>
            <a:chExt cx="386079" cy="382464"/>
          </a:xfrm>
        </p:grpSpPr>
        <p:sp>
          <p:nvSpPr>
            <p:cNvPr id="25" name="Oval 12">
              <a:extLst>
                <a:ext uri="{FF2B5EF4-FFF2-40B4-BE49-F238E27FC236}">
                  <a16:creationId xmlns:a16="http://schemas.microsoft.com/office/drawing/2014/main" id="{4055AF99-6361-4426-9066-97A37804BF7C}"/>
                </a:ext>
              </a:extLst>
            </p:cNvPr>
            <p:cNvSpPr/>
            <p:nvPr/>
          </p:nvSpPr>
          <p:spPr>
            <a:xfrm>
              <a:off x="487003" y="8993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" name="Google Shape;2216;p100">
              <a:extLst>
                <a:ext uri="{FF2B5EF4-FFF2-40B4-BE49-F238E27FC236}">
                  <a16:creationId xmlns:a16="http://schemas.microsoft.com/office/drawing/2014/main" id="{D7505BC3-C59F-4008-A9A7-0514012F4CA7}"/>
                </a:ext>
              </a:extLst>
            </p:cNvPr>
            <p:cNvSpPr/>
            <p:nvPr/>
          </p:nvSpPr>
          <p:spPr>
            <a:xfrm>
              <a:off x="559059" y="997874"/>
              <a:ext cx="237235" cy="200737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2B4EB28E-B1C5-414C-8AB4-804B3AB1523F}"/>
              </a:ext>
            </a:extLst>
          </p:cNvPr>
          <p:cNvGrpSpPr/>
          <p:nvPr/>
        </p:nvGrpSpPr>
        <p:grpSpPr>
          <a:xfrm>
            <a:off x="10232093" y="5926260"/>
            <a:ext cx="1744133" cy="406400"/>
            <a:chOff x="1310514" y="1144195"/>
            <a:chExt cx="1744133" cy="406400"/>
          </a:xfrm>
        </p:grpSpPr>
        <p:pic>
          <p:nvPicPr>
            <p:cNvPr id="39" name="Imagem 38">
              <a:extLst>
                <a:ext uri="{FF2B5EF4-FFF2-40B4-BE49-F238E27FC236}">
                  <a16:creationId xmlns:a16="http://schemas.microsoft.com/office/drawing/2014/main" id="{CFB8F06E-23A5-4958-80FD-7D5F730AD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10514" y="1144195"/>
              <a:ext cx="1744133" cy="406400"/>
            </a:xfrm>
            <a:prstGeom prst="rect">
              <a:avLst/>
            </a:prstGeom>
          </p:spPr>
        </p:pic>
        <p:grpSp>
          <p:nvGrpSpPr>
            <p:cNvPr id="40" name="Gráfico 85">
              <a:extLst>
                <a:ext uri="{FF2B5EF4-FFF2-40B4-BE49-F238E27FC236}">
                  <a16:creationId xmlns:a16="http://schemas.microsoft.com/office/drawing/2014/main" id="{CD8C13EF-4BDC-48D1-81BF-8AA38678BB53}"/>
                </a:ext>
              </a:extLst>
            </p:cNvPr>
            <p:cNvGrpSpPr/>
            <p:nvPr/>
          </p:nvGrpSpPr>
          <p:grpSpPr>
            <a:xfrm>
              <a:off x="1544140" y="1244659"/>
              <a:ext cx="1172441" cy="199070"/>
              <a:chOff x="2316209" y="1866988"/>
              <a:chExt cx="1758662" cy="298605"/>
            </a:xfrm>
            <a:solidFill>
              <a:srgbClr val="FFFFFF"/>
            </a:solidFill>
          </p:grpSpPr>
          <p:sp>
            <p:nvSpPr>
              <p:cNvPr id="41" name="Forma Livre 47">
                <a:extLst>
                  <a:ext uri="{FF2B5EF4-FFF2-40B4-BE49-F238E27FC236}">
                    <a16:creationId xmlns:a16="http://schemas.microsoft.com/office/drawing/2014/main" id="{8F81C1BA-DD68-4BAD-9D59-426BDB667396}"/>
                  </a:ext>
                </a:extLst>
              </p:cNvPr>
              <p:cNvSpPr/>
              <p:nvPr/>
            </p:nvSpPr>
            <p:spPr>
              <a:xfrm>
                <a:off x="2316209" y="1900613"/>
                <a:ext cx="256393" cy="263805"/>
              </a:xfrm>
              <a:custGeom>
                <a:avLst/>
                <a:gdLst>
                  <a:gd name="connsiteX0" fmla="*/ 16815 w 256393"/>
                  <a:gd name="connsiteY0" fmla="*/ 63645 h 263805"/>
                  <a:gd name="connsiteX1" fmla="*/ 63695 w 256393"/>
                  <a:gd name="connsiteY1" fmla="*/ 16771 h 263805"/>
                  <a:gd name="connsiteX2" fmla="*/ 131891 w 256393"/>
                  <a:gd name="connsiteY2" fmla="*/ 0 h 263805"/>
                  <a:gd name="connsiteX3" fmla="*/ 211892 w 256393"/>
                  <a:gd name="connsiteY3" fmla="*/ 24318 h 263805"/>
                  <a:gd name="connsiteX4" fmla="*/ 256394 w 256393"/>
                  <a:gd name="connsiteY4" fmla="*/ 90730 h 263805"/>
                  <a:gd name="connsiteX5" fmla="*/ 186159 w 256393"/>
                  <a:gd name="connsiteY5" fmla="*/ 90730 h 263805"/>
                  <a:gd name="connsiteX6" fmla="*/ 163909 w 256393"/>
                  <a:gd name="connsiteY6" fmla="*/ 65993 h 263805"/>
                  <a:gd name="connsiteX7" fmla="*/ 131212 w 256393"/>
                  <a:gd name="connsiteY7" fmla="*/ 57524 h 263805"/>
                  <a:gd name="connsiteX8" fmla="*/ 83398 w 256393"/>
                  <a:gd name="connsiteY8" fmla="*/ 77817 h 263805"/>
                  <a:gd name="connsiteX9" fmla="*/ 65054 w 256393"/>
                  <a:gd name="connsiteY9" fmla="*/ 132071 h 263805"/>
                  <a:gd name="connsiteX10" fmla="*/ 83398 w 256393"/>
                  <a:gd name="connsiteY10" fmla="*/ 186324 h 263805"/>
                  <a:gd name="connsiteX11" fmla="*/ 131212 w 256393"/>
                  <a:gd name="connsiteY11" fmla="*/ 206617 h 263805"/>
                  <a:gd name="connsiteX12" fmla="*/ 163909 w 256393"/>
                  <a:gd name="connsiteY12" fmla="*/ 198148 h 263805"/>
                  <a:gd name="connsiteX13" fmla="*/ 186159 w 256393"/>
                  <a:gd name="connsiteY13" fmla="*/ 173411 h 263805"/>
                  <a:gd name="connsiteX14" fmla="*/ 256394 w 256393"/>
                  <a:gd name="connsiteY14" fmla="*/ 173411 h 263805"/>
                  <a:gd name="connsiteX15" fmla="*/ 211892 w 256393"/>
                  <a:gd name="connsiteY15" fmla="*/ 239656 h 263805"/>
                  <a:gd name="connsiteX16" fmla="*/ 131891 w 256393"/>
                  <a:gd name="connsiteY16" fmla="*/ 263806 h 263805"/>
                  <a:gd name="connsiteX17" fmla="*/ 63695 w 256393"/>
                  <a:gd name="connsiteY17" fmla="*/ 247035 h 263805"/>
                  <a:gd name="connsiteX18" fmla="*/ 16815 w 256393"/>
                  <a:gd name="connsiteY18" fmla="*/ 200328 h 263805"/>
                  <a:gd name="connsiteX19" fmla="*/ 0 w 256393"/>
                  <a:gd name="connsiteY19" fmla="*/ 132071 h 263805"/>
                  <a:gd name="connsiteX20" fmla="*/ 16815 w 256393"/>
                  <a:gd name="connsiteY20" fmla="*/ 63645 h 263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6393" h="263805">
                    <a:moveTo>
                      <a:pt x="16815" y="63645"/>
                    </a:moveTo>
                    <a:cubicBezTo>
                      <a:pt x="28026" y="43604"/>
                      <a:pt x="43652" y="28007"/>
                      <a:pt x="63695" y="16771"/>
                    </a:cubicBezTo>
                    <a:cubicBezTo>
                      <a:pt x="83738" y="5618"/>
                      <a:pt x="106498" y="0"/>
                      <a:pt x="131891" y="0"/>
                    </a:cubicBezTo>
                    <a:cubicBezTo>
                      <a:pt x="163059" y="0"/>
                      <a:pt x="189726" y="8134"/>
                      <a:pt x="211892" y="24318"/>
                    </a:cubicBezTo>
                    <a:cubicBezTo>
                      <a:pt x="234058" y="40586"/>
                      <a:pt x="248920" y="62723"/>
                      <a:pt x="256394" y="90730"/>
                    </a:cubicBezTo>
                    <a:lnTo>
                      <a:pt x="186159" y="90730"/>
                    </a:lnTo>
                    <a:cubicBezTo>
                      <a:pt x="180894" y="79913"/>
                      <a:pt x="173505" y="71696"/>
                      <a:pt x="163909" y="65993"/>
                    </a:cubicBezTo>
                    <a:cubicBezTo>
                      <a:pt x="154312" y="60375"/>
                      <a:pt x="143441" y="57524"/>
                      <a:pt x="131212" y="57524"/>
                    </a:cubicBezTo>
                    <a:cubicBezTo>
                      <a:pt x="111509" y="57524"/>
                      <a:pt x="95543" y="64316"/>
                      <a:pt x="83398" y="77817"/>
                    </a:cubicBezTo>
                    <a:cubicBezTo>
                      <a:pt x="71169" y="91317"/>
                      <a:pt x="65054" y="109430"/>
                      <a:pt x="65054" y="132071"/>
                    </a:cubicBezTo>
                    <a:cubicBezTo>
                      <a:pt x="65054" y="154711"/>
                      <a:pt x="71169" y="172824"/>
                      <a:pt x="83398" y="186324"/>
                    </a:cubicBezTo>
                    <a:cubicBezTo>
                      <a:pt x="95627" y="199825"/>
                      <a:pt x="111509" y="206617"/>
                      <a:pt x="131212" y="206617"/>
                    </a:cubicBezTo>
                    <a:cubicBezTo>
                      <a:pt x="143441" y="206617"/>
                      <a:pt x="154312" y="203766"/>
                      <a:pt x="163909" y="198148"/>
                    </a:cubicBezTo>
                    <a:cubicBezTo>
                      <a:pt x="173505" y="192530"/>
                      <a:pt x="180894" y="184228"/>
                      <a:pt x="186159" y="173411"/>
                    </a:cubicBezTo>
                    <a:lnTo>
                      <a:pt x="256394" y="173411"/>
                    </a:lnTo>
                    <a:cubicBezTo>
                      <a:pt x="248920" y="201418"/>
                      <a:pt x="234058" y="223556"/>
                      <a:pt x="211892" y="239656"/>
                    </a:cubicBezTo>
                    <a:cubicBezTo>
                      <a:pt x="189726" y="255756"/>
                      <a:pt x="163059" y="263806"/>
                      <a:pt x="131891" y="263806"/>
                    </a:cubicBezTo>
                    <a:cubicBezTo>
                      <a:pt x="106498" y="263806"/>
                      <a:pt x="83738" y="258188"/>
                      <a:pt x="63695" y="247035"/>
                    </a:cubicBezTo>
                    <a:cubicBezTo>
                      <a:pt x="43652" y="235882"/>
                      <a:pt x="28026" y="220285"/>
                      <a:pt x="16815" y="200328"/>
                    </a:cubicBezTo>
                    <a:cubicBezTo>
                      <a:pt x="5605" y="180371"/>
                      <a:pt x="0" y="157646"/>
                      <a:pt x="0" y="132071"/>
                    </a:cubicBezTo>
                    <a:cubicBezTo>
                      <a:pt x="0" y="106495"/>
                      <a:pt x="5605" y="83687"/>
                      <a:pt x="16815" y="636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5" name="Forma Livre 48">
                <a:extLst>
                  <a:ext uri="{FF2B5EF4-FFF2-40B4-BE49-F238E27FC236}">
                    <a16:creationId xmlns:a16="http://schemas.microsoft.com/office/drawing/2014/main" id="{46F80C65-7C10-4603-B0C6-796D34D5171A}"/>
                  </a:ext>
                </a:extLst>
              </p:cNvPr>
              <p:cNvSpPr/>
              <p:nvPr/>
            </p:nvSpPr>
            <p:spPr>
              <a:xfrm>
                <a:off x="2599100" y="1953777"/>
                <a:ext cx="216733" cy="211816"/>
              </a:xfrm>
              <a:custGeom>
                <a:avLst/>
                <a:gdLst>
                  <a:gd name="connsiteX0" fmla="*/ 52485 w 216733"/>
                  <a:gd name="connsiteY0" fmla="*/ 198903 h 211816"/>
                  <a:gd name="connsiteX1" fmla="*/ 14013 w 216733"/>
                  <a:gd name="connsiteY1" fmla="*/ 162007 h 211816"/>
                  <a:gd name="connsiteX2" fmla="*/ 0 w 216733"/>
                  <a:gd name="connsiteY2" fmla="*/ 105908 h 211816"/>
                  <a:gd name="connsiteX3" fmla="*/ 14183 w 216733"/>
                  <a:gd name="connsiteY3" fmla="*/ 49977 h 211816"/>
                  <a:gd name="connsiteX4" fmla="*/ 53079 w 216733"/>
                  <a:gd name="connsiteY4" fmla="*/ 12914 h 211816"/>
                  <a:gd name="connsiteX5" fmla="*/ 108367 w 216733"/>
                  <a:gd name="connsiteY5" fmla="*/ 0 h 211816"/>
                  <a:gd name="connsiteX6" fmla="*/ 163654 w 216733"/>
                  <a:gd name="connsiteY6" fmla="*/ 12914 h 211816"/>
                  <a:gd name="connsiteX7" fmla="*/ 202550 w 216733"/>
                  <a:gd name="connsiteY7" fmla="*/ 49977 h 211816"/>
                  <a:gd name="connsiteX8" fmla="*/ 216733 w 216733"/>
                  <a:gd name="connsiteY8" fmla="*/ 105908 h 211816"/>
                  <a:gd name="connsiteX9" fmla="*/ 202380 w 216733"/>
                  <a:gd name="connsiteY9" fmla="*/ 161839 h 211816"/>
                  <a:gd name="connsiteX10" fmla="*/ 163144 w 216733"/>
                  <a:gd name="connsiteY10" fmla="*/ 198903 h 211816"/>
                  <a:gd name="connsiteX11" fmla="*/ 107687 w 216733"/>
                  <a:gd name="connsiteY11" fmla="*/ 211816 h 211816"/>
                  <a:gd name="connsiteX12" fmla="*/ 52570 w 216733"/>
                  <a:gd name="connsiteY12" fmla="*/ 198903 h 211816"/>
                  <a:gd name="connsiteX13" fmla="*/ 138855 w 216733"/>
                  <a:gd name="connsiteY13" fmla="*/ 143894 h 211816"/>
                  <a:gd name="connsiteX14" fmla="*/ 151764 w 216733"/>
                  <a:gd name="connsiteY14" fmla="*/ 105908 h 211816"/>
                  <a:gd name="connsiteX15" fmla="*/ 139280 w 216733"/>
                  <a:gd name="connsiteY15" fmla="*/ 67922 h 211816"/>
                  <a:gd name="connsiteX16" fmla="*/ 108451 w 216733"/>
                  <a:gd name="connsiteY16" fmla="*/ 54673 h 211816"/>
                  <a:gd name="connsiteX17" fmla="*/ 77453 w 216733"/>
                  <a:gd name="connsiteY17" fmla="*/ 67754 h 211816"/>
                  <a:gd name="connsiteX18" fmla="*/ 65139 w 216733"/>
                  <a:gd name="connsiteY18" fmla="*/ 105908 h 211816"/>
                  <a:gd name="connsiteX19" fmla="*/ 77283 w 216733"/>
                  <a:gd name="connsiteY19" fmla="*/ 143894 h 211816"/>
                  <a:gd name="connsiteX20" fmla="*/ 107772 w 216733"/>
                  <a:gd name="connsiteY20" fmla="*/ 157143 h 211816"/>
                  <a:gd name="connsiteX21" fmla="*/ 138940 w 216733"/>
                  <a:gd name="connsiteY21" fmla="*/ 143894 h 211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6733" h="211816">
                    <a:moveTo>
                      <a:pt x="52485" y="198903"/>
                    </a:moveTo>
                    <a:cubicBezTo>
                      <a:pt x="36179" y="190266"/>
                      <a:pt x="23355" y="178023"/>
                      <a:pt x="14013" y="162007"/>
                    </a:cubicBezTo>
                    <a:cubicBezTo>
                      <a:pt x="4671" y="145991"/>
                      <a:pt x="0" y="127291"/>
                      <a:pt x="0" y="105908"/>
                    </a:cubicBezTo>
                    <a:cubicBezTo>
                      <a:pt x="0" y="84525"/>
                      <a:pt x="4756" y="66077"/>
                      <a:pt x="14183" y="49977"/>
                    </a:cubicBezTo>
                    <a:cubicBezTo>
                      <a:pt x="23610" y="33877"/>
                      <a:pt x="36603" y="21467"/>
                      <a:pt x="53079" y="12914"/>
                    </a:cubicBezTo>
                    <a:cubicBezTo>
                      <a:pt x="69555" y="4277"/>
                      <a:pt x="87984" y="0"/>
                      <a:pt x="108367" y="0"/>
                    </a:cubicBezTo>
                    <a:cubicBezTo>
                      <a:pt x="128749" y="0"/>
                      <a:pt x="147263" y="4277"/>
                      <a:pt x="163654" y="12914"/>
                    </a:cubicBezTo>
                    <a:cubicBezTo>
                      <a:pt x="180130" y="21551"/>
                      <a:pt x="193038" y="33877"/>
                      <a:pt x="202550" y="49977"/>
                    </a:cubicBezTo>
                    <a:cubicBezTo>
                      <a:pt x="211977" y="66077"/>
                      <a:pt x="216733" y="84693"/>
                      <a:pt x="216733" y="105908"/>
                    </a:cubicBezTo>
                    <a:cubicBezTo>
                      <a:pt x="216733" y="127123"/>
                      <a:pt x="211892" y="145739"/>
                      <a:pt x="202380" y="161839"/>
                    </a:cubicBezTo>
                    <a:cubicBezTo>
                      <a:pt x="192784" y="177939"/>
                      <a:pt x="179705" y="190349"/>
                      <a:pt x="163144" y="198903"/>
                    </a:cubicBezTo>
                    <a:cubicBezTo>
                      <a:pt x="146584" y="207540"/>
                      <a:pt x="128069" y="211816"/>
                      <a:pt x="107687" y="211816"/>
                    </a:cubicBezTo>
                    <a:cubicBezTo>
                      <a:pt x="87305" y="211816"/>
                      <a:pt x="68876" y="207540"/>
                      <a:pt x="52570" y="198903"/>
                    </a:cubicBezTo>
                    <a:close/>
                    <a:moveTo>
                      <a:pt x="138855" y="143894"/>
                    </a:moveTo>
                    <a:cubicBezTo>
                      <a:pt x="147433" y="135006"/>
                      <a:pt x="151764" y="122344"/>
                      <a:pt x="151764" y="105908"/>
                    </a:cubicBezTo>
                    <a:cubicBezTo>
                      <a:pt x="151764" y="89473"/>
                      <a:pt x="147603" y="76727"/>
                      <a:pt x="139280" y="67922"/>
                    </a:cubicBezTo>
                    <a:cubicBezTo>
                      <a:pt x="130957" y="59033"/>
                      <a:pt x="120681" y="54673"/>
                      <a:pt x="108451" y="54673"/>
                    </a:cubicBezTo>
                    <a:cubicBezTo>
                      <a:pt x="96222" y="54673"/>
                      <a:pt x="85691" y="59033"/>
                      <a:pt x="77453" y="67754"/>
                    </a:cubicBezTo>
                    <a:cubicBezTo>
                      <a:pt x="69215" y="76475"/>
                      <a:pt x="65139" y="89221"/>
                      <a:pt x="65139" y="105908"/>
                    </a:cubicBezTo>
                    <a:cubicBezTo>
                      <a:pt x="65139" y="122595"/>
                      <a:pt x="69215" y="135089"/>
                      <a:pt x="77283" y="143894"/>
                    </a:cubicBezTo>
                    <a:cubicBezTo>
                      <a:pt x="85351" y="152783"/>
                      <a:pt x="95543" y="157143"/>
                      <a:pt x="107772" y="157143"/>
                    </a:cubicBezTo>
                    <a:cubicBezTo>
                      <a:pt x="120001" y="157143"/>
                      <a:pt x="130362" y="152699"/>
                      <a:pt x="138940" y="1438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6" name="Forma Livre 49">
                <a:extLst>
                  <a:ext uri="{FF2B5EF4-FFF2-40B4-BE49-F238E27FC236}">
                    <a16:creationId xmlns:a16="http://schemas.microsoft.com/office/drawing/2014/main" id="{90924832-8DFE-47A8-8371-5CC6F5CA4E32}"/>
                  </a:ext>
                </a:extLst>
              </p:cNvPr>
              <p:cNvSpPr/>
              <p:nvPr/>
            </p:nvSpPr>
            <p:spPr>
              <a:xfrm>
                <a:off x="2849888" y="1954616"/>
                <a:ext cx="207391" cy="208042"/>
              </a:xfrm>
              <a:custGeom>
                <a:avLst/>
                <a:gdLst>
                  <a:gd name="connsiteX0" fmla="*/ 185565 w 207391"/>
                  <a:gd name="connsiteY0" fmla="*/ 23312 h 208042"/>
                  <a:gd name="connsiteX1" fmla="*/ 207391 w 207391"/>
                  <a:gd name="connsiteY1" fmla="*/ 87712 h 208042"/>
                  <a:gd name="connsiteX2" fmla="*/ 207391 w 207391"/>
                  <a:gd name="connsiteY2" fmla="*/ 208043 h 208042"/>
                  <a:gd name="connsiteX3" fmla="*/ 143866 w 207391"/>
                  <a:gd name="connsiteY3" fmla="*/ 208043 h 208042"/>
                  <a:gd name="connsiteX4" fmla="*/ 143866 w 207391"/>
                  <a:gd name="connsiteY4" fmla="*/ 96265 h 208042"/>
                  <a:gd name="connsiteX5" fmla="*/ 132995 w 207391"/>
                  <a:gd name="connsiteY5" fmla="*/ 64149 h 208042"/>
                  <a:gd name="connsiteX6" fmla="*/ 103865 w 207391"/>
                  <a:gd name="connsiteY6" fmla="*/ 52744 h 208042"/>
                  <a:gd name="connsiteX7" fmla="*/ 74736 w 207391"/>
                  <a:gd name="connsiteY7" fmla="*/ 64149 h 208042"/>
                  <a:gd name="connsiteX8" fmla="*/ 63865 w 207391"/>
                  <a:gd name="connsiteY8" fmla="*/ 96265 h 208042"/>
                  <a:gd name="connsiteX9" fmla="*/ 63865 w 207391"/>
                  <a:gd name="connsiteY9" fmla="*/ 208043 h 208042"/>
                  <a:gd name="connsiteX10" fmla="*/ 0 w 207391"/>
                  <a:gd name="connsiteY10" fmla="*/ 208043 h 208042"/>
                  <a:gd name="connsiteX11" fmla="*/ 0 w 207391"/>
                  <a:gd name="connsiteY11" fmla="*/ 2180 h 208042"/>
                  <a:gd name="connsiteX12" fmla="*/ 63865 w 207391"/>
                  <a:gd name="connsiteY12" fmla="*/ 2180 h 208042"/>
                  <a:gd name="connsiteX13" fmla="*/ 63865 w 207391"/>
                  <a:gd name="connsiteY13" fmla="*/ 29517 h 208042"/>
                  <a:gd name="connsiteX14" fmla="*/ 90022 w 207391"/>
                  <a:gd name="connsiteY14" fmla="*/ 7966 h 208042"/>
                  <a:gd name="connsiteX15" fmla="*/ 127050 w 207391"/>
                  <a:gd name="connsiteY15" fmla="*/ 0 h 208042"/>
                  <a:gd name="connsiteX16" fmla="*/ 185565 w 207391"/>
                  <a:gd name="connsiteY16" fmla="*/ 23395 h 208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7391" h="208042">
                    <a:moveTo>
                      <a:pt x="185565" y="23312"/>
                    </a:moveTo>
                    <a:cubicBezTo>
                      <a:pt x="200172" y="38908"/>
                      <a:pt x="207391" y="60375"/>
                      <a:pt x="207391" y="87712"/>
                    </a:cubicBezTo>
                    <a:lnTo>
                      <a:pt x="207391" y="208043"/>
                    </a:lnTo>
                    <a:lnTo>
                      <a:pt x="143866" y="208043"/>
                    </a:lnTo>
                    <a:lnTo>
                      <a:pt x="143866" y="96265"/>
                    </a:lnTo>
                    <a:cubicBezTo>
                      <a:pt x="143866" y="82513"/>
                      <a:pt x="140214" y="71779"/>
                      <a:pt x="132995" y="64149"/>
                    </a:cubicBezTo>
                    <a:cubicBezTo>
                      <a:pt x="125777" y="56518"/>
                      <a:pt x="116010" y="52744"/>
                      <a:pt x="103865" y="52744"/>
                    </a:cubicBezTo>
                    <a:cubicBezTo>
                      <a:pt x="91721" y="52744"/>
                      <a:pt x="81954" y="56602"/>
                      <a:pt x="74736" y="64149"/>
                    </a:cubicBezTo>
                    <a:cubicBezTo>
                      <a:pt x="67517" y="71779"/>
                      <a:pt x="63865" y="82513"/>
                      <a:pt x="63865" y="96265"/>
                    </a:cubicBezTo>
                    <a:lnTo>
                      <a:pt x="63865" y="208043"/>
                    </a:lnTo>
                    <a:lnTo>
                      <a:pt x="0" y="208043"/>
                    </a:lnTo>
                    <a:lnTo>
                      <a:pt x="0" y="2180"/>
                    </a:lnTo>
                    <a:lnTo>
                      <a:pt x="63865" y="2180"/>
                    </a:lnTo>
                    <a:lnTo>
                      <a:pt x="63865" y="29517"/>
                    </a:lnTo>
                    <a:cubicBezTo>
                      <a:pt x="70319" y="20460"/>
                      <a:pt x="79067" y="13249"/>
                      <a:pt x="90022" y="7966"/>
                    </a:cubicBezTo>
                    <a:cubicBezTo>
                      <a:pt x="100978" y="2683"/>
                      <a:pt x="113292" y="0"/>
                      <a:pt x="127050" y="0"/>
                    </a:cubicBezTo>
                    <a:cubicBezTo>
                      <a:pt x="151509" y="0"/>
                      <a:pt x="170958" y="7798"/>
                      <a:pt x="185565" y="233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7" name="Forma Livre 50">
                <a:extLst>
                  <a:ext uri="{FF2B5EF4-FFF2-40B4-BE49-F238E27FC236}">
                    <a16:creationId xmlns:a16="http://schemas.microsoft.com/office/drawing/2014/main" id="{31018D42-99AF-4E10-9817-061319E42C4F}"/>
                  </a:ext>
                </a:extLst>
              </p:cNvPr>
              <p:cNvSpPr/>
              <p:nvPr/>
            </p:nvSpPr>
            <p:spPr>
              <a:xfrm>
                <a:off x="3086409" y="1906483"/>
                <a:ext cx="131551" cy="256175"/>
              </a:xfrm>
              <a:custGeom>
                <a:avLst/>
                <a:gdLst>
                  <a:gd name="connsiteX0" fmla="*/ 131551 w 131551"/>
                  <a:gd name="connsiteY0" fmla="*/ 202676 h 256175"/>
                  <a:gd name="connsiteX1" fmla="*/ 131551 w 131551"/>
                  <a:gd name="connsiteY1" fmla="*/ 256175 h 256175"/>
                  <a:gd name="connsiteX2" fmla="*/ 99024 w 131551"/>
                  <a:gd name="connsiteY2" fmla="*/ 256175 h 256175"/>
                  <a:gd name="connsiteX3" fmla="*/ 44841 w 131551"/>
                  <a:gd name="connsiteY3" fmla="*/ 239404 h 256175"/>
                  <a:gd name="connsiteX4" fmla="*/ 25393 w 131551"/>
                  <a:gd name="connsiteY4" fmla="*/ 184564 h 256175"/>
                  <a:gd name="connsiteX5" fmla="*/ 25393 w 131551"/>
                  <a:gd name="connsiteY5" fmla="*/ 102638 h 256175"/>
                  <a:gd name="connsiteX6" fmla="*/ 0 w 131551"/>
                  <a:gd name="connsiteY6" fmla="*/ 102638 h 256175"/>
                  <a:gd name="connsiteX7" fmla="*/ 0 w 131551"/>
                  <a:gd name="connsiteY7" fmla="*/ 50229 h 256175"/>
                  <a:gd name="connsiteX8" fmla="*/ 25393 w 131551"/>
                  <a:gd name="connsiteY8" fmla="*/ 50229 h 256175"/>
                  <a:gd name="connsiteX9" fmla="*/ 25393 w 131551"/>
                  <a:gd name="connsiteY9" fmla="*/ 0 h 256175"/>
                  <a:gd name="connsiteX10" fmla="*/ 89343 w 131551"/>
                  <a:gd name="connsiteY10" fmla="*/ 0 h 256175"/>
                  <a:gd name="connsiteX11" fmla="*/ 89343 w 131551"/>
                  <a:gd name="connsiteY11" fmla="*/ 50229 h 256175"/>
                  <a:gd name="connsiteX12" fmla="*/ 131212 w 131551"/>
                  <a:gd name="connsiteY12" fmla="*/ 50229 h 256175"/>
                  <a:gd name="connsiteX13" fmla="*/ 131212 w 131551"/>
                  <a:gd name="connsiteY13" fmla="*/ 102638 h 256175"/>
                  <a:gd name="connsiteX14" fmla="*/ 89343 w 131551"/>
                  <a:gd name="connsiteY14" fmla="*/ 102638 h 256175"/>
                  <a:gd name="connsiteX15" fmla="*/ 89343 w 131551"/>
                  <a:gd name="connsiteY15" fmla="*/ 185318 h 256175"/>
                  <a:gd name="connsiteX16" fmla="*/ 93844 w 131551"/>
                  <a:gd name="connsiteY16" fmla="*/ 198567 h 256175"/>
                  <a:gd name="connsiteX17" fmla="*/ 108791 w 131551"/>
                  <a:gd name="connsiteY17" fmla="*/ 202592 h 256175"/>
                  <a:gd name="connsiteX18" fmla="*/ 131551 w 131551"/>
                  <a:gd name="connsiteY18" fmla="*/ 202592 h 256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551" h="256175">
                    <a:moveTo>
                      <a:pt x="131551" y="202676"/>
                    </a:moveTo>
                    <a:lnTo>
                      <a:pt x="131551" y="256175"/>
                    </a:lnTo>
                    <a:lnTo>
                      <a:pt x="99024" y="256175"/>
                    </a:lnTo>
                    <a:cubicBezTo>
                      <a:pt x="75839" y="256175"/>
                      <a:pt x="57750" y="250557"/>
                      <a:pt x="44841" y="239404"/>
                    </a:cubicBezTo>
                    <a:cubicBezTo>
                      <a:pt x="31932" y="228252"/>
                      <a:pt x="25393" y="209971"/>
                      <a:pt x="25393" y="184564"/>
                    </a:cubicBezTo>
                    <a:lnTo>
                      <a:pt x="25393" y="102638"/>
                    </a:lnTo>
                    <a:lnTo>
                      <a:pt x="0" y="102638"/>
                    </a:lnTo>
                    <a:lnTo>
                      <a:pt x="0" y="50229"/>
                    </a:lnTo>
                    <a:lnTo>
                      <a:pt x="25393" y="50229"/>
                    </a:lnTo>
                    <a:lnTo>
                      <a:pt x="25393" y="0"/>
                    </a:lnTo>
                    <a:lnTo>
                      <a:pt x="89343" y="0"/>
                    </a:lnTo>
                    <a:lnTo>
                      <a:pt x="89343" y="50229"/>
                    </a:lnTo>
                    <a:lnTo>
                      <a:pt x="131212" y="50229"/>
                    </a:lnTo>
                    <a:lnTo>
                      <a:pt x="131212" y="102638"/>
                    </a:lnTo>
                    <a:lnTo>
                      <a:pt x="89343" y="102638"/>
                    </a:lnTo>
                    <a:lnTo>
                      <a:pt x="89343" y="185318"/>
                    </a:lnTo>
                    <a:cubicBezTo>
                      <a:pt x="89343" y="191440"/>
                      <a:pt x="90872" y="195884"/>
                      <a:pt x="93844" y="198567"/>
                    </a:cubicBezTo>
                    <a:cubicBezTo>
                      <a:pt x="96816" y="201251"/>
                      <a:pt x="101827" y="202592"/>
                      <a:pt x="108791" y="202592"/>
                    </a:cubicBezTo>
                    <a:lnTo>
                      <a:pt x="131551" y="20259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8" name="Forma Livre 51">
                <a:extLst>
                  <a:ext uri="{FF2B5EF4-FFF2-40B4-BE49-F238E27FC236}">
                    <a16:creationId xmlns:a16="http://schemas.microsoft.com/office/drawing/2014/main" id="{D2FA28D2-08FF-471B-B77F-228192F6CB05}"/>
                  </a:ext>
                </a:extLst>
              </p:cNvPr>
              <p:cNvSpPr/>
              <p:nvPr/>
            </p:nvSpPr>
            <p:spPr>
              <a:xfrm>
                <a:off x="3247515" y="1866988"/>
                <a:ext cx="75754" cy="295586"/>
              </a:xfrm>
              <a:custGeom>
                <a:avLst/>
                <a:gdLst>
                  <a:gd name="connsiteX0" fmla="*/ 10616 w 75754"/>
                  <a:gd name="connsiteY0" fmla="*/ 58530 h 295586"/>
                  <a:gd name="connsiteX1" fmla="*/ 0 w 75754"/>
                  <a:gd name="connsiteY1" fmla="*/ 34380 h 295586"/>
                  <a:gd name="connsiteX2" fmla="*/ 10616 w 75754"/>
                  <a:gd name="connsiteY2" fmla="*/ 9811 h 295586"/>
                  <a:gd name="connsiteX3" fmla="*/ 38047 w 75754"/>
                  <a:gd name="connsiteY3" fmla="*/ 0 h 295586"/>
                  <a:gd name="connsiteX4" fmla="*/ 65139 w 75754"/>
                  <a:gd name="connsiteY4" fmla="*/ 9811 h 295586"/>
                  <a:gd name="connsiteX5" fmla="*/ 75755 w 75754"/>
                  <a:gd name="connsiteY5" fmla="*/ 34380 h 295586"/>
                  <a:gd name="connsiteX6" fmla="*/ 65139 w 75754"/>
                  <a:gd name="connsiteY6" fmla="*/ 58530 h 295586"/>
                  <a:gd name="connsiteX7" fmla="*/ 38047 w 75754"/>
                  <a:gd name="connsiteY7" fmla="*/ 68341 h 295586"/>
                  <a:gd name="connsiteX8" fmla="*/ 10616 w 75754"/>
                  <a:gd name="connsiteY8" fmla="*/ 58530 h 295586"/>
                  <a:gd name="connsiteX9" fmla="*/ 69895 w 75754"/>
                  <a:gd name="connsiteY9" fmla="*/ 89724 h 295586"/>
                  <a:gd name="connsiteX10" fmla="*/ 69895 w 75754"/>
                  <a:gd name="connsiteY10" fmla="*/ 295587 h 295586"/>
                  <a:gd name="connsiteX11" fmla="*/ 5945 w 75754"/>
                  <a:gd name="connsiteY11" fmla="*/ 295587 h 295586"/>
                  <a:gd name="connsiteX12" fmla="*/ 5945 w 75754"/>
                  <a:gd name="connsiteY12" fmla="*/ 89724 h 295586"/>
                  <a:gd name="connsiteX13" fmla="*/ 69895 w 75754"/>
                  <a:gd name="connsiteY13" fmla="*/ 89724 h 295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5754" h="295586">
                    <a:moveTo>
                      <a:pt x="10616" y="58530"/>
                    </a:moveTo>
                    <a:cubicBezTo>
                      <a:pt x="3482" y="51990"/>
                      <a:pt x="0" y="43940"/>
                      <a:pt x="0" y="34380"/>
                    </a:cubicBezTo>
                    <a:cubicBezTo>
                      <a:pt x="0" y="24821"/>
                      <a:pt x="3567" y="16352"/>
                      <a:pt x="10616" y="9811"/>
                    </a:cubicBezTo>
                    <a:cubicBezTo>
                      <a:pt x="17665" y="3270"/>
                      <a:pt x="26837" y="0"/>
                      <a:pt x="38047" y="0"/>
                    </a:cubicBezTo>
                    <a:cubicBezTo>
                      <a:pt x="49257" y="0"/>
                      <a:pt x="58005" y="3270"/>
                      <a:pt x="65139" y="9811"/>
                    </a:cubicBezTo>
                    <a:cubicBezTo>
                      <a:pt x="72273" y="16352"/>
                      <a:pt x="75755" y="24485"/>
                      <a:pt x="75755" y="34380"/>
                    </a:cubicBezTo>
                    <a:cubicBezTo>
                      <a:pt x="75755" y="44275"/>
                      <a:pt x="72188" y="52074"/>
                      <a:pt x="65139" y="58530"/>
                    </a:cubicBezTo>
                    <a:cubicBezTo>
                      <a:pt x="58090" y="64987"/>
                      <a:pt x="49003" y="68341"/>
                      <a:pt x="38047" y="68341"/>
                    </a:cubicBezTo>
                    <a:cubicBezTo>
                      <a:pt x="27092" y="68341"/>
                      <a:pt x="17665" y="65071"/>
                      <a:pt x="10616" y="58530"/>
                    </a:cubicBezTo>
                    <a:close/>
                    <a:moveTo>
                      <a:pt x="69895" y="89724"/>
                    </a:moveTo>
                    <a:lnTo>
                      <a:pt x="69895" y="295587"/>
                    </a:lnTo>
                    <a:lnTo>
                      <a:pt x="5945" y="295587"/>
                    </a:lnTo>
                    <a:lnTo>
                      <a:pt x="5945" y="89724"/>
                    </a:lnTo>
                    <a:lnTo>
                      <a:pt x="69895" y="8972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49" name="Forma Livre 52">
                <a:extLst>
                  <a:ext uri="{FF2B5EF4-FFF2-40B4-BE49-F238E27FC236}">
                    <a16:creationId xmlns:a16="http://schemas.microsoft.com/office/drawing/2014/main" id="{672DA21D-7757-4385-8A08-E4E22D300C6A}"/>
                  </a:ext>
                </a:extLst>
              </p:cNvPr>
              <p:cNvSpPr/>
              <p:nvPr/>
            </p:nvSpPr>
            <p:spPr>
              <a:xfrm>
                <a:off x="3363695" y="1954616"/>
                <a:ext cx="207391" cy="208042"/>
              </a:xfrm>
              <a:custGeom>
                <a:avLst/>
                <a:gdLst>
                  <a:gd name="connsiteX0" fmla="*/ 185565 w 207391"/>
                  <a:gd name="connsiteY0" fmla="*/ 23312 h 208042"/>
                  <a:gd name="connsiteX1" fmla="*/ 207391 w 207391"/>
                  <a:gd name="connsiteY1" fmla="*/ 87712 h 208042"/>
                  <a:gd name="connsiteX2" fmla="*/ 207391 w 207391"/>
                  <a:gd name="connsiteY2" fmla="*/ 208043 h 208042"/>
                  <a:gd name="connsiteX3" fmla="*/ 143866 w 207391"/>
                  <a:gd name="connsiteY3" fmla="*/ 208043 h 208042"/>
                  <a:gd name="connsiteX4" fmla="*/ 143866 w 207391"/>
                  <a:gd name="connsiteY4" fmla="*/ 96265 h 208042"/>
                  <a:gd name="connsiteX5" fmla="*/ 132995 w 207391"/>
                  <a:gd name="connsiteY5" fmla="*/ 64149 h 208042"/>
                  <a:gd name="connsiteX6" fmla="*/ 103865 w 207391"/>
                  <a:gd name="connsiteY6" fmla="*/ 52744 h 208042"/>
                  <a:gd name="connsiteX7" fmla="*/ 74736 w 207391"/>
                  <a:gd name="connsiteY7" fmla="*/ 64149 h 208042"/>
                  <a:gd name="connsiteX8" fmla="*/ 63865 w 207391"/>
                  <a:gd name="connsiteY8" fmla="*/ 96265 h 208042"/>
                  <a:gd name="connsiteX9" fmla="*/ 63865 w 207391"/>
                  <a:gd name="connsiteY9" fmla="*/ 208043 h 208042"/>
                  <a:gd name="connsiteX10" fmla="*/ 0 w 207391"/>
                  <a:gd name="connsiteY10" fmla="*/ 208043 h 208042"/>
                  <a:gd name="connsiteX11" fmla="*/ 0 w 207391"/>
                  <a:gd name="connsiteY11" fmla="*/ 2180 h 208042"/>
                  <a:gd name="connsiteX12" fmla="*/ 63865 w 207391"/>
                  <a:gd name="connsiteY12" fmla="*/ 2180 h 208042"/>
                  <a:gd name="connsiteX13" fmla="*/ 63865 w 207391"/>
                  <a:gd name="connsiteY13" fmla="*/ 29517 h 208042"/>
                  <a:gd name="connsiteX14" fmla="*/ 90022 w 207391"/>
                  <a:gd name="connsiteY14" fmla="*/ 7966 h 208042"/>
                  <a:gd name="connsiteX15" fmla="*/ 127050 w 207391"/>
                  <a:gd name="connsiteY15" fmla="*/ 0 h 208042"/>
                  <a:gd name="connsiteX16" fmla="*/ 185565 w 207391"/>
                  <a:gd name="connsiteY16" fmla="*/ 23395 h 208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7391" h="208042">
                    <a:moveTo>
                      <a:pt x="185565" y="23312"/>
                    </a:moveTo>
                    <a:cubicBezTo>
                      <a:pt x="200172" y="38908"/>
                      <a:pt x="207391" y="60375"/>
                      <a:pt x="207391" y="87712"/>
                    </a:cubicBezTo>
                    <a:lnTo>
                      <a:pt x="207391" y="208043"/>
                    </a:lnTo>
                    <a:lnTo>
                      <a:pt x="143866" y="208043"/>
                    </a:lnTo>
                    <a:lnTo>
                      <a:pt x="143866" y="96265"/>
                    </a:lnTo>
                    <a:cubicBezTo>
                      <a:pt x="143866" y="82513"/>
                      <a:pt x="140214" y="71779"/>
                      <a:pt x="132995" y="64149"/>
                    </a:cubicBezTo>
                    <a:cubicBezTo>
                      <a:pt x="125776" y="56518"/>
                      <a:pt x="116010" y="52744"/>
                      <a:pt x="103865" y="52744"/>
                    </a:cubicBezTo>
                    <a:cubicBezTo>
                      <a:pt x="91721" y="52744"/>
                      <a:pt x="81954" y="56602"/>
                      <a:pt x="74736" y="64149"/>
                    </a:cubicBezTo>
                    <a:cubicBezTo>
                      <a:pt x="67517" y="71779"/>
                      <a:pt x="63865" y="82513"/>
                      <a:pt x="63865" y="96265"/>
                    </a:cubicBezTo>
                    <a:lnTo>
                      <a:pt x="63865" y="208043"/>
                    </a:lnTo>
                    <a:lnTo>
                      <a:pt x="0" y="208043"/>
                    </a:lnTo>
                    <a:lnTo>
                      <a:pt x="0" y="2180"/>
                    </a:lnTo>
                    <a:lnTo>
                      <a:pt x="63865" y="2180"/>
                    </a:lnTo>
                    <a:lnTo>
                      <a:pt x="63865" y="29517"/>
                    </a:lnTo>
                    <a:cubicBezTo>
                      <a:pt x="70319" y="20460"/>
                      <a:pt x="79067" y="13249"/>
                      <a:pt x="90022" y="7966"/>
                    </a:cubicBezTo>
                    <a:cubicBezTo>
                      <a:pt x="100978" y="2683"/>
                      <a:pt x="113292" y="0"/>
                      <a:pt x="127050" y="0"/>
                    </a:cubicBezTo>
                    <a:cubicBezTo>
                      <a:pt x="151509" y="0"/>
                      <a:pt x="170958" y="7798"/>
                      <a:pt x="185565" y="233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50" name="Forma Livre 53">
                <a:extLst>
                  <a:ext uri="{FF2B5EF4-FFF2-40B4-BE49-F238E27FC236}">
                    <a16:creationId xmlns:a16="http://schemas.microsoft.com/office/drawing/2014/main" id="{88267D2D-7A3E-4791-B323-243A571AD9EC}"/>
                  </a:ext>
                </a:extLst>
              </p:cNvPr>
              <p:cNvSpPr/>
              <p:nvPr/>
            </p:nvSpPr>
            <p:spPr>
              <a:xfrm>
                <a:off x="3613804" y="1956712"/>
                <a:ext cx="207900" cy="208126"/>
              </a:xfrm>
              <a:custGeom>
                <a:avLst/>
                <a:gdLst>
                  <a:gd name="connsiteX0" fmla="*/ 207731 w 207900"/>
                  <a:gd name="connsiteY0" fmla="*/ 0 h 208126"/>
                  <a:gd name="connsiteX1" fmla="*/ 207731 w 207900"/>
                  <a:gd name="connsiteY1" fmla="*/ 205863 h 208126"/>
                  <a:gd name="connsiteX2" fmla="*/ 143781 w 207900"/>
                  <a:gd name="connsiteY2" fmla="*/ 205863 h 208126"/>
                  <a:gd name="connsiteX3" fmla="*/ 143781 w 207900"/>
                  <a:gd name="connsiteY3" fmla="*/ 177855 h 208126"/>
                  <a:gd name="connsiteX4" fmla="*/ 117454 w 207900"/>
                  <a:gd name="connsiteY4" fmla="*/ 199825 h 208126"/>
                  <a:gd name="connsiteX5" fmla="*/ 80680 w 207900"/>
                  <a:gd name="connsiteY5" fmla="*/ 208127 h 208126"/>
                  <a:gd name="connsiteX6" fmla="*/ 38472 w 207900"/>
                  <a:gd name="connsiteY6" fmla="*/ 197645 h 208126"/>
                  <a:gd name="connsiteX7" fmla="*/ 10106 w 207900"/>
                  <a:gd name="connsiteY7" fmla="*/ 167206 h 208126"/>
                  <a:gd name="connsiteX8" fmla="*/ 0 w 207900"/>
                  <a:gd name="connsiteY8" fmla="*/ 120331 h 208126"/>
                  <a:gd name="connsiteX9" fmla="*/ 0 w 207900"/>
                  <a:gd name="connsiteY9" fmla="*/ 0 h 208126"/>
                  <a:gd name="connsiteX10" fmla="*/ 63525 w 207900"/>
                  <a:gd name="connsiteY10" fmla="*/ 0 h 208126"/>
                  <a:gd name="connsiteX11" fmla="*/ 63525 w 207900"/>
                  <a:gd name="connsiteY11" fmla="*/ 111778 h 208126"/>
                  <a:gd name="connsiteX12" fmla="*/ 74396 w 207900"/>
                  <a:gd name="connsiteY12" fmla="*/ 143894 h 208126"/>
                  <a:gd name="connsiteX13" fmla="*/ 103526 w 207900"/>
                  <a:gd name="connsiteY13" fmla="*/ 155298 h 208126"/>
                  <a:gd name="connsiteX14" fmla="*/ 133080 w 207900"/>
                  <a:gd name="connsiteY14" fmla="*/ 143894 h 208126"/>
                  <a:gd name="connsiteX15" fmla="*/ 143951 w 207900"/>
                  <a:gd name="connsiteY15" fmla="*/ 111778 h 208126"/>
                  <a:gd name="connsiteX16" fmla="*/ 143951 w 207900"/>
                  <a:gd name="connsiteY16" fmla="*/ 0 h 208126"/>
                  <a:gd name="connsiteX17" fmla="*/ 207901 w 207900"/>
                  <a:gd name="connsiteY17" fmla="*/ 0 h 208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07900" h="208126">
                    <a:moveTo>
                      <a:pt x="207731" y="0"/>
                    </a:moveTo>
                    <a:lnTo>
                      <a:pt x="207731" y="205863"/>
                    </a:lnTo>
                    <a:lnTo>
                      <a:pt x="143781" y="205863"/>
                    </a:lnTo>
                    <a:lnTo>
                      <a:pt x="143781" y="177855"/>
                    </a:lnTo>
                    <a:cubicBezTo>
                      <a:pt x="137326" y="186995"/>
                      <a:pt x="128494" y="194291"/>
                      <a:pt x="117454" y="199825"/>
                    </a:cubicBezTo>
                    <a:cubicBezTo>
                      <a:pt x="106328" y="205359"/>
                      <a:pt x="94099" y="208127"/>
                      <a:pt x="80680" y="208127"/>
                    </a:cubicBezTo>
                    <a:cubicBezTo>
                      <a:pt x="64714" y="208127"/>
                      <a:pt x="50616" y="204605"/>
                      <a:pt x="38472" y="197645"/>
                    </a:cubicBezTo>
                    <a:cubicBezTo>
                      <a:pt x="26242" y="190601"/>
                      <a:pt x="16816" y="180455"/>
                      <a:pt x="10106" y="167206"/>
                    </a:cubicBezTo>
                    <a:cubicBezTo>
                      <a:pt x="3397" y="153957"/>
                      <a:pt x="0" y="138276"/>
                      <a:pt x="0" y="120331"/>
                    </a:cubicBezTo>
                    <a:lnTo>
                      <a:pt x="0" y="0"/>
                    </a:lnTo>
                    <a:lnTo>
                      <a:pt x="63525" y="0"/>
                    </a:lnTo>
                    <a:lnTo>
                      <a:pt x="63525" y="111778"/>
                    </a:lnTo>
                    <a:cubicBezTo>
                      <a:pt x="63525" y="125530"/>
                      <a:pt x="67092" y="136263"/>
                      <a:pt x="74396" y="143894"/>
                    </a:cubicBezTo>
                    <a:cubicBezTo>
                      <a:pt x="81615" y="151525"/>
                      <a:pt x="91381" y="155298"/>
                      <a:pt x="103526" y="155298"/>
                    </a:cubicBezTo>
                    <a:cubicBezTo>
                      <a:pt x="115670" y="155298"/>
                      <a:pt x="125776" y="151441"/>
                      <a:pt x="133080" y="143894"/>
                    </a:cubicBezTo>
                    <a:cubicBezTo>
                      <a:pt x="140299" y="136263"/>
                      <a:pt x="143951" y="125530"/>
                      <a:pt x="143951" y="111778"/>
                    </a:cubicBezTo>
                    <a:lnTo>
                      <a:pt x="143951" y="0"/>
                    </a:lnTo>
                    <a:lnTo>
                      <a:pt x="20790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  <p:sp>
            <p:nvSpPr>
              <p:cNvPr id="51" name="Forma Livre 54">
                <a:extLst>
                  <a:ext uri="{FF2B5EF4-FFF2-40B4-BE49-F238E27FC236}">
                    <a16:creationId xmlns:a16="http://schemas.microsoft.com/office/drawing/2014/main" id="{9D6A9C62-0133-442A-A42D-E53263FB69DA}"/>
                  </a:ext>
                </a:extLst>
              </p:cNvPr>
              <p:cNvSpPr/>
              <p:nvPr/>
            </p:nvSpPr>
            <p:spPr>
              <a:xfrm>
                <a:off x="3854826" y="1953777"/>
                <a:ext cx="220045" cy="211732"/>
              </a:xfrm>
              <a:custGeom>
                <a:avLst/>
                <a:gdLst>
                  <a:gd name="connsiteX0" fmla="*/ 12144 w 220045"/>
                  <a:gd name="connsiteY0" fmla="*/ 49810 h 211732"/>
                  <a:gd name="connsiteX1" fmla="*/ 45181 w 220045"/>
                  <a:gd name="connsiteY1" fmla="*/ 12914 h 211732"/>
                  <a:gd name="connsiteX2" fmla="*/ 91891 w 220045"/>
                  <a:gd name="connsiteY2" fmla="*/ 0 h 211732"/>
                  <a:gd name="connsiteX3" fmla="*/ 130532 w 220045"/>
                  <a:gd name="connsiteY3" fmla="*/ 8889 h 211732"/>
                  <a:gd name="connsiteX4" fmla="*/ 156180 w 220045"/>
                  <a:gd name="connsiteY4" fmla="*/ 32116 h 211732"/>
                  <a:gd name="connsiteX5" fmla="*/ 156180 w 220045"/>
                  <a:gd name="connsiteY5" fmla="*/ 2935 h 211732"/>
                  <a:gd name="connsiteX6" fmla="*/ 220045 w 220045"/>
                  <a:gd name="connsiteY6" fmla="*/ 2935 h 211732"/>
                  <a:gd name="connsiteX7" fmla="*/ 220045 w 220045"/>
                  <a:gd name="connsiteY7" fmla="*/ 208797 h 211732"/>
                  <a:gd name="connsiteX8" fmla="*/ 156180 w 220045"/>
                  <a:gd name="connsiteY8" fmla="*/ 208797 h 211732"/>
                  <a:gd name="connsiteX9" fmla="*/ 156180 w 220045"/>
                  <a:gd name="connsiteY9" fmla="*/ 179616 h 211732"/>
                  <a:gd name="connsiteX10" fmla="*/ 130193 w 220045"/>
                  <a:gd name="connsiteY10" fmla="*/ 202844 h 211732"/>
                  <a:gd name="connsiteX11" fmla="*/ 91551 w 220045"/>
                  <a:gd name="connsiteY11" fmla="*/ 211732 h 211732"/>
                  <a:gd name="connsiteX12" fmla="*/ 45181 w 220045"/>
                  <a:gd name="connsiteY12" fmla="*/ 198651 h 211732"/>
                  <a:gd name="connsiteX13" fmla="*/ 12144 w 220045"/>
                  <a:gd name="connsiteY13" fmla="*/ 161420 h 211732"/>
                  <a:gd name="connsiteX14" fmla="*/ 0 w 220045"/>
                  <a:gd name="connsiteY14" fmla="*/ 105489 h 211732"/>
                  <a:gd name="connsiteX15" fmla="*/ 12144 w 220045"/>
                  <a:gd name="connsiteY15" fmla="*/ 49726 h 211732"/>
                  <a:gd name="connsiteX16" fmla="*/ 142932 w 220045"/>
                  <a:gd name="connsiteY16" fmla="*/ 68593 h 211732"/>
                  <a:gd name="connsiteX17" fmla="*/ 110575 w 220045"/>
                  <a:gd name="connsiteY17" fmla="*/ 54925 h 211732"/>
                  <a:gd name="connsiteX18" fmla="*/ 78218 w 220045"/>
                  <a:gd name="connsiteY18" fmla="*/ 68425 h 211732"/>
                  <a:gd name="connsiteX19" fmla="*/ 64969 w 220045"/>
                  <a:gd name="connsiteY19" fmla="*/ 105489 h 211732"/>
                  <a:gd name="connsiteX20" fmla="*/ 78218 w 220045"/>
                  <a:gd name="connsiteY20" fmla="*/ 142972 h 211732"/>
                  <a:gd name="connsiteX21" fmla="*/ 110575 w 220045"/>
                  <a:gd name="connsiteY21" fmla="*/ 156808 h 211732"/>
                  <a:gd name="connsiteX22" fmla="*/ 142932 w 220045"/>
                  <a:gd name="connsiteY22" fmla="*/ 143139 h 211732"/>
                  <a:gd name="connsiteX23" fmla="*/ 156180 w 220045"/>
                  <a:gd name="connsiteY23" fmla="*/ 105908 h 211732"/>
                  <a:gd name="connsiteX24" fmla="*/ 142932 w 220045"/>
                  <a:gd name="connsiteY24" fmla="*/ 68677 h 211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20045" h="211732">
                    <a:moveTo>
                      <a:pt x="12144" y="49810"/>
                    </a:moveTo>
                    <a:cubicBezTo>
                      <a:pt x="20213" y="33793"/>
                      <a:pt x="31253" y="21551"/>
                      <a:pt x="45181" y="12914"/>
                    </a:cubicBezTo>
                    <a:cubicBezTo>
                      <a:pt x="59109" y="4277"/>
                      <a:pt x="74736" y="0"/>
                      <a:pt x="91891" y="0"/>
                    </a:cubicBezTo>
                    <a:cubicBezTo>
                      <a:pt x="106583" y="0"/>
                      <a:pt x="119492" y="2935"/>
                      <a:pt x="130532" y="8889"/>
                    </a:cubicBezTo>
                    <a:cubicBezTo>
                      <a:pt x="141658" y="14758"/>
                      <a:pt x="150150" y="22557"/>
                      <a:pt x="156180" y="32116"/>
                    </a:cubicBezTo>
                    <a:lnTo>
                      <a:pt x="156180" y="2935"/>
                    </a:lnTo>
                    <a:lnTo>
                      <a:pt x="220045" y="2935"/>
                    </a:lnTo>
                    <a:lnTo>
                      <a:pt x="220045" y="208797"/>
                    </a:lnTo>
                    <a:lnTo>
                      <a:pt x="156180" y="208797"/>
                    </a:lnTo>
                    <a:lnTo>
                      <a:pt x="156180" y="179616"/>
                    </a:lnTo>
                    <a:cubicBezTo>
                      <a:pt x="149981" y="189175"/>
                      <a:pt x="141318" y="196974"/>
                      <a:pt x="130193" y="202844"/>
                    </a:cubicBezTo>
                    <a:cubicBezTo>
                      <a:pt x="119067" y="208714"/>
                      <a:pt x="106243" y="211732"/>
                      <a:pt x="91551" y="211732"/>
                    </a:cubicBezTo>
                    <a:cubicBezTo>
                      <a:pt x="74566" y="211732"/>
                      <a:pt x="59194" y="207372"/>
                      <a:pt x="45181" y="198651"/>
                    </a:cubicBezTo>
                    <a:cubicBezTo>
                      <a:pt x="31168" y="189930"/>
                      <a:pt x="20213" y="177520"/>
                      <a:pt x="12144" y="161420"/>
                    </a:cubicBezTo>
                    <a:cubicBezTo>
                      <a:pt x="4076" y="145320"/>
                      <a:pt x="0" y="126704"/>
                      <a:pt x="0" y="105489"/>
                    </a:cubicBezTo>
                    <a:cubicBezTo>
                      <a:pt x="0" y="84274"/>
                      <a:pt x="4076" y="65742"/>
                      <a:pt x="12144" y="49726"/>
                    </a:cubicBezTo>
                    <a:close/>
                    <a:moveTo>
                      <a:pt x="142932" y="68593"/>
                    </a:moveTo>
                    <a:cubicBezTo>
                      <a:pt x="134099" y="59537"/>
                      <a:pt x="123314" y="54925"/>
                      <a:pt x="110575" y="54925"/>
                    </a:cubicBezTo>
                    <a:cubicBezTo>
                      <a:pt x="97836" y="54925"/>
                      <a:pt x="87050" y="59453"/>
                      <a:pt x="78218" y="68425"/>
                    </a:cubicBezTo>
                    <a:cubicBezTo>
                      <a:pt x="69385" y="77398"/>
                      <a:pt x="64969" y="89808"/>
                      <a:pt x="64969" y="105489"/>
                    </a:cubicBezTo>
                    <a:cubicBezTo>
                      <a:pt x="64969" y="121170"/>
                      <a:pt x="69385" y="133748"/>
                      <a:pt x="78218" y="142972"/>
                    </a:cubicBezTo>
                    <a:cubicBezTo>
                      <a:pt x="87050" y="152196"/>
                      <a:pt x="97836" y="156808"/>
                      <a:pt x="110575" y="156808"/>
                    </a:cubicBezTo>
                    <a:cubicBezTo>
                      <a:pt x="123314" y="156808"/>
                      <a:pt x="134014" y="152280"/>
                      <a:pt x="142932" y="143139"/>
                    </a:cubicBezTo>
                    <a:cubicBezTo>
                      <a:pt x="151764" y="134083"/>
                      <a:pt x="156180" y="121589"/>
                      <a:pt x="156180" y="105908"/>
                    </a:cubicBezTo>
                    <a:cubicBezTo>
                      <a:pt x="156180" y="90227"/>
                      <a:pt x="151764" y="77733"/>
                      <a:pt x="142932" y="686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622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549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FDD58C-4CBB-0F62-C046-2E7578671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06C5C177-79BF-4B90-841A-DF2E68BC6431}"/>
              </a:ext>
            </a:extLst>
          </p:cNvPr>
          <p:cNvSpPr/>
          <p:nvPr/>
        </p:nvSpPr>
        <p:spPr>
          <a:xfrm>
            <a:off x="0" y="280593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8AC9FA7-61AF-3F6A-B41A-E4E0A35DD71C}"/>
              </a:ext>
            </a:extLst>
          </p:cNvPr>
          <p:cNvSpPr txBox="1"/>
          <p:nvPr/>
        </p:nvSpPr>
        <p:spPr>
          <a:xfrm>
            <a:off x="985519" y="289623"/>
            <a:ext cx="10361353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spAutoFit/>
          </a:bodyPr>
          <a:lstStyle/>
          <a:p>
            <a:pPr algn="l"/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</a:t>
            </a:r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7</a:t>
            </a:r>
            <a:endParaRPr lang="pt-BR" sz="3000" b="1" noProof="0" dirty="0">
              <a:solidFill>
                <a:schemeClr val="bg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854D6AA-881F-400A-82F3-A47CCE89CD88}"/>
              </a:ext>
            </a:extLst>
          </p:cNvPr>
          <p:cNvSpPr txBox="1"/>
          <p:nvPr/>
        </p:nvSpPr>
        <p:spPr>
          <a:xfrm>
            <a:off x="997022" y="929961"/>
            <a:ext cx="10498238" cy="4678204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Cenário 1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1. Qual é o meio de transporte mais utilizado pelos estudantes?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Resposta esperada do aluno: “O meio mais utilizado é o ônibus, com 45% dos alunos.”.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Análise pedagógica: o aluno deve demonstrar leitura correta do gráfico de pizza, identificando a maior proporção. O professor pode observar se ele compreende o objetivo do gráfico — mostrar partes de um todo — e se consegue traduzir visualmente a informação em palavras.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2. Que tipo de gráfico seria mais adequado para mostrar o número de alunos por meio de transporte ao longo dos meses?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Resposta esperada do aluno: “Um gráfico de linhas seria mais adequado, porque mostra a variação e a tendência ao longo do tempo.”.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Análise pedagógica: avalia-se se o aluno entende que o gráfico de pizza não é indicado para dados temporais, pois mostra apenas proporções fixas. O professor pode reforçar que cada tipo de gráfico tem um propósito: pizza para proporção, barras para comparação e linhas para evolução temporal.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Cenário 2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1. Por que o gráfico de linhas é mais adequado do que o de pizza para representar esses dados?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Resposta esperada do aluno: “Porque o gráfico de linhas mostra a variação dos acessos mês a mês, enquanto o de pizza só mostra proporções em um único momento.”.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Análise pedagógica: o professor deve observar se o aluno compreende a função narrativa do gráfico de linhas, que é evidenciar mudanças e tendências temporais. É importante reforçar que o tipo de gráfico deve ser escolhido conforme a mensagem que se deseja comunicar.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2. Se quiséssemos comparar o número de acessos entre diferentes setores da instituição, esse mesmo gráfico seria ideal?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Resposta esperada do aluno: “Não. Seria melhor usar um gráfico de barras ou colunas, pois eles facilitam a comparação entre categorias.”.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Análise pedagógica: aqui, o foco é verificar se o aluno entende que gráficos de linhas não são adequados para comparar categorias e que gráficos de barras representam melhor comparações diretas. O professor pode aproveitar o momento para discutir erros comuns, como misturar dados temporais e categóricos em um mesmo gráfico.</a:t>
            </a:r>
          </a:p>
        </p:txBody>
      </p:sp>
      <p:cxnSp>
        <p:nvCxnSpPr>
          <p:cNvPr id="11" name="Conector Reto 6">
            <a:extLst>
              <a:ext uri="{FF2B5EF4-FFF2-40B4-BE49-F238E27FC236}">
                <a16:creationId xmlns:a16="http://schemas.microsoft.com/office/drawing/2014/main" id="{62F7D377-77B9-4439-B5A5-4BEA3FC843CD}"/>
              </a:ext>
            </a:extLst>
          </p:cNvPr>
          <p:cNvCxnSpPr>
            <a:cxnSpLocks/>
          </p:cNvCxnSpPr>
          <p:nvPr/>
        </p:nvCxnSpPr>
        <p:spPr>
          <a:xfrm flipV="1">
            <a:off x="680042" y="544760"/>
            <a:ext cx="0" cy="5533921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93115F35-7D4C-4F82-AA16-C45C41DFAA0C}"/>
              </a:ext>
            </a:extLst>
          </p:cNvPr>
          <p:cNvSpPr/>
          <p:nvPr/>
        </p:nvSpPr>
        <p:spPr>
          <a:xfrm>
            <a:off x="481421" y="899318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Gráfico 40">
            <a:extLst>
              <a:ext uri="{FF2B5EF4-FFF2-40B4-BE49-F238E27FC236}">
                <a16:creationId xmlns:a16="http://schemas.microsoft.com/office/drawing/2014/main" id="{87E46076-0295-864A-1355-FED6D2CC4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362" y="948982"/>
            <a:ext cx="208026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948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B0E8F0-6271-0058-DB98-C2399DB92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FF19489F-8E05-4602-A4EE-C1A7DE5B4159}"/>
              </a:ext>
            </a:extLst>
          </p:cNvPr>
          <p:cNvSpPr/>
          <p:nvPr/>
        </p:nvSpPr>
        <p:spPr>
          <a:xfrm>
            <a:off x="0" y="280593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8" name="Conector Reto 6">
            <a:extLst>
              <a:ext uri="{FF2B5EF4-FFF2-40B4-BE49-F238E27FC236}">
                <a16:creationId xmlns:a16="http://schemas.microsoft.com/office/drawing/2014/main" id="{17CB8FC6-876A-4F18-BD00-D4781AA830FF}"/>
              </a:ext>
            </a:extLst>
          </p:cNvPr>
          <p:cNvCxnSpPr>
            <a:cxnSpLocks/>
          </p:cNvCxnSpPr>
          <p:nvPr/>
        </p:nvCxnSpPr>
        <p:spPr>
          <a:xfrm flipV="1">
            <a:off x="680042" y="544761"/>
            <a:ext cx="0" cy="1989433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AFB25D9-8786-3F6F-AEE6-59CF75078EB9}"/>
              </a:ext>
            </a:extLst>
          </p:cNvPr>
          <p:cNvSpPr txBox="1"/>
          <p:nvPr/>
        </p:nvSpPr>
        <p:spPr>
          <a:xfrm>
            <a:off x="987533" y="292719"/>
            <a:ext cx="10044084" cy="52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sp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Slides 8 e 9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1CD48B17-6FBE-E401-3EA2-47ED32E9BDFE}"/>
              </a:ext>
            </a:extLst>
          </p:cNvPr>
          <p:cNvGrpSpPr/>
          <p:nvPr/>
        </p:nvGrpSpPr>
        <p:grpSpPr>
          <a:xfrm>
            <a:off x="487091" y="1327222"/>
            <a:ext cx="386079" cy="382464"/>
            <a:chOff x="492761" y="1367402"/>
            <a:chExt cx="386079" cy="38246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65C3BCA-B57B-097B-4C76-126638ED8C66}"/>
                </a:ext>
              </a:extLst>
            </p:cNvPr>
            <p:cNvSpPr/>
            <p:nvPr/>
          </p:nvSpPr>
          <p:spPr>
            <a:xfrm>
              <a:off x="492761" y="1367402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6" name="Imagem 45">
              <a:extLst>
                <a:ext uri="{FF2B5EF4-FFF2-40B4-BE49-F238E27FC236}">
                  <a16:creationId xmlns:a16="http://schemas.microsoft.com/office/drawing/2014/main" id="{9424A42F-8C47-455B-26FD-00BD9E975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14144" y="1465345"/>
              <a:ext cx="154445" cy="193056"/>
            </a:xfrm>
            <a:prstGeom prst="rect">
              <a:avLst/>
            </a:prstGeom>
          </p:spPr>
        </p:pic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306B3459-5BF4-68B5-83E0-CA24EEDD2B14}"/>
              </a:ext>
            </a:extLst>
          </p:cNvPr>
          <p:cNvGrpSpPr/>
          <p:nvPr/>
        </p:nvGrpSpPr>
        <p:grpSpPr>
          <a:xfrm>
            <a:off x="487091" y="1965396"/>
            <a:ext cx="386079" cy="382464"/>
            <a:chOff x="487686" y="1911129"/>
            <a:chExt cx="386079" cy="382464"/>
          </a:xfrm>
        </p:grpSpPr>
        <p:sp>
          <p:nvSpPr>
            <p:cNvPr id="24" name="Oval 8">
              <a:extLst>
                <a:ext uri="{FF2B5EF4-FFF2-40B4-BE49-F238E27FC236}">
                  <a16:creationId xmlns:a16="http://schemas.microsoft.com/office/drawing/2014/main" id="{62DED2A8-9BCA-5811-FF17-D2E8CE732E81}"/>
                </a:ext>
              </a:extLst>
            </p:cNvPr>
            <p:cNvSpPr/>
            <p:nvPr/>
          </p:nvSpPr>
          <p:spPr>
            <a:xfrm>
              <a:off x="487686" y="1911129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5" name="Gráfico 24">
              <a:extLst>
                <a:ext uri="{FF2B5EF4-FFF2-40B4-BE49-F238E27FC236}">
                  <a16:creationId xmlns:a16="http://schemas.microsoft.com/office/drawing/2014/main" id="{76026A6D-D89F-C011-972F-3E5C246DB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1627" y="1965250"/>
              <a:ext cx="208026" cy="266700"/>
            </a:xfrm>
            <a:prstGeom prst="rect">
              <a:avLst/>
            </a:prstGeom>
          </p:spPr>
        </p:pic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F9C4E60-C995-47C2-917D-4915139CB4D4}"/>
              </a:ext>
            </a:extLst>
          </p:cNvPr>
          <p:cNvSpPr txBox="1"/>
          <p:nvPr/>
        </p:nvSpPr>
        <p:spPr>
          <a:xfrm>
            <a:off x="997022" y="929961"/>
            <a:ext cx="10498238" cy="1446550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Pause e responda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é mobilizar os estudantes em relação aos conhecimentos apresentados e construídos em aula. É registro. 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2 minutos.</a:t>
            </a:r>
          </a:p>
          <a:p>
            <a:pPr defTabSz="609630">
              <a:buClrTx/>
              <a:defRPr/>
            </a:pP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Resposta certa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Gráfico de pizza.</a:t>
            </a:r>
          </a:p>
          <a:p>
            <a:pPr defTabSz="609630">
              <a:buClrTx/>
              <a:defRPr/>
            </a:pPr>
            <a:r>
              <a:rPr lang="pt-BR" sz="10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Feedback: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gráfico de pizza não é adequado para mostrar mudanças ao longo do tempo, pois ele representa proporções estáticas de um único momento.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1EDC417C-4A85-47BC-ABFF-62A85F80C02F}"/>
              </a:ext>
            </a:extLst>
          </p:cNvPr>
          <p:cNvGrpSpPr/>
          <p:nvPr/>
        </p:nvGrpSpPr>
        <p:grpSpPr>
          <a:xfrm>
            <a:off x="487091" y="899318"/>
            <a:ext cx="386079" cy="382464"/>
            <a:chOff x="487003" y="899318"/>
            <a:chExt cx="386079" cy="382464"/>
          </a:xfrm>
        </p:grpSpPr>
        <p:sp>
          <p:nvSpPr>
            <p:cNvPr id="30" name="Oval 12">
              <a:extLst>
                <a:ext uri="{FF2B5EF4-FFF2-40B4-BE49-F238E27FC236}">
                  <a16:creationId xmlns:a16="http://schemas.microsoft.com/office/drawing/2014/main" id="{43A09679-6744-4941-90C0-9BBDC98E3678}"/>
                </a:ext>
              </a:extLst>
            </p:cNvPr>
            <p:cNvSpPr/>
            <p:nvPr/>
          </p:nvSpPr>
          <p:spPr>
            <a:xfrm>
              <a:off x="487003" y="8993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" name="Google Shape;2216;p100">
              <a:extLst>
                <a:ext uri="{FF2B5EF4-FFF2-40B4-BE49-F238E27FC236}">
                  <a16:creationId xmlns:a16="http://schemas.microsoft.com/office/drawing/2014/main" id="{F995E88B-3520-4448-894D-F2B3AA0626EF}"/>
                </a:ext>
              </a:extLst>
            </p:cNvPr>
            <p:cNvSpPr/>
            <p:nvPr/>
          </p:nvSpPr>
          <p:spPr>
            <a:xfrm>
              <a:off x="559059" y="997874"/>
              <a:ext cx="237235" cy="200737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1466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B71528-C9B5-A429-99E4-EC56034E6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31">
            <a:extLst>
              <a:ext uri="{FF2B5EF4-FFF2-40B4-BE49-F238E27FC236}">
                <a16:creationId xmlns:a16="http://schemas.microsoft.com/office/drawing/2014/main" id="{8514CA22-2713-4051-BA54-C6A4B78CD199}"/>
              </a:ext>
            </a:extLst>
          </p:cNvPr>
          <p:cNvSpPr/>
          <p:nvPr/>
        </p:nvSpPr>
        <p:spPr>
          <a:xfrm>
            <a:off x="0" y="280593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8" name="Conector Reto 6">
            <a:extLst>
              <a:ext uri="{FF2B5EF4-FFF2-40B4-BE49-F238E27FC236}">
                <a16:creationId xmlns:a16="http://schemas.microsoft.com/office/drawing/2014/main" id="{F58DD5CC-A78F-40F9-A57E-1C0DE0BB9838}"/>
              </a:ext>
            </a:extLst>
          </p:cNvPr>
          <p:cNvCxnSpPr>
            <a:cxnSpLocks/>
          </p:cNvCxnSpPr>
          <p:nvPr/>
        </p:nvCxnSpPr>
        <p:spPr>
          <a:xfrm flipV="1">
            <a:off x="680042" y="544761"/>
            <a:ext cx="0" cy="3508255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791AA83C-6E3F-464D-60C2-88C7B35E9A69}"/>
              </a:ext>
            </a:extLst>
          </p:cNvPr>
          <p:cNvSpPr txBox="1"/>
          <p:nvPr/>
        </p:nvSpPr>
        <p:spPr>
          <a:xfrm>
            <a:off x="985520" y="290753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10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17400A-A7A1-3C5D-E55E-F2FD403D4561}"/>
              </a:ext>
            </a:extLst>
          </p:cNvPr>
          <p:cNvSpPr/>
          <p:nvPr/>
        </p:nvSpPr>
        <p:spPr>
          <a:xfrm>
            <a:off x="489631" y="332591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E400E50-4A91-2F09-7EC8-E31C519C4EBF}"/>
              </a:ext>
            </a:extLst>
          </p:cNvPr>
          <p:cNvSpPr/>
          <p:nvPr/>
        </p:nvSpPr>
        <p:spPr>
          <a:xfrm>
            <a:off x="489631" y="253288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22A15C-DEB5-C4E0-D5AA-A166C8E27B99}"/>
              </a:ext>
            </a:extLst>
          </p:cNvPr>
          <p:cNvSpPr/>
          <p:nvPr/>
        </p:nvSpPr>
        <p:spPr>
          <a:xfrm>
            <a:off x="489631" y="177596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E0C1BC-DD66-23DD-6F65-929BCA4FE433}"/>
              </a:ext>
            </a:extLst>
          </p:cNvPr>
          <p:cNvSpPr/>
          <p:nvPr/>
        </p:nvSpPr>
        <p:spPr>
          <a:xfrm>
            <a:off x="489631" y="1302406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07FF879-5937-1392-6ADB-1307D23184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5448" y="1396112"/>
            <a:ext cx="154445" cy="193056"/>
          </a:xfrm>
          <a:prstGeom prst="rect">
            <a:avLst/>
          </a:prstGeom>
        </p:spPr>
      </p:pic>
      <p:sp>
        <p:nvSpPr>
          <p:cNvPr id="16" name="Google Shape;2223;p100">
            <a:extLst>
              <a:ext uri="{FF2B5EF4-FFF2-40B4-BE49-F238E27FC236}">
                <a16:creationId xmlns:a16="http://schemas.microsoft.com/office/drawing/2014/main" id="{EC82023C-7B80-8CC1-474C-164594A56CBE}"/>
              </a:ext>
            </a:extLst>
          </p:cNvPr>
          <p:cNvSpPr>
            <a:spLocks/>
          </p:cNvSpPr>
          <p:nvPr/>
        </p:nvSpPr>
        <p:spPr>
          <a:xfrm>
            <a:off x="559798" y="1854397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AA3D268F-2AC7-B7BC-834F-3E759636E8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022" y="2603342"/>
            <a:ext cx="235296" cy="240643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06F516C3-5015-82B3-04C2-2E384E5F19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8657" y="3380036"/>
            <a:ext cx="208026" cy="2667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88E1A94-7A43-752A-77A1-A4CC640BDCC8}"/>
              </a:ext>
            </a:extLst>
          </p:cNvPr>
          <p:cNvSpPr/>
          <p:nvPr/>
        </p:nvSpPr>
        <p:spPr>
          <a:xfrm>
            <a:off x="0" y="4229065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4401B33-B5B8-5BEF-9DE3-9318B699998D}"/>
              </a:ext>
            </a:extLst>
          </p:cNvPr>
          <p:cNvSpPr txBox="1"/>
          <p:nvPr/>
        </p:nvSpPr>
        <p:spPr>
          <a:xfrm>
            <a:off x="985520" y="4239225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11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cxnSp>
        <p:nvCxnSpPr>
          <p:cNvPr id="19" name="Conector Reto 6">
            <a:extLst>
              <a:ext uri="{FF2B5EF4-FFF2-40B4-BE49-F238E27FC236}">
                <a16:creationId xmlns:a16="http://schemas.microsoft.com/office/drawing/2014/main" id="{2F3E5B87-D399-B274-066B-2371653E601E}"/>
              </a:ext>
            </a:extLst>
          </p:cNvPr>
          <p:cNvCxnSpPr>
            <a:cxnSpLocks/>
          </p:cNvCxnSpPr>
          <p:nvPr/>
        </p:nvCxnSpPr>
        <p:spPr>
          <a:xfrm flipH="1" flipV="1">
            <a:off x="690880" y="4479794"/>
            <a:ext cx="1" cy="1627109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964F9C5F-A11C-929E-07AE-21B37991BA56}"/>
              </a:ext>
            </a:extLst>
          </p:cNvPr>
          <p:cNvSpPr/>
          <p:nvPr/>
        </p:nvSpPr>
        <p:spPr>
          <a:xfrm>
            <a:off x="497841" y="5250878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val 12">
            <a:extLst>
              <a:ext uri="{FF2B5EF4-FFF2-40B4-BE49-F238E27FC236}">
                <a16:creationId xmlns:a16="http://schemas.microsoft.com/office/drawing/2014/main" id="{93F346B9-FFB3-4AF4-F05D-A37799CF4107}"/>
              </a:ext>
            </a:extLst>
          </p:cNvPr>
          <p:cNvSpPr/>
          <p:nvPr/>
        </p:nvSpPr>
        <p:spPr>
          <a:xfrm>
            <a:off x="497841" y="478239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Google Shape;2216;p100">
            <a:extLst>
              <a:ext uri="{FF2B5EF4-FFF2-40B4-BE49-F238E27FC236}">
                <a16:creationId xmlns:a16="http://schemas.microsoft.com/office/drawing/2014/main" id="{6E55D0CE-1460-B2AC-8966-ED7476D5F8E9}"/>
              </a:ext>
            </a:extLst>
          </p:cNvPr>
          <p:cNvSpPr/>
          <p:nvPr/>
        </p:nvSpPr>
        <p:spPr>
          <a:xfrm>
            <a:off x="569897" y="4880953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EFAF5D27-4EC9-A831-4B32-15B5F56F6D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072" y="5344584"/>
            <a:ext cx="154445" cy="193056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9863524A-0039-5986-7CFD-3FE3348A56BE}"/>
              </a:ext>
            </a:extLst>
          </p:cNvPr>
          <p:cNvSpPr txBox="1"/>
          <p:nvPr/>
        </p:nvSpPr>
        <p:spPr>
          <a:xfrm>
            <a:off x="1000171" y="4902112"/>
            <a:ext cx="10251440" cy="984885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Saiba mais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apresenta recursos extraclasse para que os estudantes complementem sua formação. Incentive-os a continuarem explorando o tema da aula.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 minuto.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230C84A-F764-47DF-8932-6B51DDC9D660}"/>
              </a:ext>
            </a:extLst>
          </p:cNvPr>
          <p:cNvSpPr txBox="1"/>
          <p:nvPr/>
        </p:nvSpPr>
        <p:spPr>
          <a:xfrm>
            <a:off x="997022" y="929961"/>
            <a:ext cx="10498238" cy="2831544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 que nós aprendemos hoje?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reforçar e esclarecer os principais conceitos discutidos, incentivando os estudantes a recordarem e articularem os principais pontos da aula. 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 minutos.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da sala de aula: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Mantenha um ambiente de diálogo aberto e respeitoso.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Seja direto e objetivo nas explicações para manter a atividade de acordo com o tempo estipulado.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Engaje os estudantes, rapidamente, pedindo confirmações ou reações breves às definições apresentadas. </a:t>
            </a:r>
          </a:p>
          <a:p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Explique aos estudantes que esse é um momento de reflexão e esclarecimento sobre os conceitos abordados na aula.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Informe que será feita uma rápida revisão para assegurar o entendimento correto das definições e dos conceitos.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o slide com a definição sintética de cada conceito principal discutido na aula, ampliando a explicação com as informações que achar necessárias.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Finalize resumindo os pontos principais e reiterando a importância de cada conceito e como ele se encaixa no contexto maior da aula.</a:t>
            </a:r>
          </a:p>
          <a:p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 que é esperado: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Os estudantes devem sair da aula com entendimento claro e preciso dos conceitos principais.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52DC2A03-4EA3-42BB-809D-EB48585E8E99}"/>
              </a:ext>
            </a:extLst>
          </p:cNvPr>
          <p:cNvGrpSpPr/>
          <p:nvPr/>
        </p:nvGrpSpPr>
        <p:grpSpPr>
          <a:xfrm>
            <a:off x="489631" y="899318"/>
            <a:ext cx="386079" cy="382464"/>
            <a:chOff x="487003" y="899318"/>
            <a:chExt cx="386079" cy="382464"/>
          </a:xfrm>
        </p:grpSpPr>
        <p:sp>
          <p:nvSpPr>
            <p:cNvPr id="30" name="Oval 12">
              <a:extLst>
                <a:ext uri="{FF2B5EF4-FFF2-40B4-BE49-F238E27FC236}">
                  <a16:creationId xmlns:a16="http://schemas.microsoft.com/office/drawing/2014/main" id="{AC255B87-91B9-465B-AB09-66E3C23FF710}"/>
                </a:ext>
              </a:extLst>
            </p:cNvPr>
            <p:cNvSpPr/>
            <p:nvPr/>
          </p:nvSpPr>
          <p:spPr>
            <a:xfrm>
              <a:off x="487003" y="899318"/>
              <a:ext cx="386079" cy="382464"/>
            </a:xfrm>
            <a:prstGeom prst="ellipse">
              <a:avLst/>
            </a:prstGeom>
            <a:solidFill>
              <a:srgbClr val="AAA6D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09630"/>
              <a:endParaRPr lang="pt-BR" noProof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" name="Google Shape;2216;p100">
              <a:extLst>
                <a:ext uri="{FF2B5EF4-FFF2-40B4-BE49-F238E27FC236}">
                  <a16:creationId xmlns:a16="http://schemas.microsoft.com/office/drawing/2014/main" id="{D9286AD6-0E0A-410C-BC46-BCFD3AE263F5}"/>
                </a:ext>
              </a:extLst>
            </p:cNvPr>
            <p:cNvSpPr/>
            <p:nvPr/>
          </p:nvSpPr>
          <p:spPr>
            <a:xfrm>
              <a:off x="559059" y="997874"/>
              <a:ext cx="237235" cy="200737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lang="pt-BR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6864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315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rmAutofit/>
      </a:bodyPr>
      <a:lstStyle>
        <a:defPPr algn="l">
          <a:defRPr sz="24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USAR ES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rmAutofit/>
      </a:bodyPr>
      <a:lstStyle>
        <a:defPPr algn="l">
          <a:defRPr sz="240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facdbb2-8ef9-464d-a709-26ca1c337062">
      <Terms xmlns="http://schemas.microsoft.com/office/infopath/2007/PartnerControls"/>
    </lcf76f155ced4ddcb4097134ff3c332f>
    <TaxCatchAll xmlns="d8db0f09-d57f-4353-8fed-87a30f19522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F221F30FA1D846BC6503DE840D959B" ma:contentTypeVersion="12" ma:contentTypeDescription="Crie um novo documento." ma:contentTypeScope="" ma:versionID="537770d7633b02d79c49f6b6c2eecac7">
  <xsd:schema xmlns:xsd="http://www.w3.org/2001/XMLSchema" xmlns:xs="http://www.w3.org/2001/XMLSchema" xmlns:p="http://schemas.microsoft.com/office/2006/metadata/properties" xmlns:ns2="4facdbb2-8ef9-464d-a709-26ca1c337062" xmlns:ns3="d8db0f09-d57f-4353-8fed-87a30f195225" targetNamespace="http://schemas.microsoft.com/office/2006/metadata/properties" ma:root="true" ma:fieldsID="6d1a9d74efd7620238f953ebb8c6db07" ns2:_="" ns3:_="">
    <xsd:import namespace="4facdbb2-8ef9-464d-a709-26ca1c337062"/>
    <xsd:import namespace="d8db0f09-d57f-4353-8fed-87a30f1952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acdbb2-8ef9-464d-a709-26ca1c3370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a85b3961-dbc6-48b8-bc39-d380478928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db0f09-d57f-4353-8fed-87a30f1952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3f1f100-ca14-4443-a663-a0783b3478eb}" ma:internalName="TaxCatchAll" ma:showField="CatchAllData" ma:web="d8db0f09-d57f-4353-8fed-87a30f1952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661F7A-1649-4A39-91A5-A3893F5678E5}">
  <ds:schemaRefs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dcmitype/"/>
    <ds:schemaRef ds:uri="http://schemas.openxmlformats.org/package/2006/metadata/core-properties"/>
    <ds:schemaRef ds:uri="d8db0f09-d57f-4353-8fed-87a30f195225"/>
    <ds:schemaRef ds:uri="4facdbb2-8ef9-464d-a709-26ca1c337062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1955DAB-E143-48D2-8194-E221EBE228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acdbb2-8ef9-464d-a709-26ca1c337062"/>
    <ds:schemaRef ds:uri="d8db0f09-d57f-4353-8fed-87a30f1952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7590F2-902A-4FFC-B993-9715B30E05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7813</TotalTime>
  <Words>1990</Words>
  <Application>Microsoft Office PowerPoint</Application>
  <PresentationFormat>Widescreen</PresentationFormat>
  <Paragraphs>194</Paragraphs>
  <Slides>19</Slides>
  <Notes>15</Notes>
  <HiddenSlides>7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19</vt:i4>
      </vt:variant>
    </vt:vector>
  </HeadingPairs>
  <TitlesOfParts>
    <vt:vector size="26" baseType="lpstr">
      <vt:lpstr>Poppins Light</vt:lpstr>
      <vt:lpstr>Poppins</vt:lpstr>
      <vt:lpstr>Calibri</vt:lpstr>
      <vt:lpstr>Arial</vt:lpstr>
      <vt:lpstr>Poppins Bold</vt:lpstr>
      <vt:lpstr>Office Theme</vt:lpstr>
      <vt:lpstr>USAR ESTE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Caco Bressane Ilustração e Design</dc:creator>
  <cp:lastModifiedBy>LUCA SANTIAGO ROCHA</cp:lastModifiedBy>
  <cp:revision>195</cp:revision>
  <dcterms:modified xsi:type="dcterms:W3CDTF">2026-01-29T12:00:16Z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0x0101000AF221F30FA1D846BC6503DE840D959B</vt:lpwstr>
  </property>
  <property fmtid="{D5CDD505-2E9C-101B-9397-08002B2CF9AE}" pid="3" name="MediaServiceImageTags">
    <vt:lpwstr/>
  </property>
  <property fmtid="{D5CDD505-2E9C-101B-9397-08002B2CF9AE}" pid="4" name="Order">
    <vt:lpwstr>378100.000000000</vt:lpwstr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