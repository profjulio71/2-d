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4"/>
    <p:sldMasterId id="2147483767" r:id="rId5"/>
  </p:sldMasterIdLst>
  <p:notesMasterIdLst>
    <p:notesMasterId r:id="rId34"/>
  </p:notesMasterIdLst>
  <p:handoutMasterIdLst>
    <p:handoutMasterId r:id="rId35"/>
  </p:handoutMasterIdLst>
  <p:sldIdLst>
    <p:sldId id="498" r:id="rId6"/>
    <p:sldId id="256" r:id="rId7"/>
    <p:sldId id="1427" r:id="rId8"/>
    <p:sldId id="1428" r:id="rId9"/>
    <p:sldId id="258" r:id="rId10"/>
    <p:sldId id="556" r:id="rId11"/>
    <p:sldId id="1465" r:id="rId12"/>
    <p:sldId id="1483" r:id="rId13"/>
    <p:sldId id="1484" r:id="rId14"/>
    <p:sldId id="1319" r:id="rId15"/>
    <p:sldId id="1447" r:id="rId16"/>
    <p:sldId id="1448" r:id="rId17"/>
    <p:sldId id="1449" r:id="rId18"/>
    <p:sldId id="1485" r:id="rId19"/>
    <p:sldId id="586" r:id="rId20"/>
    <p:sldId id="1450" r:id="rId21"/>
    <p:sldId id="530" r:id="rId22"/>
    <p:sldId id="529" r:id="rId23"/>
    <p:sldId id="527" r:id="rId24"/>
    <p:sldId id="266" r:id="rId25"/>
    <p:sldId id="1464" r:id="rId26"/>
    <p:sldId id="576" r:id="rId27"/>
    <p:sldId id="1466" r:id="rId28"/>
    <p:sldId id="1348" r:id="rId29"/>
    <p:sldId id="1349" r:id="rId30"/>
    <p:sldId id="1501" r:id="rId31"/>
    <p:sldId id="1350" r:id="rId32"/>
    <p:sldId id="550" r:id="rId33"/>
  </p:sldIdLst>
  <p:sldSz cx="12192000" cy="6858000"/>
  <p:notesSz cx="6858000" cy="9144000"/>
  <p:embeddedFontLst>
    <p:embeddedFont>
      <p:font typeface="Poppins" panose="00000500000000000000" pitchFamily="2" charset="0"/>
      <p:regular r:id="rId36"/>
      <p:bold r:id="rId37"/>
      <p:italic r:id="rId38"/>
      <p:boldItalic r:id="rId39"/>
    </p:embeddedFont>
    <p:embeddedFont>
      <p:font typeface="Poppins Bold" panose="00000800000000000000" pitchFamily="2" charset="0"/>
      <p:regular r:id="rId40"/>
      <p:bold r:id="rId41"/>
      <p:italic r:id="rId42"/>
      <p:boldItalic r:id="rId43"/>
    </p:embeddedFont>
    <p:embeddedFont>
      <p:font typeface="Poppins Light" panose="00000400000000000000" pitchFamily="2" charset="0"/>
      <p:regular r:id="rId44"/>
      <p:bold r:id="rId45"/>
      <p:italic r:id="rId46"/>
      <p:boldItalic r:id="rId47"/>
    </p:embeddedFont>
    <p:embeddedFont>
      <p:font typeface="Poppins Medium" panose="000006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85" userDrawn="1">
          <p15:clr>
            <a:srgbClr val="A4A3A4"/>
          </p15:clr>
        </p15:guide>
        <p15:guide id="2" pos="667" userDrawn="1">
          <p15:clr>
            <a:srgbClr val="A4A3A4"/>
          </p15:clr>
        </p15:guide>
        <p15:guide id="3" orient="horz" pos="424" userDrawn="1">
          <p15:clr>
            <a:srgbClr val="A4A3A4"/>
          </p15:clr>
        </p15:guide>
        <p15:guide id="4" orient="horz" pos="10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93F123-A5E2-A62B-D9E3-D9303D1BB86B}" name="Gustavo Cruz dos Reis" initials="GC" userId="S::greis@vanzolini-ead.org.br::837664e1-438f-44d7-9e01-7f6012fe004f" providerId="AD"/>
  <p188:author id="{8EC25B63-2C85-9DB5-AB9D-5F3D63E2707A}" name="Erika Rosa de Araújo" initials="ER" userId="S::erika_araujo@vanzolini-ead.org.br::5b52b1c9-51d4-48d4-888b-26776a653382" providerId="AD"/>
  <p188:author id="{C6975768-E079-2129-EF66-8C7D8D20589C}" name="Usuário Convidado" initials="UC" userId="S::urn:spo:anon#9c1a6640c4cf430e37b8e52984f4ed92aa1896e2c9d3b1637fd5ce4c8fd5c9d5::" providerId="AD"/>
  <p188:author id="{B6690975-A9C3-148A-D4A5-4CBF6A2ABB4E}" name="Flavia Alessandra Soares de Oliveira" initials="FA" userId="S::flavia.oliveira@vanzolini-ead.org.br::c69a92dc-e5a9-4a45-ac8e-5266805fcaf4" providerId="AD"/>
  <p188:author id="{5609E583-6F6E-D26E-3483-A990B1ED9307}" name="Alice Girodo Elias" initials="AE" userId="S::alice_elias@vanzolini-ead.org.br::83a86b8d-5fdd-48ae-8c3d-d7029cde8382" providerId="AD"/>
  <p188:author id="{0C7EEB85-7C9A-1B88-BDB5-D1B42911E338}" name="mateus pereira" initials="mp" userId="0d193232d40e37e9" providerId="Windows Live"/>
  <p188:author id="{8DD8E787-7B43-E508-6891-C6122D24A71C}" name="Douglas José Mendonça" initials="DM" userId="4153c5f748151241" providerId="Windows Live"/>
  <p188:author id="{EA7E6897-FBE9-9C70-C068-FD298403604C}" name="JOSE AVELINO PLACCA" initials="JP" userId="S::jose.placca@fatec.sp.gov.br::5607103a-18bc-4249-a88b-cf9b68ce5d63" providerId="AD"/>
  <p188:author id="{359923D3-91D8-2A84-C320-E37824E7A0A2}" name="Sandra Alves Menezes" initials="SAM" userId="c70d3e3594991db2" providerId="Windows Live"/>
  <p188:author id="{E0388DF7-5B9F-86E5-E6C5-3F344187204B}" name="Eloisa Dalbem" initials="ED" userId="S::eldalbem@vanzolini-ead.org.br::9ae0c03a-8642-493e-97df-c9fd93e6c39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rya Bueno" initials="SB" lastIdx="1" clrIdx="0">
    <p:extLst>
      <p:ext uri="{19B8F6BF-5375-455C-9EA6-DF929625EA0E}">
        <p15:presenceInfo xmlns:p15="http://schemas.microsoft.com/office/powerpoint/2012/main" userId="6e21e9d7a184f473" providerId="Windows Live"/>
      </p:ext>
    </p:extLst>
  </p:cmAuthor>
  <p:cmAuthor id="2" name="Luiza " initials="LEL" lastIdx="8" clrIdx="1">
    <p:extLst>
      <p:ext uri="{19B8F6BF-5375-455C-9EA6-DF929625EA0E}">
        <p15:presenceInfo xmlns:p15="http://schemas.microsoft.com/office/powerpoint/2012/main" userId="Luiza 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E8E7"/>
    <a:srgbClr val="AAA6D3"/>
    <a:srgbClr val="312F67"/>
    <a:srgbClr val="4AB6FF"/>
    <a:srgbClr val="9278FF"/>
    <a:srgbClr val="3E3593"/>
    <a:srgbClr val="EE0000"/>
    <a:srgbClr val="FF0000"/>
    <a:srgbClr val="EC4E58"/>
    <a:srgbClr val="E83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30A05-8F78-F34C-3ABA-C0A3739C74C2}" v="108" dt="2025-11-05T19:57:46.765"/>
    <p1510:client id="{DCB9493D-7162-CF88-D013-E87FC7C7B5DA}" v="27" dt="2025-11-06T17:50:27.643"/>
  </p1510:revLst>
</p1510:revInfo>
</file>

<file path=ppt/tableStyles.xml><?xml version="1.0" encoding="utf-8"?>
<a:tblStyleLst xmlns:a="http://schemas.openxmlformats.org/drawingml/2006/main" def="{58B62AC2-CBFF-4FEF-A790-FB120B6FE34D}">
  <a:tblStyle styleId="{58B62AC2-CBFF-4FEF-A790-FB120B6FE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737" autoAdjust="0"/>
  </p:normalViewPr>
  <p:slideViewPr>
    <p:cSldViewPr snapToGrid="0">
      <p:cViewPr varScale="1">
        <p:scale>
          <a:sx n="80" d="100"/>
          <a:sy n="80" d="100"/>
        </p:scale>
        <p:origin x="91" y="48"/>
      </p:cViewPr>
      <p:guideLst>
        <p:guide orient="horz" pos="485"/>
        <p:guide pos="667"/>
        <p:guide orient="horz" pos="424"/>
        <p:guide orient="horz" pos="10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4.fntdata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presProps" Target="pres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font" Target="fonts/font1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5.xml"/><Relationship Id="rId41" Type="http://schemas.openxmlformats.org/officeDocument/2006/relationships/font" Target="fonts/font6.fntdata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microsoft.com/office/2015/10/relationships/revisionInfo" Target="revisionInfo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font" Target="fonts/font9.fntdata"/><Relationship Id="rId5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0016A-23B3-8332-53D6-57FE04C28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ABBCA-ED84-8C3A-7D17-F6393BAD02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6816-8789-481E-B2F2-61889E0E8584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40203C-C3C0-C509-C3D9-F91275DBAE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A17361-C8A0-CABB-2146-B5B19E39C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4F6E5-A54A-42CC-B250-9D06C7C52C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438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	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65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9355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2" name="Google Shape;6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FCB9DDA2-939D-9390-AFDE-50D11302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:notes">
            <a:extLst>
              <a:ext uri="{FF2B5EF4-FFF2-40B4-BE49-F238E27FC236}">
                <a16:creationId xmlns:a16="http://schemas.microsoft.com/office/drawing/2014/main" id="{21DFDB0B-D18E-ACFD-7BD1-E93D8880C9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9" name="Google Shape;689;p7:notes">
            <a:extLst>
              <a:ext uri="{FF2B5EF4-FFF2-40B4-BE49-F238E27FC236}">
                <a16:creationId xmlns:a16="http://schemas.microsoft.com/office/drawing/2014/main" id="{56976440-77FA-461D-69F6-B5300FB785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114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44AED-CBFB-5673-944D-C7AD54097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DD4976-2523-CC5D-8842-F9EA436DC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D568B2A-BD5D-41B9-A285-4F8E79EF4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C5B546-8C57-BEC8-1FC5-8FE91D7218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7566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4EA4-D4CF-AB4F-C3FE-204C57F0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153C47-F775-318C-09B0-1504E0159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72E85A-4D84-74D5-7C34-1843F4D28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AEE2A4-5CD6-86EA-D557-5FA141E261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1748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047F-E4F6-0A1C-F7B9-50239461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B6090A-734B-72BC-279F-77B9D5F64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2999A36-9F48-CA5E-1411-1EA657407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4C3236-8BE6-3522-0F6A-B666AF189E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3081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2421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C10B998F-3F19-4019-CB95-F526DAD7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62490B2B-C3F3-F922-4434-8BCC0222C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93091F4D-92BF-5186-B67A-093AF3045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0898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0400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Poppins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3971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65F4DAEE-9901-3731-8F08-D283C2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5198b4dfb_0_1:notes">
            <a:extLst>
              <a:ext uri="{FF2B5EF4-FFF2-40B4-BE49-F238E27FC236}">
                <a16:creationId xmlns:a16="http://schemas.microsoft.com/office/drawing/2014/main" id="{74B7CBA6-3C74-A542-6503-85E3ED027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</p:txBody>
      </p:sp>
      <p:sp>
        <p:nvSpPr>
          <p:cNvPr id="724" name="Google Shape;724;g1e5198b4dfb_0_1:notes">
            <a:extLst>
              <a:ext uri="{FF2B5EF4-FFF2-40B4-BE49-F238E27FC236}">
                <a16:creationId xmlns:a16="http://schemas.microsoft.com/office/drawing/2014/main" id="{D3DB5D40-7473-12E9-B92C-1A646EAD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448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9" name="Google Shape;7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9448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9643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93729-A41C-1E37-2047-EFC920A1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0BE2F0-4FD0-F0A3-33F4-AE2700D19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297DC0-75AF-7505-4CF7-DBAFCC6A2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55443D-8D11-882C-31DE-4A1643A23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7782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B028-C831-A7B1-E3B6-25C04AE0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4F2FB19-8B0D-E07B-375F-88A75953E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0C47E3-B675-2705-36D7-66763D2E0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B5A734-6B1E-C35C-4A7A-A34C6DD0EC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3456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FA1E-C6A7-D2EF-F743-FA0D1AF92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5BDF5E-3D06-C57D-20F3-1BD01C277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075404-D07F-1608-6D25-AC2B32C8B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6C4D82-BB9E-B02B-5F5B-840937B9A3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13319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E112-663C-5DE5-D340-6DD720FB8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45E8D2-D792-AE13-143D-39A32FBFE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75C2D2-1226-3A0A-1C8F-35E178ECE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9CCD4F-D407-0113-3923-BB342E073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54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3433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AD1734-3C80-FF94-6DD2-DECBA183EE9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2C7F7F1-BCDC-73D8-422C-4506CEDCF304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93604609-C96F-BEC3-7570-87566098A212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84D24A14-CBCE-BC5C-D014-9FBFB7FD7F99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114DE55C-3F70-83C9-2759-4F6F396D5F59}"/>
              </a:ext>
            </a:extLst>
          </p:cNvPr>
          <p:cNvSpPr txBox="1"/>
          <p:nvPr userDrawn="1"/>
        </p:nvSpPr>
        <p:spPr>
          <a:xfrm>
            <a:off x="6116401" y="2879829"/>
            <a:ext cx="3578455" cy="10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Ciência de</a:t>
            </a:r>
          </a:p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Dados</a:t>
            </a:r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0BD4547F-0173-7371-7B51-BF26F28CF3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66" t="26436" r="13369" b="26176"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67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pic>
        <p:nvPicPr>
          <p:cNvPr id="6" name="Google Shape;11;p2">
            <a:extLst>
              <a:ext uri="{FF2B5EF4-FFF2-40B4-BE49-F238E27FC236}">
                <a16:creationId xmlns:a16="http://schemas.microsoft.com/office/drawing/2014/main" id="{F911997B-25B6-5A75-0F42-D90B0D6771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12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E02BCD6-DBF5-CEF8-9C2C-368223151F24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521E6D4-4CFE-8D40-1A74-28B74010084D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12" name="Retângulo: Cantos Superiores Arredondados 11">
              <a:extLst>
                <a:ext uri="{FF2B5EF4-FFF2-40B4-BE49-F238E27FC236}">
                  <a16:creationId xmlns:a16="http://schemas.microsoft.com/office/drawing/2014/main" id="{925F204A-0EA3-5383-029F-B493555CD102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F275A63A-63E0-BD56-CD99-24E8AC59A437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4ABD3221-A734-97E9-8A3A-5D75BF59C1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566" t="26436" r="13369" b="26176"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4C2859C-D5B2-9D39-4D01-3799503946D5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9E92ACC-D720-B93A-2E33-7D03FF6279E9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17544BE5-5567-FEDE-010F-E65F8F167572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EA3AB49A-57B9-E509-B4BE-25E04D2A5FCC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2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;p2">
            <a:extLst>
              <a:ext uri="{FF2B5EF4-FFF2-40B4-BE49-F238E27FC236}">
                <a16:creationId xmlns:a16="http://schemas.microsoft.com/office/drawing/2014/main" id="{5A1DEB2F-0EEC-C44F-4943-F4FDFAF692C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518932DD-9DD2-2A34-481A-4A57B4132029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5B77EECB-36EC-9F0F-E85B-8E2B1D9FE5B6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A9E7E361-3750-73F9-F1B3-64FBBEDF0C8D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425565C4-BF7B-0C46-D6A0-6407E13E892C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" name="Google Shape;643;p43">
            <a:extLst>
              <a:ext uri="{FF2B5EF4-FFF2-40B4-BE49-F238E27FC236}">
                <a16:creationId xmlns:a16="http://schemas.microsoft.com/office/drawing/2014/main" id="{5AF7853B-4E78-D4C2-17E6-57D750683E13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>
                <a:solidFill>
                  <a:srgbClr val="FF161F"/>
                </a:solidFill>
              </a:rPr>
              <a:t>Orientações ao Professor</a:t>
            </a:r>
          </a:p>
        </p:txBody>
      </p:sp>
    </p:spTree>
    <p:extLst>
      <p:ext uri="{BB962C8B-B14F-4D97-AF65-F5344CB8AC3E}">
        <p14:creationId xmlns:p14="http://schemas.microsoft.com/office/powerpoint/2010/main" val="4191410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2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2;p4">
            <a:extLst>
              <a:ext uri="{FF2B5EF4-FFF2-40B4-BE49-F238E27FC236}">
                <a16:creationId xmlns:a16="http://schemas.microsoft.com/office/drawing/2014/main" id="{0441BF1F-C7EE-076D-0E64-5ADFC9612C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4">
            <a:extLst>
              <a:ext uri="{FF2B5EF4-FFF2-40B4-BE49-F238E27FC236}">
                <a16:creationId xmlns:a16="http://schemas.microsoft.com/office/drawing/2014/main" id="{9951514B-0229-7045-2962-7AE28BD672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836870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991389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421233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15678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1" name="Google Shape;26;p31">
            <a:extLst>
              <a:ext uri="{FF2B5EF4-FFF2-40B4-BE49-F238E27FC236}">
                <a16:creationId xmlns:a16="http://schemas.microsoft.com/office/drawing/2014/main" id="{94671E74-5053-0B75-2554-2EC14FBC543F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42;p31">
            <a:extLst>
              <a:ext uri="{FF2B5EF4-FFF2-40B4-BE49-F238E27FC236}">
                <a16:creationId xmlns:a16="http://schemas.microsoft.com/office/drawing/2014/main" id="{9872EE60-7A4F-1BA5-6C65-F74323570E69}"/>
              </a:ext>
            </a:extLst>
          </p:cNvPr>
          <p:cNvSpPr/>
          <p:nvPr userDrawn="1"/>
        </p:nvSpPr>
        <p:spPr>
          <a:xfrm>
            <a:off x="514540" y="289194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44;p31">
            <a:extLst>
              <a:ext uri="{FF2B5EF4-FFF2-40B4-BE49-F238E27FC236}">
                <a16:creationId xmlns:a16="http://schemas.microsoft.com/office/drawing/2014/main" id="{E7AF0D48-4EAB-4341-56B9-E5180E18D687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71" name="Google Shape;45;p31">
              <a:extLst>
                <a:ext uri="{FF2B5EF4-FFF2-40B4-BE49-F238E27FC236}">
                  <a16:creationId xmlns:a16="http://schemas.microsoft.com/office/drawing/2014/main" id="{25EE43B4-55D5-638C-B8E0-7683EE07DEF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5" name="Google Shape;46;p31">
                <a:extLst>
                  <a:ext uri="{FF2B5EF4-FFF2-40B4-BE49-F238E27FC236}">
                    <a16:creationId xmlns:a16="http://schemas.microsoft.com/office/drawing/2014/main" id="{D06AC268-D753-3703-84A7-70B8CEE1953D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47;p31">
                <a:extLst>
                  <a:ext uri="{FF2B5EF4-FFF2-40B4-BE49-F238E27FC236}">
                    <a16:creationId xmlns:a16="http://schemas.microsoft.com/office/drawing/2014/main" id="{3CA9B3D1-6574-F459-2D19-20757E9DA548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48;p31">
              <a:extLst>
                <a:ext uri="{FF2B5EF4-FFF2-40B4-BE49-F238E27FC236}">
                  <a16:creationId xmlns:a16="http://schemas.microsoft.com/office/drawing/2014/main" id="{9C48133A-5E44-59D4-D07A-9F4DA1DB4FB6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;p31">
              <a:extLst>
                <a:ext uri="{FF2B5EF4-FFF2-40B4-BE49-F238E27FC236}">
                  <a16:creationId xmlns:a16="http://schemas.microsoft.com/office/drawing/2014/main" id="{52692079-AC69-2A35-9041-6474957E1B76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0;p31">
              <a:extLst>
                <a:ext uri="{FF2B5EF4-FFF2-40B4-BE49-F238E27FC236}">
                  <a16:creationId xmlns:a16="http://schemas.microsoft.com/office/drawing/2014/main" id="{DF1F27D0-EFFF-7207-95F6-31380C6AD75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43;p31">
            <a:extLst>
              <a:ext uri="{FF2B5EF4-FFF2-40B4-BE49-F238E27FC236}">
                <a16:creationId xmlns:a16="http://schemas.microsoft.com/office/drawing/2014/main" id="{6105EC4C-2897-6550-3658-7F87FDA2E46D}"/>
              </a:ext>
            </a:extLst>
          </p:cNvPr>
          <p:cNvSpPr/>
          <p:nvPr userDrawn="1"/>
        </p:nvSpPr>
        <p:spPr>
          <a:xfrm>
            <a:off x="516205" y="5041837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51;p31">
            <a:extLst>
              <a:ext uri="{FF2B5EF4-FFF2-40B4-BE49-F238E27FC236}">
                <a16:creationId xmlns:a16="http://schemas.microsoft.com/office/drawing/2014/main" id="{73A799AF-B157-40EC-DCBE-B8FCFBE7F3C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58917" y="5200319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41;p31">
            <a:extLst>
              <a:ext uri="{FF2B5EF4-FFF2-40B4-BE49-F238E27FC236}">
                <a16:creationId xmlns:a16="http://schemas.microsoft.com/office/drawing/2014/main" id="{B3B56EED-70D4-931C-A420-FE71A037A5B3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52;p31">
            <a:extLst>
              <a:ext uri="{FF2B5EF4-FFF2-40B4-BE49-F238E27FC236}">
                <a16:creationId xmlns:a16="http://schemas.microsoft.com/office/drawing/2014/main" id="{150405F6-AD92-3E93-A0F2-62123F63C231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81" name="Google Shape;53;p31">
              <a:extLst>
                <a:ext uri="{FF2B5EF4-FFF2-40B4-BE49-F238E27FC236}">
                  <a16:creationId xmlns:a16="http://schemas.microsoft.com/office/drawing/2014/main" id="{E89D22AA-CDF5-F8EF-533A-455BBF7ED376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54;p31">
              <a:extLst>
                <a:ext uri="{FF2B5EF4-FFF2-40B4-BE49-F238E27FC236}">
                  <a16:creationId xmlns:a16="http://schemas.microsoft.com/office/drawing/2014/main" id="{34CAB52C-B8E8-A6A1-22C9-58CFDA6BF939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83" name="Google Shape;55;p31">
                <a:extLst>
                  <a:ext uri="{FF2B5EF4-FFF2-40B4-BE49-F238E27FC236}">
                    <a16:creationId xmlns:a16="http://schemas.microsoft.com/office/drawing/2014/main" id="{0380A354-0C36-FBBD-5A99-BEB6A92922F2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;p31">
                <a:extLst>
                  <a:ext uri="{FF2B5EF4-FFF2-40B4-BE49-F238E27FC236}">
                    <a16:creationId xmlns:a16="http://schemas.microsoft.com/office/drawing/2014/main" id="{B3EF03DC-1D7C-1510-0CD0-0F69395B797F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7;p31">
                <a:extLst>
                  <a:ext uri="{FF2B5EF4-FFF2-40B4-BE49-F238E27FC236}">
                    <a16:creationId xmlns:a16="http://schemas.microsoft.com/office/drawing/2014/main" id="{42F9CEE5-E68B-076C-BB6F-7A025F686840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8;p31">
                <a:extLst>
                  <a:ext uri="{FF2B5EF4-FFF2-40B4-BE49-F238E27FC236}">
                    <a16:creationId xmlns:a16="http://schemas.microsoft.com/office/drawing/2014/main" id="{99B7DFE5-0CDE-9C9C-3FD3-49285C4CFB39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9;p31">
                <a:extLst>
                  <a:ext uri="{FF2B5EF4-FFF2-40B4-BE49-F238E27FC236}">
                    <a16:creationId xmlns:a16="http://schemas.microsoft.com/office/drawing/2014/main" id="{0F963431-0407-0C32-190B-BA13628B3689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0;p31">
                <a:extLst>
                  <a:ext uri="{FF2B5EF4-FFF2-40B4-BE49-F238E27FC236}">
                    <a16:creationId xmlns:a16="http://schemas.microsoft.com/office/drawing/2014/main" id="{F439FC39-5565-97D2-9A14-46058DB5EF62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" name="Google Shape;41;p31">
            <a:extLst>
              <a:ext uri="{FF2B5EF4-FFF2-40B4-BE49-F238E27FC236}">
                <a16:creationId xmlns:a16="http://schemas.microsoft.com/office/drawing/2014/main" id="{4FB79224-C783-AB92-7785-7C018D12A249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2215;p100">
            <a:extLst>
              <a:ext uri="{FF2B5EF4-FFF2-40B4-BE49-F238E27FC236}">
                <a16:creationId xmlns:a16="http://schemas.microsoft.com/office/drawing/2014/main" id="{0E0D728E-3A33-4EF4-5212-177932EB7D37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7" name="Google Shape;34;p31">
            <a:extLst>
              <a:ext uri="{FF2B5EF4-FFF2-40B4-BE49-F238E27FC236}">
                <a16:creationId xmlns:a16="http://schemas.microsoft.com/office/drawing/2014/main" id="{C430FFE2-579C-F0FF-C290-CF4D2EB9FE9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9" name="Google Shape;35;p31">
              <a:extLst>
                <a:ext uri="{FF2B5EF4-FFF2-40B4-BE49-F238E27FC236}">
                  <a16:creationId xmlns:a16="http://schemas.microsoft.com/office/drawing/2014/main" id="{75DCD9A7-81F9-4D17-9997-5B22594BE3C9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4" name="Google Shape;36;p31">
                <a:extLst>
                  <a:ext uri="{FF2B5EF4-FFF2-40B4-BE49-F238E27FC236}">
                    <a16:creationId xmlns:a16="http://schemas.microsoft.com/office/drawing/2014/main" id="{90EABD33-493E-E54A-1A23-1BA99D60F8B0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7;p31">
                <a:extLst>
                  <a:ext uri="{FF2B5EF4-FFF2-40B4-BE49-F238E27FC236}">
                    <a16:creationId xmlns:a16="http://schemas.microsoft.com/office/drawing/2014/main" id="{A8D933AC-72DA-D72F-77D3-A7207C548944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8;p31">
                <a:extLst>
                  <a:ext uri="{FF2B5EF4-FFF2-40B4-BE49-F238E27FC236}">
                    <a16:creationId xmlns:a16="http://schemas.microsoft.com/office/drawing/2014/main" id="{4A4515EE-AAD5-6566-FB77-56CD51465C34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39;p31">
              <a:extLst>
                <a:ext uri="{FF2B5EF4-FFF2-40B4-BE49-F238E27FC236}">
                  <a16:creationId xmlns:a16="http://schemas.microsoft.com/office/drawing/2014/main" id="{C178D74F-1BD9-301F-4848-BDD92A8BD252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;p31">
              <a:extLst>
                <a:ext uri="{FF2B5EF4-FFF2-40B4-BE49-F238E27FC236}">
                  <a16:creationId xmlns:a16="http://schemas.microsoft.com/office/drawing/2014/main" id="{2FB8305B-313B-9DA6-397B-FD10C2E02AD9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278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preserve="1" userDrawn="1">
  <p:cSld name="3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3;p21">
            <a:extLst>
              <a:ext uri="{FF2B5EF4-FFF2-40B4-BE49-F238E27FC236}">
                <a16:creationId xmlns:a16="http://schemas.microsoft.com/office/drawing/2014/main" id="{04070031-126A-1C18-A638-9AC483966A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E3EABF6E-626A-0802-C919-B97335045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24C57C54-2E58-E7B5-ECF5-2C905E340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0980F8-96BE-C595-33D4-00F97577EE32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3CE7E26-C404-B589-4CFD-971673DF8198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Google Shape;231;p21">
            <a:extLst>
              <a:ext uri="{FF2B5EF4-FFF2-40B4-BE49-F238E27FC236}">
                <a16:creationId xmlns:a16="http://schemas.microsoft.com/office/drawing/2014/main" id="{D38EC3DE-7D08-37DD-7C76-A74A42EC25EB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413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 preserve="1" userDrawn="1">
  <p:cSld name="2_Atividade_embranco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0416F6-09BD-9981-848C-F13A11B9AE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4" name="Espaço Reservado para Mídia 3">
            <a:extLst>
              <a:ext uri="{FF2B5EF4-FFF2-40B4-BE49-F238E27FC236}">
                <a16:creationId xmlns:a16="http://schemas.microsoft.com/office/drawing/2014/main" id="{93F045AC-FA97-1D94-5C54-6BC8931024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226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 userDrawn="1">
  <p:cSld name="3_EstudoCaso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3;p10">
            <a:extLst>
              <a:ext uri="{FF2B5EF4-FFF2-40B4-BE49-F238E27FC236}">
                <a16:creationId xmlns:a16="http://schemas.microsoft.com/office/drawing/2014/main" id="{6DB00E26-BCDE-0E55-ED92-7563396D697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822" r="41781"/>
          <a:stretch/>
        </p:blipFill>
        <p:spPr>
          <a:xfrm>
            <a:off x="0" y="0"/>
            <a:ext cx="32181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7D9BE86-9078-4427-9656-B39826D967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085" y="1210734"/>
            <a:ext cx="7610475" cy="2825557"/>
          </a:xfrm>
          <a:prstGeom prst="rect">
            <a:avLst/>
          </a:prstGeom>
          <a:solidFill>
            <a:srgbClr val="D9D9D9"/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/>
              <a:t>Inserir &gt; Mídia &gt; Vídeo &gt; Vídeos online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5469AD-51F8-FC13-26BB-CEAB108EE398}"/>
              </a:ext>
            </a:extLst>
          </p:cNvPr>
          <p:cNvSpPr txBox="1"/>
          <p:nvPr userDrawn="1"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CC74B2E-A796-1D5C-AB56-9CBD5E6EF6CF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 userDrawn="1">
          <p15:clr>
            <a:srgbClr val="FBAE40"/>
          </p15:clr>
        </p15:guide>
        <p15:guide id="2" pos="228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21">
            <a:extLst>
              <a:ext uri="{FF2B5EF4-FFF2-40B4-BE49-F238E27FC236}">
                <a16:creationId xmlns:a16="http://schemas.microsoft.com/office/drawing/2014/main" id="{C2D53C5C-653B-C871-5FD5-4980C285D2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0" y="12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54B0FBD-6D7A-D6E9-F304-3F60E27DA941}"/>
              </a:ext>
            </a:extLst>
          </p:cNvPr>
          <p:cNvSpPr/>
          <p:nvPr userDrawn="1"/>
        </p:nvSpPr>
        <p:spPr>
          <a:xfrm>
            <a:off x="5260792" y="304269"/>
            <a:ext cx="6553729" cy="556821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A24CA4-AA45-E069-3331-6863E624A858}"/>
              </a:ext>
            </a:extLst>
          </p:cNvPr>
          <p:cNvSpPr txBox="1"/>
          <p:nvPr userDrawn="1"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 userDrawn="1">
  <p:cSld name="5_OqueAprendemo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6;p32">
            <a:extLst>
              <a:ext uri="{FF2B5EF4-FFF2-40B4-BE49-F238E27FC236}">
                <a16:creationId xmlns:a16="http://schemas.microsoft.com/office/drawing/2014/main" id="{7C738FF4-2E01-8DDD-6839-4D26CF39941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961" t="437" r="51208"/>
          <a:stretch/>
        </p:blipFill>
        <p:spPr>
          <a:xfrm>
            <a:off x="0" y="0"/>
            <a:ext cx="37752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4" name="Google Shape;689;p48">
            <a:extLst>
              <a:ext uri="{FF2B5EF4-FFF2-40B4-BE49-F238E27FC236}">
                <a16:creationId xmlns:a16="http://schemas.microsoft.com/office/drawing/2014/main" id="{3A19ED95-0334-F47C-AF86-3309C91852AB}"/>
              </a:ext>
            </a:extLst>
          </p:cNvPr>
          <p:cNvSpPr txBox="1">
            <a:spLocks/>
          </p:cNvSpPr>
          <p:nvPr userDrawn="1"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"/>
              </a:spcBef>
              <a:buSzPts val="1200"/>
              <a:buFont typeface="Arial" pitchFamily="34" charset="0"/>
              <a:buNone/>
            </a:pPr>
            <a:r>
              <a:rPr lang="pt-BR" sz="8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Getty </a:t>
            </a:r>
            <a:r>
              <a:rPr lang="pt-BR" sz="80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</a:t>
            </a:r>
            <a:endParaRPr lang="pt-BR" sz="8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Google Shape;345;p32">
            <a:extLst>
              <a:ext uri="{FF2B5EF4-FFF2-40B4-BE49-F238E27FC236}">
                <a16:creationId xmlns:a16="http://schemas.microsoft.com/office/drawing/2014/main" id="{D958A6C2-8B71-D5A0-1C68-95723A4C4F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347;p32">
            <a:extLst>
              <a:ext uri="{FF2B5EF4-FFF2-40B4-BE49-F238E27FC236}">
                <a16:creationId xmlns:a16="http://schemas.microsoft.com/office/drawing/2014/main" id="{D60E57C9-84D4-8D99-0D6C-C59B32F7C6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349;p32">
            <a:extLst>
              <a:ext uri="{FF2B5EF4-FFF2-40B4-BE49-F238E27FC236}">
                <a16:creationId xmlns:a16="http://schemas.microsoft.com/office/drawing/2014/main" id="{142C7AEA-387E-A052-1D08-8A416B8497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233;p39">
            <a:extLst>
              <a:ext uri="{FF2B5EF4-FFF2-40B4-BE49-F238E27FC236}">
                <a16:creationId xmlns:a16="http://schemas.microsoft.com/office/drawing/2014/main" id="{23D223AE-6B47-5244-85DA-E25526DF3862}"/>
              </a:ext>
            </a:extLst>
          </p:cNvPr>
          <p:cNvSpPr txBox="1"/>
          <p:nvPr userDrawn="1"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607A1E13-022D-D9F1-086C-636AF8EAE3BA}"/>
              </a:ext>
            </a:extLst>
          </p:cNvPr>
          <p:cNvSpPr txBox="1"/>
          <p:nvPr userDrawn="1"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7;p39">
            <a:extLst>
              <a:ext uri="{FF2B5EF4-FFF2-40B4-BE49-F238E27FC236}">
                <a16:creationId xmlns:a16="http://schemas.microsoft.com/office/drawing/2014/main" id="{2E8F90B6-2731-530A-A552-FC88DAE9F7F9}"/>
              </a:ext>
            </a:extLst>
          </p:cNvPr>
          <p:cNvSpPr txBox="1"/>
          <p:nvPr userDrawn="1"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BE2669-C701-CF93-6C9B-1A151924C387}"/>
              </a:ext>
            </a:extLst>
          </p:cNvPr>
          <p:cNvSpPr txBox="1"/>
          <p:nvPr userDrawn="1"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92A475E-CE56-504F-F358-C6C4D5B6B2D7}"/>
              </a:ext>
            </a:extLst>
          </p:cNvPr>
          <p:cNvSpPr/>
          <p:nvPr userDrawn="1"/>
        </p:nvSpPr>
        <p:spPr>
          <a:xfrm>
            <a:off x="1827147" y="369589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Google Shape;353;p32">
            <a:extLst>
              <a:ext uri="{FF2B5EF4-FFF2-40B4-BE49-F238E27FC236}">
                <a16:creationId xmlns:a16="http://schemas.microsoft.com/office/drawing/2014/main" id="{16AC44D9-0945-05F2-6225-E85200AB740A}"/>
              </a:ext>
            </a:extLst>
          </p:cNvPr>
          <p:cNvSpPr txBox="1"/>
          <p:nvPr userDrawn="1"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lang="pt-BR" sz="2333" b="0" i="0" u="none" strike="noStrike" cap="none" noProof="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55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 userDrawn="1">
  <p:cSld name="4_Atividade_Seminario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;p4">
            <a:extLst>
              <a:ext uri="{FF2B5EF4-FFF2-40B4-BE49-F238E27FC236}">
                <a16:creationId xmlns:a16="http://schemas.microsoft.com/office/drawing/2014/main" id="{96D0DE7F-92AF-A646-0FF2-A77FC5D2471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79131217-7207-B376-583C-711407C374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>
            <a:spLocks noGrp="1"/>
          </p:cNvSpPr>
          <p:nvPr>
            <p:ph type="body" idx="5"/>
          </p:nvPr>
        </p:nvSpPr>
        <p:spPr>
          <a:xfrm>
            <a:off x="1450528" y="1854200"/>
            <a:ext cx="8305873" cy="382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" name="Google Shape;624;p42">
            <a:extLst>
              <a:ext uri="{FF2B5EF4-FFF2-40B4-BE49-F238E27FC236}">
                <a16:creationId xmlns:a16="http://schemas.microsoft.com/office/drawing/2014/main" id="{690D8EE8-5EA4-845E-6984-D0C986969508}"/>
              </a:ext>
            </a:extLst>
          </p:cNvPr>
          <p:cNvSpPr txBox="1"/>
          <p:nvPr userDrawn="1"/>
        </p:nvSpPr>
        <p:spPr>
          <a:xfrm>
            <a:off x="1450528" y="1180890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noProof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r>
              <a:rPr lang="en-US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9309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 preserve="1" userDrawn="1">
  <p:cSld name="2_4. Exposiçã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E4D5C0-2DFD-930A-8F66-D0EE5037040E}"/>
              </a:ext>
            </a:extLst>
          </p:cNvPr>
          <p:cNvSpPr txBox="1"/>
          <p:nvPr userDrawn="1"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35894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userDrawn="1">
  <p:cSld name="1_Título e Conteúd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;p4">
            <a:extLst>
              <a:ext uri="{FF2B5EF4-FFF2-40B4-BE49-F238E27FC236}">
                <a16:creationId xmlns:a16="http://schemas.microsoft.com/office/drawing/2014/main" id="{4774E8B0-98E0-7A0D-DD6A-31206E95DE3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54770894-68D4-3162-22A1-63B498C9AC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1C904D48-A0F9-60D5-EB49-9DF7624491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F7B122E-6276-69E2-1BB9-8BD8EFB9FA8A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101;p34">
            <a:extLst>
              <a:ext uri="{FF2B5EF4-FFF2-40B4-BE49-F238E27FC236}">
                <a16:creationId xmlns:a16="http://schemas.microsoft.com/office/drawing/2014/main" id="{49A3EC97-4F2D-0751-2251-38F6AED1DE10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729899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userDrawn="1">
  <p:cSld name="2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3;p10">
            <a:extLst>
              <a:ext uri="{FF2B5EF4-FFF2-40B4-BE49-F238E27FC236}">
                <a16:creationId xmlns:a16="http://schemas.microsoft.com/office/drawing/2014/main" id="{F0494D6C-0775-1679-6C69-816F3881D12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822" r="42786"/>
          <a:stretch/>
        </p:blipFill>
        <p:spPr>
          <a:xfrm>
            <a:off x="2" y="0"/>
            <a:ext cx="30956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Espaço Reservado para Texto 8">
            <a:extLst>
              <a:ext uri="{FF2B5EF4-FFF2-40B4-BE49-F238E27FC236}">
                <a16:creationId xmlns:a16="http://schemas.microsoft.com/office/drawing/2014/main" id="{6B4BF7EF-FB5E-D8D4-26C0-433E9665A2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</p:spPr>
        <p:txBody>
          <a:bodyPr/>
          <a:lstStyle>
            <a:lvl1pPr>
              <a:defRPr sz="14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/>
              <a:t>Inserir &gt; Mídia &gt; Vídeo &gt; Vídeos online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AEDE4CC-34B0-5B83-71A3-BEB8C41F5AC5}"/>
              </a:ext>
            </a:extLst>
          </p:cNvPr>
          <p:cNvSpPr/>
          <p:nvPr userDrawn="1"/>
        </p:nvSpPr>
        <p:spPr>
          <a:xfrm>
            <a:off x="200185" y="269162"/>
            <a:ext cx="2290073" cy="167139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Google Shape;82;p33">
            <a:extLst>
              <a:ext uri="{FF2B5EF4-FFF2-40B4-BE49-F238E27FC236}">
                <a16:creationId xmlns:a16="http://schemas.microsoft.com/office/drawing/2014/main" id="{AE4C245C-414E-33D2-E166-A5736DF6854E}"/>
              </a:ext>
            </a:extLst>
          </p:cNvPr>
          <p:cNvSpPr txBox="1"/>
          <p:nvPr userDrawn="1"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953804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 preserve="1" userDrawn="1">
  <p:cSld name="3_Linha do Tempo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2;p4">
            <a:extLst>
              <a:ext uri="{FF2B5EF4-FFF2-40B4-BE49-F238E27FC236}">
                <a16:creationId xmlns:a16="http://schemas.microsoft.com/office/drawing/2014/main" id="{BCE1A957-41D0-BBB5-3BB3-F19BDD03AB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3;p4">
            <a:extLst>
              <a:ext uri="{FF2B5EF4-FFF2-40B4-BE49-F238E27FC236}">
                <a16:creationId xmlns:a16="http://schemas.microsoft.com/office/drawing/2014/main" id="{4A7E49D5-C52F-D100-223D-E6C8A3B6EBE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002D0E8-22C3-90CC-B114-9B35A1342FE0}"/>
              </a:ext>
            </a:extLst>
          </p:cNvPr>
          <p:cNvSpPr txBox="1"/>
          <p:nvPr userDrawn="1"/>
        </p:nvSpPr>
        <p:spPr>
          <a:xfrm>
            <a:off x="2906643" y="18818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C2819B-91AA-1651-F5F9-7B0D1509A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481EC73E-B5CF-9DF6-2B18-5F201BFD1B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Espaço Reservado para Texto 3">
            <a:extLst>
              <a:ext uri="{FF2B5EF4-FFF2-40B4-BE49-F238E27FC236}">
                <a16:creationId xmlns:a16="http://schemas.microsoft.com/office/drawing/2014/main" id="{E22F0728-FF89-57C8-564C-0F3FB75D6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7" name="Espaço Reservado para Texto 3">
            <a:extLst>
              <a:ext uri="{FF2B5EF4-FFF2-40B4-BE49-F238E27FC236}">
                <a16:creationId xmlns:a16="http://schemas.microsoft.com/office/drawing/2014/main" id="{08173B0E-FC6F-4B79-645E-F7C05C516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777D4752-A3A8-E6ED-FF9C-9D9D8F16B0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CD27E91A-725C-6108-065B-301FEE078C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1C9F06D-C4C4-802D-8AF6-AAC26839EA43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Google Shape;101;p34">
            <a:extLst>
              <a:ext uri="{FF2B5EF4-FFF2-40B4-BE49-F238E27FC236}">
                <a16:creationId xmlns:a16="http://schemas.microsoft.com/office/drawing/2014/main" id="{FF7172A0-0FF1-6732-3EC8-9DE805DA7661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36435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48" r:id="rId2"/>
    <p:sldLayoutId id="2147483731" r:id="rId3"/>
    <p:sldLayoutId id="2147483710" r:id="rId4"/>
    <p:sldLayoutId id="2147483713" r:id="rId5"/>
    <p:sldLayoutId id="2147483701" r:id="rId6"/>
    <p:sldLayoutId id="2147483683" r:id="rId7"/>
    <p:sldLayoutId id="2147483658" r:id="rId8"/>
    <p:sldLayoutId id="2147483705" r:id="rId9"/>
    <p:sldLayoutId id="2147483707" r:id="rId10"/>
    <p:sldLayoutId id="2147483730" r:id="rId11"/>
    <p:sldLayoutId id="2147483765" r:id="rId12"/>
    <p:sldLayoutId id="214748376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3128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UL9tzp2zB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8.sv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07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43;p43">
            <a:extLst>
              <a:ext uri="{FF2B5EF4-FFF2-40B4-BE49-F238E27FC236}">
                <a16:creationId xmlns:a16="http://schemas.microsoft.com/office/drawing/2014/main" id="{7894E3BE-B414-0F09-61B0-337BC78F1418}"/>
              </a:ext>
            </a:extLst>
          </p:cNvPr>
          <p:cNvSpPr txBox="1">
            <a:spLocks/>
          </p:cNvSpPr>
          <p:nvPr/>
        </p:nvSpPr>
        <p:spPr>
          <a:xfrm>
            <a:off x="613181" y="2135339"/>
            <a:ext cx="6814747" cy="4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2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Escolha do visual adequado</a:t>
            </a:r>
          </a:p>
        </p:txBody>
      </p:sp>
      <p:sp>
        <p:nvSpPr>
          <p:cNvPr id="8" name="Google Shape;644;p43">
            <a:extLst>
              <a:ext uri="{FF2B5EF4-FFF2-40B4-BE49-F238E27FC236}">
                <a16:creationId xmlns:a16="http://schemas.microsoft.com/office/drawing/2014/main" id="{38B14DE2-B36E-A166-7418-0BCC262D9727}"/>
              </a:ext>
            </a:extLst>
          </p:cNvPr>
          <p:cNvSpPr txBox="1">
            <a:spLocks/>
          </p:cNvSpPr>
          <p:nvPr/>
        </p:nvSpPr>
        <p:spPr>
          <a:xfrm>
            <a:off x="613179" y="3554305"/>
            <a:ext cx="6814747" cy="3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2500"/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Código da aula: DADOSANO1C3B2S9A1</a:t>
            </a:r>
            <a:r>
              <a:rPr lang="pt-BR" sz="1650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</a:p>
        </p:txBody>
      </p:sp>
      <p:sp>
        <p:nvSpPr>
          <p:cNvPr id="9" name="Google Shape;643;p43">
            <a:extLst>
              <a:ext uri="{FF2B5EF4-FFF2-40B4-BE49-F238E27FC236}">
                <a16:creationId xmlns:a16="http://schemas.microsoft.com/office/drawing/2014/main" id="{44C24A69-BA95-9909-516F-994C0772D844}"/>
              </a:ext>
            </a:extLst>
          </p:cNvPr>
          <p:cNvSpPr txBox="1">
            <a:spLocks/>
          </p:cNvSpPr>
          <p:nvPr/>
        </p:nvSpPr>
        <p:spPr>
          <a:xfrm>
            <a:off x="613180" y="1250419"/>
            <a:ext cx="6814747" cy="553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3200" dirty="0">
                <a:solidFill>
                  <a:srgbClr val="FF161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Storytelling de dados</a:t>
            </a:r>
            <a:endParaRPr lang="en-US" sz="3200" b="1" i="0" u="none" strike="noStrike" cap="none" dirty="0">
              <a:solidFill>
                <a:srgbClr val="FF161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Google Shape;644;p43">
            <a:extLst>
              <a:ext uri="{FF2B5EF4-FFF2-40B4-BE49-F238E27FC236}">
                <a16:creationId xmlns:a16="http://schemas.microsoft.com/office/drawing/2014/main" id="{9D103B63-758A-7270-9691-88696E89FE79}"/>
              </a:ext>
            </a:extLst>
          </p:cNvPr>
          <p:cNvSpPr txBox="1">
            <a:spLocks/>
          </p:cNvSpPr>
          <p:nvPr/>
        </p:nvSpPr>
        <p:spPr>
          <a:xfrm>
            <a:off x="613180" y="2953947"/>
            <a:ext cx="6814747" cy="3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1800" b="0" dirty="0">
                <a:solidFill>
                  <a:srgbClr val="BFBFBF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Aula 1: Tipos de gráficos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5D7D75E9-0F4B-DBE3-CC79-711BCF1FE0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99" r="949"/>
          <a:stretch/>
        </p:blipFill>
        <p:spPr>
          <a:xfrm>
            <a:off x="-5171" y="1383424"/>
            <a:ext cx="12197171" cy="4987270"/>
          </a:xfrm>
          <a:prstGeom prst="rect">
            <a:avLst/>
          </a:prstGeom>
        </p:spPr>
      </p:pic>
      <p:sp>
        <p:nvSpPr>
          <p:cNvPr id="11" name="Google Shape;298;p3">
            <a:extLst>
              <a:ext uri="{FF2B5EF4-FFF2-40B4-BE49-F238E27FC236}">
                <a16:creationId xmlns:a16="http://schemas.microsoft.com/office/drawing/2014/main" id="{4A2899B7-3121-4E75-668A-D6819BA310CC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2;p3">
            <a:extLst>
              <a:ext uri="{FF2B5EF4-FFF2-40B4-BE49-F238E27FC236}">
                <a16:creationId xmlns:a16="http://schemas.microsoft.com/office/drawing/2014/main" id="{B526F078-F664-0138-7558-AC45725A848F}"/>
              </a:ext>
            </a:extLst>
          </p:cNvPr>
          <p:cNvSpPr/>
          <p:nvPr/>
        </p:nvSpPr>
        <p:spPr>
          <a:xfrm rot="-4951757">
            <a:off x="7428646" y="2359254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03;p3">
            <a:extLst>
              <a:ext uri="{FF2B5EF4-FFF2-40B4-BE49-F238E27FC236}">
                <a16:creationId xmlns:a16="http://schemas.microsoft.com/office/drawing/2014/main" id="{F56660FF-75DD-636F-27CC-F8F675E987DE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08;p3">
            <a:extLst>
              <a:ext uri="{FF2B5EF4-FFF2-40B4-BE49-F238E27FC236}">
                <a16:creationId xmlns:a16="http://schemas.microsoft.com/office/drawing/2014/main" id="{4808A2D2-A4FC-3D56-47CE-166BBAB51C4E}"/>
              </a:ext>
            </a:extLst>
          </p:cNvPr>
          <p:cNvSpPr/>
          <p:nvPr/>
        </p:nvSpPr>
        <p:spPr>
          <a:xfrm rot="4160691">
            <a:off x="9504311" y="4023267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2ADF4355-9ECC-B4E2-9FBC-DA12643DF645}"/>
              </a:ext>
            </a:extLst>
          </p:cNvPr>
          <p:cNvGrpSpPr/>
          <p:nvPr/>
        </p:nvGrpSpPr>
        <p:grpSpPr>
          <a:xfrm>
            <a:off x="673557" y="1714872"/>
            <a:ext cx="11429063" cy="4353397"/>
            <a:chOff x="880938" y="2486044"/>
            <a:chExt cx="17143595" cy="6530095"/>
          </a:xfrm>
          <a:solidFill>
            <a:srgbClr val="3E3593"/>
          </a:solidFill>
        </p:grpSpPr>
        <p:sp>
          <p:nvSpPr>
            <p:cNvPr id="3" name="Google Shape;290;p3">
              <a:extLst>
                <a:ext uri="{FF2B5EF4-FFF2-40B4-BE49-F238E27FC236}">
                  <a16:creationId xmlns:a16="http://schemas.microsoft.com/office/drawing/2014/main" id="{AE89209E-AD43-F36B-EC55-50B97549360D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91;p3">
              <a:extLst>
                <a:ext uri="{FF2B5EF4-FFF2-40B4-BE49-F238E27FC236}">
                  <a16:creationId xmlns:a16="http://schemas.microsoft.com/office/drawing/2014/main" id="{EB71AE8F-D310-98D6-CA71-79035040DEC1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">
              <a:extLst>
                <a:ext uri="{FF2B5EF4-FFF2-40B4-BE49-F238E27FC236}">
                  <a16:creationId xmlns:a16="http://schemas.microsoft.com/office/drawing/2014/main" id="{6C307A4F-094A-23FC-557D-912DF9A29E01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4;p3">
              <a:extLst>
                <a:ext uri="{FF2B5EF4-FFF2-40B4-BE49-F238E27FC236}">
                  <a16:creationId xmlns:a16="http://schemas.microsoft.com/office/drawing/2014/main" id="{916F17AB-B0F5-C1FB-97C4-50122119F3CA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95;p3">
              <a:extLst>
                <a:ext uri="{FF2B5EF4-FFF2-40B4-BE49-F238E27FC236}">
                  <a16:creationId xmlns:a16="http://schemas.microsoft.com/office/drawing/2014/main" id="{0A8D9351-46FD-D23A-3037-C46C45F92D91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6;p3">
              <a:extLst>
                <a:ext uri="{FF2B5EF4-FFF2-40B4-BE49-F238E27FC236}">
                  <a16:creationId xmlns:a16="http://schemas.microsoft.com/office/drawing/2014/main" id="{22631971-8A49-57CD-7FBA-7BE977CEAB6E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7;p3">
              <a:extLst>
                <a:ext uri="{FF2B5EF4-FFF2-40B4-BE49-F238E27FC236}">
                  <a16:creationId xmlns:a16="http://schemas.microsoft.com/office/drawing/2014/main" id="{50D90645-AF57-FEAD-2749-2B51069E1233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9;p3">
              <a:extLst>
                <a:ext uri="{FF2B5EF4-FFF2-40B4-BE49-F238E27FC236}">
                  <a16:creationId xmlns:a16="http://schemas.microsoft.com/office/drawing/2014/main" id="{9B89F5CA-3CF3-066E-9671-313FE3DA7DD3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0;p3">
              <a:extLst>
                <a:ext uri="{FF2B5EF4-FFF2-40B4-BE49-F238E27FC236}">
                  <a16:creationId xmlns:a16="http://schemas.microsoft.com/office/drawing/2014/main" id="{99644665-3712-5F2D-5826-629ED5D6892B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1;p3">
              <a:extLst>
                <a:ext uri="{FF2B5EF4-FFF2-40B4-BE49-F238E27FC236}">
                  <a16:creationId xmlns:a16="http://schemas.microsoft.com/office/drawing/2014/main" id="{28D0CE33-4442-076D-969F-E0A34D86FAF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4;p3">
              <a:extLst>
                <a:ext uri="{FF2B5EF4-FFF2-40B4-BE49-F238E27FC236}">
                  <a16:creationId xmlns:a16="http://schemas.microsoft.com/office/drawing/2014/main" id="{29001061-2B4E-2A97-25E1-E7EF16B56B34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5;p3">
              <a:extLst>
                <a:ext uri="{FF2B5EF4-FFF2-40B4-BE49-F238E27FC236}">
                  <a16:creationId xmlns:a16="http://schemas.microsoft.com/office/drawing/2014/main" id="{1F0E5483-CD99-2945-FC23-E3806E0A67D1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6;p3">
              <a:extLst>
                <a:ext uri="{FF2B5EF4-FFF2-40B4-BE49-F238E27FC236}">
                  <a16:creationId xmlns:a16="http://schemas.microsoft.com/office/drawing/2014/main" id="{04211789-F56F-C23C-C247-0FAC2D857D69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7;p3">
              <a:extLst>
                <a:ext uri="{FF2B5EF4-FFF2-40B4-BE49-F238E27FC236}">
                  <a16:creationId xmlns:a16="http://schemas.microsoft.com/office/drawing/2014/main" id="{52CFE4AB-8A58-6560-93BB-FE230AD3F22F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09;p3">
              <a:extLst>
                <a:ext uri="{FF2B5EF4-FFF2-40B4-BE49-F238E27FC236}">
                  <a16:creationId xmlns:a16="http://schemas.microsoft.com/office/drawing/2014/main" id="{5126F024-2398-EBCB-6024-73271DC2FCE8}"/>
                </a:ext>
              </a:extLst>
            </p:cNvPr>
            <p:cNvSpPr/>
            <p:nvPr/>
          </p:nvSpPr>
          <p:spPr>
            <a:xfrm rot="-9744855">
              <a:off x="17708747" y="475701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0;p3">
              <a:extLst>
                <a:ext uri="{FF2B5EF4-FFF2-40B4-BE49-F238E27FC236}">
                  <a16:creationId xmlns:a16="http://schemas.microsoft.com/office/drawing/2014/main" id="{3DAC69B2-F4BA-1C4E-B6AB-7423C4FE510B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" name="Google Shape;312;p3">
            <a:extLst>
              <a:ext uri="{FF2B5EF4-FFF2-40B4-BE49-F238E27FC236}">
                <a16:creationId xmlns:a16="http://schemas.microsoft.com/office/drawing/2014/main" id="{D8F92167-29C2-CA3E-0AD6-79D50CFE9919}"/>
              </a:ext>
            </a:extLst>
          </p:cNvPr>
          <p:cNvCxnSpPr>
            <a:cxnSpLocks/>
          </p:cNvCxnSpPr>
          <p:nvPr/>
        </p:nvCxnSpPr>
        <p:spPr>
          <a:xfrm>
            <a:off x="3201572" y="3321128"/>
            <a:ext cx="89" cy="132328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15;p3">
            <a:extLst>
              <a:ext uri="{FF2B5EF4-FFF2-40B4-BE49-F238E27FC236}">
                <a16:creationId xmlns:a16="http://schemas.microsoft.com/office/drawing/2014/main" id="{AE113DAB-1467-3300-D48F-76A846FDA5DB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17;p3">
            <a:extLst>
              <a:ext uri="{FF2B5EF4-FFF2-40B4-BE49-F238E27FC236}">
                <a16:creationId xmlns:a16="http://schemas.microsoft.com/office/drawing/2014/main" id="{BC591161-98D6-0211-EA98-799357E38698}"/>
              </a:ext>
            </a:extLst>
          </p:cNvPr>
          <p:cNvSpPr/>
          <p:nvPr/>
        </p:nvSpPr>
        <p:spPr>
          <a:xfrm>
            <a:off x="5874417" y="612475"/>
            <a:ext cx="536093" cy="53609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200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</a:endParaRPr>
          </a:p>
        </p:txBody>
      </p:sp>
      <p:cxnSp>
        <p:nvCxnSpPr>
          <p:cNvPr id="31" name="Google Shape;318;p3">
            <a:extLst>
              <a:ext uri="{FF2B5EF4-FFF2-40B4-BE49-F238E27FC236}">
                <a16:creationId xmlns:a16="http://schemas.microsoft.com/office/drawing/2014/main" id="{1E1ABABF-EEF2-4B32-8408-6EC59AAD3800}"/>
              </a:ext>
            </a:extLst>
          </p:cNvPr>
          <p:cNvCxnSpPr>
            <a:cxnSpLocks/>
            <a:stCxn id="30" idx="4"/>
            <a:endCxn id="11" idx="7"/>
          </p:cNvCxnSpPr>
          <p:nvPr/>
        </p:nvCxnSpPr>
        <p:spPr>
          <a:xfrm flipH="1">
            <a:off x="6117556" y="1148568"/>
            <a:ext cx="24908" cy="558492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Google Shape;320;p3">
            <a:extLst>
              <a:ext uri="{FF2B5EF4-FFF2-40B4-BE49-F238E27FC236}">
                <a16:creationId xmlns:a16="http://schemas.microsoft.com/office/drawing/2014/main" id="{9B8FDE68-E380-EB27-40EA-3B826FED28DE}"/>
              </a:ext>
            </a:extLst>
          </p:cNvPr>
          <p:cNvSpPr/>
          <p:nvPr/>
        </p:nvSpPr>
        <p:spPr>
          <a:xfrm>
            <a:off x="8025148" y="168813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11</a:t>
            </a:r>
            <a:endParaRPr sz="200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21;p3">
            <a:extLst>
              <a:ext uri="{FF2B5EF4-FFF2-40B4-BE49-F238E27FC236}">
                <a16:creationId xmlns:a16="http://schemas.microsoft.com/office/drawing/2014/main" id="{C0E391BB-50C3-FED4-8AA1-8F92A5936C6B}"/>
              </a:ext>
            </a:extLst>
          </p:cNvPr>
          <p:cNvCxnSpPr>
            <a:cxnSpLocks/>
            <a:stCxn id="33" idx="3"/>
            <a:endCxn id="15" idx="5"/>
          </p:cNvCxnSpPr>
          <p:nvPr/>
        </p:nvCxnSpPr>
        <p:spPr>
          <a:xfrm flipH="1">
            <a:off x="7617385" y="2145716"/>
            <a:ext cx="486272" cy="2546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7" name="Google Shape;324;p3">
            <a:extLst>
              <a:ext uri="{FF2B5EF4-FFF2-40B4-BE49-F238E27FC236}">
                <a16:creationId xmlns:a16="http://schemas.microsoft.com/office/drawing/2014/main" id="{2AC5785F-8AC1-DC32-1160-39BF253736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8855734">
            <a:off x="2792036" y="287496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25;p3">
            <a:extLst>
              <a:ext uri="{FF2B5EF4-FFF2-40B4-BE49-F238E27FC236}">
                <a16:creationId xmlns:a16="http://schemas.microsoft.com/office/drawing/2014/main" id="{9B875051-FE9F-A696-248F-67EFDD495C1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6529663" y="557220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327;p3">
            <a:extLst>
              <a:ext uri="{FF2B5EF4-FFF2-40B4-BE49-F238E27FC236}">
                <a16:creationId xmlns:a16="http://schemas.microsoft.com/office/drawing/2014/main" id="{14D81371-99D7-4FAA-B842-A3B7E1B4A64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7894326" y="1510794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20D05082-7FE0-9C08-E511-E5ABF433E1FA}"/>
              </a:ext>
            </a:extLst>
          </p:cNvPr>
          <p:cNvSpPr/>
          <p:nvPr/>
        </p:nvSpPr>
        <p:spPr>
          <a:xfrm>
            <a:off x="10174052" y="3851166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13</a:t>
            </a:r>
            <a:endParaRPr sz="200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0DF76807-11D9-D815-F260-1D7E45733370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579615" y="4119213"/>
            <a:ext cx="594436" cy="12271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20EC3BFE-71C1-D908-43AB-2A57C44FA72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8855734">
            <a:off x="5744531" y="43565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13;p3">
            <a:extLst>
              <a:ext uri="{FF2B5EF4-FFF2-40B4-BE49-F238E27FC236}">
                <a16:creationId xmlns:a16="http://schemas.microsoft.com/office/drawing/2014/main" id="{2534AD05-DEC5-F97B-ADD8-DA0028DFF764}"/>
              </a:ext>
            </a:extLst>
          </p:cNvPr>
          <p:cNvSpPr txBox="1"/>
          <p:nvPr/>
        </p:nvSpPr>
        <p:spPr>
          <a:xfrm>
            <a:off x="1409317" y="3795916"/>
            <a:ext cx="1291264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Escolha do visual adequado</a:t>
            </a:r>
            <a:endParaRPr sz="1700" dirty="0"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51" name="Google Shape;316;p3">
            <a:extLst>
              <a:ext uri="{FF2B5EF4-FFF2-40B4-BE49-F238E27FC236}">
                <a16:creationId xmlns:a16="http://schemas.microsoft.com/office/drawing/2014/main" id="{0E40C7D1-B07D-7607-3919-E959E42D9AE8}"/>
              </a:ext>
            </a:extLst>
          </p:cNvPr>
          <p:cNvSpPr txBox="1"/>
          <p:nvPr/>
        </p:nvSpPr>
        <p:spPr>
          <a:xfrm>
            <a:off x="4573547" y="5929206"/>
            <a:ext cx="224745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Interpretando e explicando dados</a:t>
            </a:r>
            <a:endParaRPr lang="pt-BR" sz="1700" dirty="0"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52" name="Google Shape;319;p3">
            <a:extLst>
              <a:ext uri="{FF2B5EF4-FFF2-40B4-BE49-F238E27FC236}">
                <a16:creationId xmlns:a16="http://schemas.microsoft.com/office/drawing/2014/main" id="{C7EBBC61-12C1-8FD9-FE3E-95B596546E94}"/>
              </a:ext>
            </a:extLst>
          </p:cNvPr>
          <p:cNvSpPr txBox="1"/>
          <p:nvPr/>
        </p:nvSpPr>
        <p:spPr>
          <a:xfrm>
            <a:off x="6542167" y="708959"/>
            <a:ext cx="3516233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Direcionando a atenção</a:t>
            </a:r>
            <a:endParaRPr lang="pt-BR" sz="1700" dirty="0"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53" name="Google Shape;322;p3">
            <a:extLst>
              <a:ext uri="{FF2B5EF4-FFF2-40B4-BE49-F238E27FC236}">
                <a16:creationId xmlns:a16="http://schemas.microsoft.com/office/drawing/2014/main" id="{E937EEE7-8AD5-0965-AFEF-7972D3B0E0C6}"/>
              </a:ext>
            </a:extLst>
          </p:cNvPr>
          <p:cNvSpPr txBox="1"/>
          <p:nvPr/>
        </p:nvSpPr>
        <p:spPr>
          <a:xfrm>
            <a:off x="8673545" y="1675838"/>
            <a:ext cx="1585184" cy="58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Construindo a narrativa</a:t>
            </a:r>
            <a:endParaRPr lang="pt-BR" sz="1700" dirty="0"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57" name="Google Shape;335;p3">
            <a:extLst>
              <a:ext uri="{FF2B5EF4-FFF2-40B4-BE49-F238E27FC236}">
                <a16:creationId xmlns:a16="http://schemas.microsoft.com/office/drawing/2014/main" id="{27DF6EEE-ABB9-F21D-DC51-574CA07674FA}"/>
              </a:ext>
            </a:extLst>
          </p:cNvPr>
          <p:cNvSpPr txBox="1"/>
          <p:nvPr/>
        </p:nvSpPr>
        <p:spPr>
          <a:xfrm>
            <a:off x="10051772" y="4541212"/>
            <a:ext cx="1802461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Refinando a comunicação visual</a:t>
            </a:r>
            <a:endParaRPr lang="pt-BR" sz="1700" dirty="0"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27" name="Google Shape;314;p3">
            <a:extLst>
              <a:ext uri="{FF2B5EF4-FFF2-40B4-BE49-F238E27FC236}">
                <a16:creationId xmlns:a16="http://schemas.microsoft.com/office/drawing/2014/main" id="{4001D8D6-34F2-D9E9-BFE3-F0D9953EABE5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12</a:t>
            </a:r>
            <a:endParaRPr sz="200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323;p3">
            <a:extLst>
              <a:ext uri="{FF2B5EF4-FFF2-40B4-BE49-F238E27FC236}">
                <a16:creationId xmlns:a16="http://schemas.microsoft.com/office/drawing/2014/main" id="{EF2346E8-5E5D-43A7-8B83-86269C77EBDA}"/>
              </a:ext>
            </a:extLst>
          </p:cNvPr>
          <p:cNvSpPr txBox="1"/>
          <p:nvPr/>
        </p:nvSpPr>
        <p:spPr>
          <a:xfrm>
            <a:off x="1406366" y="3489690"/>
            <a:ext cx="1728649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sz="1400" dirty="0">
              <a:latin typeface="Poppins" panose="00000500000000000000" pitchFamily="2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B0B7C337-EBD4-FBB9-C406-34966185AC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756" y="4531788"/>
            <a:ext cx="258073" cy="22446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5FD7ECE4-9030-C6A4-FA58-9EF4A39022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4087" y="1445374"/>
            <a:ext cx="242817" cy="37348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29" name="Google Shape;325;p3">
            <a:extLst>
              <a:ext uri="{FF2B5EF4-FFF2-40B4-BE49-F238E27FC236}">
                <a16:creationId xmlns:a16="http://schemas.microsoft.com/office/drawing/2014/main" id="{C9C10F7F-E9B1-A415-CA34-1FBFED3BCA9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8855734">
            <a:off x="10046066" y="367767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311;p3">
            <a:extLst>
              <a:ext uri="{FF2B5EF4-FFF2-40B4-BE49-F238E27FC236}">
                <a16:creationId xmlns:a16="http://schemas.microsoft.com/office/drawing/2014/main" id="{C009BA89-22BC-CFB4-3C0E-83100D24268B}"/>
              </a:ext>
            </a:extLst>
          </p:cNvPr>
          <p:cNvSpPr/>
          <p:nvPr/>
        </p:nvSpPr>
        <p:spPr>
          <a:xfrm>
            <a:off x="2933526" y="3055971"/>
            <a:ext cx="536093" cy="536093"/>
          </a:xfrm>
          <a:prstGeom prst="ellipse">
            <a:avLst/>
          </a:prstGeom>
          <a:solidFill>
            <a:srgbClr val="FF0000"/>
          </a:solidFill>
          <a:ln>
            <a:solidFill>
              <a:srgbClr val="EE0000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9</a:t>
            </a:r>
            <a:endParaRPr sz="20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7ED62C9-A319-F66A-F2C8-9D8E6B175CDB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Google Shape;329;p3">
            <a:extLst>
              <a:ext uri="{FF2B5EF4-FFF2-40B4-BE49-F238E27FC236}">
                <a16:creationId xmlns:a16="http://schemas.microsoft.com/office/drawing/2014/main" id="{3C495F92-7032-618C-B8FC-6A8AB26F48EF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 err="1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 de dados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6BCD6C6-FAFA-DA8D-5495-CB9697E7FAF7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Google Shape;331;p3">
            <a:extLst>
              <a:ext uri="{FF2B5EF4-FFF2-40B4-BE49-F238E27FC236}">
                <a16:creationId xmlns:a16="http://schemas.microsoft.com/office/drawing/2014/main" id="{CA3EA59E-E42F-EE3B-2921-35C4375BA42C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2   Componente 3</a:t>
            </a:r>
          </a:p>
        </p:txBody>
      </p:sp>
    </p:spTree>
    <p:extLst>
      <p:ext uri="{BB962C8B-B14F-4D97-AF65-F5344CB8AC3E}">
        <p14:creationId xmlns:p14="http://schemas.microsoft.com/office/powerpoint/2010/main" val="62124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B2669C60-1B2E-CB26-6D65-F137874BF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396" t="30197" r="53546" b="6024"/>
          <a:stretch/>
        </p:blipFill>
        <p:spPr>
          <a:xfrm rot="21026348">
            <a:off x="5678584" y="2638764"/>
            <a:ext cx="8603297" cy="4647676"/>
          </a:xfrm>
          <a:prstGeom prst="rect">
            <a:avLst/>
          </a:prstGeom>
        </p:spPr>
      </p:pic>
      <p:sp>
        <p:nvSpPr>
          <p:cNvPr id="7" name="Google Shape;341;p4">
            <a:extLst>
              <a:ext uri="{FF2B5EF4-FFF2-40B4-BE49-F238E27FC236}">
                <a16:creationId xmlns:a16="http://schemas.microsoft.com/office/drawing/2014/main" id="{454BE3FB-DBF5-B9B9-2C32-D91EB68E7728}"/>
              </a:ext>
            </a:extLst>
          </p:cNvPr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2;p4">
            <a:extLst>
              <a:ext uri="{FF2B5EF4-FFF2-40B4-BE49-F238E27FC236}">
                <a16:creationId xmlns:a16="http://schemas.microsoft.com/office/drawing/2014/main" id="{11417446-22F7-018A-FD17-8BE6870376DA}"/>
              </a:ext>
            </a:extLst>
          </p:cNvPr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36000" tIns="36000" rIns="36000" bIns="36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buSzPts val="6000"/>
            </a:pPr>
            <a:r>
              <a:rPr lang="pt-BR" sz="42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42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9" name="Google Shape;343;p4">
            <a:extLst>
              <a:ext uri="{FF2B5EF4-FFF2-40B4-BE49-F238E27FC236}">
                <a16:creationId xmlns:a16="http://schemas.microsoft.com/office/drawing/2014/main" id="{38C1C8A1-D576-D03F-ABAB-56823E51B9F2}"/>
              </a:ext>
            </a:extLst>
          </p:cNvPr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344;p4">
            <a:extLst>
              <a:ext uri="{FF2B5EF4-FFF2-40B4-BE49-F238E27FC236}">
                <a16:creationId xmlns:a16="http://schemas.microsoft.com/office/drawing/2014/main" id="{5EB2AABC-411A-4DB1-754E-398B32A01EC9}"/>
              </a:ext>
            </a:extLst>
          </p:cNvPr>
          <p:cNvSpPr txBox="1"/>
          <p:nvPr/>
        </p:nvSpPr>
        <p:spPr>
          <a:xfrm>
            <a:off x="3361984" y="3310144"/>
            <a:ext cx="4487736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200"/>
            </a:pPr>
            <a:r>
              <a:rPr lang="pt-BR" sz="1800" dirty="0"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Escolha do visual adequado</a:t>
            </a:r>
            <a:endParaRPr lang="pt-BR" sz="1800" dirty="0">
              <a:latin typeface="Poppins" panose="00000500000000000000" pitchFamily="2" charset="0"/>
              <a:ea typeface="Arial"/>
              <a:cs typeface="Poppins"/>
            </a:endParaRPr>
          </a:p>
        </p:txBody>
      </p:sp>
      <p:sp>
        <p:nvSpPr>
          <p:cNvPr id="11" name="Google Shape;345;p4">
            <a:extLst>
              <a:ext uri="{FF2B5EF4-FFF2-40B4-BE49-F238E27FC236}">
                <a16:creationId xmlns:a16="http://schemas.microsoft.com/office/drawing/2014/main" id="{9DC627E0-692B-B963-150C-C9ABA2375B7B}"/>
              </a:ext>
            </a:extLst>
          </p:cNvPr>
          <p:cNvSpPr txBox="1"/>
          <p:nvPr/>
        </p:nvSpPr>
        <p:spPr>
          <a:xfrm>
            <a:off x="3361984" y="2834485"/>
            <a:ext cx="3838916" cy="400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000"/>
            </a:pPr>
            <a:r>
              <a:rPr lang="pt-BR" sz="2200" b="1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sz="220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5" name="Google Shape;349;p4">
            <a:extLst>
              <a:ext uri="{FF2B5EF4-FFF2-40B4-BE49-F238E27FC236}">
                <a16:creationId xmlns:a16="http://schemas.microsoft.com/office/drawing/2014/main" id="{AFF9433E-50D2-8459-4418-8A47B897A114}"/>
              </a:ext>
            </a:extLst>
          </p:cNvPr>
          <p:cNvSpPr txBox="1"/>
          <p:nvPr/>
        </p:nvSpPr>
        <p:spPr>
          <a:xfrm>
            <a:off x="3361984" y="5324225"/>
            <a:ext cx="5040855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500"/>
            </a:pPr>
            <a:r>
              <a:rPr lang="pt-BR" sz="1800" dirty="0">
                <a:latin typeface="Poppins" panose="00000500000000000000" pitchFamily="2" charset="0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 panose="00000500000000000000" pitchFamily="2" charset="0"/>
                <a:cs typeface="Poppins"/>
              </a:rPr>
              <a:t>DADOS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ANO1C3B2S9A1</a:t>
            </a:r>
            <a:endParaRPr lang="pt-BR" sz="180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6" name="Google Shape;350;p4">
            <a:extLst>
              <a:ext uri="{FF2B5EF4-FFF2-40B4-BE49-F238E27FC236}">
                <a16:creationId xmlns:a16="http://schemas.microsoft.com/office/drawing/2014/main" id="{7678E78B-4D53-2DA7-5F21-B11136BABC01}"/>
              </a:ext>
            </a:extLst>
          </p:cNvPr>
          <p:cNvSpPr txBox="1"/>
          <p:nvPr/>
        </p:nvSpPr>
        <p:spPr>
          <a:xfrm>
            <a:off x="3361984" y="4682804"/>
            <a:ext cx="5473251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pt-BR" sz="1800" b="1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Aula1: Tipos de gráficos</a:t>
            </a:r>
            <a:endParaRPr lang="pt-BR" sz="1800" b="1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56C1910-25FF-2796-6A29-87B3A7C1FCB5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29;p3">
            <a:extLst>
              <a:ext uri="{FF2B5EF4-FFF2-40B4-BE49-F238E27FC236}">
                <a16:creationId xmlns:a16="http://schemas.microsoft.com/office/drawing/2014/main" id="{8A8D3747-E6AE-8C9A-4C06-49C95C99AB22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 err="1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 de dados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A11C714-6D16-6F3D-371A-EA9AB4F45B78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oogle Shape;331;p3">
            <a:extLst>
              <a:ext uri="{FF2B5EF4-FFF2-40B4-BE49-F238E27FC236}">
                <a16:creationId xmlns:a16="http://schemas.microsoft.com/office/drawing/2014/main" id="{A830C702-9738-9B55-60E0-BC2DAE672985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2   Componente 3</a:t>
            </a:r>
          </a:p>
        </p:txBody>
      </p:sp>
    </p:spTree>
    <p:extLst>
      <p:ext uri="{BB962C8B-B14F-4D97-AF65-F5344CB8AC3E}">
        <p14:creationId xmlns:p14="http://schemas.microsoft.com/office/powerpoint/2010/main" val="84263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CBD5C18-7776-B553-F6CC-A3FD61A66D26}"/>
              </a:ext>
            </a:extLst>
          </p:cNvPr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622"/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94495801-E3A7-5C9C-58B6-5A613616DE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5563" y="1355465"/>
            <a:ext cx="3754807" cy="7848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Compreender os componentes fundamentais que compõem uma narrativa visual eficiente.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8FE35C05-A6F9-5E57-F808-2709677248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5029" y="1355465"/>
            <a:ext cx="3754807" cy="101566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Selecionar e aplicar o tipo de gráfico mais adequado à natureza dos dados e ao propósito comunicacional.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4A27C360-3186-313B-41E3-68A443FE4C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05029" y="3649330"/>
            <a:ext cx="3754807" cy="12464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Explorar diferentes maneiras de representar ideias, mantendo abertura à experimentação e disposição para aprender com os erros e acertos.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92593807-EFAC-62C0-8555-5C60449109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5563" y="3344241"/>
            <a:ext cx="4044985" cy="1092607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Recurso audiovisual para a exibição de textos, vídeos e imagens.</a:t>
            </a:r>
          </a:p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Acesso ao laboratório de informática e/ou à internet.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020134C1-3ED2-87D1-6DD7-D4E59985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E2DE6B-0896-D25B-5E33-9F79DEA8F90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428872" y="969450"/>
            <a:ext cx="84677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Quando um gráfico não comunica bem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040E75A-CEDE-8E07-8717-BE3DDBBC7F5C}"/>
              </a:ext>
            </a:extLst>
          </p:cNvPr>
          <p:cNvSpPr txBox="1"/>
          <p:nvPr/>
        </p:nvSpPr>
        <p:spPr>
          <a:xfrm>
            <a:off x="11572240" y="394208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9B25229-F155-E6B1-39C2-FC7132162A48}"/>
              </a:ext>
            </a:extLst>
          </p:cNvPr>
          <p:cNvSpPr txBox="1"/>
          <p:nvPr/>
        </p:nvSpPr>
        <p:spPr>
          <a:xfrm>
            <a:off x="11742295" y="64257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365E5FA-9995-2F59-B00A-5D000A2131E0}"/>
              </a:ext>
            </a:extLst>
          </p:cNvPr>
          <p:cNvSpPr txBox="1"/>
          <p:nvPr/>
        </p:nvSpPr>
        <p:spPr>
          <a:xfrm>
            <a:off x="12758057" y="55734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46CBCAC-6B69-C499-EDBB-5F9BF4AD9E3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289888" y="2006000"/>
            <a:ext cx="467480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Durante a feira de ciências, sua turma visitou um estande que apresentava um experimento sobre consumo de energia. 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O grupo responsável criou um gráfico para mostrar os resultados, mas muitas pessoas comentaram que não entenderam direito o que ele mostrava.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Mesmo com o gráfico exposto, a explicação não ficou clara para o público.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8FE83AA-5C55-3B41-CC01-EAD7CCF7F8DC}"/>
              </a:ext>
            </a:extLst>
          </p:cNvPr>
          <p:cNvSpPr txBox="1"/>
          <p:nvPr/>
        </p:nvSpPr>
        <p:spPr>
          <a:xfrm>
            <a:off x="3673929" y="5601371"/>
            <a:ext cx="8068544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Por que, às vezes, um gráfico não consegue transmitir a mensagem que queremos comunicar?</a:t>
            </a:r>
            <a:endParaRPr kumimoji="0" lang="pt-BR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35" name="Triângulo 27">
            <a:extLst>
              <a:ext uri="{FF2B5EF4-FFF2-40B4-BE49-F238E27FC236}">
                <a16:creationId xmlns:a16="http://schemas.microsoft.com/office/drawing/2014/main" id="{504E0806-76C3-EEFE-D3B7-4F6CC65AC809}"/>
              </a:ext>
            </a:extLst>
          </p:cNvPr>
          <p:cNvSpPr/>
          <p:nvPr/>
        </p:nvSpPr>
        <p:spPr>
          <a:xfrm rot="5400000">
            <a:off x="3414926" y="5681456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E0A37C-A628-088C-92CB-FB0FFFF2E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1957" b="1957"/>
          <a:stretch/>
        </p:blipFill>
        <p:spPr bwMode="auto">
          <a:xfrm>
            <a:off x="3428872" y="2005999"/>
            <a:ext cx="3439391" cy="287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F2AD7D3-434D-FC15-5514-B2C9F10DA251}"/>
              </a:ext>
            </a:extLst>
          </p:cNvPr>
          <p:cNvGrpSpPr/>
          <p:nvPr/>
        </p:nvGrpSpPr>
        <p:grpSpPr>
          <a:xfrm>
            <a:off x="8600356" y="77782"/>
            <a:ext cx="3496733" cy="728133"/>
            <a:chOff x="4267346" y="953738"/>
            <a:chExt cx="3496733" cy="728133"/>
          </a:xfrm>
        </p:grpSpPr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7E0FEC61-7A14-3B6B-7B30-819F4C8AB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7346" y="953738"/>
              <a:ext cx="3496733" cy="728133"/>
            </a:xfrm>
            <a:prstGeom prst="rect">
              <a:avLst/>
            </a:prstGeom>
          </p:spPr>
        </p:pic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A5C5AF4-4DD1-4DD6-C286-1158D30BA227}"/>
                </a:ext>
              </a:extLst>
            </p:cNvPr>
            <p:cNvSpPr txBox="1"/>
            <p:nvPr/>
          </p:nvSpPr>
          <p:spPr>
            <a:xfrm>
              <a:off x="5237336" y="1197118"/>
              <a:ext cx="2522013" cy="208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VIREM E CONVERSEM</a:t>
              </a:r>
            </a:p>
          </p:txBody>
        </p:sp>
        <p:sp>
          <p:nvSpPr>
            <p:cNvPr id="26" name="Forma Livre 43">
              <a:extLst>
                <a:ext uri="{FF2B5EF4-FFF2-40B4-BE49-F238E27FC236}">
                  <a16:creationId xmlns:a16="http://schemas.microsoft.com/office/drawing/2014/main" id="{853E5D01-7DA3-E893-B95B-773A6271C6AE}"/>
                </a:ext>
              </a:extLst>
            </p:cNvPr>
            <p:cNvSpPr/>
            <p:nvPr/>
          </p:nvSpPr>
          <p:spPr>
            <a:xfrm>
              <a:off x="4629845" y="1427737"/>
              <a:ext cx="1385" cy="11651"/>
            </a:xfrm>
            <a:custGeom>
              <a:avLst/>
              <a:gdLst>
                <a:gd name="connsiteX0" fmla="*/ 1044 w 2078"/>
                <a:gd name="connsiteY0" fmla="*/ 0 h 17477"/>
                <a:gd name="connsiteX1" fmla="*/ 1044 w 2078"/>
                <a:gd name="connsiteY1" fmla="*/ 17477 h 17477"/>
                <a:gd name="connsiteX2" fmla="*/ 1044 w 2078"/>
                <a:gd name="connsiteY2" fmla="*/ 0 h 1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8" h="17477">
                  <a:moveTo>
                    <a:pt x="1044" y="0"/>
                  </a:moveTo>
                  <a:cubicBezTo>
                    <a:pt x="16" y="5826"/>
                    <a:pt x="-670" y="11651"/>
                    <a:pt x="1044" y="17477"/>
                  </a:cubicBezTo>
                  <a:cubicBezTo>
                    <a:pt x="2186" y="11651"/>
                    <a:pt x="2643" y="5826"/>
                    <a:pt x="1044" y="0"/>
                  </a:cubicBezTo>
                  <a:close/>
                </a:path>
              </a:pathLst>
            </a:custGeom>
            <a:solidFill>
              <a:srgbClr val="E7605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27" name="Forma Livre 44">
              <a:extLst>
                <a:ext uri="{FF2B5EF4-FFF2-40B4-BE49-F238E27FC236}">
                  <a16:creationId xmlns:a16="http://schemas.microsoft.com/office/drawing/2014/main" id="{48100CE2-FC31-4270-4FE6-0C1E6DEB7D39}"/>
                </a:ext>
              </a:extLst>
            </p:cNvPr>
            <p:cNvSpPr/>
            <p:nvPr/>
          </p:nvSpPr>
          <p:spPr>
            <a:xfrm>
              <a:off x="4445602" y="1435961"/>
              <a:ext cx="1489" cy="2284"/>
            </a:xfrm>
            <a:custGeom>
              <a:avLst/>
              <a:gdLst>
                <a:gd name="connsiteX0" fmla="*/ 1085 w 2233"/>
                <a:gd name="connsiteY0" fmla="*/ 3427 h 3426"/>
                <a:gd name="connsiteX1" fmla="*/ 971 w 2233"/>
                <a:gd name="connsiteY1" fmla="*/ 0 h 3426"/>
                <a:gd name="connsiteX2" fmla="*/ 1085 w 2233"/>
                <a:gd name="connsiteY2" fmla="*/ 3427 h 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3" h="3426">
                  <a:moveTo>
                    <a:pt x="1085" y="3427"/>
                  </a:moveTo>
                  <a:cubicBezTo>
                    <a:pt x="2799" y="2170"/>
                    <a:pt x="2456" y="1028"/>
                    <a:pt x="971" y="0"/>
                  </a:cubicBezTo>
                  <a:cubicBezTo>
                    <a:pt x="-286" y="1257"/>
                    <a:pt x="-400" y="2285"/>
                    <a:pt x="1085" y="3427"/>
                  </a:cubicBezTo>
                  <a:close/>
                </a:path>
              </a:pathLst>
            </a:custGeom>
            <a:solidFill>
              <a:srgbClr val="E7605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28" name="Forma Livre 45">
              <a:extLst>
                <a:ext uri="{FF2B5EF4-FFF2-40B4-BE49-F238E27FC236}">
                  <a16:creationId xmlns:a16="http://schemas.microsoft.com/office/drawing/2014/main" id="{A438FEDA-0F85-554D-4F18-D603F25884DD}"/>
                </a:ext>
              </a:extLst>
            </p:cNvPr>
            <p:cNvSpPr/>
            <p:nvPr/>
          </p:nvSpPr>
          <p:spPr>
            <a:xfrm>
              <a:off x="4628637" y="1446661"/>
              <a:ext cx="1327" cy="1247"/>
            </a:xfrm>
            <a:custGeom>
              <a:avLst/>
              <a:gdLst>
                <a:gd name="connsiteX0" fmla="*/ 1942 w 1990"/>
                <a:gd name="connsiteY0" fmla="*/ 56 h 1871"/>
                <a:gd name="connsiteX1" fmla="*/ 0 w 1990"/>
                <a:gd name="connsiteY1" fmla="*/ 1655 h 1871"/>
                <a:gd name="connsiteX2" fmla="*/ 1942 w 1990"/>
                <a:gd name="connsiteY2" fmla="*/ 56 h 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0" h="1871">
                  <a:moveTo>
                    <a:pt x="1942" y="56"/>
                  </a:moveTo>
                  <a:cubicBezTo>
                    <a:pt x="685" y="-172"/>
                    <a:pt x="0" y="285"/>
                    <a:pt x="0" y="1655"/>
                  </a:cubicBezTo>
                  <a:cubicBezTo>
                    <a:pt x="1599" y="2226"/>
                    <a:pt x="2170" y="1655"/>
                    <a:pt x="1942" y="56"/>
                  </a:cubicBezTo>
                  <a:close/>
                </a:path>
              </a:pathLst>
            </a:custGeom>
            <a:solidFill>
              <a:srgbClr val="E7605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7F32270D-0D02-F30A-44E7-AAD37F668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28226" y="1025448"/>
              <a:ext cx="635000" cy="601133"/>
            </a:xfrm>
            <a:prstGeom prst="rect">
              <a:avLst/>
            </a:prstGeom>
          </p:spPr>
        </p:pic>
      </p:grp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ACBA75B-BF5B-598A-3694-929DEEBECAF2}"/>
              </a:ext>
            </a:extLst>
          </p:cNvPr>
          <p:cNvSpPr txBox="1"/>
          <p:nvPr/>
        </p:nvSpPr>
        <p:spPr>
          <a:xfrm>
            <a:off x="3428872" y="4902466"/>
            <a:ext cx="1813806" cy="261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pt-BR" sz="1100" dirty="0">
                <a:latin typeface="Poppins" panose="00000500000000000000" pitchFamily="2" charset="0"/>
                <a:cs typeface="Poppins"/>
              </a:rPr>
              <a:t>© G</a:t>
            </a:r>
            <a:r>
              <a:rPr lang="pt-BR" sz="1100" dirty="0">
                <a:effectLst/>
                <a:latin typeface="Poppins" panose="00000500000000000000" pitchFamily="2" charset="0"/>
                <a:cs typeface="Poppins"/>
              </a:rPr>
              <a:t>etty </a:t>
            </a:r>
            <a:r>
              <a:rPr lang="pt-BR" sz="1100" dirty="0">
                <a:latin typeface="Poppins" panose="00000500000000000000" pitchFamily="2" charset="0"/>
                <a:cs typeface="Poppins"/>
              </a:rPr>
              <a:t>Images</a:t>
            </a:r>
            <a:endParaRPr lang="pt-BR" sz="11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721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8A2F-1E52-8726-F5D2-DC94175A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12E05C55-4A6F-862B-4F30-06B7C4FA3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6186" y="806030"/>
            <a:ext cx="8363650" cy="107721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4400" b="1"/>
            </a:lvl1pPr>
          </a:lstStyle>
          <a:p>
            <a:pPr lvl="0"/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A importância dos gráficos </a:t>
            </a:r>
          </a:p>
          <a:p>
            <a:pPr lvl="0"/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na ciência de dados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47C9744-A1A0-931B-C3EA-C71EAE1784C0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08290" y="2307577"/>
            <a:ext cx="397504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Os gráficos transformam números em informações visuais fáceis de entender, ajudando a identificar padrões, tendências e comparações de forma rápida e intuitiva.</a:t>
            </a:r>
          </a:p>
        </p:txBody>
      </p:sp>
      <p:sp>
        <p:nvSpPr>
          <p:cNvPr id="4" name="Triângulo 7">
            <a:extLst>
              <a:ext uri="{FF2B5EF4-FFF2-40B4-BE49-F238E27FC236}">
                <a16:creationId xmlns:a16="http://schemas.microsoft.com/office/drawing/2014/main" id="{7E7E53BC-3B98-067A-7E55-B85E96A2C263}"/>
              </a:ext>
            </a:extLst>
          </p:cNvPr>
          <p:cNvSpPr/>
          <p:nvPr/>
        </p:nvSpPr>
        <p:spPr>
          <a:xfrm rot="5400000">
            <a:off x="7066528" y="2389440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5F20E8C-C2F9-1364-DBD4-2B8FFBF04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7745" r="17745"/>
          <a:stretch/>
        </p:blipFill>
        <p:spPr bwMode="auto">
          <a:xfrm>
            <a:off x="2796186" y="2307577"/>
            <a:ext cx="3594223" cy="313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D3542A1F-955C-F217-AB06-5A9DE39A1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8290" y="3976293"/>
            <a:ext cx="408953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São ferramentas que aprimoram a comunicação e apoiam decisões mais assertivas, tornando os dados acessíveis a públicos com diferentes níveis de conhecimento técnico.</a:t>
            </a:r>
          </a:p>
        </p:txBody>
      </p:sp>
      <p:sp>
        <p:nvSpPr>
          <p:cNvPr id="12" name="Triângulo 7">
            <a:extLst>
              <a:ext uri="{FF2B5EF4-FFF2-40B4-BE49-F238E27FC236}">
                <a16:creationId xmlns:a16="http://schemas.microsoft.com/office/drawing/2014/main" id="{FE4E58AF-C554-02BA-E3D3-D13E6665276A}"/>
              </a:ext>
            </a:extLst>
          </p:cNvPr>
          <p:cNvSpPr/>
          <p:nvPr/>
        </p:nvSpPr>
        <p:spPr>
          <a:xfrm rot="5400000">
            <a:off x="7066528" y="4047765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F2226BA-0D0C-CE3C-50F5-2DCE900FC36B}"/>
              </a:ext>
            </a:extLst>
          </p:cNvPr>
          <p:cNvSpPr txBox="1"/>
          <p:nvPr/>
        </p:nvSpPr>
        <p:spPr>
          <a:xfrm>
            <a:off x="2687002" y="5421244"/>
            <a:ext cx="1813806" cy="261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/>
              </a:rPr>
              <a:t>© G</a:t>
            </a:r>
            <a:r>
              <a:rPr lang="pt-BR" sz="1100" dirty="0">
                <a:effectLst/>
                <a:latin typeface="Poppins" panose="00000500000000000000" pitchFamily="2" charset="0"/>
                <a:cs typeface="Poppins"/>
              </a:rPr>
              <a:t>etty </a:t>
            </a:r>
            <a:r>
              <a:rPr lang="pt-BR" sz="1100" dirty="0">
                <a:latin typeface="Poppins" panose="00000500000000000000" pitchFamily="2" charset="0"/>
                <a:cs typeface="Poppins"/>
              </a:rPr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59494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D583-8810-B9D1-5E41-C337D95A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32F20CD-9341-4040-8EC1-991FCFE33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484" y="2100016"/>
            <a:ext cx="9927773" cy="3854254"/>
          </a:xfrm>
          <a:prstGeom prst="rect">
            <a:avLst/>
          </a:prstGeom>
        </p:spPr>
      </p:pic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84B1758B-5B24-8948-7370-7F1FA977F57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865844" y="795680"/>
            <a:ext cx="8512278" cy="58477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4400" b="1"/>
            </a:lvl1pPr>
          </a:lstStyle>
          <a:p>
            <a:pPr lvl="0"/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Elementos de um gráfico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EFCF441-3D3F-22A5-E67E-BE606FD4B8DD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2865844" y="1471298"/>
            <a:ext cx="86057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Para interpretar um gráfico corretamente, é importante conhecer </a:t>
            </a: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seus principais elementos:</a:t>
            </a:r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239C622B-7F7A-2CF8-BA76-D8C5098656BE}"/>
              </a:ext>
            </a:extLst>
          </p:cNvPr>
          <p:cNvGrpSpPr/>
          <p:nvPr/>
        </p:nvGrpSpPr>
        <p:grpSpPr>
          <a:xfrm>
            <a:off x="10225913" y="5719592"/>
            <a:ext cx="1744133" cy="406400"/>
            <a:chOff x="1310514" y="1144195"/>
            <a:chExt cx="1744133" cy="406400"/>
          </a:xfrm>
        </p:grpSpPr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8F6A6632-F26B-72BC-D9B6-C62B32B19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0514" y="1144195"/>
              <a:ext cx="1744133" cy="406400"/>
            </a:xfrm>
            <a:prstGeom prst="rect">
              <a:avLst/>
            </a:prstGeom>
          </p:spPr>
        </p:pic>
        <p:grpSp>
          <p:nvGrpSpPr>
            <p:cNvPr id="38" name="Gráfico 85">
              <a:extLst>
                <a:ext uri="{FF2B5EF4-FFF2-40B4-BE49-F238E27FC236}">
                  <a16:creationId xmlns:a16="http://schemas.microsoft.com/office/drawing/2014/main" id="{57278E6F-45B2-007C-3354-6359D2EE8528}"/>
                </a:ext>
              </a:extLst>
            </p:cNvPr>
            <p:cNvGrpSpPr/>
            <p:nvPr/>
          </p:nvGrpSpPr>
          <p:grpSpPr>
            <a:xfrm>
              <a:off x="1544140" y="1244659"/>
              <a:ext cx="1172441" cy="199070"/>
              <a:chOff x="2316209" y="1866988"/>
              <a:chExt cx="1758662" cy="298605"/>
            </a:xfrm>
            <a:solidFill>
              <a:srgbClr val="FFFFFF"/>
            </a:solidFill>
          </p:grpSpPr>
          <p:sp>
            <p:nvSpPr>
              <p:cNvPr id="39" name="Forma Livre 47">
                <a:extLst>
                  <a:ext uri="{FF2B5EF4-FFF2-40B4-BE49-F238E27FC236}">
                    <a16:creationId xmlns:a16="http://schemas.microsoft.com/office/drawing/2014/main" id="{24C8BB65-E003-6494-AEEB-4BA526970882}"/>
                  </a:ext>
                </a:extLst>
              </p:cNvPr>
              <p:cNvSpPr/>
              <p:nvPr/>
            </p:nvSpPr>
            <p:spPr>
              <a:xfrm>
                <a:off x="2316209" y="1900613"/>
                <a:ext cx="256393" cy="263805"/>
              </a:xfrm>
              <a:custGeom>
                <a:avLst/>
                <a:gdLst>
                  <a:gd name="connsiteX0" fmla="*/ 16815 w 256393"/>
                  <a:gd name="connsiteY0" fmla="*/ 63645 h 263805"/>
                  <a:gd name="connsiteX1" fmla="*/ 63695 w 256393"/>
                  <a:gd name="connsiteY1" fmla="*/ 16771 h 263805"/>
                  <a:gd name="connsiteX2" fmla="*/ 131891 w 256393"/>
                  <a:gd name="connsiteY2" fmla="*/ 0 h 263805"/>
                  <a:gd name="connsiteX3" fmla="*/ 211892 w 256393"/>
                  <a:gd name="connsiteY3" fmla="*/ 24318 h 263805"/>
                  <a:gd name="connsiteX4" fmla="*/ 256394 w 256393"/>
                  <a:gd name="connsiteY4" fmla="*/ 90730 h 263805"/>
                  <a:gd name="connsiteX5" fmla="*/ 186159 w 256393"/>
                  <a:gd name="connsiteY5" fmla="*/ 90730 h 263805"/>
                  <a:gd name="connsiteX6" fmla="*/ 163909 w 256393"/>
                  <a:gd name="connsiteY6" fmla="*/ 65993 h 263805"/>
                  <a:gd name="connsiteX7" fmla="*/ 131212 w 256393"/>
                  <a:gd name="connsiteY7" fmla="*/ 57524 h 263805"/>
                  <a:gd name="connsiteX8" fmla="*/ 83398 w 256393"/>
                  <a:gd name="connsiteY8" fmla="*/ 77817 h 263805"/>
                  <a:gd name="connsiteX9" fmla="*/ 65054 w 256393"/>
                  <a:gd name="connsiteY9" fmla="*/ 132071 h 263805"/>
                  <a:gd name="connsiteX10" fmla="*/ 83398 w 256393"/>
                  <a:gd name="connsiteY10" fmla="*/ 186324 h 263805"/>
                  <a:gd name="connsiteX11" fmla="*/ 131212 w 256393"/>
                  <a:gd name="connsiteY11" fmla="*/ 206617 h 263805"/>
                  <a:gd name="connsiteX12" fmla="*/ 163909 w 256393"/>
                  <a:gd name="connsiteY12" fmla="*/ 198148 h 263805"/>
                  <a:gd name="connsiteX13" fmla="*/ 186159 w 256393"/>
                  <a:gd name="connsiteY13" fmla="*/ 173411 h 263805"/>
                  <a:gd name="connsiteX14" fmla="*/ 256394 w 256393"/>
                  <a:gd name="connsiteY14" fmla="*/ 173411 h 263805"/>
                  <a:gd name="connsiteX15" fmla="*/ 211892 w 256393"/>
                  <a:gd name="connsiteY15" fmla="*/ 239656 h 263805"/>
                  <a:gd name="connsiteX16" fmla="*/ 131891 w 256393"/>
                  <a:gd name="connsiteY16" fmla="*/ 263806 h 263805"/>
                  <a:gd name="connsiteX17" fmla="*/ 63695 w 256393"/>
                  <a:gd name="connsiteY17" fmla="*/ 247035 h 263805"/>
                  <a:gd name="connsiteX18" fmla="*/ 16815 w 256393"/>
                  <a:gd name="connsiteY18" fmla="*/ 200328 h 263805"/>
                  <a:gd name="connsiteX19" fmla="*/ 0 w 256393"/>
                  <a:gd name="connsiteY19" fmla="*/ 132071 h 263805"/>
                  <a:gd name="connsiteX20" fmla="*/ 16815 w 256393"/>
                  <a:gd name="connsiteY20" fmla="*/ 63645 h 263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6393" h="263805">
                    <a:moveTo>
                      <a:pt x="16815" y="63645"/>
                    </a:moveTo>
                    <a:cubicBezTo>
                      <a:pt x="28026" y="43604"/>
                      <a:pt x="43652" y="28007"/>
                      <a:pt x="63695" y="16771"/>
                    </a:cubicBezTo>
                    <a:cubicBezTo>
                      <a:pt x="83738" y="5618"/>
                      <a:pt x="106498" y="0"/>
                      <a:pt x="131891" y="0"/>
                    </a:cubicBezTo>
                    <a:cubicBezTo>
                      <a:pt x="163059" y="0"/>
                      <a:pt x="189726" y="8134"/>
                      <a:pt x="211892" y="24318"/>
                    </a:cubicBezTo>
                    <a:cubicBezTo>
                      <a:pt x="234058" y="40586"/>
                      <a:pt x="248920" y="62723"/>
                      <a:pt x="256394" y="90730"/>
                    </a:cubicBezTo>
                    <a:lnTo>
                      <a:pt x="186159" y="90730"/>
                    </a:lnTo>
                    <a:cubicBezTo>
                      <a:pt x="180894" y="79913"/>
                      <a:pt x="173505" y="71696"/>
                      <a:pt x="163909" y="65993"/>
                    </a:cubicBezTo>
                    <a:cubicBezTo>
                      <a:pt x="154312" y="60375"/>
                      <a:pt x="143441" y="57524"/>
                      <a:pt x="131212" y="57524"/>
                    </a:cubicBezTo>
                    <a:cubicBezTo>
                      <a:pt x="111509" y="57524"/>
                      <a:pt x="95543" y="64316"/>
                      <a:pt x="83398" y="77817"/>
                    </a:cubicBezTo>
                    <a:cubicBezTo>
                      <a:pt x="71169" y="91317"/>
                      <a:pt x="65054" y="109430"/>
                      <a:pt x="65054" y="132071"/>
                    </a:cubicBezTo>
                    <a:cubicBezTo>
                      <a:pt x="65054" y="154711"/>
                      <a:pt x="71169" y="172824"/>
                      <a:pt x="83398" y="186324"/>
                    </a:cubicBezTo>
                    <a:cubicBezTo>
                      <a:pt x="95627" y="199825"/>
                      <a:pt x="111509" y="206617"/>
                      <a:pt x="131212" y="206617"/>
                    </a:cubicBezTo>
                    <a:cubicBezTo>
                      <a:pt x="143441" y="206617"/>
                      <a:pt x="154312" y="203766"/>
                      <a:pt x="163909" y="198148"/>
                    </a:cubicBezTo>
                    <a:cubicBezTo>
                      <a:pt x="173505" y="192530"/>
                      <a:pt x="180894" y="184228"/>
                      <a:pt x="186159" y="173411"/>
                    </a:cubicBezTo>
                    <a:lnTo>
                      <a:pt x="256394" y="173411"/>
                    </a:lnTo>
                    <a:cubicBezTo>
                      <a:pt x="248920" y="201418"/>
                      <a:pt x="234058" y="223556"/>
                      <a:pt x="211892" y="239656"/>
                    </a:cubicBezTo>
                    <a:cubicBezTo>
                      <a:pt x="189726" y="255756"/>
                      <a:pt x="163059" y="263806"/>
                      <a:pt x="131891" y="263806"/>
                    </a:cubicBezTo>
                    <a:cubicBezTo>
                      <a:pt x="106498" y="263806"/>
                      <a:pt x="83738" y="258188"/>
                      <a:pt x="63695" y="247035"/>
                    </a:cubicBezTo>
                    <a:cubicBezTo>
                      <a:pt x="43652" y="235882"/>
                      <a:pt x="28026" y="220285"/>
                      <a:pt x="16815" y="200328"/>
                    </a:cubicBezTo>
                    <a:cubicBezTo>
                      <a:pt x="5605" y="180371"/>
                      <a:pt x="0" y="157646"/>
                      <a:pt x="0" y="132071"/>
                    </a:cubicBezTo>
                    <a:cubicBezTo>
                      <a:pt x="0" y="106495"/>
                      <a:pt x="5605" y="83687"/>
                      <a:pt x="16815" y="636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0" name="Forma Livre 48">
                <a:extLst>
                  <a:ext uri="{FF2B5EF4-FFF2-40B4-BE49-F238E27FC236}">
                    <a16:creationId xmlns:a16="http://schemas.microsoft.com/office/drawing/2014/main" id="{BDEA5AF4-3620-5609-8034-A87587CDA2DC}"/>
                  </a:ext>
                </a:extLst>
              </p:cNvPr>
              <p:cNvSpPr/>
              <p:nvPr/>
            </p:nvSpPr>
            <p:spPr>
              <a:xfrm>
                <a:off x="2599100" y="1953777"/>
                <a:ext cx="216733" cy="211816"/>
              </a:xfrm>
              <a:custGeom>
                <a:avLst/>
                <a:gdLst>
                  <a:gd name="connsiteX0" fmla="*/ 52485 w 216733"/>
                  <a:gd name="connsiteY0" fmla="*/ 198903 h 211816"/>
                  <a:gd name="connsiteX1" fmla="*/ 14013 w 216733"/>
                  <a:gd name="connsiteY1" fmla="*/ 162007 h 211816"/>
                  <a:gd name="connsiteX2" fmla="*/ 0 w 216733"/>
                  <a:gd name="connsiteY2" fmla="*/ 105908 h 211816"/>
                  <a:gd name="connsiteX3" fmla="*/ 14183 w 216733"/>
                  <a:gd name="connsiteY3" fmla="*/ 49977 h 211816"/>
                  <a:gd name="connsiteX4" fmla="*/ 53079 w 216733"/>
                  <a:gd name="connsiteY4" fmla="*/ 12914 h 211816"/>
                  <a:gd name="connsiteX5" fmla="*/ 108367 w 216733"/>
                  <a:gd name="connsiteY5" fmla="*/ 0 h 211816"/>
                  <a:gd name="connsiteX6" fmla="*/ 163654 w 216733"/>
                  <a:gd name="connsiteY6" fmla="*/ 12914 h 211816"/>
                  <a:gd name="connsiteX7" fmla="*/ 202550 w 216733"/>
                  <a:gd name="connsiteY7" fmla="*/ 49977 h 211816"/>
                  <a:gd name="connsiteX8" fmla="*/ 216733 w 216733"/>
                  <a:gd name="connsiteY8" fmla="*/ 105908 h 211816"/>
                  <a:gd name="connsiteX9" fmla="*/ 202380 w 216733"/>
                  <a:gd name="connsiteY9" fmla="*/ 161839 h 211816"/>
                  <a:gd name="connsiteX10" fmla="*/ 163144 w 216733"/>
                  <a:gd name="connsiteY10" fmla="*/ 198903 h 211816"/>
                  <a:gd name="connsiteX11" fmla="*/ 107687 w 216733"/>
                  <a:gd name="connsiteY11" fmla="*/ 211816 h 211816"/>
                  <a:gd name="connsiteX12" fmla="*/ 52570 w 216733"/>
                  <a:gd name="connsiteY12" fmla="*/ 198903 h 211816"/>
                  <a:gd name="connsiteX13" fmla="*/ 138855 w 216733"/>
                  <a:gd name="connsiteY13" fmla="*/ 143894 h 211816"/>
                  <a:gd name="connsiteX14" fmla="*/ 151764 w 216733"/>
                  <a:gd name="connsiteY14" fmla="*/ 105908 h 211816"/>
                  <a:gd name="connsiteX15" fmla="*/ 139280 w 216733"/>
                  <a:gd name="connsiteY15" fmla="*/ 67922 h 211816"/>
                  <a:gd name="connsiteX16" fmla="*/ 108451 w 216733"/>
                  <a:gd name="connsiteY16" fmla="*/ 54673 h 211816"/>
                  <a:gd name="connsiteX17" fmla="*/ 77453 w 216733"/>
                  <a:gd name="connsiteY17" fmla="*/ 67754 h 211816"/>
                  <a:gd name="connsiteX18" fmla="*/ 65139 w 216733"/>
                  <a:gd name="connsiteY18" fmla="*/ 105908 h 211816"/>
                  <a:gd name="connsiteX19" fmla="*/ 77283 w 216733"/>
                  <a:gd name="connsiteY19" fmla="*/ 143894 h 211816"/>
                  <a:gd name="connsiteX20" fmla="*/ 107772 w 216733"/>
                  <a:gd name="connsiteY20" fmla="*/ 157143 h 211816"/>
                  <a:gd name="connsiteX21" fmla="*/ 138940 w 216733"/>
                  <a:gd name="connsiteY21" fmla="*/ 143894 h 211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6733" h="211816">
                    <a:moveTo>
                      <a:pt x="52485" y="198903"/>
                    </a:moveTo>
                    <a:cubicBezTo>
                      <a:pt x="36179" y="190266"/>
                      <a:pt x="23355" y="178023"/>
                      <a:pt x="14013" y="162007"/>
                    </a:cubicBezTo>
                    <a:cubicBezTo>
                      <a:pt x="4671" y="145991"/>
                      <a:pt x="0" y="127291"/>
                      <a:pt x="0" y="105908"/>
                    </a:cubicBezTo>
                    <a:cubicBezTo>
                      <a:pt x="0" y="84525"/>
                      <a:pt x="4756" y="66077"/>
                      <a:pt x="14183" y="49977"/>
                    </a:cubicBezTo>
                    <a:cubicBezTo>
                      <a:pt x="23610" y="33877"/>
                      <a:pt x="36603" y="21467"/>
                      <a:pt x="53079" y="12914"/>
                    </a:cubicBezTo>
                    <a:cubicBezTo>
                      <a:pt x="69555" y="4277"/>
                      <a:pt x="87984" y="0"/>
                      <a:pt x="108367" y="0"/>
                    </a:cubicBezTo>
                    <a:cubicBezTo>
                      <a:pt x="128749" y="0"/>
                      <a:pt x="147263" y="4277"/>
                      <a:pt x="163654" y="12914"/>
                    </a:cubicBezTo>
                    <a:cubicBezTo>
                      <a:pt x="180130" y="21551"/>
                      <a:pt x="193038" y="33877"/>
                      <a:pt x="202550" y="49977"/>
                    </a:cubicBezTo>
                    <a:cubicBezTo>
                      <a:pt x="211977" y="66077"/>
                      <a:pt x="216733" y="84693"/>
                      <a:pt x="216733" y="105908"/>
                    </a:cubicBezTo>
                    <a:cubicBezTo>
                      <a:pt x="216733" y="127123"/>
                      <a:pt x="211892" y="145739"/>
                      <a:pt x="202380" y="161839"/>
                    </a:cubicBezTo>
                    <a:cubicBezTo>
                      <a:pt x="192784" y="177939"/>
                      <a:pt x="179705" y="190349"/>
                      <a:pt x="163144" y="198903"/>
                    </a:cubicBezTo>
                    <a:cubicBezTo>
                      <a:pt x="146584" y="207540"/>
                      <a:pt x="128069" y="211816"/>
                      <a:pt x="107687" y="211816"/>
                    </a:cubicBezTo>
                    <a:cubicBezTo>
                      <a:pt x="87305" y="211816"/>
                      <a:pt x="68876" y="207540"/>
                      <a:pt x="52570" y="198903"/>
                    </a:cubicBezTo>
                    <a:close/>
                    <a:moveTo>
                      <a:pt x="138855" y="143894"/>
                    </a:moveTo>
                    <a:cubicBezTo>
                      <a:pt x="147433" y="135006"/>
                      <a:pt x="151764" y="122344"/>
                      <a:pt x="151764" y="105908"/>
                    </a:cubicBezTo>
                    <a:cubicBezTo>
                      <a:pt x="151764" y="89473"/>
                      <a:pt x="147603" y="76727"/>
                      <a:pt x="139280" y="67922"/>
                    </a:cubicBezTo>
                    <a:cubicBezTo>
                      <a:pt x="130957" y="59033"/>
                      <a:pt x="120681" y="54673"/>
                      <a:pt x="108451" y="54673"/>
                    </a:cubicBezTo>
                    <a:cubicBezTo>
                      <a:pt x="96222" y="54673"/>
                      <a:pt x="85691" y="59033"/>
                      <a:pt x="77453" y="67754"/>
                    </a:cubicBezTo>
                    <a:cubicBezTo>
                      <a:pt x="69215" y="76475"/>
                      <a:pt x="65139" y="89221"/>
                      <a:pt x="65139" y="105908"/>
                    </a:cubicBezTo>
                    <a:cubicBezTo>
                      <a:pt x="65139" y="122595"/>
                      <a:pt x="69215" y="135089"/>
                      <a:pt x="77283" y="143894"/>
                    </a:cubicBezTo>
                    <a:cubicBezTo>
                      <a:pt x="85351" y="152783"/>
                      <a:pt x="95543" y="157143"/>
                      <a:pt x="107772" y="157143"/>
                    </a:cubicBezTo>
                    <a:cubicBezTo>
                      <a:pt x="120001" y="157143"/>
                      <a:pt x="130362" y="152699"/>
                      <a:pt x="138940" y="1438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1" name="Forma Livre 49">
                <a:extLst>
                  <a:ext uri="{FF2B5EF4-FFF2-40B4-BE49-F238E27FC236}">
                    <a16:creationId xmlns:a16="http://schemas.microsoft.com/office/drawing/2014/main" id="{B741EEE5-EFCC-0DF8-E853-B44B3F5535B5}"/>
                  </a:ext>
                </a:extLst>
              </p:cNvPr>
              <p:cNvSpPr/>
              <p:nvPr/>
            </p:nvSpPr>
            <p:spPr>
              <a:xfrm>
                <a:off x="2849888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7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2" name="Forma Livre 50">
                <a:extLst>
                  <a:ext uri="{FF2B5EF4-FFF2-40B4-BE49-F238E27FC236}">
                    <a16:creationId xmlns:a16="http://schemas.microsoft.com/office/drawing/2014/main" id="{452AC728-F14C-CB0B-D9FE-CEA6CC3CA109}"/>
                  </a:ext>
                </a:extLst>
              </p:cNvPr>
              <p:cNvSpPr/>
              <p:nvPr/>
            </p:nvSpPr>
            <p:spPr>
              <a:xfrm>
                <a:off x="3086409" y="1906483"/>
                <a:ext cx="131551" cy="256175"/>
              </a:xfrm>
              <a:custGeom>
                <a:avLst/>
                <a:gdLst>
                  <a:gd name="connsiteX0" fmla="*/ 131551 w 131551"/>
                  <a:gd name="connsiteY0" fmla="*/ 202676 h 256175"/>
                  <a:gd name="connsiteX1" fmla="*/ 131551 w 131551"/>
                  <a:gd name="connsiteY1" fmla="*/ 256175 h 256175"/>
                  <a:gd name="connsiteX2" fmla="*/ 99024 w 131551"/>
                  <a:gd name="connsiteY2" fmla="*/ 256175 h 256175"/>
                  <a:gd name="connsiteX3" fmla="*/ 44841 w 131551"/>
                  <a:gd name="connsiteY3" fmla="*/ 239404 h 256175"/>
                  <a:gd name="connsiteX4" fmla="*/ 25393 w 131551"/>
                  <a:gd name="connsiteY4" fmla="*/ 184564 h 256175"/>
                  <a:gd name="connsiteX5" fmla="*/ 25393 w 131551"/>
                  <a:gd name="connsiteY5" fmla="*/ 102638 h 256175"/>
                  <a:gd name="connsiteX6" fmla="*/ 0 w 131551"/>
                  <a:gd name="connsiteY6" fmla="*/ 102638 h 256175"/>
                  <a:gd name="connsiteX7" fmla="*/ 0 w 131551"/>
                  <a:gd name="connsiteY7" fmla="*/ 50229 h 256175"/>
                  <a:gd name="connsiteX8" fmla="*/ 25393 w 131551"/>
                  <a:gd name="connsiteY8" fmla="*/ 50229 h 256175"/>
                  <a:gd name="connsiteX9" fmla="*/ 25393 w 131551"/>
                  <a:gd name="connsiteY9" fmla="*/ 0 h 256175"/>
                  <a:gd name="connsiteX10" fmla="*/ 89343 w 131551"/>
                  <a:gd name="connsiteY10" fmla="*/ 0 h 256175"/>
                  <a:gd name="connsiteX11" fmla="*/ 89343 w 131551"/>
                  <a:gd name="connsiteY11" fmla="*/ 50229 h 256175"/>
                  <a:gd name="connsiteX12" fmla="*/ 131212 w 131551"/>
                  <a:gd name="connsiteY12" fmla="*/ 50229 h 256175"/>
                  <a:gd name="connsiteX13" fmla="*/ 131212 w 131551"/>
                  <a:gd name="connsiteY13" fmla="*/ 102638 h 256175"/>
                  <a:gd name="connsiteX14" fmla="*/ 89343 w 131551"/>
                  <a:gd name="connsiteY14" fmla="*/ 102638 h 256175"/>
                  <a:gd name="connsiteX15" fmla="*/ 89343 w 131551"/>
                  <a:gd name="connsiteY15" fmla="*/ 185318 h 256175"/>
                  <a:gd name="connsiteX16" fmla="*/ 93844 w 131551"/>
                  <a:gd name="connsiteY16" fmla="*/ 198567 h 256175"/>
                  <a:gd name="connsiteX17" fmla="*/ 108791 w 131551"/>
                  <a:gd name="connsiteY17" fmla="*/ 202592 h 256175"/>
                  <a:gd name="connsiteX18" fmla="*/ 131551 w 131551"/>
                  <a:gd name="connsiteY18" fmla="*/ 202592 h 25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551" h="256175">
                    <a:moveTo>
                      <a:pt x="131551" y="202676"/>
                    </a:moveTo>
                    <a:lnTo>
                      <a:pt x="131551" y="256175"/>
                    </a:lnTo>
                    <a:lnTo>
                      <a:pt x="99024" y="256175"/>
                    </a:lnTo>
                    <a:cubicBezTo>
                      <a:pt x="75839" y="256175"/>
                      <a:pt x="57750" y="250557"/>
                      <a:pt x="44841" y="239404"/>
                    </a:cubicBezTo>
                    <a:cubicBezTo>
                      <a:pt x="31932" y="228252"/>
                      <a:pt x="25393" y="209971"/>
                      <a:pt x="25393" y="184564"/>
                    </a:cubicBezTo>
                    <a:lnTo>
                      <a:pt x="25393" y="102638"/>
                    </a:lnTo>
                    <a:lnTo>
                      <a:pt x="0" y="102638"/>
                    </a:lnTo>
                    <a:lnTo>
                      <a:pt x="0" y="50229"/>
                    </a:lnTo>
                    <a:lnTo>
                      <a:pt x="25393" y="50229"/>
                    </a:lnTo>
                    <a:lnTo>
                      <a:pt x="25393" y="0"/>
                    </a:lnTo>
                    <a:lnTo>
                      <a:pt x="89343" y="0"/>
                    </a:lnTo>
                    <a:lnTo>
                      <a:pt x="89343" y="50229"/>
                    </a:lnTo>
                    <a:lnTo>
                      <a:pt x="131212" y="50229"/>
                    </a:lnTo>
                    <a:lnTo>
                      <a:pt x="131212" y="102638"/>
                    </a:lnTo>
                    <a:lnTo>
                      <a:pt x="89343" y="102638"/>
                    </a:lnTo>
                    <a:lnTo>
                      <a:pt x="89343" y="185318"/>
                    </a:lnTo>
                    <a:cubicBezTo>
                      <a:pt x="89343" y="191440"/>
                      <a:pt x="90872" y="195884"/>
                      <a:pt x="93844" y="198567"/>
                    </a:cubicBezTo>
                    <a:cubicBezTo>
                      <a:pt x="96816" y="201251"/>
                      <a:pt x="101827" y="202592"/>
                      <a:pt x="108791" y="202592"/>
                    </a:cubicBezTo>
                    <a:lnTo>
                      <a:pt x="131551" y="20259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3" name="Forma Livre 51">
                <a:extLst>
                  <a:ext uri="{FF2B5EF4-FFF2-40B4-BE49-F238E27FC236}">
                    <a16:creationId xmlns:a16="http://schemas.microsoft.com/office/drawing/2014/main" id="{A1BBF42A-821F-6617-B557-B98319E94F24}"/>
                  </a:ext>
                </a:extLst>
              </p:cNvPr>
              <p:cNvSpPr/>
              <p:nvPr/>
            </p:nvSpPr>
            <p:spPr>
              <a:xfrm>
                <a:off x="3247515" y="1866988"/>
                <a:ext cx="75754" cy="295586"/>
              </a:xfrm>
              <a:custGeom>
                <a:avLst/>
                <a:gdLst>
                  <a:gd name="connsiteX0" fmla="*/ 10616 w 75754"/>
                  <a:gd name="connsiteY0" fmla="*/ 58530 h 295586"/>
                  <a:gd name="connsiteX1" fmla="*/ 0 w 75754"/>
                  <a:gd name="connsiteY1" fmla="*/ 34380 h 295586"/>
                  <a:gd name="connsiteX2" fmla="*/ 10616 w 75754"/>
                  <a:gd name="connsiteY2" fmla="*/ 9811 h 295586"/>
                  <a:gd name="connsiteX3" fmla="*/ 38047 w 75754"/>
                  <a:gd name="connsiteY3" fmla="*/ 0 h 295586"/>
                  <a:gd name="connsiteX4" fmla="*/ 65139 w 75754"/>
                  <a:gd name="connsiteY4" fmla="*/ 9811 h 295586"/>
                  <a:gd name="connsiteX5" fmla="*/ 75755 w 75754"/>
                  <a:gd name="connsiteY5" fmla="*/ 34380 h 295586"/>
                  <a:gd name="connsiteX6" fmla="*/ 65139 w 75754"/>
                  <a:gd name="connsiteY6" fmla="*/ 58530 h 295586"/>
                  <a:gd name="connsiteX7" fmla="*/ 38047 w 75754"/>
                  <a:gd name="connsiteY7" fmla="*/ 68341 h 295586"/>
                  <a:gd name="connsiteX8" fmla="*/ 10616 w 75754"/>
                  <a:gd name="connsiteY8" fmla="*/ 58530 h 295586"/>
                  <a:gd name="connsiteX9" fmla="*/ 69895 w 75754"/>
                  <a:gd name="connsiteY9" fmla="*/ 89724 h 295586"/>
                  <a:gd name="connsiteX10" fmla="*/ 69895 w 75754"/>
                  <a:gd name="connsiteY10" fmla="*/ 295587 h 295586"/>
                  <a:gd name="connsiteX11" fmla="*/ 5945 w 75754"/>
                  <a:gd name="connsiteY11" fmla="*/ 295587 h 295586"/>
                  <a:gd name="connsiteX12" fmla="*/ 5945 w 75754"/>
                  <a:gd name="connsiteY12" fmla="*/ 89724 h 295586"/>
                  <a:gd name="connsiteX13" fmla="*/ 69895 w 75754"/>
                  <a:gd name="connsiteY13" fmla="*/ 89724 h 29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5754" h="295586">
                    <a:moveTo>
                      <a:pt x="10616" y="58530"/>
                    </a:moveTo>
                    <a:cubicBezTo>
                      <a:pt x="3482" y="51990"/>
                      <a:pt x="0" y="43940"/>
                      <a:pt x="0" y="34380"/>
                    </a:cubicBezTo>
                    <a:cubicBezTo>
                      <a:pt x="0" y="24821"/>
                      <a:pt x="3567" y="16352"/>
                      <a:pt x="10616" y="9811"/>
                    </a:cubicBezTo>
                    <a:cubicBezTo>
                      <a:pt x="17665" y="3270"/>
                      <a:pt x="26837" y="0"/>
                      <a:pt x="38047" y="0"/>
                    </a:cubicBezTo>
                    <a:cubicBezTo>
                      <a:pt x="49257" y="0"/>
                      <a:pt x="58005" y="3270"/>
                      <a:pt x="65139" y="9811"/>
                    </a:cubicBezTo>
                    <a:cubicBezTo>
                      <a:pt x="72273" y="16352"/>
                      <a:pt x="75755" y="24485"/>
                      <a:pt x="75755" y="34380"/>
                    </a:cubicBezTo>
                    <a:cubicBezTo>
                      <a:pt x="75755" y="44275"/>
                      <a:pt x="72188" y="52074"/>
                      <a:pt x="65139" y="58530"/>
                    </a:cubicBezTo>
                    <a:cubicBezTo>
                      <a:pt x="58090" y="64987"/>
                      <a:pt x="49003" y="68341"/>
                      <a:pt x="38047" y="68341"/>
                    </a:cubicBezTo>
                    <a:cubicBezTo>
                      <a:pt x="27092" y="68341"/>
                      <a:pt x="17665" y="65071"/>
                      <a:pt x="10616" y="58530"/>
                    </a:cubicBezTo>
                    <a:close/>
                    <a:moveTo>
                      <a:pt x="69895" y="89724"/>
                    </a:moveTo>
                    <a:lnTo>
                      <a:pt x="69895" y="295587"/>
                    </a:lnTo>
                    <a:lnTo>
                      <a:pt x="5945" y="295587"/>
                    </a:lnTo>
                    <a:lnTo>
                      <a:pt x="5945" y="89724"/>
                    </a:lnTo>
                    <a:lnTo>
                      <a:pt x="69895" y="8972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4" name="Forma Livre 52">
                <a:extLst>
                  <a:ext uri="{FF2B5EF4-FFF2-40B4-BE49-F238E27FC236}">
                    <a16:creationId xmlns:a16="http://schemas.microsoft.com/office/drawing/2014/main" id="{F60317B7-C7AF-63AE-5E76-29750254298B}"/>
                  </a:ext>
                </a:extLst>
              </p:cNvPr>
              <p:cNvSpPr/>
              <p:nvPr/>
            </p:nvSpPr>
            <p:spPr>
              <a:xfrm>
                <a:off x="3363695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6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5" name="Forma Livre 53">
                <a:extLst>
                  <a:ext uri="{FF2B5EF4-FFF2-40B4-BE49-F238E27FC236}">
                    <a16:creationId xmlns:a16="http://schemas.microsoft.com/office/drawing/2014/main" id="{A4001122-B7C4-11BB-4703-4ABCD90BD4B3}"/>
                  </a:ext>
                </a:extLst>
              </p:cNvPr>
              <p:cNvSpPr/>
              <p:nvPr/>
            </p:nvSpPr>
            <p:spPr>
              <a:xfrm>
                <a:off x="3613804" y="1956712"/>
                <a:ext cx="207900" cy="208126"/>
              </a:xfrm>
              <a:custGeom>
                <a:avLst/>
                <a:gdLst>
                  <a:gd name="connsiteX0" fmla="*/ 207731 w 207900"/>
                  <a:gd name="connsiteY0" fmla="*/ 0 h 208126"/>
                  <a:gd name="connsiteX1" fmla="*/ 207731 w 207900"/>
                  <a:gd name="connsiteY1" fmla="*/ 205863 h 208126"/>
                  <a:gd name="connsiteX2" fmla="*/ 143781 w 207900"/>
                  <a:gd name="connsiteY2" fmla="*/ 205863 h 208126"/>
                  <a:gd name="connsiteX3" fmla="*/ 143781 w 207900"/>
                  <a:gd name="connsiteY3" fmla="*/ 177855 h 208126"/>
                  <a:gd name="connsiteX4" fmla="*/ 117454 w 207900"/>
                  <a:gd name="connsiteY4" fmla="*/ 199825 h 208126"/>
                  <a:gd name="connsiteX5" fmla="*/ 80680 w 207900"/>
                  <a:gd name="connsiteY5" fmla="*/ 208127 h 208126"/>
                  <a:gd name="connsiteX6" fmla="*/ 38472 w 207900"/>
                  <a:gd name="connsiteY6" fmla="*/ 197645 h 208126"/>
                  <a:gd name="connsiteX7" fmla="*/ 10106 w 207900"/>
                  <a:gd name="connsiteY7" fmla="*/ 167206 h 208126"/>
                  <a:gd name="connsiteX8" fmla="*/ 0 w 207900"/>
                  <a:gd name="connsiteY8" fmla="*/ 120331 h 208126"/>
                  <a:gd name="connsiteX9" fmla="*/ 0 w 207900"/>
                  <a:gd name="connsiteY9" fmla="*/ 0 h 208126"/>
                  <a:gd name="connsiteX10" fmla="*/ 63525 w 207900"/>
                  <a:gd name="connsiteY10" fmla="*/ 0 h 208126"/>
                  <a:gd name="connsiteX11" fmla="*/ 63525 w 207900"/>
                  <a:gd name="connsiteY11" fmla="*/ 111778 h 208126"/>
                  <a:gd name="connsiteX12" fmla="*/ 74396 w 207900"/>
                  <a:gd name="connsiteY12" fmla="*/ 143894 h 208126"/>
                  <a:gd name="connsiteX13" fmla="*/ 103526 w 207900"/>
                  <a:gd name="connsiteY13" fmla="*/ 155298 h 208126"/>
                  <a:gd name="connsiteX14" fmla="*/ 133080 w 207900"/>
                  <a:gd name="connsiteY14" fmla="*/ 143894 h 208126"/>
                  <a:gd name="connsiteX15" fmla="*/ 143951 w 207900"/>
                  <a:gd name="connsiteY15" fmla="*/ 111778 h 208126"/>
                  <a:gd name="connsiteX16" fmla="*/ 143951 w 207900"/>
                  <a:gd name="connsiteY16" fmla="*/ 0 h 208126"/>
                  <a:gd name="connsiteX17" fmla="*/ 207901 w 207900"/>
                  <a:gd name="connsiteY17" fmla="*/ 0 h 208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07900" h="208126">
                    <a:moveTo>
                      <a:pt x="207731" y="0"/>
                    </a:moveTo>
                    <a:lnTo>
                      <a:pt x="207731" y="205863"/>
                    </a:lnTo>
                    <a:lnTo>
                      <a:pt x="143781" y="205863"/>
                    </a:lnTo>
                    <a:lnTo>
                      <a:pt x="143781" y="177855"/>
                    </a:lnTo>
                    <a:cubicBezTo>
                      <a:pt x="137326" y="186995"/>
                      <a:pt x="128494" y="194291"/>
                      <a:pt x="117454" y="199825"/>
                    </a:cubicBezTo>
                    <a:cubicBezTo>
                      <a:pt x="106328" y="205359"/>
                      <a:pt x="94099" y="208127"/>
                      <a:pt x="80680" y="208127"/>
                    </a:cubicBezTo>
                    <a:cubicBezTo>
                      <a:pt x="64714" y="208127"/>
                      <a:pt x="50616" y="204605"/>
                      <a:pt x="38472" y="197645"/>
                    </a:cubicBezTo>
                    <a:cubicBezTo>
                      <a:pt x="26242" y="190601"/>
                      <a:pt x="16816" y="180455"/>
                      <a:pt x="10106" y="167206"/>
                    </a:cubicBezTo>
                    <a:cubicBezTo>
                      <a:pt x="3397" y="153957"/>
                      <a:pt x="0" y="138276"/>
                      <a:pt x="0" y="120331"/>
                    </a:cubicBezTo>
                    <a:lnTo>
                      <a:pt x="0" y="0"/>
                    </a:lnTo>
                    <a:lnTo>
                      <a:pt x="63525" y="0"/>
                    </a:lnTo>
                    <a:lnTo>
                      <a:pt x="63525" y="111778"/>
                    </a:lnTo>
                    <a:cubicBezTo>
                      <a:pt x="63525" y="125530"/>
                      <a:pt x="67092" y="136263"/>
                      <a:pt x="74396" y="143894"/>
                    </a:cubicBezTo>
                    <a:cubicBezTo>
                      <a:pt x="81615" y="151525"/>
                      <a:pt x="91381" y="155298"/>
                      <a:pt x="103526" y="155298"/>
                    </a:cubicBezTo>
                    <a:cubicBezTo>
                      <a:pt x="115670" y="155298"/>
                      <a:pt x="125776" y="151441"/>
                      <a:pt x="133080" y="143894"/>
                    </a:cubicBezTo>
                    <a:cubicBezTo>
                      <a:pt x="140299" y="136263"/>
                      <a:pt x="143951" y="125530"/>
                      <a:pt x="143951" y="111778"/>
                    </a:cubicBezTo>
                    <a:lnTo>
                      <a:pt x="143951" y="0"/>
                    </a:lnTo>
                    <a:lnTo>
                      <a:pt x="2079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6" name="Forma Livre 54">
                <a:extLst>
                  <a:ext uri="{FF2B5EF4-FFF2-40B4-BE49-F238E27FC236}">
                    <a16:creationId xmlns:a16="http://schemas.microsoft.com/office/drawing/2014/main" id="{7D3D5E60-39F9-93F3-1986-49EF1437AF68}"/>
                  </a:ext>
                </a:extLst>
              </p:cNvPr>
              <p:cNvSpPr/>
              <p:nvPr/>
            </p:nvSpPr>
            <p:spPr>
              <a:xfrm>
                <a:off x="3854826" y="1953777"/>
                <a:ext cx="220045" cy="211732"/>
              </a:xfrm>
              <a:custGeom>
                <a:avLst/>
                <a:gdLst>
                  <a:gd name="connsiteX0" fmla="*/ 12144 w 220045"/>
                  <a:gd name="connsiteY0" fmla="*/ 49810 h 211732"/>
                  <a:gd name="connsiteX1" fmla="*/ 45181 w 220045"/>
                  <a:gd name="connsiteY1" fmla="*/ 12914 h 211732"/>
                  <a:gd name="connsiteX2" fmla="*/ 91891 w 220045"/>
                  <a:gd name="connsiteY2" fmla="*/ 0 h 211732"/>
                  <a:gd name="connsiteX3" fmla="*/ 130532 w 220045"/>
                  <a:gd name="connsiteY3" fmla="*/ 8889 h 211732"/>
                  <a:gd name="connsiteX4" fmla="*/ 156180 w 220045"/>
                  <a:gd name="connsiteY4" fmla="*/ 32116 h 211732"/>
                  <a:gd name="connsiteX5" fmla="*/ 156180 w 220045"/>
                  <a:gd name="connsiteY5" fmla="*/ 2935 h 211732"/>
                  <a:gd name="connsiteX6" fmla="*/ 220045 w 220045"/>
                  <a:gd name="connsiteY6" fmla="*/ 2935 h 211732"/>
                  <a:gd name="connsiteX7" fmla="*/ 220045 w 220045"/>
                  <a:gd name="connsiteY7" fmla="*/ 208797 h 211732"/>
                  <a:gd name="connsiteX8" fmla="*/ 156180 w 220045"/>
                  <a:gd name="connsiteY8" fmla="*/ 208797 h 211732"/>
                  <a:gd name="connsiteX9" fmla="*/ 156180 w 220045"/>
                  <a:gd name="connsiteY9" fmla="*/ 179616 h 211732"/>
                  <a:gd name="connsiteX10" fmla="*/ 130193 w 220045"/>
                  <a:gd name="connsiteY10" fmla="*/ 202844 h 211732"/>
                  <a:gd name="connsiteX11" fmla="*/ 91551 w 220045"/>
                  <a:gd name="connsiteY11" fmla="*/ 211732 h 211732"/>
                  <a:gd name="connsiteX12" fmla="*/ 45181 w 220045"/>
                  <a:gd name="connsiteY12" fmla="*/ 198651 h 211732"/>
                  <a:gd name="connsiteX13" fmla="*/ 12144 w 220045"/>
                  <a:gd name="connsiteY13" fmla="*/ 161420 h 211732"/>
                  <a:gd name="connsiteX14" fmla="*/ 0 w 220045"/>
                  <a:gd name="connsiteY14" fmla="*/ 105489 h 211732"/>
                  <a:gd name="connsiteX15" fmla="*/ 12144 w 220045"/>
                  <a:gd name="connsiteY15" fmla="*/ 49726 h 211732"/>
                  <a:gd name="connsiteX16" fmla="*/ 142932 w 220045"/>
                  <a:gd name="connsiteY16" fmla="*/ 68593 h 211732"/>
                  <a:gd name="connsiteX17" fmla="*/ 110575 w 220045"/>
                  <a:gd name="connsiteY17" fmla="*/ 54925 h 211732"/>
                  <a:gd name="connsiteX18" fmla="*/ 78218 w 220045"/>
                  <a:gd name="connsiteY18" fmla="*/ 68425 h 211732"/>
                  <a:gd name="connsiteX19" fmla="*/ 64969 w 220045"/>
                  <a:gd name="connsiteY19" fmla="*/ 105489 h 211732"/>
                  <a:gd name="connsiteX20" fmla="*/ 78218 w 220045"/>
                  <a:gd name="connsiteY20" fmla="*/ 142972 h 211732"/>
                  <a:gd name="connsiteX21" fmla="*/ 110575 w 220045"/>
                  <a:gd name="connsiteY21" fmla="*/ 156808 h 211732"/>
                  <a:gd name="connsiteX22" fmla="*/ 142932 w 220045"/>
                  <a:gd name="connsiteY22" fmla="*/ 143139 h 211732"/>
                  <a:gd name="connsiteX23" fmla="*/ 156180 w 220045"/>
                  <a:gd name="connsiteY23" fmla="*/ 105908 h 211732"/>
                  <a:gd name="connsiteX24" fmla="*/ 142932 w 220045"/>
                  <a:gd name="connsiteY24" fmla="*/ 68677 h 211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0045" h="211732">
                    <a:moveTo>
                      <a:pt x="12144" y="49810"/>
                    </a:moveTo>
                    <a:cubicBezTo>
                      <a:pt x="20213" y="33793"/>
                      <a:pt x="31253" y="21551"/>
                      <a:pt x="45181" y="12914"/>
                    </a:cubicBezTo>
                    <a:cubicBezTo>
                      <a:pt x="59109" y="4277"/>
                      <a:pt x="74736" y="0"/>
                      <a:pt x="91891" y="0"/>
                    </a:cubicBezTo>
                    <a:cubicBezTo>
                      <a:pt x="106583" y="0"/>
                      <a:pt x="119492" y="2935"/>
                      <a:pt x="130532" y="8889"/>
                    </a:cubicBezTo>
                    <a:cubicBezTo>
                      <a:pt x="141658" y="14758"/>
                      <a:pt x="150150" y="22557"/>
                      <a:pt x="156180" y="32116"/>
                    </a:cubicBezTo>
                    <a:lnTo>
                      <a:pt x="156180" y="2935"/>
                    </a:lnTo>
                    <a:lnTo>
                      <a:pt x="220045" y="2935"/>
                    </a:lnTo>
                    <a:lnTo>
                      <a:pt x="220045" y="208797"/>
                    </a:lnTo>
                    <a:lnTo>
                      <a:pt x="156180" y="208797"/>
                    </a:lnTo>
                    <a:lnTo>
                      <a:pt x="156180" y="179616"/>
                    </a:lnTo>
                    <a:cubicBezTo>
                      <a:pt x="149981" y="189175"/>
                      <a:pt x="141318" y="196974"/>
                      <a:pt x="130193" y="202844"/>
                    </a:cubicBezTo>
                    <a:cubicBezTo>
                      <a:pt x="119067" y="208714"/>
                      <a:pt x="106243" y="211732"/>
                      <a:pt x="91551" y="211732"/>
                    </a:cubicBezTo>
                    <a:cubicBezTo>
                      <a:pt x="74566" y="211732"/>
                      <a:pt x="59194" y="207372"/>
                      <a:pt x="45181" y="198651"/>
                    </a:cubicBezTo>
                    <a:cubicBezTo>
                      <a:pt x="31168" y="189930"/>
                      <a:pt x="20213" y="177520"/>
                      <a:pt x="12144" y="161420"/>
                    </a:cubicBezTo>
                    <a:cubicBezTo>
                      <a:pt x="4076" y="145320"/>
                      <a:pt x="0" y="126704"/>
                      <a:pt x="0" y="105489"/>
                    </a:cubicBezTo>
                    <a:cubicBezTo>
                      <a:pt x="0" y="84274"/>
                      <a:pt x="4076" y="65742"/>
                      <a:pt x="12144" y="49726"/>
                    </a:cubicBezTo>
                    <a:close/>
                    <a:moveTo>
                      <a:pt x="142932" y="68593"/>
                    </a:moveTo>
                    <a:cubicBezTo>
                      <a:pt x="134099" y="59537"/>
                      <a:pt x="123314" y="54925"/>
                      <a:pt x="110575" y="54925"/>
                    </a:cubicBezTo>
                    <a:cubicBezTo>
                      <a:pt x="97836" y="54925"/>
                      <a:pt x="87050" y="59453"/>
                      <a:pt x="78218" y="68425"/>
                    </a:cubicBezTo>
                    <a:cubicBezTo>
                      <a:pt x="69385" y="77398"/>
                      <a:pt x="64969" y="89808"/>
                      <a:pt x="64969" y="105489"/>
                    </a:cubicBezTo>
                    <a:cubicBezTo>
                      <a:pt x="64969" y="121170"/>
                      <a:pt x="69385" y="133748"/>
                      <a:pt x="78218" y="142972"/>
                    </a:cubicBezTo>
                    <a:cubicBezTo>
                      <a:pt x="87050" y="152196"/>
                      <a:pt x="97836" y="156808"/>
                      <a:pt x="110575" y="156808"/>
                    </a:cubicBezTo>
                    <a:cubicBezTo>
                      <a:pt x="123314" y="156808"/>
                      <a:pt x="134014" y="152280"/>
                      <a:pt x="142932" y="143139"/>
                    </a:cubicBezTo>
                    <a:cubicBezTo>
                      <a:pt x="151764" y="134083"/>
                      <a:pt x="156180" y="121589"/>
                      <a:pt x="156180" y="105908"/>
                    </a:cubicBezTo>
                    <a:cubicBezTo>
                      <a:pt x="156180" y="90227"/>
                      <a:pt x="151764" y="77733"/>
                      <a:pt x="142932" y="686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</p:grp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A69C885-50CB-491A-9FBD-6E32A87E8CFD}"/>
              </a:ext>
            </a:extLst>
          </p:cNvPr>
          <p:cNvSpPr txBox="1"/>
          <p:nvPr/>
        </p:nvSpPr>
        <p:spPr>
          <a:xfrm>
            <a:off x="2151615" y="5903952"/>
            <a:ext cx="2347814" cy="261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pt-BR" sz="1100" dirty="0">
                <a:latin typeface="Poppins" panose="00000500000000000000" pitchFamily="2" charset="0"/>
                <a:cs typeface="Poppins"/>
              </a:rPr>
              <a:t>Produzido pela SEDUC-SP.</a:t>
            </a:r>
            <a:endParaRPr lang="pt-BR" sz="11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01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F3A0-0CBA-F3A4-E186-059CD2396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;p4">
            <a:extLst>
              <a:ext uri="{FF2B5EF4-FFF2-40B4-BE49-F238E27FC236}">
                <a16:creationId xmlns:a16="http://schemas.microsoft.com/office/drawing/2014/main" id="{173AC75C-941F-6ADC-855F-9C6DDC229EC5}"/>
              </a:ext>
            </a:extLst>
          </p:cNvPr>
          <p:cNvSpPr txBox="1"/>
          <p:nvPr/>
        </p:nvSpPr>
        <p:spPr>
          <a:xfrm>
            <a:off x="3298067" y="2723231"/>
            <a:ext cx="7872159" cy="1210132"/>
          </a:xfrm>
          <a:prstGeom prst="rect">
            <a:avLst/>
          </a:prstGeom>
          <a:solidFill>
            <a:srgbClr val="AAA6D3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>
              <a:buSzPts val="1800"/>
            </a:pPr>
            <a:endParaRPr lang="pt-BR" sz="1800" dirty="0"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>
              <a:buSzPts val="1800"/>
            </a:pPr>
            <a:r>
              <a:rPr lang="pt-BR" sz="1800" dirty="0"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Um bom gráfico deve ter título claro, eixos com as unidades de medida, legenda fácil de entender e escala correta.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3E5084B-C7C2-1CE3-E0F9-E4F9DF7F0A6B}"/>
              </a:ext>
            </a:extLst>
          </p:cNvPr>
          <p:cNvGrpSpPr/>
          <p:nvPr/>
        </p:nvGrpSpPr>
        <p:grpSpPr>
          <a:xfrm>
            <a:off x="2959363" y="2343469"/>
            <a:ext cx="3499948" cy="728133"/>
            <a:chOff x="12496121" y="1426319"/>
            <a:chExt cx="5249922" cy="109220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88190665-ECDA-0139-0A53-274A8C8C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96121" y="1426319"/>
              <a:ext cx="5207000" cy="1092200"/>
            </a:xfrm>
            <a:prstGeom prst="rect">
              <a:avLst/>
            </a:prstGeom>
          </p:spPr>
        </p:pic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16CEC1AE-84D0-F302-3DB5-B283ED833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90124" y="1574173"/>
              <a:ext cx="749300" cy="723900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43B9E15-51EF-D0F2-954D-7DE1E1AB3665}"/>
                </a:ext>
              </a:extLst>
            </p:cNvPr>
            <p:cNvSpPr txBox="1"/>
            <p:nvPr/>
          </p:nvSpPr>
          <p:spPr>
            <a:xfrm>
              <a:off x="13963023" y="1780400"/>
              <a:ext cx="3783020" cy="3130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DESTAQUE</a:t>
              </a:r>
            </a:p>
          </p:txBody>
        </p:sp>
      </p:grpSp>
      <p:sp>
        <p:nvSpPr>
          <p:cNvPr id="9" name="Espaço Reservado para Texto 22">
            <a:extLst>
              <a:ext uri="{FF2B5EF4-FFF2-40B4-BE49-F238E27FC236}">
                <a16:creationId xmlns:a16="http://schemas.microsoft.com/office/drawing/2014/main" id="{4360B988-DC3A-9AE6-5D35-FF496CC4BB9A}"/>
              </a:ext>
            </a:extLst>
          </p:cNvPr>
          <p:cNvSpPr txBox="1">
            <a:spLocks/>
          </p:cNvSpPr>
          <p:nvPr/>
        </p:nvSpPr>
        <p:spPr>
          <a:xfrm>
            <a:off x="2865844" y="795680"/>
            <a:ext cx="8512278" cy="584775"/>
          </a:xfrm>
          <a:prstGeom prst="rect">
            <a:avLst/>
          </a:prstGeom>
        </p:spPr>
        <p:txBody>
          <a:bodyPr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Elementos de um gráfico</a:t>
            </a:r>
          </a:p>
        </p:txBody>
      </p:sp>
    </p:spTree>
    <p:extLst>
      <p:ext uri="{BB962C8B-B14F-4D97-AF65-F5344CB8AC3E}">
        <p14:creationId xmlns:p14="http://schemas.microsoft.com/office/powerpoint/2010/main" val="1245043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9F346E1B-D059-77D0-0A74-669FE8C15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235" y="1443343"/>
            <a:ext cx="87386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Esse modelo de gráfico compara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categorias diferentes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, usando cada barra para representar o seu valor.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656F749-9D13-0097-245D-6221E856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736" y="2693822"/>
            <a:ext cx="4468168" cy="2617714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46D5FCE1-416D-C483-8813-BFF42FC4E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851" y="2693821"/>
            <a:ext cx="337612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Gráfico de exemplo: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Observar quantos doces há em cada pote para descobrir qual tem a maior quantidade.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Compara o número de doces em diferentes potes.</a:t>
            </a:r>
          </a:p>
          <a:p>
            <a:pPr marL="285750" indent="-285750">
              <a:buBlip>
                <a:blip r:embed="rId3"/>
              </a:buBlip>
            </a:pPr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A altura da barra mostra quantos doces há em </a:t>
            </a:r>
            <a:b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cada pote.</a:t>
            </a:r>
          </a:p>
        </p:txBody>
      </p:sp>
      <p:sp>
        <p:nvSpPr>
          <p:cNvPr id="17" name="Triângulo 27">
            <a:extLst>
              <a:ext uri="{FF2B5EF4-FFF2-40B4-BE49-F238E27FC236}">
                <a16:creationId xmlns:a16="http://schemas.microsoft.com/office/drawing/2014/main" id="{A5068975-D450-3F90-6156-5DB5DACA0434}"/>
              </a:ext>
            </a:extLst>
          </p:cNvPr>
          <p:cNvSpPr/>
          <p:nvPr/>
        </p:nvSpPr>
        <p:spPr>
          <a:xfrm rot="5400000">
            <a:off x="2934656" y="2781544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A6AE038-38AE-5C43-891B-FB1560EECA19}"/>
              </a:ext>
            </a:extLst>
          </p:cNvPr>
          <p:cNvSpPr txBox="1"/>
          <p:nvPr/>
        </p:nvSpPr>
        <p:spPr>
          <a:xfrm>
            <a:off x="6943241" y="5468442"/>
            <a:ext cx="4455663" cy="261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pt-BR" sz="1100" dirty="0">
                <a:latin typeface="Poppins" panose="00000500000000000000" pitchFamily="2" charset="0"/>
                <a:cs typeface="Poppins"/>
              </a:rPr>
              <a:t>Produzido pela SEDUC-SP com a ferramenta Microsoft Excel</a:t>
            </a:r>
            <a:endParaRPr lang="pt-BR" sz="1100" dirty="0">
              <a:latin typeface="Poppins" panose="00000500000000000000" pitchFamily="2" charset="0"/>
            </a:endParaRPr>
          </a:p>
        </p:txBody>
      </p:sp>
      <p:sp>
        <p:nvSpPr>
          <p:cNvPr id="21" name="Espaço Reservado para Texto 22">
            <a:extLst>
              <a:ext uri="{FF2B5EF4-FFF2-40B4-BE49-F238E27FC236}">
                <a16:creationId xmlns:a16="http://schemas.microsoft.com/office/drawing/2014/main" id="{976B5780-5F9A-070E-BC6B-B80885D03906}"/>
              </a:ext>
            </a:extLst>
          </p:cNvPr>
          <p:cNvSpPr txBox="1">
            <a:spLocks/>
          </p:cNvSpPr>
          <p:nvPr/>
        </p:nvSpPr>
        <p:spPr>
          <a:xfrm>
            <a:off x="2876235" y="795680"/>
            <a:ext cx="8512278" cy="584775"/>
          </a:xfrm>
          <a:prstGeom prst="rect">
            <a:avLst/>
          </a:prstGeom>
        </p:spPr>
        <p:txBody>
          <a:bodyPr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Gráfico de barras</a:t>
            </a:r>
          </a:p>
        </p:txBody>
      </p:sp>
    </p:spTree>
    <p:extLst>
      <p:ext uri="{BB962C8B-B14F-4D97-AF65-F5344CB8AC3E}">
        <p14:creationId xmlns:p14="http://schemas.microsoft.com/office/powerpoint/2010/main" val="521112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DFE6-A5C6-4F71-7626-D1B2572EE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46F4AC04-8014-D527-D41F-A8AD17A01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235" y="1434615"/>
            <a:ext cx="398556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Esse modelo mostra a proporção de partes em relação a um todo, em que cada pedaço representa uma parte do total.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Por exemplo, ao dividir uma pizza entre várias pessoas, podemos observar que, se uma pessoa comeu metade da pizza, isso representa 50% do total.</a:t>
            </a:r>
          </a:p>
        </p:txBody>
      </p:sp>
      <p:sp>
        <p:nvSpPr>
          <p:cNvPr id="8" name="Espaço Reservado para Texto 22">
            <a:extLst>
              <a:ext uri="{FF2B5EF4-FFF2-40B4-BE49-F238E27FC236}">
                <a16:creationId xmlns:a16="http://schemas.microsoft.com/office/drawing/2014/main" id="{FCFE040D-ED59-62AB-1226-FA67227BBB6E}"/>
              </a:ext>
            </a:extLst>
          </p:cNvPr>
          <p:cNvSpPr txBox="1">
            <a:spLocks/>
          </p:cNvSpPr>
          <p:nvPr/>
        </p:nvSpPr>
        <p:spPr>
          <a:xfrm>
            <a:off x="2876235" y="795680"/>
            <a:ext cx="8512278" cy="584775"/>
          </a:xfrm>
          <a:prstGeom prst="rect">
            <a:avLst/>
          </a:prstGeom>
        </p:spPr>
        <p:txBody>
          <a:bodyPr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Gráfico de pizza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84EAE4A-43D4-02DA-85B5-8102E21D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1229" y="1579761"/>
            <a:ext cx="420757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Gráfico de exemplo: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Observe a fração ou proporção do tempo que você gastou em atividades no dia (lazer, estudo, trabalho).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A7ADC48-1FD1-0117-3D48-7B5B1BEE1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5" t="7629" b="5219"/>
          <a:stretch>
            <a:fillRect/>
          </a:stretch>
        </p:blipFill>
        <p:spPr>
          <a:xfrm>
            <a:off x="7949145" y="3106881"/>
            <a:ext cx="3906143" cy="2306781"/>
          </a:xfrm>
          <a:prstGeom prst="rect">
            <a:avLst/>
          </a:prstGeom>
        </p:spPr>
      </p:pic>
      <p:sp>
        <p:nvSpPr>
          <p:cNvPr id="13" name="Google Shape;136;p4">
            <a:extLst>
              <a:ext uri="{FF2B5EF4-FFF2-40B4-BE49-F238E27FC236}">
                <a16:creationId xmlns:a16="http://schemas.microsoft.com/office/drawing/2014/main" id="{31D20792-CA20-B0A6-BC53-B2190C2D19FC}"/>
              </a:ext>
            </a:extLst>
          </p:cNvPr>
          <p:cNvSpPr txBox="1"/>
          <p:nvPr/>
        </p:nvSpPr>
        <p:spPr>
          <a:xfrm>
            <a:off x="3165608" y="4676232"/>
            <a:ext cx="3526137" cy="1324166"/>
          </a:xfrm>
          <a:prstGeom prst="rect">
            <a:avLst/>
          </a:prstGeom>
          <a:solidFill>
            <a:srgbClr val="AAA6D3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>
              <a:buSzPts val="1800"/>
            </a:pPr>
            <a:endParaRPr lang="pt-BR" sz="1600" dirty="0">
              <a:solidFill>
                <a:srgbClr val="A626A4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O gráfico de pizza deve ser utilizado quando se tem, no máximo, até cinco categorias.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40A057C-EAE9-E8E4-9E9D-1DC0CCF46025}"/>
              </a:ext>
            </a:extLst>
          </p:cNvPr>
          <p:cNvGrpSpPr/>
          <p:nvPr/>
        </p:nvGrpSpPr>
        <p:grpSpPr>
          <a:xfrm>
            <a:off x="2876235" y="4312165"/>
            <a:ext cx="3491774" cy="728133"/>
            <a:chOff x="4271083" y="5830779"/>
            <a:chExt cx="3491774" cy="728133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21505261-861F-3A0E-BD31-6DFB564D3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1083" y="5830779"/>
              <a:ext cx="3488267" cy="728133"/>
            </a:xfrm>
            <a:prstGeom prst="rect">
              <a:avLst/>
            </a:prstGeom>
          </p:spPr>
        </p:pic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43E5E27-08E6-9F1E-CC31-644206E44542}"/>
                </a:ext>
              </a:extLst>
            </p:cNvPr>
            <p:cNvSpPr txBox="1"/>
            <p:nvPr/>
          </p:nvSpPr>
          <p:spPr>
            <a:xfrm>
              <a:off x="5240844" y="6071659"/>
              <a:ext cx="2522013" cy="208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FICA A DICA</a:t>
              </a:r>
            </a:p>
          </p:txBody>
        </p:sp>
        <p:pic>
          <p:nvPicPr>
            <p:cNvPr id="21" name="Gráfico 20">
              <a:extLst>
                <a:ext uri="{FF2B5EF4-FFF2-40B4-BE49-F238E27FC236}">
                  <a16:creationId xmlns:a16="http://schemas.microsoft.com/office/drawing/2014/main" id="{A886444B-4F26-BF34-BD24-464F4BE2E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79150" y="5926249"/>
              <a:ext cx="499533" cy="482600"/>
            </a:xfrm>
            <a:prstGeom prst="rect">
              <a:avLst/>
            </a:prstGeom>
          </p:spPr>
        </p:pic>
      </p:grpSp>
      <p:sp>
        <p:nvSpPr>
          <p:cNvPr id="22" name="Triângulo 27">
            <a:extLst>
              <a:ext uri="{FF2B5EF4-FFF2-40B4-BE49-F238E27FC236}">
                <a16:creationId xmlns:a16="http://schemas.microsoft.com/office/drawing/2014/main" id="{36C42249-9991-CBB7-A03D-70112554C7C5}"/>
              </a:ext>
            </a:extLst>
          </p:cNvPr>
          <p:cNvSpPr/>
          <p:nvPr/>
        </p:nvSpPr>
        <p:spPr>
          <a:xfrm rot="5400000">
            <a:off x="7454701" y="1669713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9CF445E-7D64-A692-1FE4-A817F6BA4222}"/>
              </a:ext>
            </a:extLst>
          </p:cNvPr>
          <p:cNvSpPr txBox="1"/>
          <p:nvPr/>
        </p:nvSpPr>
        <p:spPr>
          <a:xfrm>
            <a:off x="7461568" y="5617343"/>
            <a:ext cx="4393720" cy="43088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/>
              </a:rPr>
              <a:t>Produzido pela SEDUC-SP com a ferramenta Microsoft Excel</a:t>
            </a:r>
          </a:p>
          <a:p>
            <a:pPr>
              <a:spcAft>
                <a:spcPts val="600"/>
              </a:spcAft>
              <a:buNone/>
            </a:pPr>
            <a:endParaRPr lang="pt-BR" sz="110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75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5EF9-25B4-2824-A7FF-894CAC539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01614D39-467C-2EC6-16C7-D2AEE01E5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235" y="1434052"/>
            <a:ext cx="244391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Esse gráfico exibe a evolução ao longo do tempo, representada por uma linha que conectam os pontos desse período.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Por exemplo, com ele, é possível ver o preço de um lanche aumentando ou diminuindo durante a semana.</a:t>
            </a:r>
          </a:p>
        </p:txBody>
      </p:sp>
      <p:sp>
        <p:nvSpPr>
          <p:cNvPr id="8" name="Espaço Reservado para Texto 22">
            <a:extLst>
              <a:ext uri="{FF2B5EF4-FFF2-40B4-BE49-F238E27FC236}">
                <a16:creationId xmlns:a16="http://schemas.microsoft.com/office/drawing/2014/main" id="{75C281C1-5686-C131-DA89-5138B28F9827}"/>
              </a:ext>
            </a:extLst>
          </p:cNvPr>
          <p:cNvSpPr txBox="1">
            <a:spLocks/>
          </p:cNvSpPr>
          <p:nvPr/>
        </p:nvSpPr>
        <p:spPr>
          <a:xfrm>
            <a:off x="2876235" y="795680"/>
            <a:ext cx="8512278" cy="584775"/>
          </a:xfrm>
          <a:prstGeom prst="rect">
            <a:avLst/>
          </a:prstGeom>
        </p:spPr>
        <p:txBody>
          <a:bodyPr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Gráfico de linhas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FB7A62F-701E-BB2D-68F7-1B90E5247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4657" y="1905506"/>
            <a:ext cx="524394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Gráfico de exemplo: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Observe como a temperatura mudou durante a semana.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6EA0822-15A6-FE2C-93A8-B0993E03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593" y="3164089"/>
            <a:ext cx="4215244" cy="2493118"/>
          </a:xfrm>
          <a:prstGeom prst="rect">
            <a:avLst/>
          </a:prstGeom>
        </p:spPr>
      </p:pic>
      <p:sp>
        <p:nvSpPr>
          <p:cNvPr id="12" name="Triângulo 27">
            <a:extLst>
              <a:ext uri="{FF2B5EF4-FFF2-40B4-BE49-F238E27FC236}">
                <a16:creationId xmlns:a16="http://schemas.microsoft.com/office/drawing/2014/main" id="{02B4C7B0-FF83-A703-65A4-461E7086A307}"/>
              </a:ext>
            </a:extLst>
          </p:cNvPr>
          <p:cNvSpPr/>
          <p:nvPr/>
        </p:nvSpPr>
        <p:spPr>
          <a:xfrm rot="5400000">
            <a:off x="6107656" y="1991832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3F4DFE3-8CB2-883A-4C4D-5F3F95B3729F}"/>
              </a:ext>
            </a:extLst>
          </p:cNvPr>
          <p:cNvSpPr txBox="1"/>
          <p:nvPr/>
        </p:nvSpPr>
        <p:spPr>
          <a:xfrm>
            <a:off x="6602278" y="5779318"/>
            <a:ext cx="4557559" cy="43088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/>
              </a:rPr>
              <a:t>Produzido pela SEDUC-SP com a ferramenta Microsoft Excel</a:t>
            </a:r>
          </a:p>
          <a:p>
            <a:pPr>
              <a:spcAft>
                <a:spcPts val="600"/>
              </a:spcAft>
              <a:buNone/>
            </a:pPr>
            <a:endParaRPr lang="pt-BR" sz="110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067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A079B-F54D-AAA6-5932-DC299F3D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A2B23160-BE71-B4AF-A4F1-FA6C74588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235" y="1452062"/>
            <a:ext cx="85122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Esse modelo mostra a relação entre duas coisas, em que cada ponto é uma combinação de dois valores.</a:t>
            </a:r>
          </a:p>
        </p:txBody>
      </p:sp>
      <p:sp>
        <p:nvSpPr>
          <p:cNvPr id="10" name="Espaço Reservado para Texto 22">
            <a:extLst>
              <a:ext uri="{FF2B5EF4-FFF2-40B4-BE49-F238E27FC236}">
                <a16:creationId xmlns:a16="http://schemas.microsoft.com/office/drawing/2014/main" id="{6ECC8388-C3AE-9584-F563-CC74AD1B6B18}"/>
              </a:ext>
            </a:extLst>
          </p:cNvPr>
          <p:cNvSpPr txBox="1">
            <a:spLocks/>
          </p:cNvSpPr>
          <p:nvPr/>
        </p:nvSpPr>
        <p:spPr>
          <a:xfrm>
            <a:off x="2876235" y="795680"/>
            <a:ext cx="8512278" cy="584775"/>
          </a:xfrm>
          <a:prstGeom prst="rect">
            <a:avLst/>
          </a:prstGeom>
        </p:spPr>
        <p:txBody>
          <a:bodyPr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Gráfico de dispersão</a:t>
            </a:r>
          </a:p>
        </p:txBody>
      </p:sp>
      <p:sp>
        <p:nvSpPr>
          <p:cNvPr id="11" name="Triângulo 27">
            <a:extLst>
              <a:ext uri="{FF2B5EF4-FFF2-40B4-BE49-F238E27FC236}">
                <a16:creationId xmlns:a16="http://schemas.microsoft.com/office/drawing/2014/main" id="{7B0C1FEE-9EEE-433F-9BB9-24983454B056}"/>
              </a:ext>
            </a:extLst>
          </p:cNvPr>
          <p:cNvSpPr/>
          <p:nvPr/>
        </p:nvSpPr>
        <p:spPr>
          <a:xfrm rot="5400000">
            <a:off x="2970012" y="2342491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8397DED-971E-DAF7-4403-5EA506ECC06A}"/>
              </a:ext>
            </a:extLst>
          </p:cNvPr>
          <p:cNvSpPr txBox="1"/>
          <p:nvPr/>
        </p:nvSpPr>
        <p:spPr>
          <a:xfrm>
            <a:off x="9436774" y="5549807"/>
            <a:ext cx="2329276" cy="6001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/>
              </a:rPr>
              <a:t>Produzido pela SEDUC-SP com a ferramenta Microsoft Excel</a:t>
            </a:r>
          </a:p>
          <a:p>
            <a:pPr>
              <a:spcAft>
                <a:spcPts val="600"/>
              </a:spcAft>
              <a:buNone/>
            </a:pPr>
            <a:endParaRPr lang="pt-BR" sz="110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A15F9F5-A6E1-1C3C-E426-BD6D4078F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0308" y="2258263"/>
            <a:ext cx="870962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Gráfico de exemplo: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Para saber se estudar mais melhora as notas, comparamos o tempo de estudo com as notas obtidas. Saberemos se mais horas de jogo afetam as tarefas feitas.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E331B9E-BC2A-FED0-C669-E9D003502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246" y="3556907"/>
            <a:ext cx="4457700" cy="258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42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2AA30A2-48A4-485A-B2FE-27F5AAFD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654" y="2052064"/>
            <a:ext cx="10345718" cy="363753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DD3EA02-5340-23A1-CB64-8F9CBF1EF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235" y="1452228"/>
            <a:ext cx="93157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Criar um gráfico claro e fácil de entender é fundamental para transmitir informações de forma visual. Existem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três passos essenciais 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para garantir que seu gráfico seja eficaz!</a:t>
            </a:r>
          </a:p>
        </p:txBody>
      </p:sp>
      <p:sp>
        <p:nvSpPr>
          <p:cNvPr id="4" name="Espaço Reservado para Texto 22">
            <a:extLst>
              <a:ext uri="{FF2B5EF4-FFF2-40B4-BE49-F238E27FC236}">
                <a16:creationId xmlns:a16="http://schemas.microsoft.com/office/drawing/2014/main" id="{66AAAE1B-3050-AF81-71D8-D3F4636E3EFD}"/>
              </a:ext>
            </a:extLst>
          </p:cNvPr>
          <p:cNvSpPr txBox="1">
            <a:spLocks/>
          </p:cNvSpPr>
          <p:nvPr/>
        </p:nvSpPr>
        <p:spPr>
          <a:xfrm>
            <a:off x="2876235" y="795680"/>
            <a:ext cx="8512278" cy="584775"/>
          </a:xfrm>
          <a:prstGeom prst="rect">
            <a:avLst/>
          </a:prstGeom>
        </p:spPr>
        <p:txBody>
          <a:bodyPr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Como criar um bom gráfico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701CBD-5645-48B5-BD6C-7E66992A4659}"/>
              </a:ext>
            </a:extLst>
          </p:cNvPr>
          <p:cNvSpPr txBox="1"/>
          <p:nvPr/>
        </p:nvSpPr>
        <p:spPr>
          <a:xfrm>
            <a:off x="1324301" y="5845895"/>
            <a:ext cx="4524956" cy="261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pt-BR" sz="1100" dirty="0">
                <a:latin typeface="Poppins" panose="00000500000000000000" pitchFamily="2" charset="0"/>
                <a:cs typeface="Poppins"/>
              </a:rPr>
              <a:t>Produzido pela SEDUC-SP com © </a:t>
            </a:r>
            <a:r>
              <a:rPr lang="pt-BR" sz="1100" dirty="0" err="1">
                <a:latin typeface="Poppins" panose="00000500000000000000" pitchFamily="2" charset="0"/>
                <a:cs typeface="Poppins"/>
              </a:rPr>
              <a:t>Getty</a:t>
            </a:r>
            <a:r>
              <a:rPr lang="pt-BR" sz="1100" dirty="0">
                <a:latin typeface="Poppins" panose="00000500000000000000" pitchFamily="2" charset="0"/>
                <a:cs typeface="Poppins"/>
              </a:rPr>
              <a:t> </a:t>
            </a:r>
            <a:r>
              <a:rPr lang="pt-BR" sz="1100" dirty="0" err="1">
                <a:latin typeface="Poppins" panose="00000500000000000000" pitchFamily="2" charset="0"/>
                <a:cs typeface="Poppins"/>
              </a:rPr>
              <a:t>Images</a:t>
            </a:r>
            <a:r>
              <a:rPr lang="pt-BR" sz="1100" dirty="0">
                <a:latin typeface="Poppins" panose="00000500000000000000" pitchFamily="2" charset="0"/>
                <a:cs typeface="Poppins"/>
              </a:rPr>
              <a:t>.</a:t>
            </a:r>
            <a:endParaRPr lang="pt-BR" sz="11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907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EA35769D-5E89-8BEC-A209-BE3F409112CD}"/>
              </a:ext>
            </a:extLst>
          </p:cNvPr>
          <p:cNvSpPr/>
          <p:nvPr/>
        </p:nvSpPr>
        <p:spPr>
          <a:xfrm>
            <a:off x="3026388" y="3214468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A54E57C6-161C-AAD7-A54C-D279F544769B}"/>
              </a:ext>
            </a:extLst>
          </p:cNvPr>
          <p:cNvSpPr/>
          <p:nvPr/>
        </p:nvSpPr>
        <p:spPr>
          <a:xfrm>
            <a:off x="6738417" y="3214468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D36AB42A-F371-3B9A-F7E8-0FD2FBD3B459}"/>
              </a:ext>
            </a:extLst>
          </p:cNvPr>
          <p:cNvSpPr/>
          <p:nvPr/>
        </p:nvSpPr>
        <p:spPr>
          <a:xfrm>
            <a:off x="3026388" y="430376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2;p64">
            <a:extLst>
              <a:ext uri="{FF2B5EF4-FFF2-40B4-BE49-F238E27FC236}">
                <a16:creationId xmlns:a16="http://schemas.microsoft.com/office/drawing/2014/main" id="{B7F767F6-4174-2AFB-8B12-FB0DC79F474E}"/>
              </a:ext>
            </a:extLst>
          </p:cNvPr>
          <p:cNvSpPr txBox="1"/>
          <p:nvPr/>
        </p:nvSpPr>
        <p:spPr>
          <a:xfrm>
            <a:off x="3249905" y="4591884"/>
            <a:ext cx="29480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buSzPts val="2767"/>
              <a:defRPr sz="16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  <a:sym typeface="Poppins"/>
              </a:rPr>
              <a:t>Dispersão</a:t>
            </a: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7A7839F4-55F0-496C-FE16-084E961F4D0B}"/>
              </a:ext>
            </a:extLst>
          </p:cNvPr>
          <p:cNvSpPr/>
          <p:nvPr/>
        </p:nvSpPr>
        <p:spPr>
          <a:xfrm>
            <a:off x="6738417" y="430376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54;p64">
            <a:extLst>
              <a:ext uri="{FF2B5EF4-FFF2-40B4-BE49-F238E27FC236}">
                <a16:creationId xmlns:a16="http://schemas.microsoft.com/office/drawing/2014/main" id="{E6166458-67DF-A1BA-55AC-1F93D54ED353}"/>
              </a:ext>
            </a:extLst>
          </p:cNvPr>
          <p:cNvSpPr txBox="1"/>
          <p:nvPr/>
        </p:nvSpPr>
        <p:spPr>
          <a:xfrm>
            <a:off x="6961934" y="4591884"/>
            <a:ext cx="29480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2767"/>
            </a:pPr>
            <a:r>
              <a:rPr lang="pt-BR" sz="16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Barra</a:t>
            </a:r>
          </a:p>
        </p:txBody>
      </p:sp>
      <p:sp>
        <p:nvSpPr>
          <p:cNvPr id="18" name="Google Shape;855;p64">
            <a:extLst>
              <a:ext uri="{FF2B5EF4-FFF2-40B4-BE49-F238E27FC236}">
                <a16:creationId xmlns:a16="http://schemas.microsoft.com/office/drawing/2014/main" id="{E56D8818-40F0-C689-0CEF-D7AE8A161C1B}"/>
              </a:ext>
            </a:extLst>
          </p:cNvPr>
          <p:cNvSpPr txBox="1"/>
          <p:nvPr/>
        </p:nvSpPr>
        <p:spPr>
          <a:xfrm>
            <a:off x="3026388" y="3502589"/>
            <a:ext cx="339507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2767"/>
              <a:defRPr sz="16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  <a:sym typeface="Poppins"/>
              </a:rPr>
              <a:t>Linha</a:t>
            </a:r>
          </a:p>
        </p:txBody>
      </p:sp>
      <p:sp>
        <p:nvSpPr>
          <p:cNvPr id="19" name="Google Shape;856;p64">
            <a:extLst>
              <a:ext uri="{FF2B5EF4-FFF2-40B4-BE49-F238E27FC236}">
                <a16:creationId xmlns:a16="http://schemas.microsoft.com/office/drawing/2014/main" id="{8801C580-7A6F-405E-8463-C89B1F60C9B1}"/>
              </a:ext>
            </a:extLst>
          </p:cNvPr>
          <p:cNvSpPr txBox="1"/>
          <p:nvPr/>
        </p:nvSpPr>
        <p:spPr>
          <a:xfrm>
            <a:off x="6998877" y="3502589"/>
            <a:ext cx="287415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2767"/>
              <a:defRPr sz="16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</a:rPr>
              <a:t>Área</a:t>
            </a:r>
            <a:endParaRPr lang="pt-BR" dirty="0">
              <a:latin typeface="Poppins" panose="00000500000000000000" pitchFamily="2" charset="0"/>
              <a:sym typeface="Poppins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7E2D5B4-69B1-8791-F80C-041D0DB8FDB2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4" name="Google Shape;812;p61">
              <a:extLst>
                <a:ext uri="{FF2B5EF4-FFF2-40B4-BE49-F238E27FC236}">
                  <a16:creationId xmlns:a16="http://schemas.microsoft.com/office/drawing/2014/main" id="{F6F4DC17-FFFF-6346-AEA1-5DB31E7098C5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endParaRPr/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C63DFD66-DCAF-2929-9A9E-31D300261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7" name="Google Shape;833;p62">
              <a:extLst>
                <a:ext uri="{FF2B5EF4-FFF2-40B4-BE49-F238E27FC236}">
                  <a16:creationId xmlns:a16="http://schemas.microsoft.com/office/drawing/2014/main" id="{15D4CF06-B3BF-AD1B-3CA8-4EDA5A4D52C6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>
                <a:lnSpc>
                  <a:spcPct val="107000"/>
                </a:lnSpc>
                <a:buSzPts val="2700"/>
              </a:pPr>
              <a:r>
                <a:rPr lang="pt-BR" sz="800" b="1">
                  <a:solidFill>
                    <a:schemeClr val="lt1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sz="80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>
                <a:lnSpc>
                  <a:spcPct val="107000"/>
                </a:lnSpc>
                <a:spcBef>
                  <a:spcPts val="715"/>
                </a:spcBef>
                <a:buSzPts val="2700"/>
              </a:pPr>
              <a:endParaRPr sz="800">
                <a:solidFill>
                  <a:schemeClr val="lt1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D63567CE-A64E-EE88-B571-C062FF618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1784550"/>
            <a:ext cx="7107106" cy="107721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22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b="1" dirty="0">
                <a:latin typeface="Poppins" panose="00000500000000000000" pitchFamily="2" charset="0"/>
              </a:rPr>
              <a:t>Qual gráfico usar para </a:t>
            </a:r>
          </a:p>
          <a:p>
            <a:pPr lvl="4"/>
            <a:r>
              <a:rPr lang="pt-BR" sz="3200" b="1" dirty="0">
                <a:latin typeface="Poppins" panose="00000500000000000000" pitchFamily="2" charset="0"/>
              </a:rPr>
              <a:t>comparar categorias?</a:t>
            </a:r>
            <a:endParaRPr lang="pt-BR" sz="32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410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19AB62FB-82E1-D9BD-D8FC-4FE6E93E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4194F4B8-6858-268F-2D49-EC31C98DFEF9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DCB8E59A-2D60-3ABC-5E4A-FE1D51E75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1EA8581C-FE0A-C3E4-02E8-68C127F24F31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2" name="Google Shape;1435;p98">
            <a:extLst>
              <a:ext uri="{FF2B5EF4-FFF2-40B4-BE49-F238E27FC236}">
                <a16:creationId xmlns:a16="http://schemas.microsoft.com/office/drawing/2014/main" id="{70E544E1-A1CF-A1A3-5790-9F17610ADB90}"/>
              </a:ext>
            </a:extLst>
          </p:cNvPr>
          <p:cNvSpPr/>
          <p:nvPr/>
        </p:nvSpPr>
        <p:spPr>
          <a:xfrm>
            <a:off x="2431355" y="3333508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435;p98">
            <a:extLst>
              <a:ext uri="{FF2B5EF4-FFF2-40B4-BE49-F238E27FC236}">
                <a16:creationId xmlns:a16="http://schemas.microsoft.com/office/drawing/2014/main" id="{B61C8F27-91CD-5A2D-B925-EE1300226C4F}"/>
              </a:ext>
            </a:extLst>
          </p:cNvPr>
          <p:cNvSpPr/>
          <p:nvPr/>
        </p:nvSpPr>
        <p:spPr>
          <a:xfrm>
            <a:off x="10193146" y="3333508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437;p98">
            <a:extLst>
              <a:ext uri="{FF2B5EF4-FFF2-40B4-BE49-F238E27FC236}">
                <a16:creationId xmlns:a16="http://schemas.microsoft.com/office/drawing/2014/main" id="{C7B7FB57-B44D-2810-9171-B55D8CB8550D}"/>
              </a:ext>
            </a:extLst>
          </p:cNvPr>
          <p:cNvSpPr/>
          <p:nvPr/>
        </p:nvSpPr>
        <p:spPr>
          <a:xfrm rot="18556360">
            <a:off x="10290089" y="4533600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1435;p98">
            <a:extLst>
              <a:ext uri="{FF2B5EF4-FFF2-40B4-BE49-F238E27FC236}">
                <a16:creationId xmlns:a16="http://schemas.microsoft.com/office/drawing/2014/main" id="{B8B8C556-AF74-3D23-FD60-FE3AF71DFB0B}"/>
              </a:ext>
            </a:extLst>
          </p:cNvPr>
          <p:cNvSpPr/>
          <p:nvPr/>
        </p:nvSpPr>
        <p:spPr>
          <a:xfrm>
            <a:off x="2446000" y="4433194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49;p64">
            <a:extLst>
              <a:ext uri="{FF2B5EF4-FFF2-40B4-BE49-F238E27FC236}">
                <a16:creationId xmlns:a16="http://schemas.microsoft.com/office/drawing/2014/main" id="{CF2D8D50-5B38-1EC5-8679-7D5558D29C21}"/>
              </a:ext>
            </a:extLst>
          </p:cNvPr>
          <p:cNvSpPr/>
          <p:nvPr/>
        </p:nvSpPr>
        <p:spPr>
          <a:xfrm>
            <a:off x="3026388" y="3214468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50;p64">
            <a:extLst>
              <a:ext uri="{FF2B5EF4-FFF2-40B4-BE49-F238E27FC236}">
                <a16:creationId xmlns:a16="http://schemas.microsoft.com/office/drawing/2014/main" id="{6D7ADDED-C14F-1CD1-08D5-1B1FF0E3A266}"/>
              </a:ext>
            </a:extLst>
          </p:cNvPr>
          <p:cNvSpPr/>
          <p:nvPr/>
        </p:nvSpPr>
        <p:spPr>
          <a:xfrm>
            <a:off x="6738417" y="3214468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51;p64">
            <a:extLst>
              <a:ext uri="{FF2B5EF4-FFF2-40B4-BE49-F238E27FC236}">
                <a16:creationId xmlns:a16="http://schemas.microsoft.com/office/drawing/2014/main" id="{1BAC1FCF-5B8C-A8EE-5734-AE382DF510FA}"/>
              </a:ext>
            </a:extLst>
          </p:cNvPr>
          <p:cNvSpPr/>
          <p:nvPr/>
        </p:nvSpPr>
        <p:spPr>
          <a:xfrm>
            <a:off x="3026388" y="430376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52;p64">
            <a:extLst>
              <a:ext uri="{FF2B5EF4-FFF2-40B4-BE49-F238E27FC236}">
                <a16:creationId xmlns:a16="http://schemas.microsoft.com/office/drawing/2014/main" id="{73E20FD4-7E77-BFA9-6FCB-75B5887AC5AA}"/>
              </a:ext>
            </a:extLst>
          </p:cNvPr>
          <p:cNvSpPr txBox="1"/>
          <p:nvPr/>
        </p:nvSpPr>
        <p:spPr>
          <a:xfrm>
            <a:off x="3249905" y="4591884"/>
            <a:ext cx="29480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buSzPts val="2767"/>
              <a:defRPr sz="16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  <a:sym typeface="Poppins"/>
              </a:rPr>
              <a:t>Dispersão</a:t>
            </a:r>
          </a:p>
        </p:txBody>
      </p:sp>
      <p:sp>
        <p:nvSpPr>
          <p:cNvPr id="11" name="Google Shape;853;p64">
            <a:extLst>
              <a:ext uri="{FF2B5EF4-FFF2-40B4-BE49-F238E27FC236}">
                <a16:creationId xmlns:a16="http://schemas.microsoft.com/office/drawing/2014/main" id="{F03F2742-59AA-934D-866E-6A2BC6267A0F}"/>
              </a:ext>
            </a:extLst>
          </p:cNvPr>
          <p:cNvSpPr/>
          <p:nvPr/>
        </p:nvSpPr>
        <p:spPr>
          <a:xfrm>
            <a:off x="6738417" y="430376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54;p64">
            <a:extLst>
              <a:ext uri="{FF2B5EF4-FFF2-40B4-BE49-F238E27FC236}">
                <a16:creationId xmlns:a16="http://schemas.microsoft.com/office/drawing/2014/main" id="{FEE5BB44-B105-4C38-633C-4C6329E0DB53}"/>
              </a:ext>
            </a:extLst>
          </p:cNvPr>
          <p:cNvSpPr txBox="1"/>
          <p:nvPr/>
        </p:nvSpPr>
        <p:spPr>
          <a:xfrm>
            <a:off x="6961934" y="4591884"/>
            <a:ext cx="29480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2767"/>
            </a:pPr>
            <a:r>
              <a:rPr lang="pt-BR" sz="16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Barra</a:t>
            </a:r>
          </a:p>
        </p:txBody>
      </p:sp>
      <p:sp>
        <p:nvSpPr>
          <p:cNvPr id="13" name="Google Shape;855;p64">
            <a:extLst>
              <a:ext uri="{FF2B5EF4-FFF2-40B4-BE49-F238E27FC236}">
                <a16:creationId xmlns:a16="http://schemas.microsoft.com/office/drawing/2014/main" id="{93050E30-D6D4-5977-F98A-A0D178FF1C6C}"/>
              </a:ext>
            </a:extLst>
          </p:cNvPr>
          <p:cNvSpPr txBox="1"/>
          <p:nvPr/>
        </p:nvSpPr>
        <p:spPr>
          <a:xfrm>
            <a:off x="3026388" y="3502589"/>
            <a:ext cx="339507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2767"/>
              <a:defRPr sz="16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  <a:sym typeface="Poppins"/>
              </a:rPr>
              <a:t>Linha</a:t>
            </a:r>
          </a:p>
        </p:txBody>
      </p:sp>
      <p:sp>
        <p:nvSpPr>
          <p:cNvPr id="14" name="Google Shape;856;p64">
            <a:extLst>
              <a:ext uri="{FF2B5EF4-FFF2-40B4-BE49-F238E27FC236}">
                <a16:creationId xmlns:a16="http://schemas.microsoft.com/office/drawing/2014/main" id="{87DD3B1F-7B7A-24DF-390F-3BCE53495B1D}"/>
              </a:ext>
            </a:extLst>
          </p:cNvPr>
          <p:cNvSpPr txBox="1"/>
          <p:nvPr/>
        </p:nvSpPr>
        <p:spPr>
          <a:xfrm>
            <a:off x="6998877" y="3502589"/>
            <a:ext cx="287415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2767"/>
              <a:defRPr sz="16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</a:rPr>
              <a:t>Área</a:t>
            </a:r>
            <a:endParaRPr lang="pt-BR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1004A25C-42CB-E02D-74D1-2658A2017D34}"/>
              </a:ext>
            </a:extLst>
          </p:cNvPr>
          <p:cNvSpPr txBox="1">
            <a:spLocks/>
          </p:cNvSpPr>
          <p:nvPr/>
        </p:nvSpPr>
        <p:spPr>
          <a:xfrm>
            <a:off x="3026389" y="1784550"/>
            <a:ext cx="7107106" cy="1077218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00" b="0" i="0" u="none" strike="noStrike" cap="none">
                <a:solidFill>
                  <a:schemeClr val="bg1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4"/>
            <a:r>
              <a:rPr lang="pt-BR" sz="3200" b="1" dirty="0">
                <a:latin typeface="Poppins" panose="00000500000000000000" pitchFamily="2" charset="0"/>
              </a:rPr>
              <a:t>Qual gráfico usar para </a:t>
            </a:r>
          </a:p>
          <a:p>
            <a:pPr lvl="4"/>
            <a:r>
              <a:rPr lang="pt-BR" sz="3200" b="1" dirty="0">
                <a:latin typeface="Poppins" panose="00000500000000000000" pitchFamily="2" charset="0"/>
              </a:rPr>
              <a:t>comparar categorias?</a:t>
            </a:r>
            <a:endParaRPr lang="pt-BR" sz="32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746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8EA3-028A-3523-A387-FADC8AC7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B3131E2-7F8D-4544-9420-C8BECE38C4D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701728" y="947848"/>
            <a:ext cx="7869278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Situação</a:t>
            </a:r>
          </a:p>
        </p:txBody>
      </p:sp>
      <p:sp>
        <p:nvSpPr>
          <p:cNvPr id="12" name="Google Shape;675;p19">
            <a:extLst>
              <a:ext uri="{FF2B5EF4-FFF2-40B4-BE49-F238E27FC236}">
                <a16:creationId xmlns:a16="http://schemas.microsoft.com/office/drawing/2014/main" id="{477F85F4-BA96-B87A-9B32-15DC6DC1425C}"/>
              </a:ext>
            </a:extLst>
          </p:cNvPr>
          <p:cNvSpPr txBox="1"/>
          <p:nvPr/>
        </p:nvSpPr>
        <p:spPr>
          <a:xfrm>
            <a:off x="620994" y="663544"/>
            <a:ext cx="1742531" cy="92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4400"/>
            </a:pPr>
            <a:r>
              <a:rPr lang="pt-BR" sz="2333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 Light" pitchFamily="2" charset="77"/>
                <a:sym typeface="Poppins"/>
              </a:rPr>
              <a:t>Ser </a:t>
            </a:r>
            <a:endParaRPr sz="2333">
              <a:latin typeface="Poppins" panose="00000500000000000000" pitchFamily="2" charset="0"/>
              <a:cs typeface="Poppins Light" pitchFamily="2" charset="77"/>
            </a:endParaRPr>
          </a:p>
          <a:p>
            <a:pPr>
              <a:buSzPts val="4400"/>
            </a:pPr>
            <a:r>
              <a:rPr lang="pt-BR" sz="2333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sempre +</a:t>
            </a:r>
            <a:endParaRPr sz="2333">
              <a:latin typeface="Poppins" panose="00000500000000000000" pitchFamily="2" charset="0"/>
            </a:endParaRPr>
          </a:p>
          <a:p>
            <a:pPr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" name="Espaço Reservado para Texto 18">
            <a:extLst>
              <a:ext uri="{FF2B5EF4-FFF2-40B4-BE49-F238E27FC236}">
                <a16:creationId xmlns:a16="http://schemas.microsoft.com/office/drawing/2014/main" id="{ED460CE9-DBB3-7029-BD10-667BE42531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701728" y="2027036"/>
            <a:ext cx="7777838" cy="25545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4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600" dirty="0">
                <a:latin typeface="Poppins" panose="00000500000000000000" pitchFamily="2" charset="0"/>
              </a:rPr>
              <a:t>Durante uma atividade em grupo, vocês precisam apresentar os resultados de uma pesquisa para a turma. </a:t>
            </a:r>
          </a:p>
          <a:p>
            <a:pPr lvl="0"/>
            <a:endParaRPr lang="pt-BR" sz="1600" dirty="0">
              <a:latin typeface="Poppins" panose="00000500000000000000" pitchFamily="2" charset="0"/>
            </a:endParaRPr>
          </a:p>
          <a:p>
            <a:pPr lvl="0"/>
            <a:r>
              <a:rPr lang="pt-BR" sz="1600" dirty="0">
                <a:latin typeface="Poppins" panose="00000500000000000000" pitchFamily="2" charset="0"/>
              </a:rPr>
              <a:t>Cada integrante tem uma ideia diferente sobre como mostrar as informações: alguns preferem usar imagens, outros gráficos, e há quem queira apenas explicar oralmente. </a:t>
            </a:r>
          </a:p>
          <a:p>
            <a:pPr lvl="0"/>
            <a:endParaRPr lang="pt-BR" sz="1600" dirty="0">
              <a:latin typeface="Poppins" panose="00000500000000000000" pitchFamily="2" charset="0"/>
            </a:endParaRPr>
          </a:p>
          <a:p>
            <a:pPr lvl="0"/>
            <a:r>
              <a:rPr lang="pt-BR" sz="1600" dirty="0">
                <a:latin typeface="Poppins" panose="00000500000000000000" pitchFamily="2" charset="0"/>
              </a:rPr>
              <a:t>As opiniões divergem, e o grupo precisa decidir a melhor forma de apresentar suas ideias de modo que todos os integrantes se sintam ouvidos e a mensagem fique clara para o público.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D65195B-15D9-518B-0A87-4C873F5737C1}"/>
              </a:ext>
            </a:extLst>
          </p:cNvPr>
          <p:cNvGrpSpPr/>
          <p:nvPr/>
        </p:nvGrpSpPr>
        <p:grpSpPr>
          <a:xfrm>
            <a:off x="8506838" y="81496"/>
            <a:ext cx="3596668" cy="728133"/>
            <a:chOff x="4267346" y="2630138"/>
            <a:chExt cx="3596668" cy="72813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AF51DED-8587-D03C-6F41-04DFBB06C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7346" y="2630138"/>
              <a:ext cx="3496733" cy="728133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F1E8B97-5C39-922E-505B-C1AFF770A3E4}"/>
                </a:ext>
              </a:extLst>
            </p:cNvPr>
            <p:cNvSpPr txBox="1"/>
            <p:nvPr/>
          </p:nvSpPr>
          <p:spPr>
            <a:xfrm>
              <a:off x="5342001" y="2874687"/>
              <a:ext cx="2522013" cy="208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l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TODO MUNDO ESCREVE</a:t>
              </a:r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8DCD601-0EA9-81F4-ADBB-00CFEC71F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80594" y="2711946"/>
              <a:ext cx="558800" cy="558800"/>
            </a:xfrm>
            <a:prstGeom prst="rect">
              <a:avLst/>
            </a:prstGeom>
          </p:spPr>
        </p:pic>
      </p:grp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9D03F95-B329-9ECE-18FB-B3016D6DAEB8}"/>
              </a:ext>
            </a:extLst>
          </p:cNvPr>
          <p:cNvSpPr txBox="1">
            <a:spLocks/>
          </p:cNvSpPr>
          <p:nvPr/>
        </p:nvSpPr>
        <p:spPr>
          <a:xfrm>
            <a:off x="4203266" y="5314585"/>
            <a:ext cx="1681782" cy="29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pt-BR" sz="11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Duplas</a:t>
            </a:r>
            <a:endParaRPr lang="pt-BR" sz="1100" b="1" noProof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74E50FB5-F78D-5959-391C-7A9C0EF51122}"/>
              </a:ext>
            </a:extLst>
          </p:cNvPr>
          <p:cNvSpPr txBox="1">
            <a:spLocks/>
          </p:cNvSpPr>
          <p:nvPr/>
        </p:nvSpPr>
        <p:spPr>
          <a:xfrm>
            <a:off x="4203266" y="5700092"/>
            <a:ext cx="1681782" cy="29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pt-BR" sz="11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17 minutos</a:t>
            </a:r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5FE04CD2-B19B-6D5A-6CA0-C8440D574D0B}"/>
              </a:ext>
            </a:extLst>
          </p:cNvPr>
          <p:cNvSpPr txBox="1">
            <a:spLocks/>
          </p:cNvSpPr>
          <p:nvPr/>
        </p:nvSpPr>
        <p:spPr>
          <a:xfrm>
            <a:off x="4203266" y="6092473"/>
            <a:ext cx="1512779" cy="26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Durante a aula</a:t>
            </a:r>
          </a:p>
        </p:txBody>
      </p:sp>
      <p:grpSp>
        <p:nvGrpSpPr>
          <p:cNvPr id="34" name="Google Shape;474;p35">
            <a:extLst>
              <a:ext uri="{FF2B5EF4-FFF2-40B4-BE49-F238E27FC236}">
                <a16:creationId xmlns:a16="http://schemas.microsoft.com/office/drawing/2014/main" id="{20AC25EE-6F9E-4184-B120-B5F033A555A2}"/>
              </a:ext>
            </a:extLst>
          </p:cNvPr>
          <p:cNvGrpSpPr/>
          <p:nvPr/>
        </p:nvGrpSpPr>
        <p:grpSpPr>
          <a:xfrm>
            <a:off x="3816534" y="6055449"/>
            <a:ext cx="284745" cy="286039"/>
            <a:chOff x="11797069" y="2783619"/>
            <a:chExt cx="427118" cy="429059"/>
          </a:xfrm>
          <a:noFill/>
        </p:grpSpPr>
        <p:sp>
          <p:nvSpPr>
            <p:cNvPr id="35" name="Google Shape;475;p35">
              <a:extLst>
                <a:ext uri="{FF2B5EF4-FFF2-40B4-BE49-F238E27FC236}">
                  <a16:creationId xmlns:a16="http://schemas.microsoft.com/office/drawing/2014/main" id="{FF8FB0D2-027A-4507-93A0-993326CDE580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476;p35">
              <a:extLst>
                <a:ext uri="{FF2B5EF4-FFF2-40B4-BE49-F238E27FC236}">
                  <a16:creationId xmlns:a16="http://schemas.microsoft.com/office/drawing/2014/main" id="{07B2C2FA-FE44-4086-8811-E02F1F30C3F4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477;p35">
              <a:extLst>
                <a:ext uri="{FF2B5EF4-FFF2-40B4-BE49-F238E27FC236}">
                  <a16:creationId xmlns:a16="http://schemas.microsoft.com/office/drawing/2014/main" id="{1F42CECC-B8EF-457D-AA02-60464B97A9CB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478;p35">
              <a:extLst>
                <a:ext uri="{FF2B5EF4-FFF2-40B4-BE49-F238E27FC236}">
                  <a16:creationId xmlns:a16="http://schemas.microsoft.com/office/drawing/2014/main" id="{024803F0-01A6-4694-940E-C68E436A54B9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" name="Google Shape;479;p35">
              <a:extLst>
                <a:ext uri="{FF2B5EF4-FFF2-40B4-BE49-F238E27FC236}">
                  <a16:creationId xmlns:a16="http://schemas.microsoft.com/office/drawing/2014/main" id="{C426839E-0810-4098-BC55-E47242CFDF51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40" name="Google Shape;480;p35">
                <a:extLst>
                  <a:ext uri="{FF2B5EF4-FFF2-40B4-BE49-F238E27FC236}">
                    <a16:creationId xmlns:a16="http://schemas.microsoft.com/office/drawing/2014/main" id="{16F08F2D-D850-4B1E-8BBF-D98751D822A3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81;p35">
                <a:extLst>
                  <a:ext uri="{FF2B5EF4-FFF2-40B4-BE49-F238E27FC236}">
                    <a16:creationId xmlns:a16="http://schemas.microsoft.com/office/drawing/2014/main" id="{A1FF7138-0EA0-4353-ABA6-6E798452B828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82;p35">
                <a:extLst>
                  <a:ext uri="{FF2B5EF4-FFF2-40B4-BE49-F238E27FC236}">
                    <a16:creationId xmlns:a16="http://schemas.microsoft.com/office/drawing/2014/main" id="{AB42A4FF-C594-43BB-A32C-D599C9FF1AC4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83;p35">
                <a:extLst>
                  <a:ext uri="{FF2B5EF4-FFF2-40B4-BE49-F238E27FC236}">
                    <a16:creationId xmlns:a16="http://schemas.microsoft.com/office/drawing/2014/main" id="{4E1675BC-A776-4245-AF67-B5279BE647D4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84;p35">
                <a:extLst>
                  <a:ext uri="{FF2B5EF4-FFF2-40B4-BE49-F238E27FC236}">
                    <a16:creationId xmlns:a16="http://schemas.microsoft.com/office/drawing/2014/main" id="{567F01C3-1EF9-4BD4-A439-DC8245D0533C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85;p35">
                <a:extLst>
                  <a:ext uri="{FF2B5EF4-FFF2-40B4-BE49-F238E27FC236}">
                    <a16:creationId xmlns:a16="http://schemas.microsoft.com/office/drawing/2014/main" id="{F95E720A-1EB7-4A49-8AC2-7F06AEC52B5F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86;p35">
                <a:extLst>
                  <a:ext uri="{FF2B5EF4-FFF2-40B4-BE49-F238E27FC236}">
                    <a16:creationId xmlns:a16="http://schemas.microsoft.com/office/drawing/2014/main" id="{86188C05-A675-4EAD-959A-785237C5A69C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87;p35">
                <a:extLst>
                  <a:ext uri="{FF2B5EF4-FFF2-40B4-BE49-F238E27FC236}">
                    <a16:creationId xmlns:a16="http://schemas.microsoft.com/office/drawing/2014/main" id="{3A0FE020-30FC-4F5D-874F-38900FFC189D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8;p35">
                <a:extLst>
                  <a:ext uri="{FF2B5EF4-FFF2-40B4-BE49-F238E27FC236}">
                    <a16:creationId xmlns:a16="http://schemas.microsoft.com/office/drawing/2014/main" id="{1098536E-8090-41A4-933E-EE2A72BD4559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89;p35">
                <a:extLst>
                  <a:ext uri="{FF2B5EF4-FFF2-40B4-BE49-F238E27FC236}">
                    <a16:creationId xmlns:a16="http://schemas.microsoft.com/office/drawing/2014/main" id="{20C16498-DA5E-45E6-81B8-952D574ED752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" name="Google Shape;490;p35">
            <a:extLst>
              <a:ext uri="{FF2B5EF4-FFF2-40B4-BE49-F238E27FC236}">
                <a16:creationId xmlns:a16="http://schemas.microsoft.com/office/drawing/2014/main" id="{0B2614FE-0970-490C-A3A7-C47321409205}"/>
              </a:ext>
            </a:extLst>
          </p:cNvPr>
          <p:cNvGrpSpPr/>
          <p:nvPr/>
        </p:nvGrpSpPr>
        <p:grpSpPr>
          <a:xfrm>
            <a:off x="3806587" y="5191163"/>
            <a:ext cx="304639" cy="301465"/>
            <a:chOff x="6941066" y="2777637"/>
            <a:chExt cx="456958" cy="452197"/>
          </a:xfrm>
          <a:noFill/>
        </p:grpSpPr>
        <p:grpSp>
          <p:nvGrpSpPr>
            <p:cNvPr id="51" name="Google Shape;491;p35">
              <a:extLst>
                <a:ext uri="{FF2B5EF4-FFF2-40B4-BE49-F238E27FC236}">
                  <a16:creationId xmlns:a16="http://schemas.microsoft.com/office/drawing/2014/main" id="{1EA46D0A-0C14-4EB0-8A69-80E686716C48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62" name="Google Shape;492;p35">
                <a:extLst>
                  <a:ext uri="{FF2B5EF4-FFF2-40B4-BE49-F238E27FC236}">
                    <a16:creationId xmlns:a16="http://schemas.microsoft.com/office/drawing/2014/main" id="{456CECFD-0B2E-49A4-8F53-E27FC29ADDC1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493;p35">
                <a:extLst>
                  <a:ext uri="{FF2B5EF4-FFF2-40B4-BE49-F238E27FC236}">
                    <a16:creationId xmlns:a16="http://schemas.microsoft.com/office/drawing/2014/main" id="{C82A8560-F9BE-4F1C-BC02-DE6D9891EADF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" name="Google Shape;494;p35">
              <a:extLst>
                <a:ext uri="{FF2B5EF4-FFF2-40B4-BE49-F238E27FC236}">
                  <a16:creationId xmlns:a16="http://schemas.microsoft.com/office/drawing/2014/main" id="{A7EB7F3C-4429-40D0-949F-FB48254C6AF4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60" name="Google Shape;495;p35">
                <a:extLst>
                  <a:ext uri="{FF2B5EF4-FFF2-40B4-BE49-F238E27FC236}">
                    <a16:creationId xmlns:a16="http://schemas.microsoft.com/office/drawing/2014/main" id="{F5E9CB14-9FB0-4EFC-BA95-6D2BE11F1E7D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496;p35">
                <a:extLst>
                  <a:ext uri="{FF2B5EF4-FFF2-40B4-BE49-F238E27FC236}">
                    <a16:creationId xmlns:a16="http://schemas.microsoft.com/office/drawing/2014/main" id="{4251806E-84FA-4389-A81A-E80D4B53E61E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" name="Google Shape;497;p35">
              <a:extLst>
                <a:ext uri="{FF2B5EF4-FFF2-40B4-BE49-F238E27FC236}">
                  <a16:creationId xmlns:a16="http://schemas.microsoft.com/office/drawing/2014/main" id="{2CFCA09A-F409-4BEB-B49A-05BC4F939E7E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57" name="Google Shape;498;p35">
                <a:extLst>
                  <a:ext uri="{FF2B5EF4-FFF2-40B4-BE49-F238E27FC236}">
                    <a16:creationId xmlns:a16="http://schemas.microsoft.com/office/drawing/2014/main" id="{1E819709-C46D-411A-8FB7-FA8359242F8C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499;p35">
                <a:extLst>
                  <a:ext uri="{FF2B5EF4-FFF2-40B4-BE49-F238E27FC236}">
                    <a16:creationId xmlns:a16="http://schemas.microsoft.com/office/drawing/2014/main" id="{E1CF0741-B142-4269-99A9-DCA562986EE2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00;p35">
                <a:extLst>
                  <a:ext uri="{FF2B5EF4-FFF2-40B4-BE49-F238E27FC236}">
                    <a16:creationId xmlns:a16="http://schemas.microsoft.com/office/drawing/2014/main" id="{47F4020A-599A-42E6-93C0-86DA49D14298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" name="Google Shape;501;p35">
              <a:extLst>
                <a:ext uri="{FF2B5EF4-FFF2-40B4-BE49-F238E27FC236}">
                  <a16:creationId xmlns:a16="http://schemas.microsoft.com/office/drawing/2014/main" id="{C3682AA1-3945-4B02-9EAC-7E72459F330C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55" name="Google Shape;502;p35">
                <a:extLst>
                  <a:ext uri="{FF2B5EF4-FFF2-40B4-BE49-F238E27FC236}">
                    <a16:creationId xmlns:a16="http://schemas.microsoft.com/office/drawing/2014/main" id="{7E01BADD-20D6-488B-B556-8D2AA4E0C035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03;p35">
                <a:extLst>
                  <a:ext uri="{FF2B5EF4-FFF2-40B4-BE49-F238E27FC236}">
                    <a16:creationId xmlns:a16="http://schemas.microsoft.com/office/drawing/2014/main" id="{6618238B-9CA6-47A1-A5B8-F01918AB5E3B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64" name="Google Shape;578;p38">
            <a:extLst>
              <a:ext uri="{FF2B5EF4-FFF2-40B4-BE49-F238E27FC236}">
                <a16:creationId xmlns:a16="http://schemas.microsoft.com/office/drawing/2014/main" id="{0BAED8B8-F837-4A44-921C-9788ABC715C8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3796313" y="5609725"/>
            <a:ext cx="325187" cy="325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6638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610;p16">
            <a:extLst>
              <a:ext uri="{FF2B5EF4-FFF2-40B4-BE49-F238E27FC236}">
                <a16:creationId xmlns:a16="http://schemas.microsoft.com/office/drawing/2014/main" id="{4A6F9AA2-4570-0467-E6E3-F51487DC7FF3}"/>
              </a:ext>
            </a:extLst>
          </p:cNvPr>
          <p:cNvSpPr/>
          <p:nvPr/>
        </p:nvSpPr>
        <p:spPr>
          <a:xfrm rot="10800000" flipH="1">
            <a:off x="4104495" y="2727636"/>
            <a:ext cx="7466511" cy="2223220"/>
          </a:xfrm>
          <a:prstGeom prst="foldedCorner">
            <a:avLst>
              <a:gd name="adj" fmla="val 16667"/>
            </a:avLst>
          </a:pr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FBC48D-8334-39FB-347C-6BDB53E3F754}"/>
              </a:ext>
            </a:extLst>
          </p:cNvPr>
          <p:cNvSpPr txBox="1"/>
          <p:nvPr/>
        </p:nvSpPr>
        <p:spPr>
          <a:xfrm>
            <a:off x="12921129" y="389665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7" name="Google Shape;675;p19">
            <a:extLst>
              <a:ext uri="{FF2B5EF4-FFF2-40B4-BE49-F238E27FC236}">
                <a16:creationId xmlns:a16="http://schemas.microsoft.com/office/drawing/2014/main" id="{88B8F3B9-1846-6948-10F8-CA41A43EFABD}"/>
              </a:ext>
            </a:extLst>
          </p:cNvPr>
          <p:cNvSpPr txBox="1"/>
          <p:nvPr/>
        </p:nvSpPr>
        <p:spPr>
          <a:xfrm>
            <a:off x="620994" y="663544"/>
            <a:ext cx="1742531" cy="92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4400"/>
            </a:pPr>
            <a:r>
              <a:rPr lang="pt-BR" sz="2333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 Light" pitchFamily="2" charset="77"/>
                <a:sym typeface="Poppins"/>
              </a:rPr>
              <a:t>Ser </a:t>
            </a:r>
            <a:endParaRPr sz="2333" dirty="0">
              <a:latin typeface="Poppins" panose="00000500000000000000" pitchFamily="2" charset="0"/>
              <a:cs typeface="Poppins Light" pitchFamily="2" charset="77"/>
            </a:endParaRPr>
          </a:p>
          <a:p>
            <a:pPr>
              <a:buSzPts val="4400"/>
            </a:pPr>
            <a:r>
              <a:rPr lang="pt-BR" sz="2333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sempre +</a:t>
            </a:r>
            <a:endParaRPr sz="2333" dirty="0">
              <a:latin typeface="Poppins" panose="00000500000000000000" pitchFamily="2" charset="0"/>
            </a:endParaRPr>
          </a:p>
          <a:p>
            <a:pPr>
              <a:buSzPts val="1400"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8" name="Triângulo 7">
            <a:extLst>
              <a:ext uri="{FF2B5EF4-FFF2-40B4-BE49-F238E27FC236}">
                <a16:creationId xmlns:a16="http://schemas.microsoft.com/office/drawing/2014/main" id="{6C12A622-2BCB-A1B5-F5C7-ECD8691798F4}"/>
              </a:ext>
            </a:extLst>
          </p:cNvPr>
          <p:cNvSpPr/>
          <p:nvPr/>
        </p:nvSpPr>
        <p:spPr>
          <a:xfrm rot="5400000">
            <a:off x="3779470" y="1897755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8B3DFE96-188B-6179-4BAB-5FD15ECB986E}"/>
              </a:ext>
            </a:extLst>
          </p:cNvPr>
          <p:cNvSpPr txBox="1">
            <a:spLocks/>
          </p:cNvSpPr>
          <p:nvPr/>
        </p:nvSpPr>
        <p:spPr>
          <a:xfrm>
            <a:off x="3701728" y="937215"/>
            <a:ext cx="7869278" cy="584775"/>
          </a:xfrm>
          <a:prstGeom prst="rect">
            <a:avLst/>
          </a:prstGeom>
        </p:spPr>
        <p:txBody>
          <a:bodyPr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Ação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9375DC9-DFC4-AC86-14DE-9E903ED28081}"/>
              </a:ext>
            </a:extLst>
          </p:cNvPr>
          <p:cNvGrpSpPr/>
          <p:nvPr/>
        </p:nvGrpSpPr>
        <p:grpSpPr>
          <a:xfrm>
            <a:off x="8506838" y="81496"/>
            <a:ext cx="3596668" cy="728133"/>
            <a:chOff x="4267346" y="2630138"/>
            <a:chExt cx="3596668" cy="728133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2AD9F7E0-CCCD-7160-91E7-7833ABCFB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7346" y="2630138"/>
              <a:ext cx="3496733" cy="728133"/>
            </a:xfrm>
            <a:prstGeom prst="rect">
              <a:avLst/>
            </a:prstGeom>
          </p:spPr>
        </p:pic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9416B03B-7BD9-459F-6BFB-38AEF0FC8AAA}"/>
                </a:ext>
              </a:extLst>
            </p:cNvPr>
            <p:cNvSpPr txBox="1"/>
            <p:nvPr/>
          </p:nvSpPr>
          <p:spPr>
            <a:xfrm>
              <a:off x="5342001" y="2874687"/>
              <a:ext cx="2522013" cy="208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l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TODO MUNDO ESCREVE</a:t>
              </a: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17F182E0-D304-FCE0-2637-53DC099A5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0594" y="2711946"/>
              <a:ext cx="558800" cy="558800"/>
            </a:xfrm>
            <a:prstGeom prst="rect">
              <a:avLst/>
            </a:prstGeom>
          </p:spPr>
        </p:pic>
      </p:grpSp>
      <p:sp>
        <p:nvSpPr>
          <p:cNvPr id="19" name="Espaço Reservado para Texto 4">
            <a:extLst>
              <a:ext uri="{FF2B5EF4-FFF2-40B4-BE49-F238E27FC236}">
                <a16:creationId xmlns:a16="http://schemas.microsoft.com/office/drawing/2014/main" id="{BDD67A73-A728-7EE8-1522-154D4D0D6B14}"/>
              </a:ext>
            </a:extLst>
          </p:cNvPr>
          <p:cNvSpPr txBox="1">
            <a:spLocks/>
          </p:cNvSpPr>
          <p:nvPr/>
        </p:nvSpPr>
        <p:spPr>
          <a:xfrm>
            <a:off x="4104495" y="1821704"/>
            <a:ext cx="7466511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000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latin typeface="Poppins" panose="00000500000000000000" pitchFamily="2" charset="0"/>
              </a:rPr>
              <a:t>Criem um mapa mental que mostre como o grupo pode lidar com opiniões diferentes e experimentar novas formas de apresentar ideias, sem medo de errar.</a:t>
            </a:r>
          </a:p>
        </p:txBody>
      </p:sp>
      <p:sp>
        <p:nvSpPr>
          <p:cNvPr id="39" name="Espaço Reservado para Texto 4">
            <a:extLst>
              <a:ext uri="{FF2B5EF4-FFF2-40B4-BE49-F238E27FC236}">
                <a16:creationId xmlns:a16="http://schemas.microsoft.com/office/drawing/2014/main" id="{7E33C5CB-A758-C335-BE3D-BBFE32D6D7A3}"/>
              </a:ext>
            </a:extLst>
          </p:cNvPr>
          <p:cNvSpPr txBox="1">
            <a:spLocks/>
          </p:cNvSpPr>
          <p:nvPr/>
        </p:nvSpPr>
        <p:spPr>
          <a:xfrm>
            <a:off x="4203266" y="2888851"/>
            <a:ext cx="6992819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000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pt-BR" sz="1500" dirty="0">
                <a:latin typeface="Poppins" panose="00000500000000000000" pitchFamily="2" charset="0"/>
              </a:rPr>
              <a:t>No centro, escrevam o tema: “Decisões em grupo e criatividade nas apresentações”.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500" dirty="0">
                <a:latin typeface="Poppins" panose="00000500000000000000" pitchFamily="2" charset="0"/>
              </a:rPr>
              <a:t>Criem ramificações com:</a:t>
            </a:r>
          </a:p>
          <a:p>
            <a:pPr marL="627063" indent="-285750">
              <a:buFont typeface="Arial" panose="020B0604020202020204" pitchFamily="34" charset="0"/>
              <a:buChar char="•"/>
            </a:pPr>
            <a:r>
              <a:rPr lang="pt-BR" sz="1500" dirty="0">
                <a:latin typeface="Poppins" panose="00000500000000000000" pitchFamily="2" charset="0"/>
              </a:rPr>
              <a:t>estratégias para ouvir e incluir diferentes opiniões;</a:t>
            </a:r>
          </a:p>
          <a:p>
            <a:pPr marL="627063" indent="-285750">
              <a:buFont typeface="Arial" panose="020B0604020202020204" pitchFamily="34" charset="0"/>
              <a:buChar char="•"/>
            </a:pPr>
            <a:r>
              <a:rPr lang="pt-BR" sz="1500" dirty="0">
                <a:latin typeface="Poppins" panose="00000500000000000000" pitchFamily="2" charset="0"/>
              </a:rPr>
              <a:t>ideias criativas para apresentação (imagens, gráficos, dramatização etc.);</a:t>
            </a:r>
          </a:p>
          <a:p>
            <a:pPr marL="627063" indent="-285750">
              <a:buFont typeface="Arial" panose="020B0604020202020204" pitchFamily="34" charset="0"/>
              <a:buChar char="•"/>
            </a:pPr>
            <a:r>
              <a:rPr lang="pt-BR" sz="1500" dirty="0">
                <a:latin typeface="Poppins" panose="00000500000000000000" pitchFamily="2" charset="0"/>
              </a:rPr>
              <a:t>formas de testar novas ideias sem medo de errar;</a:t>
            </a:r>
          </a:p>
          <a:p>
            <a:pPr marL="627063" indent="-285750">
              <a:buFont typeface="Arial" panose="020B0604020202020204" pitchFamily="34" charset="0"/>
              <a:buChar char="•"/>
            </a:pPr>
            <a:r>
              <a:rPr lang="pt-BR" sz="1500" dirty="0">
                <a:latin typeface="Poppins" panose="00000500000000000000" pitchFamily="2" charset="0"/>
              </a:rPr>
              <a:t>benefícios de combinar diferentes formatos.</a:t>
            </a:r>
          </a:p>
        </p:txBody>
      </p:sp>
      <p:sp>
        <p:nvSpPr>
          <p:cNvPr id="40" name="Espaço Reservado para Texto 3">
            <a:extLst>
              <a:ext uri="{FF2B5EF4-FFF2-40B4-BE49-F238E27FC236}">
                <a16:creationId xmlns:a16="http://schemas.microsoft.com/office/drawing/2014/main" id="{80D420A1-6700-4878-8BFA-B41F36AD5001}"/>
              </a:ext>
            </a:extLst>
          </p:cNvPr>
          <p:cNvSpPr txBox="1">
            <a:spLocks/>
          </p:cNvSpPr>
          <p:nvPr/>
        </p:nvSpPr>
        <p:spPr>
          <a:xfrm>
            <a:off x="4203266" y="5314585"/>
            <a:ext cx="1681782" cy="29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pt-BR" sz="11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Duplas</a:t>
            </a:r>
            <a:endParaRPr lang="pt-BR" sz="1100" b="1" noProof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Espaço Reservado para Texto 3">
            <a:extLst>
              <a:ext uri="{FF2B5EF4-FFF2-40B4-BE49-F238E27FC236}">
                <a16:creationId xmlns:a16="http://schemas.microsoft.com/office/drawing/2014/main" id="{E501D5E1-8F8E-4C42-87A2-8906E487D158}"/>
              </a:ext>
            </a:extLst>
          </p:cNvPr>
          <p:cNvSpPr txBox="1">
            <a:spLocks/>
          </p:cNvSpPr>
          <p:nvPr/>
        </p:nvSpPr>
        <p:spPr>
          <a:xfrm>
            <a:off x="4203266" y="5700092"/>
            <a:ext cx="1681782" cy="29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pt-BR" sz="11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17 minutos</a:t>
            </a:r>
          </a:p>
        </p:txBody>
      </p:sp>
      <p:sp>
        <p:nvSpPr>
          <p:cNvPr id="43" name="Espaço Reservado para Texto 3">
            <a:extLst>
              <a:ext uri="{FF2B5EF4-FFF2-40B4-BE49-F238E27FC236}">
                <a16:creationId xmlns:a16="http://schemas.microsoft.com/office/drawing/2014/main" id="{515ED6BD-A4FB-400C-8713-0D13FB5E1D4E}"/>
              </a:ext>
            </a:extLst>
          </p:cNvPr>
          <p:cNvSpPr txBox="1">
            <a:spLocks/>
          </p:cNvSpPr>
          <p:nvPr/>
        </p:nvSpPr>
        <p:spPr>
          <a:xfrm>
            <a:off x="4203266" y="6092473"/>
            <a:ext cx="1512779" cy="26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Durante a aula</a:t>
            </a:r>
          </a:p>
        </p:txBody>
      </p:sp>
      <p:grpSp>
        <p:nvGrpSpPr>
          <p:cNvPr id="44" name="Google Shape;474;p35">
            <a:extLst>
              <a:ext uri="{FF2B5EF4-FFF2-40B4-BE49-F238E27FC236}">
                <a16:creationId xmlns:a16="http://schemas.microsoft.com/office/drawing/2014/main" id="{C59926D1-30C8-487C-A0B1-9288FC58282B}"/>
              </a:ext>
            </a:extLst>
          </p:cNvPr>
          <p:cNvGrpSpPr/>
          <p:nvPr/>
        </p:nvGrpSpPr>
        <p:grpSpPr>
          <a:xfrm>
            <a:off x="3816534" y="6055449"/>
            <a:ext cx="284745" cy="286039"/>
            <a:chOff x="11797069" y="2783619"/>
            <a:chExt cx="427118" cy="429059"/>
          </a:xfrm>
          <a:noFill/>
        </p:grpSpPr>
        <p:sp>
          <p:nvSpPr>
            <p:cNvPr id="45" name="Google Shape;475;p35">
              <a:extLst>
                <a:ext uri="{FF2B5EF4-FFF2-40B4-BE49-F238E27FC236}">
                  <a16:creationId xmlns:a16="http://schemas.microsoft.com/office/drawing/2014/main" id="{C3567EAD-3FBC-4C90-A0D5-317FEC8516D0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76;p35">
              <a:extLst>
                <a:ext uri="{FF2B5EF4-FFF2-40B4-BE49-F238E27FC236}">
                  <a16:creationId xmlns:a16="http://schemas.microsoft.com/office/drawing/2014/main" id="{69516240-5643-4FFB-80B5-617F11B1CE48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7;p35">
              <a:extLst>
                <a:ext uri="{FF2B5EF4-FFF2-40B4-BE49-F238E27FC236}">
                  <a16:creationId xmlns:a16="http://schemas.microsoft.com/office/drawing/2014/main" id="{60A8848D-DF06-44B4-85C3-99ACACBEC7BA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78;p35">
              <a:extLst>
                <a:ext uri="{FF2B5EF4-FFF2-40B4-BE49-F238E27FC236}">
                  <a16:creationId xmlns:a16="http://schemas.microsoft.com/office/drawing/2014/main" id="{84ED55A9-8DB9-4E46-A3FA-2F7AFEA9AE93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79;p35">
              <a:extLst>
                <a:ext uri="{FF2B5EF4-FFF2-40B4-BE49-F238E27FC236}">
                  <a16:creationId xmlns:a16="http://schemas.microsoft.com/office/drawing/2014/main" id="{5988B5E2-C85C-43AB-B344-26A514F85A33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50" name="Google Shape;480;p35">
                <a:extLst>
                  <a:ext uri="{FF2B5EF4-FFF2-40B4-BE49-F238E27FC236}">
                    <a16:creationId xmlns:a16="http://schemas.microsoft.com/office/drawing/2014/main" id="{46D46AB3-1691-404F-BC8C-5C3A7BD2025E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481;p35">
                <a:extLst>
                  <a:ext uri="{FF2B5EF4-FFF2-40B4-BE49-F238E27FC236}">
                    <a16:creationId xmlns:a16="http://schemas.microsoft.com/office/drawing/2014/main" id="{5EF3EB5E-073F-484E-838B-7C31F132B772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482;p35">
                <a:extLst>
                  <a:ext uri="{FF2B5EF4-FFF2-40B4-BE49-F238E27FC236}">
                    <a16:creationId xmlns:a16="http://schemas.microsoft.com/office/drawing/2014/main" id="{E4E20F54-194E-4A6F-A82B-CE10F6AF12BD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483;p35">
                <a:extLst>
                  <a:ext uri="{FF2B5EF4-FFF2-40B4-BE49-F238E27FC236}">
                    <a16:creationId xmlns:a16="http://schemas.microsoft.com/office/drawing/2014/main" id="{DC00AB20-62A4-49F9-B232-F8B29E5B46AC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484;p35">
                <a:extLst>
                  <a:ext uri="{FF2B5EF4-FFF2-40B4-BE49-F238E27FC236}">
                    <a16:creationId xmlns:a16="http://schemas.microsoft.com/office/drawing/2014/main" id="{82C741C1-57AF-471D-93CB-36AA21D26493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485;p35">
                <a:extLst>
                  <a:ext uri="{FF2B5EF4-FFF2-40B4-BE49-F238E27FC236}">
                    <a16:creationId xmlns:a16="http://schemas.microsoft.com/office/drawing/2014/main" id="{C29DF3E2-C34C-4989-8F14-E3373C2B4801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486;p35">
                <a:extLst>
                  <a:ext uri="{FF2B5EF4-FFF2-40B4-BE49-F238E27FC236}">
                    <a16:creationId xmlns:a16="http://schemas.microsoft.com/office/drawing/2014/main" id="{ECBF596C-DC24-4F0C-838B-E4A7C9DCD9BD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487;p35">
                <a:extLst>
                  <a:ext uri="{FF2B5EF4-FFF2-40B4-BE49-F238E27FC236}">
                    <a16:creationId xmlns:a16="http://schemas.microsoft.com/office/drawing/2014/main" id="{BBDF5BEE-368F-4CC9-8C55-95CECF154783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488;p35">
                <a:extLst>
                  <a:ext uri="{FF2B5EF4-FFF2-40B4-BE49-F238E27FC236}">
                    <a16:creationId xmlns:a16="http://schemas.microsoft.com/office/drawing/2014/main" id="{1D6C3829-17FA-4A2A-87FE-4929C70C2D5A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489;p35">
                <a:extLst>
                  <a:ext uri="{FF2B5EF4-FFF2-40B4-BE49-F238E27FC236}">
                    <a16:creationId xmlns:a16="http://schemas.microsoft.com/office/drawing/2014/main" id="{3BD66831-EB08-43F1-A5FD-12B94E6693E4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" name="Google Shape;490;p35">
            <a:extLst>
              <a:ext uri="{FF2B5EF4-FFF2-40B4-BE49-F238E27FC236}">
                <a16:creationId xmlns:a16="http://schemas.microsoft.com/office/drawing/2014/main" id="{3EB39C9A-6C87-4CD1-89B7-71143224BE6C}"/>
              </a:ext>
            </a:extLst>
          </p:cNvPr>
          <p:cNvGrpSpPr/>
          <p:nvPr/>
        </p:nvGrpSpPr>
        <p:grpSpPr>
          <a:xfrm>
            <a:off x="3806587" y="5191163"/>
            <a:ext cx="304639" cy="301465"/>
            <a:chOff x="6941066" y="2777637"/>
            <a:chExt cx="456958" cy="452197"/>
          </a:xfrm>
          <a:noFill/>
        </p:grpSpPr>
        <p:grpSp>
          <p:nvGrpSpPr>
            <p:cNvPr id="61" name="Google Shape;491;p35">
              <a:extLst>
                <a:ext uri="{FF2B5EF4-FFF2-40B4-BE49-F238E27FC236}">
                  <a16:creationId xmlns:a16="http://schemas.microsoft.com/office/drawing/2014/main" id="{220DA4EB-D301-49DE-818F-C9846CC5279E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72" name="Google Shape;492;p35">
                <a:extLst>
                  <a:ext uri="{FF2B5EF4-FFF2-40B4-BE49-F238E27FC236}">
                    <a16:creationId xmlns:a16="http://schemas.microsoft.com/office/drawing/2014/main" id="{66AAE147-5DD9-4763-859D-F58F2F6E6C4E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493;p35">
                <a:extLst>
                  <a:ext uri="{FF2B5EF4-FFF2-40B4-BE49-F238E27FC236}">
                    <a16:creationId xmlns:a16="http://schemas.microsoft.com/office/drawing/2014/main" id="{C60574FC-BD51-4BE9-90FB-615CF82901BA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" name="Google Shape;494;p35">
              <a:extLst>
                <a:ext uri="{FF2B5EF4-FFF2-40B4-BE49-F238E27FC236}">
                  <a16:creationId xmlns:a16="http://schemas.microsoft.com/office/drawing/2014/main" id="{21D548CA-4792-4E28-8ACC-60B9C33DB84E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70" name="Google Shape;495;p35">
                <a:extLst>
                  <a:ext uri="{FF2B5EF4-FFF2-40B4-BE49-F238E27FC236}">
                    <a16:creationId xmlns:a16="http://schemas.microsoft.com/office/drawing/2014/main" id="{047CE313-2652-426D-A15E-567F87893827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496;p35">
                <a:extLst>
                  <a:ext uri="{FF2B5EF4-FFF2-40B4-BE49-F238E27FC236}">
                    <a16:creationId xmlns:a16="http://schemas.microsoft.com/office/drawing/2014/main" id="{A09BDEC7-A24A-4319-9C1B-794C041EFA24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" name="Google Shape;497;p35">
              <a:extLst>
                <a:ext uri="{FF2B5EF4-FFF2-40B4-BE49-F238E27FC236}">
                  <a16:creationId xmlns:a16="http://schemas.microsoft.com/office/drawing/2014/main" id="{4F66FD58-ADA4-4A97-BC20-695AC257E1A3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67" name="Google Shape;498;p35">
                <a:extLst>
                  <a:ext uri="{FF2B5EF4-FFF2-40B4-BE49-F238E27FC236}">
                    <a16:creationId xmlns:a16="http://schemas.microsoft.com/office/drawing/2014/main" id="{A3764707-6AD8-45FB-8901-C40BF70554CE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499;p35">
                <a:extLst>
                  <a:ext uri="{FF2B5EF4-FFF2-40B4-BE49-F238E27FC236}">
                    <a16:creationId xmlns:a16="http://schemas.microsoft.com/office/drawing/2014/main" id="{7CACE2D2-4831-446C-9589-8AAB6B4E3BB3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500;p35">
                <a:extLst>
                  <a:ext uri="{FF2B5EF4-FFF2-40B4-BE49-F238E27FC236}">
                    <a16:creationId xmlns:a16="http://schemas.microsoft.com/office/drawing/2014/main" id="{C8ABB02E-0D55-45A0-A36B-DDC2D6C15FAF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501;p35">
              <a:extLst>
                <a:ext uri="{FF2B5EF4-FFF2-40B4-BE49-F238E27FC236}">
                  <a16:creationId xmlns:a16="http://schemas.microsoft.com/office/drawing/2014/main" id="{E2F3D887-2D9B-4313-8DA1-82CEBD6C6D39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65" name="Google Shape;502;p35">
                <a:extLst>
                  <a:ext uri="{FF2B5EF4-FFF2-40B4-BE49-F238E27FC236}">
                    <a16:creationId xmlns:a16="http://schemas.microsoft.com/office/drawing/2014/main" id="{01B25855-3A1E-4EA5-9E7B-7EDC3FA24F51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503;p35">
                <a:extLst>
                  <a:ext uri="{FF2B5EF4-FFF2-40B4-BE49-F238E27FC236}">
                    <a16:creationId xmlns:a16="http://schemas.microsoft.com/office/drawing/2014/main" id="{344E0D26-84D8-4D45-884B-BE4D773438B3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74" name="Google Shape;578;p38">
            <a:extLst>
              <a:ext uri="{FF2B5EF4-FFF2-40B4-BE49-F238E27FC236}">
                <a16:creationId xmlns:a16="http://schemas.microsoft.com/office/drawing/2014/main" id="{F63B569D-11BA-4214-8059-287BE90599D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3796313" y="5609725"/>
            <a:ext cx="325187" cy="325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3608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00F765D8-99DE-2A83-E736-0AFC49BC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61B4F0-12EC-E2F2-C0DD-1EBE393A91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40669" y="1499940"/>
            <a:ext cx="6699788" cy="123876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Compreendemos que diferentes tipos de gráficos servem para representar diferentes formas de informação — por exemplo, barras ou pizza para dados categóricos e linhas ou dispersão para dados contínuos.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1AB578-B64F-815F-9CC9-04A9D46F28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940668" y="3132224"/>
            <a:ext cx="6519811" cy="96176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Percebemos que gráficos simples e bem organizados facilitam a compreensão das informações e evitam confusões.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1B0984-4E19-7545-B025-4C4C1638EDB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940668" y="4430724"/>
            <a:ext cx="6929115" cy="96176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Identificamos que a escolha do gráfico deve considerar quem vai visualizar e qual mensagem se deseja transmitir, tornando a comunicação mais clara e eficiente.</a:t>
            </a:r>
          </a:p>
        </p:txBody>
      </p:sp>
      <p:sp>
        <p:nvSpPr>
          <p:cNvPr id="3" name="Google Shape;741;p22">
            <a:extLst>
              <a:ext uri="{FF2B5EF4-FFF2-40B4-BE49-F238E27FC236}">
                <a16:creationId xmlns:a16="http://schemas.microsoft.com/office/drawing/2014/main" id="{99EAAB3A-500F-3303-113F-2DE38B40643E}"/>
              </a:ext>
            </a:extLst>
          </p:cNvPr>
          <p:cNvSpPr txBox="1">
            <a:spLocks/>
          </p:cNvSpPr>
          <p:nvPr/>
        </p:nvSpPr>
        <p:spPr>
          <a:xfrm>
            <a:off x="4561609" y="734021"/>
            <a:ext cx="6972299" cy="630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  <a:buClr>
                <a:schemeClr val="dk1"/>
              </a:buClr>
              <a:buSzPts val="4500"/>
            </a:pPr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Então ficamos assim...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484926-051D-42FE-A6E0-E160E0B18B74}"/>
              </a:ext>
            </a:extLst>
          </p:cNvPr>
          <p:cNvSpPr/>
          <p:nvPr/>
        </p:nvSpPr>
        <p:spPr>
          <a:xfrm>
            <a:off x="4417017" y="1766807"/>
            <a:ext cx="433952" cy="3146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Google Shape;233;p39">
            <a:extLst>
              <a:ext uri="{FF2B5EF4-FFF2-40B4-BE49-F238E27FC236}">
                <a16:creationId xmlns:a16="http://schemas.microsoft.com/office/drawing/2014/main" id="{40B3232C-7CA8-4C6E-BE2E-A511DDBF80E1}"/>
              </a:ext>
            </a:extLst>
          </p:cNvPr>
          <p:cNvSpPr txBox="1"/>
          <p:nvPr/>
        </p:nvSpPr>
        <p:spPr>
          <a:xfrm>
            <a:off x="4603178" y="1427662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35;p39">
            <a:extLst>
              <a:ext uri="{FF2B5EF4-FFF2-40B4-BE49-F238E27FC236}">
                <a16:creationId xmlns:a16="http://schemas.microsoft.com/office/drawing/2014/main" id="{4EE044F6-1934-4F16-874B-BDDE81599261}"/>
              </a:ext>
            </a:extLst>
          </p:cNvPr>
          <p:cNvSpPr txBox="1"/>
          <p:nvPr/>
        </p:nvSpPr>
        <p:spPr>
          <a:xfrm>
            <a:off x="4574825" y="3058222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37;p39">
            <a:extLst>
              <a:ext uri="{FF2B5EF4-FFF2-40B4-BE49-F238E27FC236}">
                <a16:creationId xmlns:a16="http://schemas.microsoft.com/office/drawing/2014/main" id="{5AF47E49-967F-4272-86EB-6C8AAC87ACB7}"/>
              </a:ext>
            </a:extLst>
          </p:cNvPr>
          <p:cNvSpPr txBox="1"/>
          <p:nvPr/>
        </p:nvSpPr>
        <p:spPr>
          <a:xfrm>
            <a:off x="4574825" y="4347821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5201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1;p53">
            <a:extLst>
              <a:ext uri="{FF2B5EF4-FFF2-40B4-BE49-F238E27FC236}">
                <a16:creationId xmlns:a16="http://schemas.microsoft.com/office/drawing/2014/main" id="{622C50B5-A2EB-20D7-6B76-58DB77432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43863" y="936494"/>
            <a:ext cx="5551055" cy="3970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lvl="0" indent="0">
              <a:spcBef>
                <a:spcPts val="0"/>
              </a:spcBef>
              <a:buClr>
                <a:schemeClr val="lt1"/>
              </a:buClr>
            </a:pPr>
            <a:r>
              <a:rPr lang="pt-BR" sz="2000" b="1" dirty="0">
                <a:latin typeface="Poppins" panose="00000500000000000000" pitchFamily="2" charset="0"/>
              </a:rPr>
              <a:t>Afinal, como escolher o gráfico perfeito? </a:t>
            </a:r>
          </a:p>
          <a:p>
            <a:pPr marL="0" lv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</a:endParaRP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r>
              <a:rPr lang="pt-BR" sz="1800" dirty="0">
                <a:latin typeface="Poppins" panose="00000500000000000000" pitchFamily="2" charset="0"/>
              </a:rPr>
              <a:t>Assista ao vídeo abaixo e conheça exemplos práticos de como escolher, entre os diferentes tipos de gráficos, aquele mais adequado para comunicar seus dados de maneira clara e impactante!</a:t>
            </a:r>
          </a:p>
          <a:p>
            <a:pPr marL="0" lv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</a:endParaRPr>
          </a:p>
          <a:p>
            <a:pPr marL="285750" indent="-285750">
              <a:spcBef>
                <a:spcPts val="0"/>
              </a:spcBef>
              <a:buClr>
                <a:srgbClr val="0D0D0D"/>
              </a:buClr>
              <a:buSzPct val="110000"/>
              <a:buFont typeface="Arial" panose="020B0604020202020204" pitchFamily="34" charset="0"/>
              <a:buChar char="•"/>
            </a:pPr>
            <a:r>
              <a:rPr lang="pt-BR" sz="1800" dirty="0">
                <a:latin typeface="Poppins" panose="00000500000000000000" pitchFamily="2" charset="0"/>
                <a:cs typeface="Poppins"/>
              </a:rPr>
              <a:t>PROF. FERNANDA MACIEL. Qual tipo de gráfico escolher para apresentar os dados estatísticos? | Prof. Fernanda Maciel. </a:t>
            </a:r>
            <a:r>
              <a:rPr lang="pt-BR" sz="1800" b="1" dirty="0">
                <a:latin typeface="Poppins" panose="00000500000000000000" pitchFamily="2" charset="0"/>
                <a:cs typeface="Poppins"/>
              </a:rPr>
              <a:t>Youtube</a:t>
            </a:r>
            <a:r>
              <a:rPr lang="pt-BR" sz="1800" dirty="0">
                <a:latin typeface="Poppins" panose="00000500000000000000" pitchFamily="2" charset="0"/>
                <a:cs typeface="Poppins"/>
              </a:rPr>
              <a:t>, 5 maio 2021. Disponível em: </a:t>
            </a:r>
            <a:r>
              <a:rPr lang="pt-BR" sz="1800" dirty="0">
                <a:latin typeface="Poppins" panose="00000500000000000000" pitchFamily="2" charset="0"/>
                <a:cs typeface="Poppins"/>
                <a:hlinkClick r:id="rId3"/>
              </a:rPr>
              <a:t>https://www.youtube.com/watch?v= 3UL9tzp2zBg</a:t>
            </a:r>
            <a:r>
              <a:rPr lang="pt-BR" sz="1800" dirty="0">
                <a:latin typeface="Poppins" panose="00000500000000000000" pitchFamily="2" charset="0"/>
                <a:cs typeface="Poppins"/>
              </a:rPr>
              <a:t>. Acesso em: 5 nov. 2025.</a:t>
            </a:r>
            <a:endParaRPr lang="pt-BR" dirty="0">
              <a:latin typeface="Poppins" panose="00000500000000000000" pitchFamily="2" charset="0"/>
              <a:cs typeface="Poppins"/>
            </a:endParaRPr>
          </a:p>
        </p:txBody>
      </p:sp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8AFD5CF4-520D-C05E-0436-E4E65A8A0785}"/>
              </a:ext>
            </a:extLst>
          </p:cNvPr>
          <p:cNvSpPr txBox="1"/>
          <p:nvPr/>
        </p:nvSpPr>
        <p:spPr>
          <a:xfrm>
            <a:off x="1024125" y="1786467"/>
            <a:ext cx="3183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6000"/>
            </a:pPr>
            <a:r>
              <a:rPr lang="pt-BR" sz="4000" b="1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Saiba mais</a:t>
            </a:r>
            <a:endParaRPr lang="pt-BR" sz="4000">
              <a:solidFill>
                <a:schemeClr val="bg1"/>
              </a:solidFill>
              <a:latin typeface="Poppins" panose="00000500000000000000" pitchFamily="2" charset="0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DB89C-A0A9-151F-56B3-3C466F17E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06E8824-F4D5-C4EC-33FF-2952D11ECD99}"/>
              </a:ext>
            </a:extLst>
          </p:cNvPr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44B22C-E696-3517-6C41-2A9732846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782" y="2057391"/>
            <a:ext cx="9530436" cy="235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700" dirty="0">
                <a:latin typeface="Poppins" panose="00000500000000000000" pitchFamily="2" charset="0"/>
                <a:cs typeface="Poppins"/>
              </a:rPr>
              <a:t>DALE, K. </a:t>
            </a:r>
            <a:r>
              <a:rPr lang="pt-BR" sz="1700" b="1" dirty="0">
                <a:latin typeface="Poppins" panose="00000500000000000000" pitchFamily="2" charset="0"/>
                <a:cs typeface="Poppins"/>
              </a:rPr>
              <a:t>Visualização de dados com Python e </a:t>
            </a:r>
            <a:r>
              <a:rPr lang="pt-BR" sz="1700" b="1" dirty="0" err="1">
                <a:latin typeface="Poppins" panose="00000500000000000000" pitchFamily="2" charset="0"/>
                <a:cs typeface="Poppins"/>
              </a:rPr>
              <a:t>JavaScript</a:t>
            </a:r>
            <a:r>
              <a:rPr lang="pt-BR" sz="1700" dirty="0">
                <a:latin typeface="Poppins" panose="00000500000000000000" pitchFamily="2" charset="0"/>
                <a:cs typeface="Poppins"/>
              </a:rPr>
              <a:t>: raspe, limpe, explore e transforme seus dados. Rio de Janeiro: Alta Books, 2024.</a:t>
            </a:r>
            <a:endParaRPr lang="pt-BR" dirty="0">
              <a:latin typeface="Poppins" panose="00000500000000000000" pitchFamily="2" charset="0"/>
            </a:endParaRP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sz="1700" dirty="0">
                <a:latin typeface="Poppins"/>
                <a:cs typeface="Poppins"/>
              </a:rPr>
              <a:t>KNAFLIC, C. N. </a:t>
            </a:r>
            <a:r>
              <a:rPr lang="pt-BR" sz="1700" b="1" dirty="0" err="1">
                <a:latin typeface="Poppins"/>
                <a:cs typeface="Poppins"/>
              </a:rPr>
              <a:t>Storytelling</a:t>
            </a:r>
            <a:r>
              <a:rPr lang="pt-BR" sz="1700" b="1" dirty="0">
                <a:latin typeface="Poppins"/>
                <a:cs typeface="Poppins"/>
              </a:rPr>
              <a:t> com dados</a:t>
            </a:r>
            <a:r>
              <a:rPr lang="pt-BR" sz="1700" dirty="0">
                <a:latin typeface="Poppins"/>
                <a:cs typeface="Poppins"/>
              </a:rPr>
              <a:t>: um guia sobre visualização de dados para profissionais de negócios. Rio de Janeiro: Alta Books, 2019. </a:t>
            </a:r>
            <a:endParaRPr lang="pt-BR" dirty="0">
              <a:latin typeface="Poppins" panose="00000500000000000000" pitchFamily="2" charset="0"/>
            </a:endParaRP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sz="1700" dirty="0">
                <a:latin typeface="Poppins" panose="00000500000000000000" pitchFamily="2" charset="0"/>
                <a:cs typeface="Poppins"/>
              </a:rPr>
              <a:t>STRACHNYI, K. </a:t>
            </a:r>
            <a:r>
              <a:rPr lang="pt-BR" sz="1700" b="1" dirty="0">
                <a:latin typeface="Poppins" panose="00000500000000000000" pitchFamily="2" charset="0"/>
                <a:cs typeface="Poppins"/>
              </a:rPr>
              <a:t>A cor dos dados</a:t>
            </a:r>
            <a:r>
              <a:rPr lang="pt-BR" sz="1700" dirty="0">
                <a:latin typeface="Poppins" panose="00000500000000000000" pitchFamily="2" charset="0"/>
                <a:cs typeface="Poppins"/>
              </a:rPr>
              <a:t>: um guia para o uso de cores em </a:t>
            </a:r>
            <a:r>
              <a:rPr lang="pt-BR" sz="1700" dirty="0" err="1">
                <a:latin typeface="Poppins" panose="00000500000000000000" pitchFamily="2" charset="0"/>
                <a:cs typeface="Poppins"/>
              </a:rPr>
              <a:t>storytelling</a:t>
            </a:r>
            <a:r>
              <a:rPr lang="pt-BR" sz="1700" dirty="0">
                <a:latin typeface="Poppins" panose="00000500000000000000" pitchFamily="2" charset="0"/>
                <a:cs typeface="Poppins"/>
              </a:rPr>
              <a:t> de dados. São Paulo: </a:t>
            </a:r>
            <a:r>
              <a:rPr lang="pt-BR" sz="1700" dirty="0" err="1">
                <a:latin typeface="Poppins" panose="00000500000000000000" pitchFamily="2" charset="0"/>
                <a:cs typeface="Poppins"/>
              </a:rPr>
              <a:t>Novatec</a:t>
            </a:r>
            <a:r>
              <a:rPr lang="pt-BR" sz="1700" dirty="0">
                <a:latin typeface="Poppins" panose="00000500000000000000" pitchFamily="2" charset="0"/>
                <a:cs typeface="Poppins"/>
              </a:rPr>
              <a:t>, 2023.</a:t>
            </a:r>
            <a:endParaRPr lang="pt-BR" dirty="0">
              <a:latin typeface="Poppins" panose="00000500000000000000" pitchFamily="2" charset="0"/>
            </a:endParaRP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sz="1700" dirty="0">
                <a:latin typeface="Poppins"/>
                <a:cs typeface="Poppins"/>
              </a:rPr>
              <a:t>Identidade visual: imagens © Getty Images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4177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669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05412FC5-570A-408F-9370-3F23A402A1CA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5E477A-2A5F-1F86-7495-AA29D23969CC}"/>
              </a:ext>
            </a:extLst>
          </p:cNvPr>
          <p:cNvSpPr txBox="1"/>
          <p:nvPr/>
        </p:nvSpPr>
        <p:spPr>
          <a:xfrm>
            <a:off x="997022" y="929961"/>
            <a:ext cx="10498238" cy="677108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Ponto de partida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ativar os conhecimentos prévios dos estudantes sobre o tema da aula e estimular o pensamento crítico e as habilidades comunicativas. Por meio de uma situação-problema ou de um exemplo próximo da realidade do estudante, pretende-se sair da abstração conceitual e promover um diálogo dinâmico para explorar hipóteses e soluções. Espera-se também que os estudantes compartilhem eventuais experiências que possam ter com os tópicos a serem abordados em aula. 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75F6A6C-F5E7-E72C-8F16-D93E9EAB520D}"/>
              </a:ext>
            </a:extLst>
          </p:cNvPr>
          <p:cNvSpPr txBox="1"/>
          <p:nvPr/>
        </p:nvSpPr>
        <p:spPr>
          <a:xfrm>
            <a:off x="985519" y="296229"/>
            <a:ext cx="10361353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6</a:t>
            </a:r>
          </a:p>
        </p:txBody>
      </p:sp>
      <p:cxnSp>
        <p:nvCxnSpPr>
          <p:cNvPr id="21" name="Conector Reto 6">
            <a:extLst>
              <a:ext uri="{FF2B5EF4-FFF2-40B4-BE49-F238E27FC236}">
                <a16:creationId xmlns:a16="http://schemas.microsoft.com/office/drawing/2014/main" id="{BCE0BFCD-A08A-231A-775F-76725EC8275F}"/>
              </a:ext>
            </a:extLst>
          </p:cNvPr>
          <p:cNvCxnSpPr>
            <a:cxnSpLocks/>
          </p:cNvCxnSpPr>
          <p:nvPr/>
        </p:nvCxnSpPr>
        <p:spPr>
          <a:xfrm flipV="1">
            <a:off x="680042" y="544760"/>
            <a:ext cx="0" cy="553392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48A60FF-9804-3F44-277D-C724B3438A16}"/>
              </a:ext>
            </a:extLst>
          </p:cNvPr>
          <p:cNvGrpSpPr/>
          <p:nvPr/>
        </p:nvGrpSpPr>
        <p:grpSpPr>
          <a:xfrm>
            <a:off x="481421" y="899318"/>
            <a:ext cx="386079" cy="382464"/>
            <a:chOff x="487003" y="899318"/>
            <a:chExt cx="386079" cy="382464"/>
          </a:xfrm>
        </p:grpSpPr>
        <p:sp>
          <p:nvSpPr>
            <p:cNvPr id="25" name="Oval 12">
              <a:extLst>
                <a:ext uri="{FF2B5EF4-FFF2-40B4-BE49-F238E27FC236}">
                  <a16:creationId xmlns:a16="http://schemas.microsoft.com/office/drawing/2014/main" id="{8ECB0DDA-1E17-7A5A-E633-061DAE8AD6BB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" name="Google Shape;2216;p100">
              <a:extLst>
                <a:ext uri="{FF2B5EF4-FFF2-40B4-BE49-F238E27FC236}">
                  <a16:creationId xmlns:a16="http://schemas.microsoft.com/office/drawing/2014/main" id="{F65B9A5C-7612-96BC-804F-7B9C8F83685E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12720C0-E638-C27C-537D-6D177D7105C6}"/>
              </a:ext>
            </a:extLst>
          </p:cNvPr>
          <p:cNvGrpSpPr/>
          <p:nvPr/>
        </p:nvGrpSpPr>
        <p:grpSpPr>
          <a:xfrm>
            <a:off x="481421" y="1677273"/>
            <a:ext cx="386079" cy="382464"/>
            <a:chOff x="477262" y="1677273"/>
            <a:chExt cx="386079" cy="382464"/>
          </a:xfrm>
        </p:grpSpPr>
        <p:sp>
          <p:nvSpPr>
            <p:cNvPr id="24" name="Oval 11">
              <a:extLst>
                <a:ext uri="{FF2B5EF4-FFF2-40B4-BE49-F238E27FC236}">
                  <a16:creationId xmlns:a16="http://schemas.microsoft.com/office/drawing/2014/main" id="{EC7F6AD3-E820-E455-13E0-ACD8F4CC63A2}"/>
                </a:ext>
              </a:extLst>
            </p:cNvPr>
            <p:cNvSpPr/>
            <p:nvPr/>
          </p:nvSpPr>
          <p:spPr>
            <a:xfrm>
              <a:off x="477262" y="1677273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6888448A-0924-D978-90B2-0CA1425A5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95493" y="1770979"/>
              <a:ext cx="154445" cy="193056"/>
            </a:xfrm>
            <a:prstGeom prst="rect">
              <a:avLst/>
            </a:prstGeom>
          </p:spPr>
        </p:pic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F03CA97-F4DE-F9BC-A478-52C1EE514748}"/>
              </a:ext>
            </a:extLst>
          </p:cNvPr>
          <p:cNvGrpSpPr/>
          <p:nvPr/>
        </p:nvGrpSpPr>
        <p:grpSpPr>
          <a:xfrm>
            <a:off x="481421" y="2277345"/>
            <a:ext cx="386079" cy="382464"/>
            <a:chOff x="488157" y="2308518"/>
            <a:chExt cx="386079" cy="382464"/>
          </a:xfrm>
        </p:grpSpPr>
        <p:sp>
          <p:nvSpPr>
            <p:cNvPr id="23" name="Oval 10">
              <a:extLst>
                <a:ext uri="{FF2B5EF4-FFF2-40B4-BE49-F238E27FC236}">
                  <a16:creationId xmlns:a16="http://schemas.microsoft.com/office/drawing/2014/main" id="{CC84B630-89E1-2FB4-859F-F21643B55766}"/>
                </a:ext>
              </a:extLst>
            </p:cNvPr>
            <p:cNvSpPr/>
            <p:nvPr/>
          </p:nvSpPr>
          <p:spPr>
            <a:xfrm>
              <a:off x="488157" y="23085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" name="Google Shape;2223;p100">
              <a:extLst>
                <a:ext uri="{FF2B5EF4-FFF2-40B4-BE49-F238E27FC236}">
                  <a16:creationId xmlns:a16="http://schemas.microsoft.com/office/drawing/2014/main" id="{143A7080-7BB9-E495-4CC9-29DC9F82B3E4}"/>
                </a:ext>
              </a:extLst>
            </p:cNvPr>
            <p:cNvSpPr>
              <a:spLocks/>
            </p:cNvSpPr>
            <p:nvPr/>
          </p:nvSpPr>
          <p:spPr>
            <a:xfrm>
              <a:off x="557168" y="2386948"/>
              <a:ext cx="245745" cy="226842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A62A1FBC-CEF5-CA25-07D2-1432321158FB}"/>
              </a:ext>
            </a:extLst>
          </p:cNvPr>
          <p:cNvGrpSpPr/>
          <p:nvPr/>
        </p:nvGrpSpPr>
        <p:grpSpPr>
          <a:xfrm>
            <a:off x="481421" y="4650841"/>
            <a:ext cx="386079" cy="382464"/>
            <a:chOff x="485330" y="4208606"/>
            <a:chExt cx="386079" cy="382464"/>
          </a:xfrm>
        </p:grpSpPr>
        <p:sp>
          <p:nvSpPr>
            <p:cNvPr id="22" name="Oval 8">
              <a:extLst>
                <a:ext uri="{FF2B5EF4-FFF2-40B4-BE49-F238E27FC236}">
                  <a16:creationId xmlns:a16="http://schemas.microsoft.com/office/drawing/2014/main" id="{F5F245B4-7802-3925-C674-664CE875B081}"/>
                </a:ext>
              </a:extLst>
            </p:cNvPr>
            <p:cNvSpPr/>
            <p:nvPr/>
          </p:nvSpPr>
          <p:spPr>
            <a:xfrm>
              <a:off x="485330" y="4208606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9" name="Gráfico 28">
              <a:extLst>
                <a:ext uri="{FF2B5EF4-FFF2-40B4-BE49-F238E27FC236}">
                  <a16:creationId xmlns:a16="http://schemas.microsoft.com/office/drawing/2014/main" id="{D7DDFFD3-3DBF-A5AB-995F-C5918E15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9271" y="4262727"/>
              <a:ext cx="208026" cy="266700"/>
            </a:xfrm>
            <a:prstGeom prst="rect">
              <a:avLst/>
            </a:prstGeom>
          </p:spPr>
        </p:pic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ED43337-EA14-C568-D1AD-2BECE064E131}"/>
              </a:ext>
            </a:extLst>
          </p:cNvPr>
          <p:cNvGrpSpPr/>
          <p:nvPr/>
        </p:nvGrpSpPr>
        <p:grpSpPr>
          <a:xfrm>
            <a:off x="481421" y="3629426"/>
            <a:ext cx="386079" cy="382464"/>
            <a:chOff x="453903" y="3103350"/>
            <a:chExt cx="386079" cy="382464"/>
          </a:xfrm>
        </p:grpSpPr>
        <p:sp>
          <p:nvSpPr>
            <p:cNvPr id="30" name="Oval 9">
              <a:extLst>
                <a:ext uri="{FF2B5EF4-FFF2-40B4-BE49-F238E27FC236}">
                  <a16:creationId xmlns:a16="http://schemas.microsoft.com/office/drawing/2014/main" id="{254BA4DE-09FF-26A7-084F-29C028C53D39}"/>
                </a:ext>
              </a:extLst>
            </p:cNvPr>
            <p:cNvSpPr/>
            <p:nvPr/>
          </p:nvSpPr>
          <p:spPr>
            <a:xfrm>
              <a:off x="453903" y="3103350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1" name="Gráfico 30">
              <a:extLst>
                <a:ext uri="{FF2B5EF4-FFF2-40B4-BE49-F238E27FC236}">
                  <a16:creationId xmlns:a16="http://schemas.microsoft.com/office/drawing/2014/main" id="{3897E01C-D4A7-E90A-2625-B7EFF5BBB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1968" y="3173805"/>
              <a:ext cx="235296" cy="240643"/>
            </a:xfrm>
            <a:prstGeom prst="rect">
              <a:avLst/>
            </a:prstGeom>
          </p:spPr>
        </p:pic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ED442A-BFE7-428B-11EA-588B2CF39AC9}"/>
              </a:ext>
            </a:extLst>
          </p:cNvPr>
          <p:cNvSpPr txBox="1"/>
          <p:nvPr/>
        </p:nvSpPr>
        <p:spPr>
          <a:xfrm>
            <a:off x="980077" y="3657602"/>
            <a:ext cx="10498238" cy="677108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contexto para os alunos e lance a questão.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Dê um tempo para que os alunos possam conversar entre eles sobre a questão.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Promova uma breve discussão para que todos possam compartilhar as respostas.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348A30-07AE-9507-59D5-F8961ADD8A7A}"/>
              </a:ext>
            </a:extLst>
          </p:cNvPr>
          <p:cNvSpPr txBox="1"/>
          <p:nvPr/>
        </p:nvSpPr>
        <p:spPr>
          <a:xfrm>
            <a:off x="980077" y="1737167"/>
            <a:ext cx="10498238" cy="2154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13297A1-BBF5-A2EE-552F-D536B738BE85}"/>
              </a:ext>
            </a:extLst>
          </p:cNvPr>
          <p:cNvSpPr txBox="1"/>
          <p:nvPr/>
        </p:nvSpPr>
        <p:spPr>
          <a:xfrm>
            <a:off x="1003435" y="2284756"/>
            <a:ext cx="10779261" cy="884858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>
              <a:lnSpc>
                <a:spcPct val="107000"/>
              </a:lnSpc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</a:p>
          <a:p>
            <a:pPr>
              <a:lnSpc>
                <a:spcPct val="107000"/>
              </a:lnSpc>
            </a:pP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Assegure que todos os estudantes tenham a oportunidade de participar. Se necessário, faça rodízio ou direcione perguntas a estudantes que estejam menos ativos para garantir a participação de todos.  </a:t>
            </a:r>
          </a:p>
          <a:p>
            <a:pPr>
              <a:lnSpc>
                <a:spcPct val="107000"/>
              </a:lnSpc>
            </a:pP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Mantenha um ambiente de respeito, em que todas as opiniões são valorizadas, garantindo que os alunos se sintam confortáveis para expressar seus pontos de vista.  </a:t>
            </a:r>
          </a:p>
          <a:p>
            <a:pPr>
              <a:lnSpc>
                <a:spcPct val="107000"/>
              </a:lnSpc>
            </a:pP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Conclua a atividade resumindo as principais ideias discutidas e vinculando-as aos objetivos de aprendizagem da aula. 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71D553F-1620-282C-572E-266690E6AD8F}"/>
              </a:ext>
            </a:extLst>
          </p:cNvPr>
          <p:cNvSpPr txBox="1"/>
          <p:nvPr/>
        </p:nvSpPr>
        <p:spPr>
          <a:xfrm>
            <a:off x="1003436" y="4749385"/>
            <a:ext cx="10498238" cy="830997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algn="just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Não há resposta certa nem errada. Os estudantes podem mencionar alguns fatores, como falta de título, excesso de informação, cores confusas, legenda difícil de ler ou gráficos mal explicados.</a:t>
            </a:r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ideia é que percebam que um gráfico só cumpre seu papel quando ajuda o público a compreender a mensagem, preparando o terreno para o estudo dos tipos e usos adequados de gráficos na construção de narrativas visuais.</a:t>
            </a:r>
          </a:p>
        </p:txBody>
      </p:sp>
    </p:spTree>
    <p:extLst>
      <p:ext uri="{BB962C8B-B14F-4D97-AF65-F5344CB8AC3E}">
        <p14:creationId xmlns:p14="http://schemas.microsoft.com/office/powerpoint/2010/main" val="2281120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E6C45A-3A53-0F3D-4FAC-932620E4C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6BB184C0-7E7A-456B-AFDC-624FF7200034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" name="Conector Reto 6">
            <a:extLst>
              <a:ext uri="{FF2B5EF4-FFF2-40B4-BE49-F238E27FC236}">
                <a16:creationId xmlns:a16="http://schemas.microsoft.com/office/drawing/2014/main" id="{B7CB8AD7-C47F-4C46-8151-519ACD343953}"/>
              </a:ext>
            </a:extLst>
          </p:cNvPr>
          <p:cNvCxnSpPr>
            <a:cxnSpLocks/>
          </p:cNvCxnSpPr>
          <p:nvPr/>
        </p:nvCxnSpPr>
        <p:spPr>
          <a:xfrm flipV="1">
            <a:off x="680042" y="544760"/>
            <a:ext cx="0" cy="553392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6528553A-F944-B11E-427F-490A42E963A8}"/>
              </a:ext>
            </a:extLst>
          </p:cNvPr>
          <p:cNvSpPr txBox="1"/>
          <p:nvPr/>
        </p:nvSpPr>
        <p:spPr>
          <a:xfrm>
            <a:off x="987533" y="291089"/>
            <a:ext cx="9514146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7 a 14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F4651F9-5AC7-B807-A746-54C48D18F491}"/>
              </a:ext>
            </a:extLst>
          </p:cNvPr>
          <p:cNvGrpSpPr/>
          <p:nvPr/>
        </p:nvGrpSpPr>
        <p:grpSpPr>
          <a:xfrm>
            <a:off x="481358" y="2892321"/>
            <a:ext cx="386079" cy="382464"/>
            <a:chOff x="502077" y="2706934"/>
            <a:chExt cx="386079" cy="382464"/>
          </a:xfrm>
        </p:grpSpPr>
        <p:sp>
          <p:nvSpPr>
            <p:cNvPr id="15" name="Oval 9">
              <a:extLst>
                <a:ext uri="{FF2B5EF4-FFF2-40B4-BE49-F238E27FC236}">
                  <a16:creationId xmlns:a16="http://schemas.microsoft.com/office/drawing/2014/main" id="{9D6DD9E1-84E2-FA0C-8CDD-F2C7A7DB0A4F}"/>
                </a:ext>
              </a:extLst>
            </p:cNvPr>
            <p:cNvSpPr/>
            <p:nvPr/>
          </p:nvSpPr>
          <p:spPr>
            <a:xfrm>
              <a:off x="502077" y="2706934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Google Shape;2237;p100">
              <a:extLst>
                <a:ext uri="{FF2B5EF4-FFF2-40B4-BE49-F238E27FC236}">
                  <a16:creationId xmlns:a16="http://schemas.microsoft.com/office/drawing/2014/main" id="{C89FDE36-66E1-5970-DB0B-2982A8A31EE4}"/>
                </a:ext>
              </a:extLst>
            </p:cNvPr>
            <p:cNvSpPr/>
            <p:nvPr/>
          </p:nvSpPr>
          <p:spPr>
            <a:xfrm>
              <a:off x="569896" y="2784763"/>
              <a:ext cx="218915" cy="256169"/>
            </a:xfrm>
            <a:custGeom>
              <a:avLst/>
              <a:gdLst/>
              <a:ahLst/>
              <a:cxnLst/>
              <a:rect l="l" t="t" r="r" b="b"/>
              <a:pathLst>
                <a:path w="457200" h="495395" extrusionOk="0">
                  <a:moveTo>
                    <a:pt x="266700" y="95"/>
                  </a:moveTo>
                  <a:cubicBezTo>
                    <a:pt x="162973" y="95"/>
                    <a:pt x="78391" y="83439"/>
                    <a:pt x="76200" y="186690"/>
                  </a:cubicBezTo>
                  <a:cubicBezTo>
                    <a:pt x="65532" y="197453"/>
                    <a:pt x="25241" y="238220"/>
                    <a:pt x="8573" y="254984"/>
                  </a:cubicBezTo>
                  <a:cubicBezTo>
                    <a:pt x="95" y="263557"/>
                    <a:pt x="-2286" y="275749"/>
                    <a:pt x="2286" y="286893"/>
                  </a:cubicBezTo>
                  <a:cubicBezTo>
                    <a:pt x="6858" y="297942"/>
                    <a:pt x="17145" y="304895"/>
                    <a:pt x="29147" y="304895"/>
                  </a:cubicBezTo>
                  <a:lnTo>
                    <a:pt x="57055" y="304895"/>
                  </a:lnTo>
                  <a:lnTo>
                    <a:pt x="57055" y="390620"/>
                  </a:lnTo>
                  <a:cubicBezTo>
                    <a:pt x="57055" y="416909"/>
                    <a:pt x="78391" y="438245"/>
                    <a:pt x="104680" y="438245"/>
                  </a:cubicBezTo>
                  <a:lnTo>
                    <a:pt x="171355" y="438245"/>
                  </a:lnTo>
                  <a:lnTo>
                    <a:pt x="171355" y="485870"/>
                  </a:lnTo>
                  <a:cubicBezTo>
                    <a:pt x="171355" y="491109"/>
                    <a:pt x="175641" y="495395"/>
                    <a:pt x="180880" y="495395"/>
                  </a:cubicBezTo>
                  <a:cubicBezTo>
                    <a:pt x="186119" y="495395"/>
                    <a:pt x="190405" y="491109"/>
                    <a:pt x="190405" y="485870"/>
                  </a:cubicBezTo>
                  <a:lnTo>
                    <a:pt x="190405" y="428720"/>
                  </a:lnTo>
                  <a:cubicBezTo>
                    <a:pt x="190405" y="423481"/>
                    <a:pt x="186119" y="419195"/>
                    <a:pt x="180880" y="419195"/>
                  </a:cubicBezTo>
                  <a:lnTo>
                    <a:pt x="104680" y="419195"/>
                  </a:lnTo>
                  <a:cubicBezTo>
                    <a:pt x="88964" y="419195"/>
                    <a:pt x="76105" y="406336"/>
                    <a:pt x="76105" y="390620"/>
                  </a:cubicBezTo>
                  <a:lnTo>
                    <a:pt x="76105" y="295370"/>
                  </a:lnTo>
                  <a:cubicBezTo>
                    <a:pt x="76105" y="290131"/>
                    <a:pt x="71819" y="285845"/>
                    <a:pt x="66580" y="285845"/>
                  </a:cubicBezTo>
                  <a:lnTo>
                    <a:pt x="29147" y="285845"/>
                  </a:lnTo>
                  <a:cubicBezTo>
                    <a:pt x="22955" y="285845"/>
                    <a:pt x="20479" y="281083"/>
                    <a:pt x="19907" y="279559"/>
                  </a:cubicBezTo>
                  <a:cubicBezTo>
                    <a:pt x="19336" y="278035"/>
                    <a:pt x="17621" y="272891"/>
                    <a:pt x="22098" y="268319"/>
                  </a:cubicBezTo>
                  <a:cubicBezTo>
                    <a:pt x="70866" y="219103"/>
                    <a:pt x="95250" y="193167"/>
                    <a:pt x="95250" y="190500"/>
                  </a:cubicBezTo>
                  <a:cubicBezTo>
                    <a:pt x="95250" y="96012"/>
                    <a:pt x="172117" y="19050"/>
                    <a:pt x="266700" y="19050"/>
                  </a:cubicBezTo>
                  <a:cubicBezTo>
                    <a:pt x="361283" y="19050"/>
                    <a:pt x="438150" y="96012"/>
                    <a:pt x="438150" y="190500"/>
                  </a:cubicBezTo>
                  <a:cubicBezTo>
                    <a:pt x="438150" y="233267"/>
                    <a:pt x="422243" y="274225"/>
                    <a:pt x="393287" y="305848"/>
                  </a:cubicBezTo>
                  <a:cubicBezTo>
                    <a:pt x="385382" y="314515"/>
                    <a:pt x="381000" y="325850"/>
                    <a:pt x="381000" y="337661"/>
                  </a:cubicBezTo>
                  <a:lnTo>
                    <a:pt x="381000" y="485680"/>
                  </a:lnTo>
                  <a:cubicBezTo>
                    <a:pt x="381000" y="490918"/>
                    <a:pt x="385286" y="495205"/>
                    <a:pt x="390525" y="495205"/>
                  </a:cubicBezTo>
                  <a:cubicBezTo>
                    <a:pt x="395764" y="495205"/>
                    <a:pt x="400050" y="490918"/>
                    <a:pt x="400050" y="485680"/>
                  </a:cubicBezTo>
                  <a:lnTo>
                    <a:pt x="400050" y="337661"/>
                  </a:lnTo>
                  <a:cubicBezTo>
                    <a:pt x="400050" y="330613"/>
                    <a:pt x="402622" y="323850"/>
                    <a:pt x="407384" y="318706"/>
                  </a:cubicBezTo>
                  <a:cubicBezTo>
                    <a:pt x="439484" y="283464"/>
                    <a:pt x="457200" y="237934"/>
                    <a:pt x="457200" y="190500"/>
                  </a:cubicBezTo>
                  <a:cubicBezTo>
                    <a:pt x="457200" y="85439"/>
                    <a:pt x="371761" y="0"/>
                    <a:pt x="266700" y="0"/>
                  </a:cubicBezTo>
                  <a:close/>
                  <a:moveTo>
                    <a:pt x="266700" y="95345"/>
                  </a:moveTo>
                  <a:cubicBezTo>
                    <a:pt x="214217" y="95345"/>
                    <a:pt x="171450" y="138113"/>
                    <a:pt x="171450" y="190595"/>
                  </a:cubicBezTo>
                  <a:cubicBezTo>
                    <a:pt x="171450" y="217360"/>
                    <a:pt x="182880" y="243078"/>
                    <a:pt x="202692" y="261080"/>
                  </a:cubicBezTo>
                  <a:cubicBezTo>
                    <a:pt x="207074" y="265081"/>
                    <a:pt x="209550" y="270224"/>
                    <a:pt x="209550" y="275653"/>
                  </a:cubicBezTo>
                  <a:lnTo>
                    <a:pt x="209550" y="323850"/>
                  </a:lnTo>
                  <a:cubicBezTo>
                    <a:pt x="209550" y="344900"/>
                    <a:pt x="226600" y="361950"/>
                    <a:pt x="247650" y="361950"/>
                  </a:cubicBezTo>
                  <a:lnTo>
                    <a:pt x="285750" y="361950"/>
                  </a:lnTo>
                  <a:cubicBezTo>
                    <a:pt x="306800" y="361950"/>
                    <a:pt x="323850" y="344900"/>
                    <a:pt x="323850" y="323850"/>
                  </a:cubicBezTo>
                  <a:lnTo>
                    <a:pt x="323850" y="275653"/>
                  </a:lnTo>
                  <a:cubicBezTo>
                    <a:pt x="323850" y="270224"/>
                    <a:pt x="326327" y="265081"/>
                    <a:pt x="330708" y="261080"/>
                  </a:cubicBezTo>
                  <a:cubicBezTo>
                    <a:pt x="350520" y="243078"/>
                    <a:pt x="361950" y="217360"/>
                    <a:pt x="361950" y="190595"/>
                  </a:cubicBezTo>
                  <a:cubicBezTo>
                    <a:pt x="361950" y="138113"/>
                    <a:pt x="319183" y="95345"/>
                    <a:pt x="266700" y="95345"/>
                  </a:cubicBezTo>
                  <a:close/>
                  <a:moveTo>
                    <a:pt x="304800" y="323945"/>
                  </a:moveTo>
                  <a:cubicBezTo>
                    <a:pt x="304800" y="334423"/>
                    <a:pt x="296228" y="342995"/>
                    <a:pt x="285750" y="342995"/>
                  </a:cubicBezTo>
                  <a:lnTo>
                    <a:pt x="247650" y="342995"/>
                  </a:lnTo>
                  <a:cubicBezTo>
                    <a:pt x="237173" y="342995"/>
                    <a:pt x="228600" y="334423"/>
                    <a:pt x="228600" y="323945"/>
                  </a:cubicBezTo>
                  <a:lnTo>
                    <a:pt x="228600" y="304895"/>
                  </a:lnTo>
                  <a:lnTo>
                    <a:pt x="304800" y="304895"/>
                  </a:lnTo>
                  <a:lnTo>
                    <a:pt x="304800" y="323945"/>
                  </a:lnTo>
                  <a:close/>
                  <a:moveTo>
                    <a:pt x="317849" y="246983"/>
                  </a:moveTo>
                  <a:cubicBezTo>
                    <a:pt x="309563" y="254508"/>
                    <a:pt x="304800" y="264985"/>
                    <a:pt x="304800" y="275653"/>
                  </a:cubicBezTo>
                  <a:lnTo>
                    <a:pt x="304800" y="285750"/>
                  </a:lnTo>
                  <a:lnTo>
                    <a:pt x="276225" y="285750"/>
                  </a:lnTo>
                  <a:lnTo>
                    <a:pt x="276225" y="203930"/>
                  </a:lnTo>
                  <a:lnTo>
                    <a:pt x="285750" y="194405"/>
                  </a:lnTo>
                  <a:lnTo>
                    <a:pt x="298037" y="206692"/>
                  </a:lnTo>
                  <a:cubicBezTo>
                    <a:pt x="299942" y="208597"/>
                    <a:pt x="302324" y="209455"/>
                    <a:pt x="304800" y="209455"/>
                  </a:cubicBezTo>
                  <a:cubicBezTo>
                    <a:pt x="307277" y="209455"/>
                    <a:pt x="309658" y="208502"/>
                    <a:pt x="311563" y="206692"/>
                  </a:cubicBezTo>
                  <a:cubicBezTo>
                    <a:pt x="315278" y="202978"/>
                    <a:pt x="315278" y="196977"/>
                    <a:pt x="311563" y="193262"/>
                  </a:cubicBezTo>
                  <a:lnTo>
                    <a:pt x="292513" y="174212"/>
                  </a:lnTo>
                  <a:cubicBezTo>
                    <a:pt x="288798" y="170497"/>
                    <a:pt x="282797" y="170497"/>
                    <a:pt x="279083" y="174212"/>
                  </a:cubicBezTo>
                  <a:lnTo>
                    <a:pt x="266795" y="186500"/>
                  </a:lnTo>
                  <a:lnTo>
                    <a:pt x="254508" y="174212"/>
                  </a:lnTo>
                  <a:cubicBezTo>
                    <a:pt x="250793" y="170497"/>
                    <a:pt x="244793" y="170497"/>
                    <a:pt x="241078" y="174212"/>
                  </a:cubicBezTo>
                  <a:lnTo>
                    <a:pt x="222028" y="193262"/>
                  </a:lnTo>
                  <a:cubicBezTo>
                    <a:pt x="218313" y="196977"/>
                    <a:pt x="218313" y="202978"/>
                    <a:pt x="222028" y="206692"/>
                  </a:cubicBezTo>
                  <a:cubicBezTo>
                    <a:pt x="225743" y="210407"/>
                    <a:pt x="231743" y="210407"/>
                    <a:pt x="235458" y="206692"/>
                  </a:cubicBezTo>
                  <a:lnTo>
                    <a:pt x="247745" y="194405"/>
                  </a:lnTo>
                  <a:lnTo>
                    <a:pt x="257270" y="203930"/>
                  </a:lnTo>
                  <a:lnTo>
                    <a:pt x="257270" y="285750"/>
                  </a:lnTo>
                  <a:lnTo>
                    <a:pt x="228695" y="285750"/>
                  </a:lnTo>
                  <a:lnTo>
                    <a:pt x="228695" y="275653"/>
                  </a:lnTo>
                  <a:cubicBezTo>
                    <a:pt x="228695" y="264985"/>
                    <a:pt x="223933" y="254508"/>
                    <a:pt x="215551" y="246983"/>
                  </a:cubicBezTo>
                  <a:cubicBezTo>
                    <a:pt x="199644" y="232600"/>
                    <a:pt x="190595" y="212026"/>
                    <a:pt x="190595" y="190595"/>
                  </a:cubicBezTo>
                  <a:cubicBezTo>
                    <a:pt x="190595" y="148590"/>
                    <a:pt x="224790" y="114395"/>
                    <a:pt x="266795" y="114395"/>
                  </a:cubicBezTo>
                  <a:cubicBezTo>
                    <a:pt x="308801" y="114395"/>
                    <a:pt x="342995" y="148590"/>
                    <a:pt x="342995" y="190595"/>
                  </a:cubicBezTo>
                  <a:cubicBezTo>
                    <a:pt x="342995" y="212026"/>
                    <a:pt x="333851" y="232600"/>
                    <a:pt x="317945" y="24698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231914F3-0D86-B681-B513-4AF960270A30}"/>
              </a:ext>
            </a:extLst>
          </p:cNvPr>
          <p:cNvGrpSpPr/>
          <p:nvPr/>
        </p:nvGrpSpPr>
        <p:grpSpPr>
          <a:xfrm>
            <a:off x="481358" y="1446391"/>
            <a:ext cx="386079" cy="382464"/>
            <a:chOff x="477262" y="1677273"/>
            <a:chExt cx="386079" cy="382464"/>
          </a:xfrm>
        </p:grpSpPr>
        <p:sp>
          <p:nvSpPr>
            <p:cNvPr id="17" name="Oval 11">
              <a:extLst>
                <a:ext uri="{FF2B5EF4-FFF2-40B4-BE49-F238E27FC236}">
                  <a16:creationId xmlns:a16="http://schemas.microsoft.com/office/drawing/2014/main" id="{F6CAD07E-F9EC-75A9-DEA8-83A5F2FACA5C}"/>
                </a:ext>
              </a:extLst>
            </p:cNvPr>
            <p:cNvSpPr/>
            <p:nvPr/>
          </p:nvSpPr>
          <p:spPr>
            <a:xfrm>
              <a:off x="477262" y="1677273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9BDF1C12-EB78-2C61-FEED-812FE6F55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95493" y="1770979"/>
              <a:ext cx="154445" cy="193056"/>
            </a:xfrm>
            <a:prstGeom prst="rect">
              <a:avLst/>
            </a:prstGeom>
          </p:spPr>
        </p:pic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916A166-9D2B-1352-879E-CEDF406D9A6E}"/>
              </a:ext>
            </a:extLst>
          </p:cNvPr>
          <p:cNvGrpSpPr/>
          <p:nvPr/>
        </p:nvGrpSpPr>
        <p:grpSpPr>
          <a:xfrm>
            <a:off x="481358" y="2164371"/>
            <a:ext cx="386079" cy="382464"/>
            <a:chOff x="453903" y="3103350"/>
            <a:chExt cx="386079" cy="382464"/>
          </a:xfrm>
        </p:grpSpPr>
        <p:sp>
          <p:nvSpPr>
            <p:cNvPr id="25" name="Oval 9">
              <a:extLst>
                <a:ext uri="{FF2B5EF4-FFF2-40B4-BE49-F238E27FC236}">
                  <a16:creationId xmlns:a16="http://schemas.microsoft.com/office/drawing/2014/main" id="{CA2E13AB-C8FA-FA3A-3789-1B99ED8A7C5D}"/>
                </a:ext>
              </a:extLst>
            </p:cNvPr>
            <p:cNvSpPr/>
            <p:nvPr/>
          </p:nvSpPr>
          <p:spPr>
            <a:xfrm>
              <a:off x="453903" y="3103350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CBE27791-2921-5B69-69B3-6686A8391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1968" y="3173805"/>
              <a:ext cx="235296" cy="240643"/>
            </a:xfrm>
            <a:prstGeom prst="rect">
              <a:avLst/>
            </a:prstGeom>
          </p:spPr>
        </p:pic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3B66086-DE2A-4DD7-B5CE-37A52FD64C8E}"/>
              </a:ext>
            </a:extLst>
          </p:cNvPr>
          <p:cNvSpPr txBox="1"/>
          <p:nvPr/>
        </p:nvSpPr>
        <p:spPr>
          <a:xfrm>
            <a:off x="997022" y="929961"/>
            <a:ext cx="10498238" cy="406265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Construindo o conceito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ajudar o estudante a sistematizar novos conceitos teóricos relacionados à vivência profissional.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20 minutos.</a:t>
            </a: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aos estudantes os slides com as definições de conceitos e como estes são aplicados em situações práticas.​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Aprofundamento: 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que a escolha do tipo de gráfico é uma parte fundamental da visualização de dados. Um gráfico eficaz não é apenas uma representação de números, mas uma ferramenta de comunicação que transforma dados brutos em informações compreensíveis e valiosas.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Destaque sua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finalidade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simplificar informações, revelar padrões, inspirar decisões e conectar áreas com uma linguagem acessível. Use exemplos do cotidiano (como pesquisas da turma ou projetos escolares) para contextualizar.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Destaque a importância de escolher o gráfico adequado para cada tipo de dado, como gráficos de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barras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para comparações de categorias, gráficos de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linha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para mostrar tendências ao longo do tempo, gráficos de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pizza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para proporções e gráficos de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dispersão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para identificar relações entre variáveis.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Reforce que os gráficos são essenciais na ciência de dados, pois transformam números em informações visuais fáceis de entender, ajudando a identificar padrões, tendências e comparações de forma rápida e intuitiva. Eles também facilitam a comunicação de ideias e resultados, permitindo decisões baseadas em evidências, acessíveis a públicos com diferentes níveis de conhecimento técnico.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CC2DAF5D-E650-4856-B446-03807D89D35B}"/>
              </a:ext>
            </a:extLst>
          </p:cNvPr>
          <p:cNvGrpSpPr/>
          <p:nvPr/>
        </p:nvGrpSpPr>
        <p:grpSpPr>
          <a:xfrm>
            <a:off x="481421" y="899318"/>
            <a:ext cx="386079" cy="382464"/>
            <a:chOff x="487003" y="899318"/>
            <a:chExt cx="386079" cy="382464"/>
          </a:xfrm>
        </p:grpSpPr>
        <p:sp>
          <p:nvSpPr>
            <p:cNvPr id="22" name="Oval 12">
              <a:extLst>
                <a:ext uri="{FF2B5EF4-FFF2-40B4-BE49-F238E27FC236}">
                  <a16:creationId xmlns:a16="http://schemas.microsoft.com/office/drawing/2014/main" id="{6316AE43-E90D-4E42-959C-D098426712FA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Google Shape;2216;p100">
              <a:extLst>
                <a:ext uri="{FF2B5EF4-FFF2-40B4-BE49-F238E27FC236}">
                  <a16:creationId xmlns:a16="http://schemas.microsoft.com/office/drawing/2014/main" id="{8E1B9FDB-2FDB-4B76-B5A8-508876250173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4420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8B3D0C-9856-6236-900B-7583D7D3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6054AFB3-E72B-4D5E-8EA8-4AC010277907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" name="Conector Reto 6">
            <a:extLst>
              <a:ext uri="{FF2B5EF4-FFF2-40B4-BE49-F238E27FC236}">
                <a16:creationId xmlns:a16="http://schemas.microsoft.com/office/drawing/2014/main" id="{D1C829BF-0AF7-4EFA-AC38-FE1AC5112771}"/>
              </a:ext>
            </a:extLst>
          </p:cNvPr>
          <p:cNvCxnSpPr>
            <a:cxnSpLocks/>
          </p:cNvCxnSpPr>
          <p:nvPr/>
        </p:nvCxnSpPr>
        <p:spPr>
          <a:xfrm flipV="1">
            <a:off x="680042" y="544761"/>
            <a:ext cx="0" cy="1850096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DB59141-7443-1A31-E215-9C1CFB433CB4}"/>
              </a:ext>
            </a:extLst>
          </p:cNvPr>
          <p:cNvSpPr txBox="1"/>
          <p:nvPr/>
        </p:nvSpPr>
        <p:spPr>
          <a:xfrm>
            <a:off x="987533" y="292719"/>
            <a:ext cx="10044084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15 e 16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A133FD81-A9F3-F7CA-1B4E-91289DC2E815}"/>
              </a:ext>
            </a:extLst>
          </p:cNvPr>
          <p:cNvGrpSpPr/>
          <p:nvPr/>
        </p:nvGrpSpPr>
        <p:grpSpPr>
          <a:xfrm>
            <a:off x="492761" y="1301100"/>
            <a:ext cx="386079" cy="382464"/>
            <a:chOff x="492761" y="1367402"/>
            <a:chExt cx="386079" cy="38246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FD23C5D-8078-D6B0-2C86-D46C0961A166}"/>
                </a:ext>
              </a:extLst>
            </p:cNvPr>
            <p:cNvSpPr/>
            <p:nvPr/>
          </p:nvSpPr>
          <p:spPr>
            <a:xfrm>
              <a:off x="492761" y="1367402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6" name="Imagem 45">
              <a:extLst>
                <a:ext uri="{FF2B5EF4-FFF2-40B4-BE49-F238E27FC236}">
                  <a16:creationId xmlns:a16="http://schemas.microsoft.com/office/drawing/2014/main" id="{D2049C17-B0E1-E6D5-68E6-40038C3E8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4144" y="1465345"/>
              <a:ext cx="154445" cy="193056"/>
            </a:xfrm>
            <a:prstGeom prst="rect">
              <a:avLst/>
            </a:prstGeom>
          </p:spPr>
        </p:pic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67078407-D785-C46F-C107-40DE62155848}"/>
              </a:ext>
            </a:extLst>
          </p:cNvPr>
          <p:cNvGrpSpPr/>
          <p:nvPr/>
        </p:nvGrpSpPr>
        <p:grpSpPr>
          <a:xfrm>
            <a:off x="487686" y="1773806"/>
            <a:ext cx="386079" cy="382464"/>
            <a:chOff x="487686" y="1911129"/>
            <a:chExt cx="386079" cy="382464"/>
          </a:xfrm>
        </p:grpSpPr>
        <p:sp>
          <p:nvSpPr>
            <p:cNvPr id="24" name="Oval 8">
              <a:extLst>
                <a:ext uri="{FF2B5EF4-FFF2-40B4-BE49-F238E27FC236}">
                  <a16:creationId xmlns:a16="http://schemas.microsoft.com/office/drawing/2014/main" id="{C2FE9412-EA63-A6D5-4378-7EE01CB11FB4}"/>
                </a:ext>
              </a:extLst>
            </p:cNvPr>
            <p:cNvSpPr/>
            <p:nvPr/>
          </p:nvSpPr>
          <p:spPr>
            <a:xfrm>
              <a:off x="487686" y="1911129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5" name="Gráfico 24">
              <a:extLst>
                <a:ext uri="{FF2B5EF4-FFF2-40B4-BE49-F238E27FC236}">
                  <a16:creationId xmlns:a16="http://schemas.microsoft.com/office/drawing/2014/main" id="{857257C0-031D-B188-F269-79F059D4B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627" y="1965250"/>
              <a:ext cx="208026" cy="266700"/>
            </a:xfrm>
            <a:prstGeom prst="rect">
              <a:avLst/>
            </a:prstGeom>
          </p:spPr>
        </p:pic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F8A63A6-692F-49FF-8B92-7DAC18304DCE}"/>
              </a:ext>
            </a:extLst>
          </p:cNvPr>
          <p:cNvSpPr txBox="1"/>
          <p:nvPr/>
        </p:nvSpPr>
        <p:spPr>
          <a:xfrm>
            <a:off x="997022" y="929961"/>
            <a:ext cx="10498238" cy="129266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mobilizar os estudantes em relação aos conhecimentos apresentados e construídos em aula. É registro. 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2 minutos.</a:t>
            </a: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Resposta correta: </a:t>
            </a:r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Gráfico de barras.</a:t>
            </a:r>
            <a:endParaRPr lang="pt-BR" sz="10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Feedback: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gráfico de barras é amplamente utilizado para comparar categorias, oferecendo uma visão clara e simplificada das diferenças entre elas.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A36662BC-D48C-450D-85B5-24DE94EE861B}"/>
              </a:ext>
            </a:extLst>
          </p:cNvPr>
          <p:cNvGrpSpPr/>
          <p:nvPr/>
        </p:nvGrpSpPr>
        <p:grpSpPr>
          <a:xfrm>
            <a:off x="481421" y="899318"/>
            <a:ext cx="386079" cy="382464"/>
            <a:chOff x="487003" y="899318"/>
            <a:chExt cx="386079" cy="382464"/>
          </a:xfrm>
        </p:grpSpPr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1A5DFE5C-6876-4609-8599-1119126C045D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" name="Google Shape;2216;p100">
              <a:extLst>
                <a:ext uri="{FF2B5EF4-FFF2-40B4-BE49-F238E27FC236}">
                  <a16:creationId xmlns:a16="http://schemas.microsoft.com/office/drawing/2014/main" id="{D88FDC05-BC94-4EA1-B116-55437E7289A5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6991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323635-FF47-64EB-DC73-9F738F55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42">
            <a:extLst>
              <a:ext uri="{FF2B5EF4-FFF2-40B4-BE49-F238E27FC236}">
                <a16:creationId xmlns:a16="http://schemas.microsoft.com/office/drawing/2014/main" id="{90F32850-C84E-4BF5-B658-9264DB0407AA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" name="Conector Reto 6">
            <a:extLst>
              <a:ext uri="{FF2B5EF4-FFF2-40B4-BE49-F238E27FC236}">
                <a16:creationId xmlns:a16="http://schemas.microsoft.com/office/drawing/2014/main" id="{051399D4-018B-4421-B916-51E40096F1C5}"/>
              </a:ext>
            </a:extLst>
          </p:cNvPr>
          <p:cNvCxnSpPr>
            <a:cxnSpLocks/>
          </p:cNvCxnSpPr>
          <p:nvPr/>
        </p:nvCxnSpPr>
        <p:spPr>
          <a:xfrm flipV="1">
            <a:off x="680042" y="544760"/>
            <a:ext cx="0" cy="553392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0999E292-64B7-A9B9-82D4-6618B1391D95}"/>
              </a:ext>
            </a:extLst>
          </p:cNvPr>
          <p:cNvSpPr txBox="1"/>
          <p:nvPr/>
        </p:nvSpPr>
        <p:spPr>
          <a:xfrm>
            <a:off x="985520" y="289656"/>
            <a:ext cx="10371744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17 e 18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852F9A1-3560-C615-98C6-F7FFBC834EEA}"/>
              </a:ext>
            </a:extLst>
          </p:cNvPr>
          <p:cNvGrpSpPr/>
          <p:nvPr/>
        </p:nvGrpSpPr>
        <p:grpSpPr>
          <a:xfrm>
            <a:off x="481421" y="1438280"/>
            <a:ext cx="386079" cy="382464"/>
            <a:chOff x="477262" y="1677273"/>
            <a:chExt cx="386079" cy="382464"/>
          </a:xfrm>
        </p:grpSpPr>
        <p:sp>
          <p:nvSpPr>
            <p:cNvPr id="30" name="Oval 11">
              <a:extLst>
                <a:ext uri="{FF2B5EF4-FFF2-40B4-BE49-F238E27FC236}">
                  <a16:creationId xmlns:a16="http://schemas.microsoft.com/office/drawing/2014/main" id="{0B911F9F-5AEB-5390-61DF-871B33E93757}"/>
                </a:ext>
              </a:extLst>
            </p:cNvPr>
            <p:cNvSpPr/>
            <p:nvPr/>
          </p:nvSpPr>
          <p:spPr>
            <a:xfrm>
              <a:off x="477262" y="1677273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6D03680C-3972-D54D-F030-BCD846160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95493" y="1770979"/>
              <a:ext cx="154445" cy="193056"/>
            </a:xfrm>
            <a:prstGeom prst="rect">
              <a:avLst/>
            </a:prstGeom>
          </p:spPr>
        </p:pic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6BE97324-2057-666B-2E57-337F50C2C5B2}"/>
              </a:ext>
            </a:extLst>
          </p:cNvPr>
          <p:cNvGrpSpPr/>
          <p:nvPr/>
        </p:nvGrpSpPr>
        <p:grpSpPr>
          <a:xfrm>
            <a:off x="481421" y="2094597"/>
            <a:ext cx="386079" cy="382464"/>
            <a:chOff x="488157" y="2308518"/>
            <a:chExt cx="386079" cy="382464"/>
          </a:xfrm>
        </p:grpSpPr>
        <p:sp>
          <p:nvSpPr>
            <p:cNvPr id="33" name="Oval 10">
              <a:extLst>
                <a:ext uri="{FF2B5EF4-FFF2-40B4-BE49-F238E27FC236}">
                  <a16:creationId xmlns:a16="http://schemas.microsoft.com/office/drawing/2014/main" id="{D0C81B8A-3C2C-7973-595E-760149886814}"/>
                </a:ext>
              </a:extLst>
            </p:cNvPr>
            <p:cNvSpPr/>
            <p:nvPr/>
          </p:nvSpPr>
          <p:spPr>
            <a:xfrm>
              <a:off x="488157" y="23085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Google Shape;2223;p100">
              <a:extLst>
                <a:ext uri="{FF2B5EF4-FFF2-40B4-BE49-F238E27FC236}">
                  <a16:creationId xmlns:a16="http://schemas.microsoft.com/office/drawing/2014/main" id="{47AEBB81-AF8C-D063-3925-C011BD2BF0AF}"/>
                </a:ext>
              </a:extLst>
            </p:cNvPr>
            <p:cNvSpPr>
              <a:spLocks/>
            </p:cNvSpPr>
            <p:nvPr/>
          </p:nvSpPr>
          <p:spPr>
            <a:xfrm>
              <a:off x="557168" y="2386948"/>
              <a:ext cx="245745" cy="226842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B714B6C5-52F5-1A0C-AEAD-8E37220246C0}"/>
              </a:ext>
            </a:extLst>
          </p:cNvPr>
          <p:cNvGrpSpPr/>
          <p:nvPr/>
        </p:nvGrpSpPr>
        <p:grpSpPr>
          <a:xfrm>
            <a:off x="481421" y="3957908"/>
            <a:ext cx="386079" cy="382464"/>
            <a:chOff x="485330" y="4208606"/>
            <a:chExt cx="386079" cy="382464"/>
          </a:xfrm>
        </p:grpSpPr>
        <p:sp>
          <p:nvSpPr>
            <p:cNvPr id="36" name="Oval 8">
              <a:extLst>
                <a:ext uri="{FF2B5EF4-FFF2-40B4-BE49-F238E27FC236}">
                  <a16:creationId xmlns:a16="http://schemas.microsoft.com/office/drawing/2014/main" id="{238C1851-CB73-0FFA-0BCD-1A89BF1EECC5}"/>
                </a:ext>
              </a:extLst>
            </p:cNvPr>
            <p:cNvSpPr/>
            <p:nvPr/>
          </p:nvSpPr>
          <p:spPr>
            <a:xfrm>
              <a:off x="485330" y="4208606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7" name="Gráfico 36">
              <a:extLst>
                <a:ext uri="{FF2B5EF4-FFF2-40B4-BE49-F238E27FC236}">
                  <a16:creationId xmlns:a16="http://schemas.microsoft.com/office/drawing/2014/main" id="{3E029E60-9A18-5D06-C05B-568223E1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9271" y="4262727"/>
              <a:ext cx="208026" cy="266700"/>
            </a:xfrm>
            <a:prstGeom prst="rect">
              <a:avLst/>
            </a:prstGeom>
          </p:spPr>
        </p:pic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13DB005C-FB37-ABBF-B36E-A1865B273E47}"/>
              </a:ext>
            </a:extLst>
          </p:cNvPr>
          <p:cNvGrpSpPr/>
          <p:nvPr/>
        </p:nvGrpSpPr>
        <p:grpSpPr>
          <a:xfrm>
            <a:off x="481421" y="2891738"/>
            <a:ext cx="386079" cy="382464"/>
            <a:chOff x="453903" y="3103350"/>
            <a:chExt cx="386079" cy="382464"/>
          </a:xfrm>
        </p:grpSpPr>
        <p:sp>
          <p:nvSpPr>
            <p:cNvPr id="39" name="Oval 9">
              <a:extLst>
                <a:ext uri="{FF2B5EF4-FFF2-40B4-BE49-F238E27FC236}">
                  <a16:creationId xmlns:a16="http://schemas.microsoft.com/office/drawing/2014/main" id="{1BBCD3BD-68BA-1BF4-133A-F1F0DC5983E9}"/>
                </a:ext>
              </a:extLst>
            </p:cNvPr>
            <p:cNvSpPr/>
            <p:nvPr/>
          </p:nvSpPr>
          <p:spPr>
            <a:xfrm>
              <a:off x="453903" y="3103350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1" name="Gráfico 40">
              <a:extLst>
                <a:ext uri="{FF2B5EF4-FFF2-40B4-BE49-F238E27FC236}">
                  <a16:creationId xmlns:a16="http://schemas.microsoft.com/office/drawing/2014/main" id="{DF65D8FC-7467-BC33-E85E-703CB8D5F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1968" y="3173805"/>
              <a:ext cx="235296" cy="240643"/>
            </a:xfrm>
            <a:prstGeom prst="rect">
              <a:avLst/>
            </a:prstGeom>
          </p:spPr>
        </p:pic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7A6DBCA-9AF2-414C-A007-8961430B0F69}"/>
              </a:ext>
            </a:extLst>
          </p:cNvPr>
          <p:cNvSpPr txBox="1"/>
          <p:nvPr/>
        </p:nvSpPr>
        <p:spPr>
          <a:xfrm>
            <a:off x="997022" y="929961"/>
            <a:ext cx="10498238" cy="406265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Ser sempre +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ajudar os estudantes a desenvolverem e aprimorarem competências socioemocionais, focando especificamente nas situações desafiadoras que podem surgir no ambiente profissional.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17 minutos.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Professor, essa seção será utilizada como atividade (sem registro). </a:t>
            </a:r>
          </a:p>
          <a:p>
            <a:pPr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a situação de maneira simples e direta. 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Em duplas, os alunos devem discutir sobre como podem lidar com essa situação.</a:t>
            </a:r>
          </a:p>
          <a:p>
            <a:pPr lvl="2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Para além da discussão, eles devem criar um mapa mental organizando de forma lógica a maneira como pensaram em lidar com a situação apresentada.</a:t>
            </a:r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propor atitudes como ouvir as ideias de todos, experimentar diferentes formas de apresentar e valorizar tentativas, mesmo com erros.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Espera-se que percebam a importância de manter a abertura à experimentação, respeitar opiniões diferentes e buscar aprendizado coletivo na comunicação de ideias.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alunos devem conseguir estruturar, de forma lógica, essas questões no mapa mental.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3494639D-76C5-46AD-980D-0C35E90E85DE}"/>
              </a:ext>
            </a:extLst>
          </p:cNvPr>
          <p:cNvGrpSpPr/>
          <p:nvPr/>
        </p:nvGrpSpPr>
        <p:grpSpPr>
          <a:xfrm>
            <a:off x="481421" y="899318"/>
            <a:ext cx="386079" cy="382464"/>
            <a:chOff x="487003" y="899318"/>
            <a:chExt cx="386079" cy="382464"/>
          </a:xfrm>
        </p:grpSpPr>
        <p:sp>
          <p:nvSpPr>
            <p:cNvPr id="40" name="Oval 12">
              <a:extLst>
                <a:ext uri="{FF2B5EF4-FFF2-40B4-BE49-F238E27FC236}">
                  <a16:creationId xmlns:a16="http://schemas.microsoft.com/office/drawing/2014/main" id="{0E4B1A16-AB0C-4EC1-AE77-279DA281D8CC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Google Shape;2216;p100">
              <a:extLst>
                <a:ext uri="{FF2B5EF4-FFF2-40B4-BE49-F238E27FC236}">
                  <a16:creationId xmlns:a16="http://schemas.microsoft.com/office/drawing/2014/main" id="{249CADAC-162E-451A-B253-660E8B2A4686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5871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D7E3B2-A75D-18F5-44CC-52AFCD89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9B010152-AA02-4818-9A21-06AD70CD0204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8" name="Conector Reto 6">
            <a:extLst>
              <a:ext uri="{FF2B5EF4-FFF2-40B4-BE49-F238E27FC236}">
                <a16:creationId xmlns:a16="http://schemas.microsoft.com/office/drawing/2014/main" id="{D237084A-C9D0-4690-88F6-98C8B75C1DBE}"/>
              </a:ext>
            </a:extLst>
          </p:cNvPr>
          <p:cNvCxnSpPr>
            <a:cxnSpLocks/>
          </p:cNvCxnSpPr>
          <p:nvPr/>
        </p:nvCxnSpPr>
        <p:spPr>
          <a:xfrm flipV="1">
            <a:off x="680042" y="544761"/>
            <a:ext cx="0" cy="3508255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96EBD2-6A78-63C7-70DA-B763B4F175C3}"/>
              </a:ext>
            </a:extLst>
          </p:cNvPr>
          <p:cNvSpPr txBox="1"/>
          <p:nvPr/>
        </p:nvSpPr>
        <p:spPr>
          <a:xfrm>
            <a:off x="985520" y="291864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19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FB3537-ADBF-3FF8-FD6E-16717E3C01A6}"/>
              </a:ext>
            </a:extLst>
          </p:cNvPr>
          <p:cNvSpPr/>
          <p:nvPr/>
        </p:nvSpPr>
        <p:spPr>
          <a:xfrm>
            <a:off x="485484" y="333003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B65DDD-A6CA-0608-EC75-19070DFCD5AC}"/>
              </a:ext>
            </a:extLst>
          </p:cNvPr>
          <p:cNvSpPr/>
          <p:nvPr/>
        </p:nvSpPr>
        <p:spPr>
          <a:xfrm>
            <a:off x="485484" y="252249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2D12B0-2D75-A3DE-EBC8-66E5B6A4DCB1}"/>
              </a:ext>
            </a:extLst>
          </p:cNvPr>
          <p:cNvSpPr/>
          <p:nvPr/>
        </p:nvSpPr>
        <p:spPr>
          <a:xfrm>
            <a:off x="485484" y="176557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B6FA1E-CE0E-D34F-C3E6-2380C519E133}"/>
              </a:ext>
            </a:extLst>
          </p:cNvPr>
          <p:cNvSpPr/>
          <p:nvPr/>
        </p:nvSpPr>
        <p:spPr>
          <a:xfrm>
            <a:off x="485484" y="129201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CAC3717-E04D-7996-696B-D3206512B0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1301" y="1385721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E95789C8-45F9-5CBA-70A1-C86D128E0E42}"/>
              </a:ext>
            </a:extLst>
          </p:cNvPr>
          <p:cNvSpPr>
            <a:spLocks/>
          </p:cNvSpPr>
          <p:nvPr/>
        </p:nvSpPr>
        <p:spPr>
          <a:xfrm>
            <a:off x="555651" y="1844006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EC7A135-24F7-3564-CFC4-35D0D457B7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875" y="2592951"/>
            <a:ext cx="235296" cy="240643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67E78B55-F254-BCC7-71E5-B9C0F2D894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510" y="3384159"/>
            <a:ext cx="208026" cy="266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9516522-29AB-2F26-56F9-189217AD11EF}"/>
              </a:ext>
            </a:extLst>
          </p:cNvPr>
          <p:cNvSpPr/>
          <p:nvPr/>
        </p:nvSpPr>
        <p:spPr>
          <a:xfrm>
            <a:off x="0" y="4218674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627F8B8-E9E7-DE6C-E120-ABCDC4DFE232}"/>
              </a:ext>
            </a:extLst>
          </p:cNvPr>
          <p:cNvSpPr txBox="1"/>
          <p:nvPr/>
        </p:nvSpPr>
        <p:spPr>
          <a:xfrm>
            <a:off x="985520" y="4228834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20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CB25A0C3-5D43-FBAE-470F-8E216BB1F0BB}"/>
              </a:ext>
            </a:extLst>
          </p:cNvPr>
          <p:cNvCxnSpPr>
            <a:cxnSpLocks/>
          </p:cNvCxnSpPr>
          <p:nvPr/>
        </p:nvCxnSpPr>
        <p:spPr>
          <a:xfrm flipH="1" flipV="1">
            <a:off x="690880" y="4469403"/>
            <a:ext cx="1" cy="162710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C05C4B1-84D8-EAC2-321A-1984E82253B1}"/>
              </a:ext>
            </a:extLst>
          </p:cNvPr>
          <p:cNvSpPr/>
          <p:nvPr/>
        </p:nvSpPr>
        <p:spPr>
          <a:xfrm>
            <a:off x="497841" y="524048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CD4E91F2-2D78-9FDF-EE29-8D2B83095E51}"/>
              </a:ext>
            </a:extLst>
          </p:cNvPr>
          <p:cNvSpPr/>
          <p:nvPr/>
        </p:nvSpPr>
        <p:spPr>
          <a:xfrm>
            <a:off x="497841" y="477200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2216;p100">
            <a:extLst>
              <a:ext uri="{FF2B5EF4-FFF2-40B4-BE49-F238E27FC236}">
                <a16:creationId xmlns:a16="http://schemas.microsoft.com/office/drawing/2014/main" id="{AF414D3F-C2E9-3FB6-A7A2-E5D455C1CC26}"/>
              </a:ext>
            </a:extLst>
          </p:cNvPr>
          <p:cNvSpPr/>
          <p:nvPr/>
        </p:nvSpPr>
        <p:spPr>
          <a:xfrm>
            <a:off x="569897" y="487056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A357A60-2080-3E3A-5FF8-D61BBC64E3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072" y="5334193"/>
            <a:ext cx="154445" cy="19305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2B8D839F-93CC-819E-A880-BC6BF841B2DD}"/>
              </a:ext>
            </a:extLst>
          </p:cNvPr>
          <p:cNvSpPr txBox="1"/>
          <p:nvPr/>
        </p:nvSpPr>
        <p:spPr>
          <a:xfrm>
            <a:off x="1000171" y="4891721"/>
            <a:ext cx="10251440" cy="677108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apresenta recursos extraclasse para que os estudantes complementem sua formação. Incentive-os a continuarem explorando o tema da aula.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97C4747-9790-4324-B0AA-6A081FCFF122}"/>
              </a:ext>
            </a:extLst>
          </p:cNvPr>
          <p:cNvSpPr txBox="1"/>
          <p:nvPr/>
        </p:nvSpPr>
        <p:spPr>
          <a:xfrm>
            <a:off x="997022" y="929961"/>
            <a:ext cx="10498238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hoje?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reforçar e esclarecer os principais conceitos discutidos, incentivando os estudantes a recordarem e articularem os principais pontos da aula. 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da sala de aula: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Mantenha um ambiente de diálogo aberto e respeitoso.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Seja direto e objetivo nas explicações para manter a atividade de acordo com o tempo estipulado.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Engaje os estudantes, rapidamente, pedindo confirmações ou reações breves às definições apresentadas.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estudantes que esse é um momento de reflexão e esclarecimento sobre os conceitos abordados na aula.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Informe que será feita uma rápida revisão para assegurar o entendimento correto das definições e dos conceitos.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slide com a definição sintética de cada conceito principal discutido na aula, ampliando a explicação com as informações que achar necessárias.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resumindo os pontos principais e reiterando a importância de cada conceito e como ele se encaixa no contexto maior da aula.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é esperado: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sair da aula com entendimento claro e preciso dos conceitos principais.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5577B39F-EBAA-43EF-891E-9F932A41B91D}"/>
              </a:ext>
            </a:extLst>
          </p:cNvPr>
          <p:cNvGrpSpPr/>
          <p:nvPr/>
        </p:nvGrpSpPr>
        <p:grpSpPr>
          <a:xfrm>
            <a:off x="481421" y="899318"/>
            <a:ext cx="386079" cy="382464"/>
            <a:chOff x="487003" y="899318"/>
            <a:chExt cx="386079" cy="382464"/>
          </a:xfrm>
        </p:grpSpPr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78A7B741-427D-4E20-8E38-9A82697FA321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" name="Google Shape;2216;p100">
              <a:extLst>
                <a:ext uri="{FF2B5EF4-FFF2-40B4-BE49-F238E27FC236}">
                  <a16:creationId xmlns:a16="http://schemas.microsoft.com/office/drawing/2014/main" id="{1FD2183E-30BD-4F06-BF56-5F05ECE176B7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9574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58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USAR ES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acdbb2-8ef9-464d-a709-26ca1c337062">
      <Terms xmlns="http://schemas.microsoft.com/office/infopath/2007/PartnerControls"/>
    </lcf76f155ced4ddcb4097134ff3c332f>
    <TaxCatchAll xmlns="d8db0f09-d57f-4353-8fed-87a30f19522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F221F30FA1D846BC6503DE840D959B" ma:contentTypeVersion="12" ma:contentTypeDescription="Crie um novo documento." ma:contentTypeScope="" ma:versionID="537770d7633b02d79c49f6b6c2eecac7">
  <xsd:schema xmlns:xsd="http://www.w3.org/2001/XMLSchema" xmlns:xs="http://www.w3.org/2001/XMLSchema" xmlns:p="http://schemas.microsoft.com/office/2006/metadata/properties" xmlns:ns2="4facdbb2-8ef9-464d-a709-26ca1c337062" xmlns:ns3="d8db0f09-d57f-4353-8fed-87a30f195225" targetNamespace="http://schemas.microsoft.com/office/2006/metadata/properties" ma:root="true" ma:fieldsID="6d1a9d74efd7620238f953ebb8c6db07" ns2:_="" ns3:_="">
    <xsd:import namespace="4facdbb2-8ef9-464d-a709-26ca1c337062"/>
    <xsd:import namespace="d8db0f09-d57f-4353-8fed-87a30f1952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cdbb2-8ef9-464d-a709-26ca1c33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a85b3961-dbc6-48b8-bc39-d380478928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db0f09-d57f-4353-8fed-87a30f1952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3f1f100-ca14-4443-a663-a0783b3478eb}" ma:internalName="TaxCatchAll" ma:showField="CatchAllData" ma:web="d8db0f09-d57f-4353-8fed-87a30f1952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7590F2-902A-4FFC-B993-9715B30E05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661F7A-1649-4A39-91A5-A3893F5678E5}">
  <ds:schemaRefs>
    <ds:schemaRef ds:uri="http://purl.org/dc/dcmitype/"/>
    <ds:schemaRef ds:uri="http://purl.org/dc/elements/1.1/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d8db0f09-d57f-4353-8fed-87a30f195225"/>
    <ds:schemaRef ds:uri="http://schemas.openxmlformats.org/package/2006/metadata/core-properties"/>
    <ds:schemaRef ds:uri="4facdbb2-8ef9-464d-a709-26ca1c337062"/>
  </ds:schemaRefs>
</ds:datastoreItem>
</file>

<file path=customXml/itemProps3.xml><?xml version="1.0" encoding="utf-8"?>
<ds:datastoreItem xmlns:ds="http://schemas.openxmlformats.org/officeDocument/2006/customXml" ds:itemID="{E1955DAB-E143-48D2-8194-E221EBE228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cdbb2-8ef9-464d-a709-26ca1c337062"/>
    <ds:schemaRef ds:uri="d8db0f09-d57f-4353-8fed-87a30f1952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7815</TotalTime>
  <Words>2244</Words>
  <Application>Microsoft Office PowerPoint</Application>
  <PresentationFormat>Widescreen</PresentationFormat>
  <Paragraphs>257</Paragraphs>
  <Slides>28</Slides>
  <Notes>20</Notes>
  <HiddenSlides>7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28</vt:i4>
      </vt:variant>
    </vt:vector>
  </HeadingPairs>
  <TitlesOfParts>
    <vt:vector size="36" baseType="lpstr">
      <vt:lpstr>Poppins Medium</vt:lpstr>
      <vt:lpstr>Poppins Light</vt:lpstr>
      <vt:lpstr>Poppins</vt:lpstr>
      <vt:lpstr>Calibri</vt:lpstr>
      <vt:lpstr>Arial</vt:lpstr>
      <vt:lpstr>Poppins Bold</vt:lpstr>
      <vt:lpstr>Office Theme</vt:lpstr>
      <vt:lpstr>USAR ESTE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Caco Bressane Ilustração e Design</dc:creator>
  <cp:lastModifiedBy>LUCA SANTIAGO ROCHA</cp:lastModifiedBy>
  <cp:revision>195</cp:revision>
  <dcterms:modified xsi:type="dcterms:W3CDTF">2026-01-29T11:56:51Z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0x0101000AF221F30FA1D846BC6503DE840D959B</vt:lpwstr>
  </property>
  <property fmtid="{D5CDD505-2E9C-101B-9397-08002B2CF9AE}" pid="3" name="MediaServiceImageTags">
    <vt:lpwstr/>
  </property>
  <property fmtid="{D5CDD505-2E9C-101B-9397-08002B2CF9AE}" pid="4" name="Order">
    <vt:lpwstr>378100.000000000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